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Objective of today: by end of session everyone can package the same model 3 ways and benchmark them to pick a default stack with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agenda. Emphasise the lab is the heart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Dabbawala analogy — cooking vs delivering at scale. Serving is the delivery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analogy. Walk the diagram left to right: user, API, queue/batcher, model replicas on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exactly the metrics measured in the lab. Spend time here — everything later depends on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 intro each; details follow. Like picking a cricket XI — every player has a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already know FastAPI. Position it as the baseline the lab benchmarks everything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this if time permits. Point out: model loads ONCE at startup, not per request — most common beginner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Bento = Japanese tiffin. The 'bento' artifact is the key idea: one sealed box with everything inside.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decorator style and the build→containerize flow at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justifies vLLM/SGLang's existence. Two problems: KV-cache memory waste + head-of-line blocking.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inventions, two analogies: berth-wise booking (PagedAttention) and share-auto (continuous batching).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 server code written at all. One command. Client code is standard OpenAI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RadixAttention = cached shared prefixes. Structured output is the second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Triton for mixed-model enterprises; it can even run vLLM as a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KServe = platform layer; engines run inside it. Scale-to-zero is the star feature. YAML on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conceptual pass — Sessions 2 &amp; 3 go deeper. Keep it 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cheat-sheet slide — participants will screenshot this. Walk it column by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2-3 real scenarios through these questions with the class (fraud model, chatbot, doc-extraction).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 pairs. Each pair runs all 3 stacks. Keep the model small so it fits lab GPUs/CPUs.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model keeps downloads fast and fits modest GPUs; CPU fallback works for FastAPI/BentoML.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app.py is the same file from slide 8. Students copy, run, test with curl.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service.py from slide 10. If time is short, skip containerize — note it as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needed for vLLM. If lab machines are CPU-only, run one shared GPU instance for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script, three ports. Stress fairness: same prompts, same counts, same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Tokens via tokenizer, not word count. Fill the table live on a whiteboard with teams'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rationale is the actual deliverable. Numbers without a decision = incomplete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 hit #1 during the lab — someone always did. Normalize the mistakes; that's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recap, remind about assessment after Session 5, and tease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937760" cy="493776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4023360" cy="402336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9793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FULL-STACK &amp; DEPLOYMENT ENGINEER · TRACK 2.A · SESSION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22860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Serving Stacks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production — choosing and benchmarking the right way to serve your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4206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BentoML  ·  vLLM  ·  SGLang  ·  NVIDIA Triton  ·  KServe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6035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2 hours · concept 45 min + hands-on lab 60 min + review 15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· AGENDA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do in the next 2 hours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8562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2286000" y="1883664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759" y="2014423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1752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&amp; walkthrough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017520" y="20848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model serving, the 6 big serving stacks, how they differ, and how to choose.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" y="297180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868680" y="327355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2286000" y="3300984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759" y="3431743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017520" y="3136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017520" y="35021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SAME model with FastAPI, BentoML and vLLM. Benchmark cold start, p95 latency, tokens/sec.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38912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68680" y="46908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2286000" y="4718304"/>
            <a:ext cx="502920" cy="50292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6759" y="4849063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017520" y="45537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wrap-up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3017520" y="4919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benchmark numbers, pick your default stack, and write a one-line rationale.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today knowing WHICH serving stack to reach for, and WHY — backed by your own benchmark numbers.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model works in the notebook. Now what?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Cooking at home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14400" y="2084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 in a Jupyter notebook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14400" y="25146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(you), one request at a time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minds if it takes 30 seconds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crashes — restart the kernel, chai break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security, no monitoring, no cost meter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 dabbawala network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2084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 serving in production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37960" y="25146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2,00,000 tiffins delivered daily, on time, every time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users hitting your API together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expected in milliseconds, not seconds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survive lunch-hour rush (peak traffic) without falling over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66928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BF1E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9298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5742432"/>
            <a:ext cx="101681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cook is not automatically a great delivery network. A great model is not automatically a great service. The serving stack IS your dabbawala system.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a “model serving stack”?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serving stack is everything AROUND the model </a:t>
            </a:r>
            <a:pPr indent="0" marL="0">
              <a:buNone/>
            </a:pPr>
            <a:r>
              <a:rPr lang="en-US" sz="14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it into a reliable service: the API, the queue, the batching, the scaling, the health checks.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868680" y="2697480"/>
            <a:ext cx="685800" cy="6858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287578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480" y="34564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/ website)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1783080" y="3035808"/>
            <a:ext cx="73152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3" name="Shape 8"/>
          <p:cNvSpPr/>
          <p:nvPr/>
        </p:nvSpPr>
        <p:spPr>
          <a:xfrm>
            <a:off x="2606040" y="260604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651760" y="26974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streaming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434840" y="3035808"/>
            <a:ext cx="73152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257800" y="260604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303520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batcher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requests smartly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406640" y="3035808"/>
            <a:ext cx="73152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229600" y="2240280"/>
            <a:ext cx="3200400" cy="1645920"/>
          </a:xfrm>
          <a:prstGeom prst="roundRect">
            <a:avLst>
              <a:gd name="adj" fmla="val 50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4124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replicas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458200" y="27889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2E355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889504"/>
            <a:ext cx="292608" cy="29260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418320" y="27889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2E355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889504"/>
            <a:ext cx="292608" cy="29260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0378440" y="27889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2E355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889504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GPUs, auto-scaled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40080" y="457200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868680" y="468172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analogy:  </a:t>
            </a:r>
            <a:pPr indent="0" marL="0">
              <a:buNone/>
            </a:pPr>
            <a:r>
              <a:rPr lang="en-US" sz="12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the chef · API = the waiter taking orders · batcher = kitchen clubbing similar orders (5 dosas in one go) · autoscaler = calling extra staff on Sunday rush · health probe = manager checking the kitchen is alive.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Chef alone ≠ restaurant. Model alone ≠ AI service.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words you must know before the lab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81328"/>
            <a:ext cx="10881360" cy="859536"/>
          </a:xfrm>
          <a:prstGeom prst="roundRect">
            <a:avLst>
              <a:gd name="adj" fmla="val 9574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57276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2788920" y="1572768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ONE reply to come back.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949440" y="157276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order chai — how long till it arrives at YOUR table.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450592"/>
            <a:ext cx="10881360" cy="859536"/>
          </a:xfrm>
          <a:prstGeom prst="roundRect">
            <a:avLst>
              <a:gd name="adj" fmla="val 95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254203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788920" y="2542032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within which 95 out of 100 requests finish. Ignores the worst 5.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949440" y="2542032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 punctuality: “95% of days, the train is at most 10 min late.” We judge the service by this, not the average.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419856"/>
            <a:ext cx="10881360" cy="859536"/>
          </a:xfrm>
          <a:prstGeom prst="roundRect">
            <a:avLst>
              <a:gd name="adj" fmla="val 9574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51129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2788920" y="3511296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requests served per second, in total.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949440" y="3511296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Vada pav stall: how many plates leave the counter per hour — not how fast one plate is made.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4389120"/>
            <a:ext cx="10881360" cy="859536"/>
          </a:xfrm>
          <a:prstGeom prst="roundRect">
            <a:avLst>
              <a:gd name="adj" fmla="val 9574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868680" y="448056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/ sec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2788920" y="4480560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LLMs: how many words-pieces generated per second.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949440" y="448056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 of the model. Higher = snappier streaming chat.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" y="5358384"/>
            <a:ext cx="10881360" cy="859536"/>
          </a:xfrm>
          <a:prstGeom prst="roundRect">
            <a:avLst>
              <a:gd name="adj" fmla="val 9574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868680" y="544982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2788920" y="5449824"/>
            <a:ext cx="3977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“switch on” to “first useful reply”. Includes loading the model into GPU.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949440" y="5449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 on a winter morning — first kick takes the longest. Matters when autoscaling adds new replicas.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78892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94944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 analogy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ways to serve a model — meet the contenders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5448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7452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1792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68680" y="230428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3" name="Text 8"/>
          <p:cNvSpPr/>
          <p:nvPr/>
        </p:nvSpPr>
        <p:spPr>
          <a:xfrm>
            <a:off x="868680" y="2304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6868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Do-it-yourself web framework. You write the serving logic. Total control, total responsibility.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4343400" y="155448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572000" y="175564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874520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1792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BentoML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0" y="230428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0" y="2304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Packaging-first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model + code + dependencies into one deployable “bento” (tiffin box). Serving + Docker for free.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8046720" y="155448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275320" y="175564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874520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0" y="1792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8275320" y="230428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7" name="Text 20"/>
          <p:cNvSpPr/>
          <p:nvPr/>
        </p:nvSpPr>
        <p:spPr>
          <a:xfrm>
            <a:off x="8275320" y="23042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speed king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827532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LLM engine. PagedAttention + continuous batching = very high tokens/sec.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40080" y="370332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8680" y="390448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02336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3040" y="3941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SGLang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68680" y="4453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34" name="Text 26"/>
          <p:cNvSpPr/>
          <p:nvPr/>
        </p:nvSpPr>
        <p:spPr>
          <a:xfrm>
            <a:off x="868680" y="4453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specialist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68680" y="4800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 like vLLM; shines when many prompts share prefixes &amp; for structured output.</a:t>
            </a:r>
            <a:endParaRPr lang="en-US" sz="1080" dirty="0"/>
          </a:p>
        </p:txBody>
      </p:sp>
      <p:sp>
        <p:nvSpPr>
          <p:cNvPr id="36" name="Shape 28"/>
          <p:cNvSpPr/>
          <p:nvPr/>
        </p:nvSpPr>
        <p:spPr>
          <a:xfrm>
            <a:off x="4343400" y="370332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572000" y="390448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023360"/>
            <a:ext cx="219456" cy="21945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66360" y="3941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Triton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4572000" y="4453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41" name="Text 32"/>
          <p:cNvSpPr/>
          <p:nvPr/>
        </p:nvSpPr>
        <p:spPr>
          <a:xfrm>
            <a:off x="4572000" y="4453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</a:t>
            </a:r>
            <a:endParaRPr lang="en-US" sz="950" dirty="0"/>
          </a:p>
        </p:txBody>
      </p:sp>
      <p:sp>
        <p:nvSpPr>
          <p:cNvPr id="42" name="Text 33"/>
          <p:cNvSpPr/>
          <p:nvPr/>
        </p:nvSpPr>
        <p:spPr>
          <a:xfrm>
            <a:off x="4572000" y="4800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server for ANY framework (PyTorch, TF, ONNX...) with dynamic batching on GPUs.</a:t>
            </a:r>
            <a:endParaRPr lang="en-US" sz="1080" dirty="0"/>
          </a:p>
        </p:txBody>
      </p:sp>
      <p:sp>
        <p:nvSpPr>
          <p:cNvPr id="43" name="Shape 34"/>
          <p:cNvSpPr/>
          <p:nvPr/>
        </p:nvSpPr>
        <p:spPr>
          <a:xfrm>
            <a:off x="8046720" y="3703320"/>
            <a:ext cx="347472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8275320" y="3904488"/>
            <a:ext cx="457200" cy="457200"/>
          </a:xfrm>
          <a:prstGeom prst="ellipse">
            <a:avLst/>
          </a:prstGeom>
          <a:solidFill>
            <a:srgbClr val="232946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023360"/>
            <a:ext cx="219456" cy="21945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869680" y="39410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KServe</a:t>
            </a:r>
            <a:endParaRPr lang="en-US" sz="1600" dirty="0"/>
          </a:p>
        </p:txBody>
      </p:sp>
      <p:sp>
        <p:nvSpPr>
          <p:cNvPr id="47" name="Shape 37"/>
          <p:cNvSpPr/>
          <p:nvPr/>
        </p:nvSpPr>
        <p:spPr>
          <a:xfrm>
            <a:off x="8275320" y="4453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48" name="Text 38"/>
          <p:cNvSpPr/>
          <p:nvPr/>
        </p:nvSpPr>
        <p:spPr>
          <a:xfrm>
            <a:off x="8275320" y="4453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platform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8275320" y="4800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serving with autoscaling &amp; scale-to-zero. Runs other engines inside it.</a:t>
            </a:r>
            <a:endParaRPr lang="en-US" sz="1080" dirty="0"/>
          </a:p>
        </p:txBody>
      </p:sp>
      <p:sp>
        <p:nvSpPr>
          <p:cNvPr id="50" name="Text 4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picking a cricket team — there is no single “best player”, only the right player for the pitch.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1 OF 6 · FASTAPI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serve it yourself, from scratch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50876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web framework — not a model server. YOU load the model, YOU write the /generate endpoint.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by design: handles many waiting connections without extra threads.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every request — garbage input rejected at the door.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demos, internal tools, low traffic, and for understanding what the fancy stacks automate.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batching, no token streaming optimizations, no model management — unless you build them.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420624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BF1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040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4279392"/>
            <a:ext cx="49560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at home: full control over masala, but you also buy vegetables, cook, serve and wash the bartan yourself. Fine for family; impossible for a 500-guest shaadi.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537960" y="1600200"/>
            <a:ext cx="2354580" cy="1691640"/>
          </a:xfrm>
          <a:prstGeom prst="roundRect">
            <a:avLst>
              <a:gd name="adj" fmla="val 4865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9166860" y="1600200"/>
            <a:ext cx="2354580" cy="1691640"/>
          </a:xfrm>
          <a:prstGeom prst="roundRect">
            <a:avLst>
              <a:gd name="adj" fmla="val 4865"/>
            </a:avLst>
          </a:prstGeom>
          <a:solidFill>
            <a:srgbClr val="F8ECE8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55648"/>
            <a:ext cx="237744" cy="237744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175564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408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96697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766560" y="2057400"/>
            <a:ext cx="19431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familiar, huge community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type — LLM, sklearn, XGBoost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tools to learn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9395460" y="2057400"/>
            <a:ext cx="19431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batching → GPU sits idle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tokens/sec for LLMs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scaling, retries, monitoring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537960" y="36576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lab, FastAPI is our baseline. Every other stack must beat it to justify its complexity.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1 OF 6 · FASTAPI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in ~20 lines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572768"/>
            <a:ext cx="654710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 — our own mini model server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ONCE at startup — never inside the endpoint!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= pipeline("text-generation",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model="Qwen/Qwen2.5-0.5B-Instruct")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Prompt(BaseModel):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str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max_tokens: int = 100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@app.post("/generate")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generate(req: Prompt):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generator(req.text,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max_new_tokens=req.max_tokens)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{"answer": out[0]["generated_text"]}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818120" y="1463040"/>
            <a:ext cx="3749040" cy="1920240"/>
          </a:xfrm>
          <a:prstGeom prst="roundRect">
            <a:avLst>
              <a:gd name="adj" fmla="val 428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4672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47888" y="2075688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app:app \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--host 0.0.0.0 --port 8000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04672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bonus: interactive docs at /docs — test from the browser itself.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18120" y="3611880"/>
            <a:ext cx="3749040" cy="2743200"/>
          </a:xfrm>
          <a:prstGeom prst="roundRect">
            <a:avLst>
              <a:gd name="adj" fmla="val 3000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04672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code like a story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046720" y="411480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pipeline(...) = hire the chef once when the shop opens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 = the order slip format — wrong slip, order rejected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@app.post = the counter where orders are accepted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2 OF 6 · BENTOML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BentoML — pack your model like a tiffin box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50876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“Bento” is literally a Japanese tiffin box — compartments for rice, sabzi, roti, all packed together.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 packs model + code + Python dependencies + config into ONE versioned artifact — a bento.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turns that bento into a Docker image, ready for any cloud.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you a REST API, adaptive micro-batching, worker scaling, and Prometheus metrics — without writing them.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Framework-agnostic: LLMs, sklearn, XGBoost, PyTorch — same workflow for all.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420624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FBF1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7258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4279392"/>
            <a:ext cx="49560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lunch via dabbawala: you don't hand over loose rotis and dal in your hands — you pack ONE tiffin with everything inside, labelled with the address. The bento IS that labelled tiffin; any delivery network (cloud) can carry it.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537960" y="1600200"/>
            <a:ext cx="2354580" cy="1691640"/>
          </a:xfrm>
          <a:prstGeom prst="roundRect">
            <a:avLst>
              <a:gd name="adj" fmla="val 4865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9166860" y="1600200"/>
            <a:ext cx="2354580" cy="1691640"/>
          </a:xfrm>
          <a:prstGeom prst="roundRect">
            <a:avLst>
              <a:gd name="adj" fmla="val 4865"/>
            </a:avLst>
          </a:prstGeom>
          <a:solidFill>
            <a:srgbClr val="F8ECE8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55648"/>
            <a:ext cx="237744" cy="237744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175564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408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96697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766560" y="2057400"/>
            <a:ext cx="19431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deps packaged reproducibly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in one command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&amp; metrics built in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9395460" y="2057400"/>
            <a:ext cx="19431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concepts to learn (bento, runner)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raw LLM speed, vLLM still wins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community than FastAPI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6537960" y="36576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BentoML as “FastAPI + packaging discipline + serving best-practices” pre-cooked for ML.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2 OF 6 · BENTOML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BentoML: service in, Docker out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572768"/>
            <a:ext cx="654710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service.py — the model's tiffin box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bentoml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@bentoml.service(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resources={"gpu": 1},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traffic={"timeout": 60},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LLMService: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runs once per worker at startup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self.pipe = pipeline("text-generation",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model="Qwen/Qwen2.5-0.5B-Instruct")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@bentoml.api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generate(self, text: str,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max_tokens: int = 100) -&gt; str: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= self.pipe(text,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max_new_tokens=max_tokens)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out[0]["generated_text"]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818120" y="1463040"/>
            <a:ext cx="3749040" cy="2286000"/>
          </a:xfrm>
          <a:prstGeom prst="roundRect">
            <a:avLst>
              <a:gd name="adj" fmla="val 36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4672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3-step flow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96596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47888" y="2075688"/>
            <a:ext cx="288950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serve locally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bentoml serve service:LLMService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pack the tiffin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bentoml build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make a Docker image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bentoml containerize llm_service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818120" y="3977640"/>
            <a:ext cx="3749040" cy="2377440"/>
          </a:xfrm>
          <a:prstGeom prst="roundRect">
            <a:avLst>
              <a:gd name="adj" fmla="val 346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46720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trainers love this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046720" y="448056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→ local server AND cloud container. No “works on my machine” drama.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resources={"gpu": 1} — infrastructure declared next to code.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PROBLEM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break normal serving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— Memory hogging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0116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generating, an LLM keeps a “KV cache” — its working memory of the conversation. Naive servers reserve one BIG fixed block per request, even if the reply turns out short. GPU memory gets blocked, fewer users fit.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68680" y="3108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reserving a full 72-seat coach for every family, big or small. Train runs “full” but seats are empty.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49224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 — Waiting for the batch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0116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Old-style “static batching” waits to collect N requests, processes them together, and no one new can board until ALL finish. One long answer blocks everyone behind it.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92240" y="31089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bus that leaves only when full — and takes no new passengers till the LAST person gets off.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10927080" cy="1828800"/>
          </a:xfrm>
          <a:prstGeom prst="roundRect">
            <a:avLst>
              <a:gd name="adj" fmla="val 4500"/>
            </a:avLst>
          </a:prstGeom>
          <a:solidFill>
            <a:srgbClr val="232946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14400" y="4251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with a naive server: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14400" y="46177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expensive GPU runs at 10–20% useful utilization — like a Boeing flying with 20 passengers.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and SGLang were invented to fix exactly these two problems.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3 OF 6 · VLLM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— the speed king of LLM serving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Invention 1 — PagedAttention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68680" y="2011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the KV cache into small pages, allotted only as the reply grows. Almost zero wasted GPU memory → many more users fit on the same GPU.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68680" y="2971800"/>
            <a:ext cx="4846320" cy="868680"/>
          </a:xfrm>
          <a:prstGeom prst="roundRect">
            <a:avLst>
              <a:gd name="adj" fmla="val 9474"/>
            </a:avLst>
          </a:prstGeom>
          <a:solidFill>
            <a:srgbClr val="FBF1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27812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99032" y="3044952"/>
            <a:ext cx="41330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booking berth-by-berth as passengers actually turn up — not blocking a whole coach per family “just in case”.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6868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2–4× more concurrent users per GPU.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263640" y="1508760"/>
            <a:ext cx="5303520" cy="3246120"/>
          </a:xfrm>
          <a:prstGeom prst="roundRect">
            <a:avLst>
              <a:gd name="adj" fmla="val 253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92240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Invention 2 — Continuous batching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92240" y="2011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requests join the running batch at every generation step; finished ones leave immediately. The GPU never waits, never idles.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92240" y="2971800"/>
            <a:ext cx="4846320" cy="868680"/>
          </a:xfrm>
          <a:prstGeom prst="roundRect">
            <a:avLst>
              <a:gd name="adj" fmla="val 9474"/>
            </a:avLst>
          </a:prstGeom>
          <a:solidFill>
            <a:srgbClr val="FBF1E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27812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22592" y="3044952"/>
            <a:ext cx="41330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share-auto: picks up and drops passengers along the route, always moving — vs a bus that waits till it's full and stops for everyone together.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922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up to ~10–20× throughput vs naive serving.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7826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14400" y="5138928"/>
            <a:ext cx="10378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speaks the OpenAI API format. Any code written for OpenAI works by just changing the base URL — instant drop-in replacement for self-hosted models.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3 OF 6 · VLLM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vLLM: one command to serve, OpenAI-style to call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5727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— one command, no code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68680" y="192024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69848" y="2029968"/>
            <a:ext cx="45354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vllm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serve Qwen/Qwen2.5-0.5B-Instruct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--port 8000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 free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endpoints (/v1/chat/completions)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+ PagedAttention — auto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 for chat UIs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endpoint for monitoring (Session 4 preview)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1463040"/>
            <a:ext cx="5257800" cy="4709160"/>
          </a:xfrm>
          <a:prstGeom prst="roundRect">
            <a:avLst>
              <a:gd name="adj" fmla="val 1553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510528" y="1572768"/>
            <a:ext cx="4855464" cy="448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client.py — same SDK you use for OpenAI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base_url="http://localhost:8000/v1",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api_key="not-needed",  # self-hosted!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client.chat.completions.create(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model="Qwen/Qwen2.5-0.5B-Instruct",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"role": "user",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"content": "Explain UPI in 2 lines",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stream=True,  # tokens flow like a tap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chunk in resp: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print(chunk.choices[0].delta.content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or "", end="")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4 OF 6 · SGLANG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SGLang — vLLM's cousin with a photographic memory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50876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family as vLLM: continuous batching, OpenAI-compatible API, high tokens/sec.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 1 — RadixAttention: remembers computed prefixes across requests. If 1,000 requests share the same long system prompt, it is computed once and reused.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 2 — structured generation: fast, grammar-enforced JSON output. Great for extraction pipelines.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when: chatbots with a big common system prompt, agent loops replaying context, heavy JSON-mode workloads.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4892040"/>
            <a:ext cx="5760720" cy="1005840"/>
          </a:xfrm>
          <a:prstGeom prst="roundRect">
            <a:avLst>
              <a:gd name="adj" fmla="val 8182"/>
            </a:avLst>
          </a:prstGeom>
          <a:solidFill>
            <a:srgbClr val="FBF1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669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4965192"/>
            <a:ext cx="5047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dosa stall pre-mixing one big batter for the day instead of grinding fresh batter per customer — the common part is done once, only the filling changes.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720840" y="1508760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94944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949440" y="1938528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7150608" y="2048256"/>
            <a:ext cx="3986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sglang.launch_server \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--model-path Qwen/Qwen2.5-0.5B-Instruct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720840" y="2926080"/>
            <a:ext cx="4846320" cy="2971800"/>
          </a:xfrm>
          <a:prstGeom prst="roundRect">
            <a:avLst>
              <a:gd name="adj" fmla="val 2769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94944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vs SGLang — quick take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949440" y="3429000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 / completion traffic → both excellent; vLLM has the larger ecosystem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shared prefixes → SGLang clearly ahead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 output → SGLang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doubt? Benchmark both — that is literally today's lab skill.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5 OF 6 · NVIDIA TRITON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Triton — the giant railway junction of model serving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50876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server, MANY frameworks: PyTorch, TensorFlow, ONNX, TensorRT, XGBoost, Python — all at once.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batching: automatically clubs incoming requests to keep GPUs full.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models: run 10 different models on one GPU, with priorities.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Ensembles: chain preprocess → model → postprocess inside the server.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LLMs it pairs with TensorRT-LLM — or simply runs vLLM as a backend engine.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4892040"/>
            <a:ext cx="5760720" cy="1005840"/>
          </a:xfrm>
          <a:prstGeom prst="roundRect">
            <a:avLst>
              <a:gd name="adj" fmla="val 8182"/>
            </a:avLst>
          </a:prstGeom>
          <a:solidFill>
            <a:srgbClr val="FBF1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669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4965192"/>
            <a:ext cx="5047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railway junction: local, express and goods trains (different frameworks) share the same platforms (GPUs), and the station master (scheduler) slots them so no platform stays empty.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720840" y="160020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EAF4EC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9281160" y="160020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F8ECE8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755648"/>
            <a:ext cx="237744" cy="237744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755648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22376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9784080" y="1709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949440" y="20574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battle-tested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serving MANY model types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Squeezes maximum out of GPUs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9509760" y="20574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curve, verbose config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for a single small model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path needs TRT-LLM/vLLM backend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720840" y="361188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6949440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Triton is the answer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949440" y="411480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running fraud (XGBoost) + KYC-OCR (CNN) + chatbot (LLM) on shared GPUs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latency SLOs with heavy mixed traffic</a:t>
            </a:r>
            <a:endParaRPr lang="en-US" sz="11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platform team exists to operate it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6 OF 6 · KSERVE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KServe — serving as a Kubernetes citizen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50876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engine — a Kubernetes-native serving PLATFORM. Inside each service it runs an engine (vLLM, Triton, HuggingFace...).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an InferenceService in YAML; KServe creates pods, routes, autoscaling.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Scale-to-zero: no traffic → zero pods → zero GPU bill. Traffic returns → pods come back (cold start applies!).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rollouts built in: send 10% traffic to v2, watch, then promote — Session 3 will use this.</a:t>
            </a:r>
            <a:endParaRPr lang="en-US" sz="125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 your org already runs Kubernetes and many teams deploy many models.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" y="5074920"/>
            <a:ext cx="5577840" cy="1005840"/>
          </a:xfrm>
          <a:prstGeom prst="roundRect">
            <a:avLst>
              <a:gd name="adj" fmla="val 8182"/>
            </a:avLst>
          </a:prstGeom>
          <a:solidFill>
            <a:srgbClr val="FBF1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44982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0432" y="5148072"/>
            <a:ext cx="48646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 analogy:  </a:t>
            </a:r>
            <a:pPr indent="0" marL="0"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Wedding-hall catering staff: guests arrive → staff appears; hall empty → staff goes home. You pay per shaadi, not for idle waiters standing around all year.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492240" y="146304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693408" y="1572768"/>
            <a:ext cx="467258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inference.yaml — declare, don't code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serving.kserve.io/v1beta1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InferenceService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qwen-chat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predictor: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minReplicas: 0   # scale-to-zero!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modelFormat: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huggingface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storageUri: hf://Qwen/Qwen2.5-0.5B-Instruct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resources: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limits: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nvidia.com/gpu: "1"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9224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inference.yaml — and Kubernetes does the rest.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patterns you will meet on Kubernetes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36776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+ Service + HPA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114800" y="1636776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trio: replicas of your model server, a stable network name, and a Horizontal Pod Autoscaler adding pods when load rises.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275320" y="1636776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tiffin service adding delivery boys during lunch rush and releasing them at 3 pm.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08152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68680" y="3209544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rollout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114800" y="3209544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small % of traffic to the new model version; promote only if metrics stay healthy.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275320" y="3209544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one spoon from the new batch of biryani before serving the whole baraat.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4654296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78231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Sidecar pattern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114800" y="4782312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container beside the model container — logging, auth, or a metrics agent.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275320" y="4782312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cleaner travelling with the bus driver — separate person, same bus, one job each.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pods need: resources.limits["nvidia.com/gpu"], a readinessProbe (don't send traffic before the model loads!), and generous startup timeouts.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FACE-OFF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stacks, side by side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1645920" cy="402336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9" name="Text 5"/>
          <p:cNvSpPr/>
          <p:nvPr/>
        </p:nvSpPr>
        <p:spPr>
          <a:xfrm>
            <a:off x="749808" y="14630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286000" y="1463040"/>
            <a:ext cx="3291840" cy="402336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11" name="Text 7"/>
          <p:cNvSpPr/>
          <p:nvPr/>
        </p:nvSpPr>
        <p:spPr>
          <a:xfrm>
            <a:off x="2395728" y="14630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577840" y="1463040"/>
            <a:ext cx="1874520" cy="402336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13" name="Text 9"/>
          <p:cNvSpPr/>
          <p:nvPr/>
        </p:nvSpPr>
        <p:spPr>
          <a:xfrm>
            <a:off x="5687568" y="1463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speed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452360" y="1463040"/>
            <a:ext cx="1737360" cy="402336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15" name="Text 11"/>
          <p:cNvSpPr/>
          <p:nvPr/>
        </p:nvSpPr>
        <p:spPr>
          <a:xfrm>
            <a:off x="7562088" y="14630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to learn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189720" y="1463040"/>
            <a:ext cx="2359152" cy="402336"/>
          </a:xfrm>
          <a:prstGeom prst="rect">
            <a:avLst/>
          </a:prstGeom>
          <a:solidFill>
            <a:srgbClr val="232946"/>
          </a:solidFill>
          <a:ln/>
        </p:spPr>
      </p:sp>
      <p:sp>
        <p:nvSpPr>
          <p:cNvPr id="17" name="Text 13"/>
          <p:cNvSpPr/>
          <p:nvPr/>
        </p:nvSpPr>
        <p:spPr>
          <a:xfrm>
            <a:off x="9299448" y="14630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story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1938528"/>
            <a:ext cx="164592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9808" y="193852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286000" y="1938528"/>
            <a:ext cx="329184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395728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Demos, small internal tools, baselines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577840" y="1938528"/>
            <a:ext cx="187452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687568" y="19385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452360" y="1938528"/>
            <a:ext cx="173736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62088" y="19385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189720" y="1938528"/>
            <a:ext cx="2359152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99448" y="193852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you build it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40080" y="2651760"/>
            <a:ext cx="1645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9808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BentoML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286000" y="2651760"/>
            <a:ext cx="3291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395728" y="2651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shipping any model type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577840" y="2651760"/>
            <a:ext cx="1874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687568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452360" y="2651760"/>
            <a:ext cx="1737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562088" y="2651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9189720" y="2651760"/>
            <a:ext cx="23591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299448" y="265176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+ Docker/K8s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40080" y="3364992"/>
            <a:ext cx="164592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49808" y="336499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2286000" y="3364992"/>
            <a:ext cx="329184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395728" y="33649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LLM APIs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5577840" y="3364992"/>
            <a:ext cx="187452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687568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452360" y="3364992"/>
            <a:ext cx="173736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562088" y="33649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9189720" y="3364992"/>
            <a:ext cx="2359152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299448" y="3364992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behind a load balancer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640080" y="4078224"/>
            <a:ext cx="1645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749808" y="407822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SGLang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2286000" y="4078224"/>
            <a:ext cx="3291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395728" y="407822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Shared-prefix &amp; JSON-heavy LLM apps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5577840" y="4078224"/>
            <a:ext cx="1874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87568" y="407822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7452360" y="4078224"/>
            <a:ext cx="1737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562088" y="4078224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Low-medium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9189720" y="4078224"/>
            <a:ext cx="23591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299448" y="4078224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behind a load balancer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640080" y="4791456"/>
            <a:ext cx="164592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749808" y="47914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2286000" y="4791456"/>
            <a:ext cx="329184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2395728" y="47914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mixed models on shared GPUs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5577840" y="4791456"/>
            <a:ext cx="187452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687568" y="47914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(TRT-LLM)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7452360" y="4791456"/>
            <a:ext cx="1737360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7562088" y="47914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9189720" y="4791456"/>
            <a:ext cx="2359152" cy="640080"/>
          </a:xfrm>
          <a:prstGeom prst="rect">
            <a:avLst/>
          </a:prstGeom>
          <a:solidFill>
            <a:srgbClr val="EEF2FA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299448" y="4791456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K8s-friendly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640080" y="5504688"/>
            <a:ext cx="1645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749808" y="55046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2286000" y="5504688"/>
            <a:ext cx="3291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2395728" y="55046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orgs, many teams, many models</a:t>
            </a:r>
            <a:endParaRPr lang="en-US" sz="1050" dirty="0"/>
          </a:p>
        </p:txBody>
      </p:sp>
      <p:sp>
        <p:nvSpPr>
          <p:cNvPr id="72" name="Shape 68"/>
          <p:cNvSpPr/>
          <p:nvPr/>
        </p:nvSpPr>
        <p:spPr>
          <a:xfrm>
            <a:off x="5577840" y="5504688"/>
            <a:ext cx="1874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5687568" y="550468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inside</a:t>
            </a:r>
            <a:endParaRPr lang="en-US" sz="1050" dirty="0"/>
          </a:p>
        </p:txBody>
      </p:sp>
      <p:sp>
        <p:nvSpPr>
          <p:cNvPr id="74" name="Shape 70"/>
          <p:cNvSpPr/>
          <p:nvPr/>
        </p:nvSpPr>
        <p:spPr>
          <a:xfrm>
            <a:off x="7452360" y="5504688"/>
            <a:ext cx="17373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7562088" y="5504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(needs K8s)</a:t>
            </a:r>
            <a:endParaRPr lang="en-US" sz="1050" dirty="0"/>
          </a:p>
        </p:txBody>
      </p:sp>
      <p:sp>
        <p:nvSpPr>
          <p:cNvPr id="76" name="Shape 72"/>
          <p:cNvSpPr/>
          <p:nvPr/>
        </p:nvSpPr>
        <p:spPr>
          <a:xfrm>
            <a:off x="9189720" y="5504688"/>
            <a:ext cx="235915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9299448" y="5504688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+ scale-to-zero</a:t>
            </a:r>
            <a:endParaRPr lang="en-US" sz="1050" dirty="0"/>
          </a:p>
        </p:txBody>
      </p:sp>
      <p:sp>
        <p:nvSpPr>
          <p:cNvPr id="78" name="Text 74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“best” stack — only the best stack for YOUR workload. Today's lab teaches you to prove it with numbers.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 to pick your stack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85800" y="1700784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170078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1645920" y="1536192"/>
            <a:ext cx="9875520" cy="1005840"/>
          </a:xfrm>
          <a:prstGeom prst="roundRect">
            <a:avLst>
              <a:gd name="adj" fmla="val 818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920240" y="16459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an LLM with real traffic?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920240" y="20116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vLLM (default) or SGLang (shared prefixes / JSON). No → next question.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2871216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2871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1645920" y="2706624"/>
            <a:ext cx="9875520" cy="1005840"/>
          </a:xfrm>
          <a:prstGeom prst="roundRect">
            <a:avLst>
              <a:gd name="adj" fmla="val 8182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920240" y="28163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ML or many mixed models?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920240" y="318211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→ BentoML for clean packaging. Many models on shared GPUs → Triton.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85800" y="4041648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40416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1645920" y="3877056"/>
            <a:ext cx="9875520" cy="1005840"/>
          </a:xfrm>
          <a:prstGeom prst="roundRect">
            <a:avLst>
              <a:gd name="adj" fmla="val 818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1920240" y="398678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your org live on Kubernetes?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1920240" y="43525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 a platform team → KServe (running vLLM/Triton inside). No → managed cloud runtimes (Session 2).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85800" y="5212080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5212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1645920" y="5047488"/>
            <a:ext cx="9875520" cy="1005840"/>
          </a:xfrm>
          <a:prstGeom prst="roundRect">
            <a:avLst>
              <a:gd name="adj" fmla="val 8182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1920240" y="515721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 demo or tiny internal tool?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1920240" y="55229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 Ship it today, upgrade when traffic demands respect.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the simplest stack that meets today's traffic — you can always graduate.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389120" cy="438912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645920"/>
            <a:ext cx="3840480" cy="384048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37160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5855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 · 60 MINUTES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8368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three servers.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the best stack win.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same model with FastAPI, BentoML and vLLM → benchmark cold start, p95 latency and tokens/sec → pick a default with a written rationale.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760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an audition — three cooks, same recipe, and the stopwatch decides.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0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— same recipe for every cook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600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ingredients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68680" y="19659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Qwen/Qwen2.5-0.5B-Instruct — small, fast to download, capable enough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set for all benchmarks (fairness!)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 per team — don't compare a GPU run with a CPU run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40233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41248" y="4133088"/>
            <a:ext cx="499262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setup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 &amp;&amp; source .venv/bin/activate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fastapi uvicorn transformers torch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bentoml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vllm            # GPU machine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requests        # for benchmarking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09360" y="146304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hand in (60 min)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537960" y="21488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95160" y="20756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FastAPI server running &amp; answering /generate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37960" y="28986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95160" y="282549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— BentoML service running the same model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537960" y="364845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95160" y="35753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vLLM serving with OpenAI-compatible API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537960" y="439826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95160" y="43251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— benchmark all three: cold start, p95, tokens/sec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537960" y="514807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95160" y="50749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— results table + one-paragraph default-stack rationale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with FastAPI (10 min)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5727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run the app.py from earlier and get your first reply.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2852928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1 — start the server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app:app --port 8001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1248" y="3995928"/>
            <a:ext cx="4992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2 — test like a real client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http://localhost:8001/generate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'{"text": "What is UPI?",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"max_tokens": 64}'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46304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it runs, note down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37960" y="205740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command to “Application startup complete” — that's roughly your cold start.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the same curl 3–4 times — does the 2nd call feel faster than the 1st? Why? (Model warm-up, caches.)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/docs in the browser — free Swagger UI for testing.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2 curls at the SAME time — watch them queue. This is the pain vLLM will remove.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with BentoML (15 min)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5727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wrap the same model in a bento and serve it on port 8002.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2852928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the service (service.py from earlier)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bentoml serve service:LLMService --port 8002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1248" y="3995928"/>
            <a:ext cx="4992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it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http://localhost:8002/generate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'{"text": "What is UPI?",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"max_tokens": 64}'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46304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differences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37960" y="205740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startup logs with FastAPI — BentoML spawns managed workers for you.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will likely be a bit slower. Packaging convenience has a price — measure it, don't guess it.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bentoml build and inspect the created bento — the “tiffin” with model + deps listed.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bentoml containerize → a ready Docker image (we deploy it in Session 2!).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with vLLM (10 min)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68680" y="15727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serve the same model with vLLM on port 8003 — zero server code.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743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41248" y="2852928"/>
            <a:ext cx="49926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command. that's the whole server.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vllm serve Qwen/Qwen2.5-0.5B-Instruct --port 8003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41248" y="3995928"/>
            <a:ext cx="499262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OpenAI-style call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http://localhost:8003/v1/chat/completions \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'{"model": "Qwen/Qwen2.5-0.5B-Instruct",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"messages": [{"role": "user",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"content": "What is UPI?"}]}'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09360" y="146304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3796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of truth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37960" y="205740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5 concurrent requests — notice they DON'T queue one behind another. Continuous batching at work.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is the slowest of the three (engine warm-up, CUDA graphs) — write the number down.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tokens stream if you add "stream": true.</a:t>
            </a:r>
            <a:endParaRPr lang="en-US" sz="12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client code works against OpenAI, Bedrock-proxies, vLLM — the OpenAI API is the de-facto standard. Session 7 builds on this.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4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cold start &amp; p95 latency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572768"/>
            <a:ext cx="6455664" cy="467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benchmark.py — same exam for all three servers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requests, statistics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= "http://localhost:8001/generate"  # change port per stack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{"text": "Explain UPI in one line", "max_tokens": 64}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warm-up (never benchmark a cold kitchen) ---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range(3):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requests.post(URL, json=PROMPT)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measure 50 requests ---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 = []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 in range(50):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t0 = time.perf_counter()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requests.post(URL, json=PROMPT)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lat.append(time.perf_counter() - t0)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lat.sort()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print(f"p50 = {lat[24]:.2f}s   p95 = {lat[47]:.2f}s")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726680" y="1463040"/>
            <a:ext cx="3840480" cy="2377440"/>
          </a:xfrm>
          <a:prstGeom prst="roundRect">
            <a:avLst>
              <a:gd name="adj" fmla="val 3462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95528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— measure it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955280" y="1938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from the launch command until the first successful reply. Simple and honest: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955280" y="25146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156448" y="2624328"/>
            <a:ext cx="298094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(uvicorn app:app &amp;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until curl -s localhost:8001/docs</a:t>
            </a:r>
            <a:endParaRPr lang="en-US" sz="8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/dev/null; do sleep 0.5; done)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7726680" y="4069080"/>
            <a:ext cx="3840480" cy="2011680"/>
          </a:xfrm>
          <a:prstGeom prst="roundRect">
            <a:avLst>
              <a:gd name="adj" fmla="val 4091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95528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warm-up first?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955280" y="4553712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requests pay one-time costs (caches, compilation). Benchmarking them mixes cold start into latency — like judging a restaurant by the first dish while the tawa is still heating.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5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tokens/sec, record everything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463040"/>
            <a:ext cx="5852160" cy="3017520"/>
          </a:xfrm>
          <a:prstGeom prst="roundRect">
            <a:avLst>
              <a:gd name="adj" fmla="val 2424"/>
            </a:avLst>
          </a:prstGeom>
          <a:solidFill>
            <a:srgbClr val="1B2130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841248" y="1572768"/>
            <a:ext cx="544982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C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tokens_per_sec.py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requests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AutoTokenizer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AutoTokenizer.from_pretrained(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"Qwen/Qwen2.5-0.5B-Instruct")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= time.perf_counter()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requests.post(URL, json=PROMPT).json()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time.perf_counter() - t0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len(tok.encode(r["answer"]))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print(f"{n} tokens in {dt:.2f}s = {n/dt:.1f} tok/s")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40080" y="4617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serious version later: use vLLM's own benchmark tools or llmperf with concurrent load.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72084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scorecard (fill during lab)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720840" y="1874520"/>
            <a:ext cx="1691640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12480" y="1874520"/>
            <a:ext cx="1078992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85632" y="187452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491472" y="1874520"/>
            <a:ext cx="1078992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564624" y="187452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BentoML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10570464" y="1874520"/>
            <a:ext cx="1078992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643616" y="187452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720840" y="2441448"/>
            <a:ext cx="1691640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93992" y="2441448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(s)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412480" y="2441448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491472" y="2441448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570464" y="2441448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20840" y="3008376"/>
            <a:ext cx="1691640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93992" y="3008376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(s)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412480" y="3008376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491472" y="3008376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570464" y="3008376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20840" y="3575304"/>
            <a:ext cx="1691640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793992" y="3575304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(s)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412480" y="3575304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491472" y="3575304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0570464" y="3575304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20840" y="4142232"/>
            <a:ext cx="1691640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93992" y="4142232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Tokens/sec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412480" y="4142232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491472" y="4142232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570464" y="4142232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720840" y="4709160"/>
            <a:ext cx="1691640" cy="566928"/>
          </a:xfrm>
          <a:prstGeom prst="rect">
            <a:avLst/>
          </a:prstGeom>
          <a:solidFill>
            <a:srgbClr val="232946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793992" y="4709160"/>
            <a:ext cx="1545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feel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8412480" y="4709160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491472" y="4709160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0570464" y="4709160"/>
            <a:ext cx="107899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720840" y="5486400"/>
            <a:ext cx="4846320" cy="777240"/>
          </a:xfrm>
          <a:prstGeom prst="roundRect">
            <a:avLst>
              <a:gd name="adj" fmla="val 10588"/>
            </a:avLst>
          </a:prstGeom>
          <a:solidFill>
            <a:srgbClr val="FBF1E3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45" name="Text 41"/>
          <p:cNvSpPr/>
          <p:nvPr/>
        </p:nvSpPr>
        <p:spPr>
          <a:xfrm>
            <a:off x="6949440" y="55778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pattern: vLLM wins tokens/sec &amp; p95 under load; FastAPI wins cold start; BentoML wins “easiest path to Docker”.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STEP 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default — and defend it in writing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“default stack” is what your team reaches for when a new model needs serving — chosen once, with reasons, reviewed when workloads change.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" y="2103120"/>
            <a:ext cx="5349240" cy="3886200"/>
          </a:xfrm>
          <a:prstGeom prst="roundRect">
            <a:avLst>
              <a:gd name="adj" fmla="val 2118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68680" y="2267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template (fill in)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8680" y="269748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choose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our default because our workload is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 our benchmark it gave p95 =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tokens/sec =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cold start =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accept the trade-off of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we would revisit this choice if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55080" y="2103120"/>
            <a:ext cx="5212080" cy="3886200"/>
          </a:xfrm>
          <a:prstGeom prst="roundRect">
            <a:avLst>
              <a:gd name="adj" fmla="val 2118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22677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(done well)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83680" y="269748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choose vLLM as our default because our workload is a customer-facing chatbot with bursty traffic. In our benchmark it gave p95 = 1.9s under 10 concurrent users (vs 8.4s FastAPI), 42 tok/s, cold start = 38s. We accept the trade-off of slow cold starts and GPU-only operation, and we would revisit this if traffic drops to a handful of internal users — then FastAPI's simplicity wins.”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368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numbers, workload, trade-off, revisit condition — all four present.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0460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PITFALLS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25880" y="6217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(learn from others' bruises)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6528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40080" y="1508760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41248" y="1691640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00" y="1791492"/>
            <a:ext cx="184343" cy="184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16367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the model inside the endpoint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371600" y="21122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reloads GBs from disk. Load once at startup. (Hiring a new chef for every single order.)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217920" y="1508760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19088" y="1691640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940" y="1791492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16367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without warm-up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949440" y="21122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First-request costs pollute your numbers. Warm up, then measure.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40080" y="3044952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41248" y="3227832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0" y="3327684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3172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across different machines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371600" y="36484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vs CPU numbers are meaningless together. Same pitch, same players.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217920" y="3044952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19088" y="3227832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940" y="3327684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31729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the average latency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949440" y="36484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hides the suffering of the slowest users. Judge by p95.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40080" y="4581144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DDE6F5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41248" y="4764024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100" y="4863876"/>
            <a:ext cx="184343" cy="18434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4709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stack by fashion, not by workload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1371600" y="5184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“Netflix uses X” is not a rationale. YOUR traffic + YOUR benchmark = your answer.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217920" y="4581144"/>
            <a:ext cx="5349240" cy="1353312"/>
          </a:xfrm>
          <a:prstGeom prst="roundRect">
            <a:avLst>
              <a:gd name="adj" fmla="val 6081"/>
            </a:avLst>
          </a:prstGeom>
          <a:solidFill>
            <a:srgbClr val="EEF2FA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419088" y="4764024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8940" y="4863876"/>
            <a:ext cx="184343" cy="18434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49440" y="4709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cold start with autoscaling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6949440" y="51846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 + 40s cold start = angry first user every morning. Keep minReplicas: 1 if that hurts.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32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2E355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0292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66934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· RECAP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36192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85800" y="1691640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928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91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serving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94760" y="1691640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≠ service. The serving stack is the dabbawala network around the chef.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5800" y="2496312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9631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six stacks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794760" y="249631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BentoML · vLLM · SGLang · Triton · KServe — and what each is FOR.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85800" y="3300984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502152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330098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the metrics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794760" y="3300984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p95, throughput, tokens/sec, cold start — and why average latency lies.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4105656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06824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10565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fairly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794760" y="4105656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prompts, same machine, warm-up first.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85800" y="4910328"/>
            <a:ext cx="7040880" cy="676656"/>
          </a:xfrm>
          <a:prstGeom prst="roundRect">
            <a:avLst>
              <a:gd name="adj" fmla="val 10811"/>
            </a:avLst>
          </a:prstGeom>
          <a:solidFill>
            <a:srgbClr val="2E3554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1149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491032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9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with rationale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3794760" y="491032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+ numbers + trade-offs + revisit condition.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8092440" y="169164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2E3554"/>
          </a:solidFill>
          <a:ln/>
          <a:effectLst>
            <a:outerShdw sx="100000" sy="100000" kx="0" ky="0" algn="bl" rotWithShape="0" blurRad="76200" dist="25400" dir="5400000">
              <a:srgbClr val="9AA4B8">
                <a:alpha val="35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832104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8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321040" y="2194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&amp; Cloud Deployment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321040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bento becomes a Docker image and goes live on AWS App Runner / Cloud Run / Container Apps — with autoscaling, secrets and health probes.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83210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benchmark numbers — we deploy the winner.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68580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· Track 2.A · Session 1 — Model Serving Stacks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2026-07-20T05:27:02Z</dcterms:created>
  <dcterms:modified xsi:type="dcterms:W3CDTF">2026-07-20T05:27:02Z</dcterms:modified>
</cp:coreProperties>
</file>