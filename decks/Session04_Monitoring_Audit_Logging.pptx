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to Session 4. Sessions 1 to 3 selected the serving stack, containerised it, and engineered a gated release process. Today the service is treated as live: it must report its own health, reveal when its answers may be degrading, and retain a defensible record of every interaction. State at the outset that the lab is entirely local — the model container from previous sessions is joined by Prometheus and Grafana containers, and the drift report runs in the host Python environment. No cloud account is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Emphasise the split: 45 minutes of concepts, 60 minutes of local lab, 15 minutes of review. The lab's central moments are the Grafana alert entering the Firing state in Step 3 and the redacted audit line in Step 4 — protect time for both. The drift report in Step 5 bridges directly into Session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precisely: Sessions 1–3 end at a successful deployment, but a process that is running reports nothing about itself unless it is instrumented. Introduce the three standing questions — health, correctness, provability — and name the tool that answers each. These three questions structure both the theory block and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layers on this slide. First the three pillars — metrics, logs, traces — and what each is for; today's session builds metrics and one specialised log. Then the four golden signals from the Google SRE canon, plus the AI-specific fifth: answer quality. Land the point that a service can be fast, busy, error-free and saturation-free — and still be answering incorrectly. That is why Steps 1–3 of the lab cover the first four signals and Step 5 covers the fifth.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to land. First, the pull model: the service only exposes a plain-text /metrics page; Prometheus visits on a schedule — every 5 seconds in the lab — reads it, and stores the samples. The service never sends anything. Second, the data model: each sample belongs to a time series identified by a metric name plus labels; the labels turn one counter into many series, which is why traffic and errors are the same metric distinguished by status. Third, the contract: everything downstream — queries, dashboards, alerts, the SLO — is built on what this text page publishes.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instrumentation running in the lab container. Two metric types carry the whole session. The Counter is monotonic — it only increases — and rate() later derives requests per second from it; its two labels, endpoint and status, are what separate traffic from errors. The Histogram records each latency observation into cumulative buckets, which is what makes percentiles computable at query time; note that 4 seconds — the SLO threshold used in the lab alert — is one of the bucket boundaries,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the instrumentation, also verbatim from the lab container. The middleware wraps every request centrally, so no handler needs its own timing code. The path filter is the important discipline: only known endpoints are recorded as label values, keeping label cardinality bounded — recording arbitrary paths or user identifiers as labels is a well-known way to overwhelm a Prometheus server. The /metrics endpoint simply serialises the current values as plain text; Prometheus does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two functions are needed today, and both queries are executed verbatim in Lab Step 2. Walk each line by line. Left: rate() converts a monotonic counter into a per-second rate over a trailing window, handling counter resets; the result is one series per label combination, which is the traffic panel. Right: the histogram quantile — the inner rate() gives each bucket's growth, sum by (le) aggregates while preserving bucket boundaries, and histogram_quantile interpolates the 95th percentile. This same expression is the dashboard's latency panel and the alert condition built in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First, provisioning: the lab's Grafana starts with its datasource and its dashboard already defined, because both are YAML and JSON files shipped in the repository and mounted into the container — dashboards are code, reviewed like code, not artefacts of clicking. Second, the three panels of the golden-signals dashboard, each of which is nothing more than a PromQL query rendered over time. Third, alert discipline: an alert rule is a sustained condition, and the team alerts on symptoms users feel — latency and error rate — not on every metric that exists. Over-alerting trains the on-call to ignore the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three terms precisely — they are routinely conflated in industry. The SLI is a measured quantity; the SLO is the internal target stated over that quantity; the SLA is the external contract with remedies, deliberately looser than the SLO so the team's internal bar is stricter than its legal promise. The right column grounds each term in today's service. Note the deliberate alignment: the SLO threshold of 4 seconds is a histogram bucket boundary, so the SLI can be computed accurately at exactly the value the objective is stated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arithmetic on the slide: a 30-day month contains 43,200 minutes; a 99.9% objective tolerates 0.1% of breach, which is 43.2 minutes. The budget reframes reliability from 'never fail' to 'spend failure deliberately': an exhausted budget stops feature releases and redirects effort to reliability; a healthy budget is licence to ship faster. Tie it to the lab: the p95 alert built in Step 3 is the tripwire on the objective — every minute it fires is budget spent, and about 43 minutes of firing in a month exhausts the objective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drift formally before the taxonomy: the statistical environment the model was validated in stops holding, while the code and weights are unchanged. The crucial property: there is no failure signal — no exception, no 500, every operational dashboard green — which is why the golden signals alone cannot detect it. Then the three types, each with one concrete example; keep the distinctions crisp. Detection, on the bottom strip, is always a windowed comparison: baseline versus current, feature by feature, on a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lab's drift script, abbreviated. Two DataFrames represent the two windows: the baseline is the traffic profile at validation time — prompts around 60 words, latency around 1.5 s, satisfaction skewed high; the current window has drifted — 95-word prompts, 2.6 s latency, satisfaction slipping. The DataDriftPreset compares the windows column by column and writes a self-contained HTML report. Walk the right column: how to read the report, then the response playbook. The playbook's final step — the retraining decision — is automated in Session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banking, insurance and healthcare, the audit log is the organisation's defence when a regulator asks questions or a customer disputes an answer. Walk the actual lab record on the left, then the rationale for each field on the right — every field exists to answer a specific question later. model_version deserves emphasis: without it, no answer can be attributed to a release, and the reconstruction question at the bottom is unanswerable. Close with the production additions: retrieval sources and guardrail verdicts extend the same record for RAG and safety-filtered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theory — the lab's audit.jsonl demonstrates the schema and the redaction; this slide covers the storage regime production adds around it. Append-only is the decisive property: an editable log has essentially no evidentiary value. WORM object storage — S3 Object Lock in compliance mode is the canonical example — makes deletion impossible even for administrators until the retention date passes. Retention periods are set by the regulator, not the team, and early deletion is itself a violation. The audit stream also feeds the SIEM, and access to the audit log is itself an audited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design decision for PII in logs. Walk the two columns dimension by dimension: what is stored, reversibility, exposure risk, investigative flexibility, regulatory fit. Log-time redaction destroys the original before it reaches disk — irreversible by construction, so a leaked or subpoenaed log leaks nothing; the cost is that investigations see placeholders. Query-time redaction stores raw text encrypted and masks on read — flexible, but the store remains a high-value target whose every safeguard is an access control that can fail. State the default clearly: log-time for regulated data; if a regulator requires originals, they belong in a separately governed vault, not in the operational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code: four compiled patterns for the identifier formats most relevant in an Indian financial context — email, Aadhaar, PAN, phone — and a redact() function that substitutes a named placeholder for every match. The substitution happens before the audit line is assembled, which is what makes this log-time redaction. Then the honest limits, right column: regex recognises formatted identifiers only — it cannot find names, addresses or free-text identifiers. Production layers an NER-based engine, Microsoft Presidio being the common choice, over exactly this kind of pattern set, and the whole system is measured by recall on labelled samples of the organisation's own traffic — the metric that matters is what escapes.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pairs as previous sessions. All steps run locally against the session4_lab handout; the only network access needed is image pulls and one pip install. Roughly 6 GB of free RAM is required — the model container plus Prometheus plus Grafana. The pass criterion: every participant sees the alert in the Firing state and a redacted audit line with their own eyes.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participants before any command runs. docker compose starts three containers: the instrumented llm server on port 8080, Prometheus on 9090 scraping llm:8080/metrics every 5 seconds, and Grafana on 3000 with its datasource and golden-signals dashboard pre-provisioned from files in the repository. The audit log crosses the container boundary through the ./logs volume mount, which is why Step 0 creates and opens that directory. Evidently is deliberately not a container: the drift report runs in the host Python environment against synthetic windows, offline. Emphasise the arrow directions: Prometheus pulls from the service; Grafana queries Prometheus; the service itself sends nothing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 generates the API key into .env and prepares the logs directory — the chmod matters because the audit file is written by the container user through the volume mount. Step 1 brings up all three containers and then goes straight to the most instructive command of the lab: curl on /metrics. Participants read counters and histogram buckets as plain text before Prometheus has done anything — establishing that the text format is the monitoring contract and everything else is machinery over it. The checkpoint before proceeding: localhost:9090/targets shows job llm as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traffic script sends about sixty requests, and every fifth one deliberately carries a wrong API key, producing 401s — the dashboards need an error story as well as a success story. While the script runs, participants execute the two PromQL queries from the theory block in the Prometheus web UI. The observation to draw out: the 401s appear as their own status="401" series in the rate query — errors are not a separate system, they are the same labelled counter, sliced by label. The p95 value from the second query becomes the reference point for the alert threshold in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requires no construction — it is provisioned from JSON in the repository, reinforcing dashboards-as-code. Participants run traffic and watch the three panels move, then build the alert in the panel UI: p95 above 4 seconds sustained for 1 minute. One traffic script rarely trips it; two scripts in parallel contend for the model and push p95 over the threshold — watch the rule pass through Pending into Firing under Alerting → Alert rules. Then hold the SLO discussion at the checkpoint: the alert is the tripwire on the objective, and the 43-minute budget from the theory block decides how much firing is tolerable before releases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verification moment for the audit half of the session. The request deliberately carries the three identifier types a regulator would ask about — a phone number, an email address, an Aadhaar-format number. The tail of audit.jsonl must show the placeholders and only the placeholders: the raw PII never reached the file, because redaction ran at log time, before the write. Also direct attention to what is retained — ts, request_id, client, model_version, latency — the fields that answer the reconstruction question. Close with the discussion prompt: which redaction regime does a bank need, and which might an internal tool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drift step runs in the host Python environment, not a container — activate the Session 1 venv, install the pinned Evidently, run the script, and open the HTML report. The synthetic windows encode the drift scenario from the theory block: prompt length 60 to 95 words, latency 1.5 to 2.6 seconds, satisfaction slipping. Ask participants to read the report properly: which columns drifted, the per-column drift scores, and the dataset-level verdict. The sentence to land is the same as in theory: nothing in the code changed — the input distribution did. In production this script runs on a schedule against real logged features, and a breach opens a retraining ticket, which is Session 5's subject. Step 6 tears the stack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synthesis slide: every mechanism used today has a direct production counterpart. The first row deserves emphasis — the instrumentation layer, prometheus_client in the application, is identical in production; what changes is who operates the machinery around it. Walk each row and connect it to the step where it was exercised. Participants restate this mapping in their own words during the review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all four items before the review block. Item 4 is the comprehension check: the short written analysis should identify the most-drifted feature from the report and state a concrete production response — schedule the check, alert on breach, decide on retraining. Expect the words distribution, baseline, retraining in a sound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pitfall maps to a concept covered today and to a lab step where the correct practice was exercised; invite participants to name the guarding step for each. The two most consequential in practice: monitoring infrastructure while answer quality goes unmeasured, and alert fatigue — an on-call who mutes the channel has no monitoring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five capabilities: instrumentation, querying and visualisation, reliability targets with error budgets, drift detection, and regulator-grade audit logging. Remind pairs to retain the session4_lab stack; Session 5 builds shadow deployments, automated retraining triggers and incident response on this same instrumented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946"/>
        </a:solidFill>
      </p:bgPr>
    </p:bg>
    <p:spTree>
      <p:nvGrpSpPr>
        <p:cNvPr id="1" name=""/>
        <p:cNvGrpSpPr/>
        <p:nvPr/>
      </p:nvGrpSpPr>
      <p:grpSpPr>
        <a:xfrm>
          <a:off x="0" y="0"/>
          <a:ext cx="0" cy="0"/>
          <a:chOff x="0" y="0"/>
          <a:chExt cx="0" cy="0"/>
        </a:xfrm>
      </p:grpSpPr>
      <p:sp>
        <p:nvSpPr>
          <p:cNvPr id="2" name="Shape 0"/>
          <p:cNvSpPr/>
          <p:nvPr/>
        </p:nvSpPr>
        <p:spPr>
          <a:xfrm>
            <a:off x="9509760" y="-1645920"/>
            <a:ext cx="4937760" cy="4937760"/>
          </a:xfrm>
          <a:prstGeom prst="ellipse">
            <a:avLst/>
          </a:prstGeom>
          <a:solidFill>
            <a:srgbClr val="2E3554"/>
          </a:solidFill>
          <a:ln/>
        </p:spPr>
      </p:sp>
      <p:sp>
        <p:nvSpPr>
          <p:cNvPr id="3" name="Shape 1"/>
          <p:cNvSpPr/>
          <p:nvPr/>
        </p:nvSpPr>
        <p:spPr>
          <a:xfrm>
            <a:off x="-1463040" y="4937760"/>
            <a:ext cx="4023360" cy="4023360"/>
          </a:xfrm>
          <a:prstGeom prst="ellipse">
            <a:avLst/>
          </a:prstGeom>
          <a:solidFill>
            <a:srgbClr val="2E3554"/>
          </a:solidFill>
          <a:ln/>
        </p:spPr>
      </p:sp>
      <p:sp>
        <p:nvSpPr>
          <p:cNvPr id="4" name="Shape 2"/>
          <p:cNvSpPr/>
          <p:nvPr/>
        </p:nvSpPr>
        <p:spPr>
          <a:xfrm>
            <a:off x="685800" y="777240"/>
            <a:ext cx="777240" cy="777240"/>
          </a:xfrm>
          <a:prstGeom prst="ellipse">
            <a:avLst/>
          </a:prstGeom>
          <a:solidFill>
            <a:srgbClr val="E8871E"/>
          </a:solidFill>
          <a:ln/>
        </p:spPr>
      </p:sp>
      <p:pic>
        <p:nvPicPr>
          <p:cNvPr id="5" name="Image 0" descr="preencoded.png">    </p:cNvPr>
          <p:cNvPicPr>
            <a:picLocks noChangeAspect="1"/>
          </p:cNvPicPr>
          <p:nvPr/>
        </p:nvPicPr>
        <p:blipFill>
          <a:blip r:embed="rId1"/>
          <a:stretch>
            <a:fillRect/>
          </a:stretch>
        </p:blipFill>
        <p:spPr>
          <a:xfrm>
            <a:off x="887882" y="979322"/>
            <a:ext cx="373075" cy="373075"/>
          </a:xfrm>
          <a:prstGeom prst="rect">
            <a:avLst/>
          </a:prstGeom>
        </p:spPr>
      </p:pic>
      <p:sp>
        <p:nvSpPr>
          <p:cNvPr id="6" name="Text 3"/>
          <p:cNvSpPr/>
          <p:nvPr/>
        </p:nvSpPr>
        <p:spPr>
          <a:xfrm>
            <a:off x="685800" y="1920240"/>
            <a:ext cx="10515600" cy="365760"/>
          </a:xfrm>
          <a:prstGeom prst="rect">
            <a:avLst/>
          </a:prstGeom>
          <a:noFill/>
          <a:ln/>
        </p:spPr>
        <p:txBody>
          <a:bodyPr wrap="square" lIns="0" tIns="0" rIns="0" bIns="0" rtlCol="0" anchor="ctr"/>
          <a:lstStyle/>
          <a:p>
            <a:pPr indent="0" marL="0">
              <a:buNone/>
            </a:pPr>
            <a:r>
              <a:rPr lang="en-US" sz="1300" b="1" spc="200" kern="0" dirty="0">
                <a:solidFill>
                  <a:srgbClr val="E8871E"/>
                </a:solidFill>
                <a:latin typeface="Arial" pitchFamily="34" charset="0"/>
                <a:ea typeface="Arial" pitchFamily="34" charset="-122"/>
                <a:cs typeface="Arial" pitchFamily="34" charset="-120"/>
              </a:rPr>
              <a:t>AI FULL-STACK &amp; DEPLOYMENT ENGINEER · TRACK 2.A · SESSION 4</a:t>
            </a:r>
            <a:endParaRPr lang="en-US" sz="1300" dirty="0"/>
          </a:p>
        </p:txBody>
      </p:sp>
      <p:sp>
        <p:nvSpPr>
          <p:cNvPr id="7" name="Text 4"/>
          <p:cNvSpPr/>
          <p:nvPr/>
        </p:nvSpPr>
        <p:spPr>
          <a:xfrm>
            <a:off x="658368" y="2286000"/>
            <a:ext cx="1133856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Production Monitoring, Drift Detection &amp; Audit Logging</a:t>
            </a:r>
            <a:endParaRPr lang="en-US" sz="3800" dirty="0"/>
          </a:p>
        </p:txBody>
      </p:sp>
      <p:sp>
        <p:nvSpPr>
          <p:cNvPr id="8" name="Text 5"/>
          <p:cNvSpPr/>
          <p:nvPr/>
        </p:nvSpPr>
        <p:spPr>
          <a:xfrm>
            <a:off x="685800" y="3337560"/>
            <a:ext cx="10424160" cy="77724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Making a deployed model observable and accountable: Prometheus metrics, Grafana dashboards and alerts, drift detection with Evidently, and a regulator-grade audit log with PII redaction</a:t>
            </a:r>
            <a:endParaRPr lang="en-US" sz="1700" dirty="0"/>
          </a:p>
        </p:txBody>
      </p:sp>
      <p:sp>
        <p:nvSpPr>
          <p:cNvPr id="9" name="Text 6"/>
          <p:cNvSpPr/>
          <p:nvPr/>
        </p:nvSpPr>
        <p:spPr>
          <a:xfrm>
            <a:off x="685800" y="4389120"/>
            <a:ext cx="1078992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Golden signals  ·  Prometheus &amp; PromQL  ·  Grafana alerting  ·  SLOs &amp; error budgets  ·  Evidently drift reports  ·  Audit logs &amp; redaction</a:t>
            </a:r>
            <a:endParaRPr lang="en-US" sz="1450" dirty="0"/>
          </a:p>
        </p:txBody>
      </p:sp>
      <p:sp>
        <p:nvSpPr>
          <p:cNvPr id="10" name="Text 7"/>
          <p:cNvSpPr/>
          <p:nvPr/>
        </p:nvSpPr>
        <p:spPr>
          <a:xfrm>
            <a:off x="685800" y="4983480"/>
            <a:ext cx="10058400" cy="320040"/>
          </a:xfrm>
          <a:prstGeom prst="rect">
            <a:avLst/>
          </a:prstGeom>
          <a:noFill/>
          <a:ln/>
        </p:spPr>
        <p:txBody>
          <a:bodyPr wrap="square" lIns="0" tIns="0" rIns="0" bIns="0" rtlCol="0" anchor="ctr"/>
          <a:lstStyle/>
          <a:p>
            <a:pPr indent="0" marL="0">
              <a:buNone/>
            </a:pPr>
            <a:r>
              <a:rPr lang="en-US" sz="1300" i="1" dirty="0">
                <a:solidFill>
                  <a:srgbClr val="F5B971"/>
                </a:solidFill>
                <a:latin typeface="Calibri" pitchFamily="34" charset="0"/>
                <a:ea typeface="Calibri" pitchFamily="34" charset="-122"/>
                <a:cs typeface="Calibri" pitchFamily="34" charset="-120"/>
              </a:rPr>
              <a:t>The hands-on lab runs entirely on your local machine — a Docker observability stack around the model server.</a:t>
            </a:r>
            <a:endParaRPr lang="en-US" sz="1300" dirty="0"/>
          </a:p>
        </p:txBody>
      </p:sp>
      <p:sp>
        <p:nvSpPr>
          <p:cNvPr id="11" name="Text 8"/>
          <p:cNvSpPr/>
          <p:nvPr/>
        </p:nvSpPr>
        <p:spPr>
          <a:xfrm>
            <a:off x="685800" y="6035040"/>
            <a:ext cx="9601200" cy="320040"/>
          </a:xfrm>
          <a:prstGeom prst="rect">
            <a:avLst/>
          </a:prstGeom>
          <a:noFill/>
          <a:ln/>
        </p:spPr>
        <p:txBody>
          <a:bodyPr wrap="square" lIns="0" tIns="0" rIns="0" bIns="0" rtlCol="0" anchor="ctr"/>
          <a:lstStyle/>
          <a:p>
            <a:pPr indent="0" marL="0">
              <a:buNone/>
            </a:pPr>
            <a:r>
              <a:rPr lang="en-US" sz="1300" dirty="0">
                <a:solidFill>
                  <a:srgbClr val="9AA7C7"/>
                </a:solidFill>
                <a:latin typeface="Calibri" pitchFamily="34" charset="0"/>
                <a:ea typeface="Calibri" pitchFamily="34" charset="-122"/>
                <a:cs typeface="Calibri" pitchFamily="34" charset="-120"/>
              </a:rPr>
              <a:t>Day 4 · 2 hours · concepts 45 min + local lab 60 min + review 15 min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SESSION 4 · AGENDA</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Session agenda</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554480"/>
            <a:ext cx="10881360" cy="1188720"/>
          </a:xfrm>
          <a:prstGeom prst="roundRect">
            <a:avLst>
              <a:gd name="adj" fmla="val 6923"/>
            </a:avLst>
          </a:prstGeom>
          <a:solidFill>
            <a:srgbClr val="EEF2FA"/>
          </a:solidFill>
          <a:ln/>
          <a:effectLst>
            <a:outerShdw sx="100000" sy="100000" kx="0" ky="0" algn="bl" rotWithShape="0" blurRad="76200" dist="25400" dir="5400000">
              <a:srgbClr val="9AA4B8">
                <a:alpha val="35000"/>
              </a:srgbClr>
            </a:outerShdw>
          </a:effectLst>
        </p:spPr>
      </p:sp>
      <p:sp>
        <p:nvSpPr>
          <p:cNvPr id="9" name="Text 5"/>
          <p:cNvSpPr/>
          <p:nvPr/>
        </p:nvSpPr>
        <p:spPr>
          <a:xfrm>
            <a:off x="868680" y="1856232"/>
            <a:ext cx="1280160" cy="548640"/>
          </a:xfrm>
          <a:prstGeom prst="rect">
            <a:avLst/>
          </a:prstGeom>
          <a:noFill/>
          <a:ln/>
        </p:spPr>
        <p:txBody>
          <a:bodyPr wrap="square" lIns="0" tIns="0" rIns="0" bIns="0" rtlCol="0" anchor="ctr"/>
          <a:lstStyle/>
          <a:p>
            <a:pPr indent="0" marL="0">
              <a:buNone/>
            </a:pPr>
            <a:r>
              <a:rPr lang="en-US" sz="2200" b="1" dirty="0">
                <a:solidFill>
                  <a:srgbClr val="E8871E"/>
                </a:solidFill>
                <a:latin typeface="Arial" pitchFamily="34" charset="0"/>
                <a:ea typeface="Arial" pitchFamily="34" charset="-122"/>
                <a:cs typeface="Arial" pitchFamily="34" charset="-120"/>
              </a:rPr>
              <a:t>45 min</a:t>
            </a:r>
            <a:endParaRPr lang="en-US" sz="2200" dirty="0"/>
          </a:p>
        </p:txBody>
      </p:sp>
      <p:sp>
        <p:nvSpPr>
          <p:cNvPr id="10" name="Shape 6"/>
          <p:cNvSpPr/>
          <p:nvPr/>
        </p:nvSpPr>
        <p:spPr>
          <a:xfrm>
            <a:off x="2286000" y="1883664"/>
            <a:ext cx="502920" cy="502920"/>
          </a:xfrm>
          <a:prstGeom prst="ellipse">
            <a:avLst/>
          </a:prstGeom>
          <a:solidFill>
            <a:srgbClr val="232946"/>
          </a:solidFill>
          <a:ln/>
        </p:spPr>
      </p:sp>
      <p:pic>
        <p:nvPicPr>
          <p:cNvPr id="11" name="Image 1" descr="preencoded.png">    </p:cNvPr>
          <p:cNvPicPr>
            <a:picLocks noChangeAspect="1"/>
          </p:cNvPicPr>
          <p:nvPr/>
        </p:nvPicPr>
        <p:blipFill>
          <a:blip r:embed="rId2"/>
          <a:stretch>
            <a:fillRect/>
          </a:stretch>
        </p:blipFill>
        <p:spPr>
          <a:xfrm>
            <a:off x="2416759" y="2014423"/>
            <a:ext cx="241402" cy="241402"/>
          </a:xfrm>
          <a:prstGeom prst="rect">
            <a:avLst/>
          </a:prstGeom>
        </p:spPr>
      </p:pic>
      <p:sp>
        <p:nvSpPr>
          <p:cNvPr id="12" name="Text 7"/>
          <p:cNvSpPr/>
          <p:nvPr/>
        </p:nvSpPr>
        <p:spPr>
          <a:xfrm>
            <a:off x="3017520" y="1682496"/>
            <a:ext cx="813816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Concepts</a:t>
            </a:r>
            <a:endParaRPr lang="en-US" sz="1600" dirty="0"/>
          </a:p>
        </p:txBody>
      </p:sp>
      <p:sp>
        <p:nvSpPr>
          <p:cNvPr id="13" name="Text 8"/>
          <p:cNvSpPr/>
          <p:nvPr/>
        </p:nvSpPr>
        <p:spPr>
          <a:xfrm>
            <a:off x="3017520" y="2029968"/>
            <a:ext cx="8138160" cy="65836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Why a deployed model is invisible by default; observability and the golden signals; Prometheus and PromQL; Grafana dashboards and alert discipline; SLIs, SLOs and error budgets; drift; audit logging and PII redaction for regulated industries.</a:t>
            </a:r>
            <a:endParaRPr lang="en-US" sz="1150" dirty="0"/>
          </a:p>
        </p:txBody>
      </p:sp>
      <p:sp>
        <p:nvSpPr>
          <p:cNvPr id="14" name="Shape 9"/>
          <p:cNvSpPr/>
          <p:nvPr/>
        </p:nvSpPr>
        <p:spPr>
          <a:xfrm>
            <a:off x="640080" y="2971800"/>
            <a:ext cx="10881360" cy="1188720"/>
          </a:xfrm>
          <a:prstGeom prst="roundRect">
            <a:avLst>
              <a:gd name="adj" fmla="val 6923"/>
            </a:avLst>
          </a:prstGeom>
          <a:solidFill>
            <a:srgbClr val="DDE6F5"/>
          </a:solidFill>
          <a:ln/>
          <a:effectLst>
            <a:outerShdw sx="100000" sy="100000" kx="0" ky="0" algn="bl" rotWithShape="0" blurRad="76200" dist="25400" dir="5400000">
              <a:srgbClr val="9AA4B8">
                <a:alpha val="35000"/>
              </a:srgbClr>
            </a:outerShdw>
          </a:effectLst>
        </p:spPr>
      </p:sp>
      <p:sp>
        <p:nvSpPr>
          <p:cNvPr id="15" name="Text 10"/>
          <p:cNvSpPr/>
          <p:nvPr/>
        </p:nvSpPr>
        <p:spPr>
          <a:xfrm>
            <a:off x="868680" y="3273552"/>
            <a:ext cx="1280160" cy="548640"/>
          </a:xfrm>
          <a:prstGeom prst="rect">
            <a:avLst/>
          </a:prstGeom>
          <a:noFill/>
          <a:ln/>
        </p:spPr>
        <p:txBody>
          <a:bodyPr wrap="square" lIns="0" tIns="0" rIns="0" bIns="0" rtlCol="0" anchor="ctr"/>
          <a:lstStyle/>
          <a:p>
            <a:pPr indent="0" marL="0">
              <a:buNone/>
            </a:pPr>
            <a:r>
              <a:rPr lang="en-US" sz="2200" b="1" dirty="0">
                <a:solidFill>
                  <a:srgbClr val="E8871E"/>
                </a:solidFill>
                <a:latin typeface="Arial" pitchFamily="34" charset="0"/>
                <a:ea typeface="Arial" pitchFamily="34" charset="-122"/>
                <a:cs typeface="Arial" pitchFamily="34" charset="-120"/>
              </a:rPr>
              <a:t>60 min</a:t>
            </a:r>
            <a:endParaRPr lang="en-US" sz="2200" dirty="0"/>
          </a:p>
        </p:txBody>
      </p:sp>
      <p:sp>
        <p:nvSpPr>
          <p:cNvPr id="16" name="Shape 11"/>
          <p:cNvSpPr/>
          <p:nvPr/>
        </p:nvSpPr>
        <p:spPr>
          <a:xfrm>
            <a:off x="2286000" y="3300984"/>
            <a:ext cx="502920" cy="502920"/>
          </a:xfrm>
          <a:prstGeom prst="ellipse">
            <a:avLst/>
          </a:prstGeom>
          <a:solidFill>
            <a:srgbClr val="232946"/>
          </a:solidFill>
          <a:ln/>
        </p:spPr>
      </p:sp>
      <p:pic>
        <p:nvPicPr>
          <p:cNvPr id="17" name="Image 2" descr="preencoded.png">    </p:cNvPr>
          <p:cNvPicPr>
            <a:picLocks noChangeAspect="1"/>
          </p:cNvPicPr>
          <p:nvPr/>
        </p:nvPicPr>
        <p:blipFill>
          <a:blip r:embed="rId3"/>
          <a:stretch>
            <a:fillRect/>
          </a:stretch>
        </p:blipFill>
        <p:spPr>
          <a:xfrm>
            <a:off x="2416759" y="3431743"/>
            <a:ext cx="241402" cy="241402"/>
          </a:xfrm>
          <a:prstGeom prst="rect">
            <a:avLst/>
          </a:prstGeom>
        </p:spPr>
      </p:pic>
      <p:sp>
        <p:nvSpPr>
          <p:cNvPr id="18" name="Text 12"/>
          <p:cNvSpPr/>
          <p:nvPr/>
        </p:nvSpPr>
        <p:spPr>
          <a:xfrm>
            <a:off x="3017520" y="3099816"/>
            <a:ext cx="813816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Local observability lab</a:t>
            </a:r>
            <a:endParaRPr lang="en-US" sz="1600" dirty="0"/>
          </a:p>
        </p:txBody>
      </p:sp>
      <p:sp>
        <p:nvSpPr>
          <p:cNvPr id="19" name="Text 13"/>
          <p:cNvSpPr/>
          <p:nvPr/>
        </p:nvSpPr>
        <p:spPr>
          <a:xfrm>
            <a:off x="3017520" y="3447288"/>
            <a:ext cx="8138160" cy="65836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Stand up Prometheus and Grafana around the instrumented model server, generate traffic, query it with PromQL, build and trip a p95 latency alert, verify PII redaction in the audit log, and produce an Evidently drift report. All steps are local.</a:t>
            </a:r>
            <a:endParaRPr lang="en-US" sz="1150" dirty="0"/>
          </a:p>
        </p:txBody>
      </p:sp>
      <p:sp>
        <p:nvSpPr>
          <p:cNvPr id="20" name="Shape 14"/>
          <p:cNvSpPr/>
          <p:nvPr/>
        </p:nvSpPr>
        <p:spPr>
          <a:xfrm>
            <a:off x="640080" y="4389120"/>
            <a:ext cx="10881360" cy="1188720"/>
          </a:xfrm>
          <a:prstGeom prst="roundRect">
            <a:avLst>
              <a:gd name="adj" fmla="val 6923"/>
            </a:avLst>
          </a:prstGeom>
          <a:solidFill>
            <a:srgbClr val="EEF2FA"/>
          </a:solidFill>
          <a:ln/>
          <a:effectLst>
            <a:outerShdw sx="100000" sy="100000" kx="0" ky="0" algn="bl" rotWithShape="0" blurRad="76200" dist="25400" dir="5400000">
              <a:srgbClr val="9AA4B8">
                <a:alpha val="35000"/>
              </a:srgbClr>
            </a:outerShdw>
          </a:effectLst>
        </p:spPr>
      </p:sp>
      <p:sp>
        <p:nvSpPr>
          <p:cNvPr id="21" name="Text 15"/>
          <p:cNvSpPr/>
          <p:nvPr/>
        </p:nvSpPr>
        <p:spPr>
          <a:xfrm>
            <a:off x="868680" y="4690872"/>
            <a:ext cx="1280160" cy="548640"/>
          </a:xfrm>
          <a:prstGeom prst="rect">
            <a:avLst/>
          </a:prstGeom>
          <a:noFill/>
          <a:ln/>
        </p:spPr>
        <p:txBody>
          <a:bodyPr wrap="square" lIns="0" tIns="0" rIns="0" bIns="0" rtlCol="0" anchor="ctr"/>
          <a:lstStyle/>
          <a:p>
            <a:pPr indent="0" marL="0">
              <a:buNone/>
            </a:pPr>
            <a:r>
              <a:rPr lang="en-US" sz="2200" b="1" dirty="0">
                <a:solidFill>
                  <a:srgbClr val="E8871E"/>
                </a:solidFill>
                <a:latin typeface="Arial" pitchFamily="34" charset="0"/>
                <a:ea typeface="Arial" pitchFamily="34" charset="-122"/>
                <a:cs typeface="Arial" pitchFamily="34" charset="-120"/>
              </a:rPr>
              <a:t>15 min</a:t>
            </a:r>
            <a:endParaRPr lang="en-US" sz="2200" dirty="0"/>
          </a:p>
        </p:txBody>
      </p:sp>
      <p:sp>
        <p:nvSpPr>
          <p:cNvPr id="22" name="Shape 16"/>
          <p:cNvSpPr/>
          <p:nvPr/>
        </p:nvSpPr>
        <p:spPr>
          <a:xfrm>
            <a:off x="2286000" y="4718304"/>
            <a:ext cx="502920" cy="502920"/>
          </a:xfrm>
          <a:prstGeom prst="ellipse">
            <a:avLst/>
          </a:prstGeom>
          <a:solidFill>
            <a:srgbClr val="232946"/>
          </a:solidFill>
          <a:ln/>
        </p:spPr>
      </p:sp>
      <p:pic>
        <p:nvPicPr>
          <p:cNvPr id="23" name="Image 3" descr="preencoded.png">    </p:cNvPr>
          <p:cNvPicPr>
            <a:picLocks noChangeAspect="1"/>
          </p:cNvPicPr>
          <p:nvPr/>
        </p:nvPicPr>
        <p:blipFill>
          <a:blip r:embed="rId4"/>
          <a:stretch>
            <a:fillRect/>
          </a:stretch>
        </p:blipFill>
        <p:spPr>
          <a:xfrm>
            <a:off x="2416759" y="4849063"/>
            <a:ext cx="241402" cy="241402"/>
          </a:xfrm>
          <a:prstGeom prst="rect">
            <a:avLst/>
          </a:prstGeom>
        </p:spPr>
      </p:pic>
      <p:sp>
        <p:nvSpPr>
          <p:cNvPr id="24" name="Text 17"/>
          <p:cNvSpPr/>
          <p:nvPr/>
        </p:nvSpPr>
        <p:spPr>
          <a:xfrm>
            <a:off x="3017520" y="4517136"/>
            <a:ext cx="813816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Review &amp; wrap-up</a:t>
            </a:r>
            <a:endParaRPr lang="en-US" sz="1600" dirty="0"/>
          </a:p>
        </p:txBody>
      </p:sp>
      <p:sp>
        <p:nvSpPr>
          <p:cNvPr id="25" name="Text 18"/>
          <p:cNvSpPr/>
          <p:nvPr/>
        </p:nvSpPr>
        <p:spPr>
          <a:xfrm>
            <a:off x="3017520" y="4864608"/>
            <a:ext cx="8138160" cy="65836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Compare evidence across pairs, map each local mechanism to its production counterpart, and preview Session 5.</a:t>
            </a:r>
            <a:endParaRPr lang="en-US" sz="1150" dirty="0"/>
          </a:p>
        </p:txBody>
      </p:sp>
      <p:sp>
        <p:nvSpPr>
          <p:cNvPr id="26" name="Text 19"/>
          <p:cNvSpPr/>
          <p:nvPr/>
        </p:nvSpPr>
        <p:spPr>
          <a:xfrm>
            <a:off x="640080" y="5943600"/>
            <a:ext cx="10881360" cy="411480"/>
          </a:xfrm>
          <a:prstGeom prst="rect">
            <a:avLst/>
          </a:prstGeom>
          <a:noFill/>
          <a:ln/>
        </p:spPr>
        <p:txBody>
          <a:bodyPr wrap="square" lIns="0" tIns="0" rIns="0" bIns="0" rtlCol="0" anchor="ctr"/>
          <a:lstStyle/>
          <a:p>
            <a:pPr indent="0" marL="0">
              <a:buNone/>
            </a:pPr>
            <a:r>
              <a:rPr lang="en-US" sz="1350" b="1" dirty="0">
                <a:solidFill>
                  <a:srgbClr val="E8871E"/>
                </a:solidFill>
                <a:latin typeface="Calibri" pitchFamily="34" charset="0"/>
                <a:ea typeface="Calibri" pitchFamily="34" charset="-122"/>
                <a:cs typeface="Calibri" pitchFamily="34" charset="-120"/>
              </a:rPr>
              <a:t>Objective: </a:t>
            </a:r>
            <a:pPr indent="0" marL="0">
              <a:buNone/>
            </a:pPr>
            <a:r>
              <a:rPr lang="en-US" sz="1350" dirty="0">
                <a:solidFill>
                  <a:srgbClr val="232946"/>
                </a:solidFill>
                <a:latin typeface="Calibri" pitchFamily="34" charset="0"/>
                <a:ea typeface="Calibri" pitchFamily="34" charset="-122"/>
                <a:cs typeface="Calibri" pitchFamily="34" charset="-120"/>
              </a:rPr>
              <a:t>surround one model service with the three answers production must always give — is it healthy, is it still correct, and can we prove what it said.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THE PROBLEM</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A deployed model is invisible by default</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Text 4"/>
          <p:cNvSpPr/>
          <p:nvPr/>
        </p:nvSpPr>
        <p:spPr>
          <a:xfrm>
            <a:off x="640080" y="1417320"/>
            <a:ext cx="10881360" cy="548640"/>
          </a:xfrm>
          <a:prstGeom prst="rect">
            <a:avLst/>
          </a:prstGeom>
          <a:noFill/>
          <a:ln/>
        </p:spPr>
        <p:txBody>
          <a:bodyPr wrap="square" lIns="0" tIns="0" rIns="0" bIns="0" rtlCol="0" anchor="ctr"/>
          <a:lstStyle/>
          <a:p>
            <a:pPr indent="0" marL="0">
              <a:buNone/>
            </a:pPr>
            <a:r>
              <a:rPr lang="en-US" sz="1350" dirty="0">
                <a:solidFill>
                  <a:srgbClr val="5A6478"/>
                </a:solidFill>
                <a:latin typeface="Calibri" pitchFamily="34" charset="0"/>
                <a:ea typeface="Calibri" pitchFamily="34" charset="-122"/>
                <a:cs typeface="Calibri" pitchFamily="34" charset="-120"/>
              </a:rPr>
              <a:t>Sessions 1–3 built, shipped and gated the service. From the moment it serves users, three questions must be answerable at any time — and none of them is answered by default.</a:t>
            </a:r>
            <a:endParaRPr lang="en-US" sz="1350" dirty="0"/>
          </a:p>
        </p:txBody>
      </p:sp>
      <p:sp>
        <p:nvSpPr>
          <p:cNvPr id="9" name="Shape 5"/>
          <p:cNvSpPr/>
          <p:nvPr/>
        </p:nvSpPr>
        <p:spPr>
          <a:xfrm>
            <a:off x="640080" y="2103120"/>
            <a:ext cx="3474720" cy="3200400"/>
          </a:xfrm>
          <a:prstGeom prst="roundRect">
            <a:avLst>
              <a:gd name="adj" fmla="val 2571"/>
            </a:avLst>
          </a:prstGeom>
          <a:solidFill>
            <a:srgbClr val="EEF2FA"/>
          </a:solidFill>
          <a:ln/>
          <a:effectLst>
            <a:outerShdw sx="100000" sy="100000" kx="0" ky="0" algn="bl" rotWithShape="0" blurRad="76200" dist="25400" dir="5400000">
              <a:srgbClr val="9AA4B8">
                <a:alpha val="35000"/>
              </a:srgbClr>
            </a:outerShdw>
          </a:effectLst>
        </p:spPr>
      </p:sp>
      <p:sp>
        <p:nvSpPr>
          <p:cNvPr id="10" name="Shape 6"/>
          <p:cNvSpPr/>
          <p:nvPr/>
        </p:nvSpPr>
        <p:spPr>
          <a:xfrm>
            <a:off x="868680" y="2331720"/>
            <a:ext cx="502920" cy="502920"/>
          </a:xfrm>
          <a:prstGeom prst="ellipse">
            <a:avLst/>
          </a:prstGeom>
          <a:solidFill>
            <a:srgbClr val="232946"/>
          </a:solidFill>
          <a:ln/>
        </p:spPr>
      </p:sp>
      <p:pic>
        <p:nvPicPr>
          <p:cNvPr id="11" name="Image 1" descr="preencoded.png">    </p:cNvPr>
          <p:cNvPicPr>
            <a:picLocks noChangeAspect="1"/>
          </p:cNvPicPr>
          <p:nvPr/>
        </p:nvPicPr>
        <p:blipFill>
          <a:blip r:embed="rId2"/>
          <a:stretch>
            <a:fillRect/>
          </a:stretch>
        </p:blipFill>
        <p:spPr>
          <a:xfrm>
            <a:off x="999439" y="2462479"/>
            <a:ext cx="241402" cy="241402"/>
          </a:xfrm>
          <a:prstGeom prst="rect">
            <a:avLst/>
          </a:prstGeom>
        </p:spPr>
      </p:pic>
      <p:sp>
        <p:nvSpPr>
          <p:cNvPr id="12" name="Text 7"/>
          <p:cNvSpPr/>
          <p:nvPr/>
        </p:nvSpPr>
        <p:spPr>
          <a:xfrm>
            <a:off x="1508760" y="2395728"/>
            <a:ext cx="2514600" cy="64008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Is it healthy right now?</a:t>
            </a:r>
            <a:endParaRPr lang="en-US" sz="1350" dirty="0"/>
          </a:p>
        </p:txBody>
      </p:sp>
      <p:sp>
        <p:nvSpPr>
          <p:cNvPr id="13" name="Text 8"/>
          <p:cNvSpPr/>
          <p:nvPr/>
        </p:nvSpPr>
        <p:spPr>
          <a:xfrm>
            <a:off x="868680" y="3154680"/>
            <a:ext cx="3017520" cy="105156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Latency, traffic, error rate and saturation — the operational state of the service at this minute.</a:t>
            </a:r>
            <a:endParaRPr lang="en-US" sz="1100" dirty="0"/>
          </a:p>
        </p:txBody>
      </p:sp>
      <p:sp>
        <p:nvSpPr>
          <p:cNvPr id="14" name="Text 9"/>
          <p:cNvSpPr/>
          <p:nvPr/>
        </p:nvSpPr>
        <p:spPr>
          <a:xfrm>
            <a:off x="868680" y="4224528"/>
            <a:ext cx="3017520" cy="960120"/>
          </a:xfrm>
          <a:prstGeom prst="rect">
            <a:avLst/>
          </a:prstGeom>
          <a:noFill/>
          <a:ln/>
        </p:spPr>
        <p:txBody>
          <a:bodyPr wrap="square" lIns="0" tIns="0" rIns="0" bIns="0" rtlCol="0" anchor="ctr"/>
          <a:lstStyle/>
          <a:p>
            <a:pPr indent="0" marL="0">
              <a:buNone/>
            </a:pPr>
            <a:r>
              <a:rPr lang="en-US" sz="1100" b="1" dirty="0">
                <a:solidFill>
                  <a:srgbClr val="232946"/>
                </a:solidFill>
                <a:latin typeface="Calibri" pitchFamily="34" charset="0"/>
                <a:ea typeface="Calibri" pitchFamily="34" charset="-122"/>
                <a:cs typeface="Calibri" pitchFamily="34" charset="-120"/>
              </a:rPr>
              <a:t>Answered by metrics: instrument the service, scrape with Prometheus, visualise and alert with Grafana.</a:t>
            </a:r>
            <a:endParaRPr lang="en-US" sz="1100" dirty="0"/>
          </a:p>
        </p:txBody>
      </p:sp>
      <p:sp>
        <p:nvSpPr>
          <p:cNvPr id="15" name="Shape 10"/>
          <p:cNvSpPr/>
          <p:nvPr/>
        </p:nvSpPr>
        <p:spPr>
          <a:xfrm>
            <a:off x="4343400" y="2103120"/>
            <a:ext cx="3474720" cy="3200400"/>
          </a:xfrm>
          <a:prstGeom prst="roundRect">
            <a:avLst>
              <a:gd name="adj" fmla="val 2571"/>
            </a:avLst>
          </a:prstGeom>
          <a:solidFill>
            <a:srgbClr val="DDE6F5"/>
          </a:solidFill>
          <a:ln/>
          <a:effectLst>
            <a:outerShdw sx="100000" sy="100000" kx="0" ky="0" algn="bl" rotWithShape="0" blurRad="76200" dist="25400" dir="5400000">
              <a:srgbClr val="9AA4B8">
                <a:alpha val="35000"/>
              </a:srgbClr>
            </a:outerShdw>
          </a:effectLst>
        </p:spPr>
      </p:sp>
      <p:sp>
        <p:nvSpPr>
          <p:cNvPr id="16" name="Shape 11"/>
          <p:cNvSpPr/>
          <p:nvPr/>
        </p:nvSpPr>
        <p:spPr>
          <a:xfrm>
            <a:off x="4572000" y="2331720"/>
            <a:ext cx="502920" cy="502920"/>
          </a:xfrm>
          <a:prstGeom prst="ellipse">
            <a:avLst/>
          </a:prstGeom>
          <a:solidFill>
            <a:srgbClr val="232946"/>
          </a:solidFill>
          <a:ln/>
        </p:spPr>
      </p:sp>
      <p:pic>
        <p:nvPicPr>
          <p:cNvPr id="17" name="Image 2" descr="preencoded.png">    </p:cNvPr>
          <p:cNvPicPr>
            <a:picLocks noChangeAspect="1"/>
          </p:cNvPicPr>
          <p:nvPr/>
        </p:nvPicPr>
        <p:blipFill>
          <a:blip r:embed="rId3"/>
          <a:stretch>
            <a:fillRect/>
          </a:stretch>
        </p:blipFill>
        <p:spPr>
          <a:xfrm>
            <a:off x="4702759" y="2462479"/>
            <a:ext cx="241402" cy="241402"/>
          </a:xfrm>
          <a:prstGeom prst="rect">
            <a:avLst/>
          </a:prstGeom>
        </p:spPr>
      </p:pic>
      <p:sp>
        <p:nvSpPr>
          <p:cNvPr id="18" name="Text 12"/>
          <p:cNvSpPr/>
          <p:nvPr/>
        </p:nvSpPr>
        <p:spPr>
          <a:xfrm>
            <a:off x="5212080" y="2395728"/>
            <a:ext cx="2514600" cy="64008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Is it still correct?</a:t>
            </a:r>
            <a:endParaRPr lang="en-US" sz="1350" dirty="0"/>
          </a:p>
        </p:txBody>
      </p:sp>
      <p:sp>
        <p:nvSpPr>
          <p:cNvPr id="19" name="Text 13"/>
          <p:cNvSpPr/>
          <p:nvPr/>
        </p:nvSpPr>
        <p:spPr>
          <a:xfrm>
            <a:off x="4572000" y="3154680"/>
            <a:ext cx="3017520" cy="105156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The code can be unchanged while the input distribution shifts and answer quality degrades — with no error signal at all.</a:t>
            </a:r>
            <a:endParaRPr lang="en-US" sz="1100" dirty="0"/>
          </a:p>
        </p:txBody>
      </p:sp>
      <p:sp>
        <p:nvSpPr>
          <p:cNvPr id="20" name="Text 14"/>
          <p:cNvSpPr/>
          <p:nvPr/>
        </p:nvSpPr>
        <p:spPr>
          <a:xfrm>
            <a:off x="4572000" y="4224528"/>
            <a:ext cx="3017520" cy="960120"/>
          </a:xfrm>
          <a:prstGeom prst="rect">
            <a:avLst/>
          </a:prstGeom>
          <a:noFill/>
          <a:ln/>
        </p:spPr>
        <p:txBody>
          <a:bodyPr wrap="square" lIns="0" tIns="0" rIns="0" bIns="0" rtlCol="0" anchor="ctr"/>
          <a:lstStyle/>
          <a:p>
            <a:pPr indent="0" marL="0">
              <a:buNone/>
            </a:pPr>
            <a:r>
              <a:rPr lang="en-US" sz="1100" b="1" dirty="0">
                <a:solidFill>
                  <a:srgbClr val="232946"/>
                </a:solidFill>
                <a:latin typeface="Calibri" pitchFamily="34" charset="0"/>
                <a:ea typeface="Calibri" pitchFamily="34" charset="-122"/>
                <a:cs typeface="Calibri" pitchFamily="34" charset="-120"/>
              </a:rPr>
              <a:t>Answered by drift detection and quality evaluation: compare current traffic against a validated baseline.</a:t>
            </a:r>
            <a:endParaRPr lang="en-US" sz="1100" dirty="0"/>
          </a:p>
        </p:txBody>
      </p:sp>
      <p:sp>
        <p:nvSpPr>
          <p:cNvPr id="21" name="Shape 15"/>
          <p:cNvSpPr/>
          <p:nvPr/>
        </p:nvSpPr>
        <p:spPr>
          <a:xfrm>
            <a:off x="8046720" y="2103120"/>
            <a:ext cx="3474720" cy="3200400"/>
          </a:xfrm>
          <a:prstGeom prst="roundRect">
            <a:avLst>
              <a:gd name="adj" fmla="val 2571"/>
            </a:avLst>
          </a:prstGeom>
          <a:solidFill>
            <a:srgbClr val="EEF2FA"/>
          </a:solidFill>
          <a:ln/>
          <a:effectLst>
            <a:outerShdw sx="100000" sy="100000" kx="0" ky="0" algn="bl" rotWithShape="0" blurRad="76200" dist="25400" dir="5400000">
              <a:srgbClr val="9AA4B8">
                <a:alpha val="35000"/>
              </a:srgbClr>
            </a:outerShdw>
          </a:effectLst>
        </p:spPr>
      </p:sp>
      <p:sp>
        <p:nvSpPr>
          <p:cNvPr id="22" name="Shape 16"/>
          <p:cNvSpPr/>
          <p:nvPr/>
        </p:nvSpPr>
        <p:spPr>
          <a:xfrm>
            <a:off x="8275320" y="2331720"/>
            <a:ext cx="502920" cy="502920"/>
          </a:xfrm>
          <a:prstGeom prst="ellipse">
            <a:avLst/>
          </a:prstGeom>
          <a:solidFill>
            <a:srgbClr val="232946"/>
          </a:solidFill>
          <a:ln/>
        </p:spPr>
      </p:sp>
      <p:pic>
        <p:nvPicPr>
          <p:cNvPr id="23" name="Image 3" descr="preencoded.png">    </p:cNvPr>
          <p:cNvPicPr>
            <a:picLocks noChangeAspect="1"/>
          </p:cNvPicPr>
          <p:nvPr/>
        </p:nvPicPr>
        <p:blipFill>
          <a:blip r:embed="rId4"/>
          <a:stretch>
            <a:fillRect/>
          </a:stretch>
        </p:blipFill>
        <p:spPr>
          <a:xfrm>
            <a:off x="8406079" y="2462479"/>
            <a:ext cx="241402" cy="241402"/>
          </a:xfrm>
          <a:prstGeom prst="rect">
            <a:avLst/>
          </a:prstGeom>
        </p:spPr>
      </p:pic>
      <p:sp>
        <p:nvSpPr>
          <p:cNvPr id="24" name="Text 17"/>
          <p:cNvSpPr/>
          <p:nvPr/>
        </p:nvSpPr>
        <p:spPr>
          <a:xfrm>
            <a:off x="8915400" y="2395728"/>
            <a:ext cx="2514600" cy="64008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Can we prove what it said?</a:t>
            </a:r>
            <a:endParaRPr lang="en-US" sz="1350" dirty="0"/>
          </a:p>
        </p:txBody>
      </p:sp>
      <p:sp>
        <p:nvSpPr>
          <p:cNvPr id="25" name="Text 18"/>
          <p:cNvSpPr/>
          <p:nvPr/>
        </p:nvSpPr>
        <p:spPr>
          <a:xfrm>
            <a:off x="8275320" y="3154680"/>
            <a:ext cx="3017520" cy="105156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A regulator or a customer dispute requires reconstructing a specific interaction months after it happened.</a:t>
            </a:r>
            <a:endParaRPr lang="en-US" sz="1100" dirty="0"/>
          </a:p>
        </p:txBody>
      </p:sp>
      <p:sp>
        <p:nvSpPr>
          <p:cNvPr id="26" name="Text 19"/>
          <p:cNvSpPr/>
          <p:nvPr/>
        </p:nvSpPr>
        <p:spPr>
          <a:xfrm>
            <a:off x="8275320" y="4224528"/>
            <a:ext cx="3017520" cy="960120"/>
          </a:xfrm>
          <a:prstGeom prst="rect">
            <a:avLst/>
          </a:prstGeom>
          <a:noFill/>
          <a:ln/>
        </p:spPr>
        <p:txBody>
          <a:bodyPr wrap="square" lIns="0" tIns="0" rIns="0" bIns="0" rtlCol="0" anchor="ctr"/>
          <a:lstStyle/>
          <a:p>
            <a:pPr indent="0" marL="0">
              <a:buNone/>
            </a:pPr>
            <a:r>
              <a:rPr lang="en-US" sz="1100" b="1" dirty="0">
                <a:solidFill>
                  <a:srgbClr val="232946"/>
                </a:solidFill>
                <a:latin typeface="Calibri" pitchFamily="34" charset="0"/>
                <a:ea typeface="Calibri" pitchFamily="34" charset="-122"/>
                <a:cs typeface="Calibri" pitchFamily="34" charset="-120"/>
              </a:rPr>
              <a:t>Answered by an append-only audit log — with personal data redacted before anything reaches disk.</a:t>
            </a:r>
            <a:endParaRPr lang="en-US" sz="1100" dirty="0"/>
          </a:p>
        </p:txBody>
      </p:sp>
      <p:sp>
        <p:nvSpPr>
          <p:cNvPr id="27" name="Shape 20"/>
          <p:cNvSpPr/>
          <p:nvPr/>
        </p:nvSpPr>
        <p:spPr>
          <a:xfrm>
            <a:off x="640080" y="5577840"/>
            <a:ext cx="10881360" cy="777240"/>
          </a:xfrm>
          <a:prstGeom prst="roundRect">
            <a:avLst>
              <a:gd name="adj" fmla="val 10588"/>
            </a:avLst>
          </a:prstGeom>
          <a:solidFill>
            <a:srgbClr val="232946"/>
          </a:solidFill>
          <a:ln/>
          <a:effectLst>
            <a:outerShdw sx="100000" sy="100000" kx="0" ky="0" algn="bl" rotWithShape="0" blurRad="76200" dist="25400" dir="5400000">
              <a:srgbClr val="9AA4B8">
                <a:alpha val="35000"/>
              </a:srgbClr>
            </a:outerShdw>
          </a:effectLst>
        </p:spPr>
      </p:sp>
      <p:sp>
        <p:nvSpPr>
          <p:cNvPr id="28" name="Text 21"/>
          <p:cNvSpPr/>
          <p:nvPr/>
        </p:nvSpPr>
        <p:spPr>
          <a:xfrm>
            <a:off x="868680" y="5641848"/>
            <a:ext cx="10424160" cy="649224"/>
          </a:xfrm>
          <a:prstGeom prst="rect">
            <a:avLst/>
          </a:prstGeom>
          <a:noFill/>
          <a:ln/>
        </p:spPr>
        <p:txBody>
          <a:bodyPr wrap="square" lIns="0" tIns="0" rIns="0" bIns="0" rtlCol="0" anchor="ctr"/>
          <a:lstStyle/>
          <a:p>
            <a:pPr indent="0" marL="0">
              <a:buNone/>
            </a:pPr>
            <a:r>
              <a:rPr lang="en-US" sz="1300" b="1" dirty="0">
                <a:solidFill>
                  <a:srgbClr val="F5B971"/>
                </a:solidFill>
                <a:latin typeface="Calibri" pitchFamily="34" charset="0"/>
                <a:ea typeface="Calibri" pitchFamily="34" charset="-122"/>
                <a:cs typeface="Calibri" pitchFamily="34" charset="-120"/>
              </a:rPr>
              <a:t>This session builds all three answers </a:t>
            </a:r>
            <a:pPr indent="0" marL="0">
              <a:buNone/>
            </a:pPr>
            <a:r>
              <a:rPr lang="en-US" sz="1300" dirty="0">
                <a:solidFill>
                  <a:srgbClr val="FFFFFF"/>
                </a:solidFill>
                <a:latin typeface="Calibri" pitchFamily="34" charset="0"/>
                <a:ea typeface="Calibri" pitchFamily="34" charset="-122"/>
                <a:cs typeface="Calibri" pitchFamily="34" charset="-120"/>
              </a:rPr>
              <a:t>around the same model server used in Sessions 2–3: Prometheus and Grafana for health, Evidently for drift, and a redacted JSON-lines audit trail for proof.</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CORE CONCEPTS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Observability: three pillars, four golden signals — and a fifth</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417320"/>
            <a:ext cx="3474720" cy="1481328"/>
          </a:xfrm>
          <a:prstGeom prst="roundRect">
            <a:avLst>
              <a:gd name="adj" fmla="val 5556"/>
            </a:avLst>
          </a:prstGeom>
          <a:solidFill>
            <a:srgbClr val="EEF2FA"/>
          </a:solidFill>
          <a:ln/>
          <a:effectLst>
            <a:outerShdw sx="100000" sy="100000" kx="0" ky="0" algn="bl" rotWithShape="0" blurRad="76200" dist="25400" dir="5400000">
              <a:srgbClr val="9AA4B8">
                <a:alpha val="35000"/>
              </a:srgbClr>
            </a:outerShdw>
          </a:effectLst>
        </p:spPr>
      </p:sp>
      <p:sp>
        <p:nvSpPr>
          <p:cNvPr id="9" name="Shape 5"/>
          <p:cNvSpPr/>
          <p:nvPr/>
        </p:nvSpPr>
        <p:spPr>
          <a:xfrm>
            <a:off x="841248" y="1581912"/>
            <a:ext cx="420624" cy="420624"/>
          </a:xfrm>
          <a:prstGeom prst="ellipse">
            <a:avLst/>
          </a:prstGeom>
          <a:solidFill>
            <a:srgbClr val="232946"/>
          </a:solidFill>
          <a:ln/>
        </p:spPr>
      </p:sp>
      <p:pic>
        <p:nvPicPr>
          <p:cNvPr id="10" name="Image 1" descr="preencoded.png">    </p:cNvPr>
          <p:cNvPicPr>
            <a:picLocks noChangeAspect="1"/>
          </p:cNvPicPr>
          <p:nvPr/>
        </p:nvPicPr>
        <p:blipFill>
          <a:blip r:embed="rId2"/>
          <a:stretch>
            <a:fillRect/>
          </a:stretch>
        </p:blipFill>
        <p:spPr>
          <a:xfrm>
            <a:off x="950610" y="1691274"/>
            <a:ext cx="201900" cy="201900"/>
          </a:xfrm>
          <a:prstGeom prst="rect">
            <a:avLst/>
          </a:prstGeom>
        </p:spPr>
      </p:pic>
      <p:sp>
        <p:nvSpPr>
          <p:cNvPr id="11" name="Text 6"/>
          <p:cNvSpPr/>
          <p:nvPr/>
        </p:nvSpPr>
        <p:spPr>
          <a:xfrm>
            <a:off x="1389888" y="1627632"/>
            <a:ext cx="2560320" cy="320040"/>
          </a:xfrm>
          <a:prstGeom prst="rect">
            <a:avLst/>
          </a:prstGeom>
          <a:noFill/>
          <a:ln/>
        </p:spPr>
        <p:txBody>
          <a:bodyPr wrap="square" lIns="0" tIns="0" rIns="0" bIns="0" rtlCol="0" anchor="ctr"/>
          <a:lstStyle/>
          <a:p>
            <a:pPr indent="0" marL="0">
              <a:buNone/>
            </a:pPr>
            <a:r>
              <a:rPr lang="en-US" sz="1400" b="1" dirty="0">
                <a:solidFill>
                  <a:srgbClr val="232946"/>
                </a:solidFill>
                <a:latin typeface="Arial" pitchFamily="34" charset="0"/>
                <a:ea typeface="Arial" pitchFamily="34" charset="-122"/>
                <a:cs typeface="Arial" pitchFamily="34" charset="-120"/>
              </a:rPr>
              <a:t>Metrics</a:t>
            </a:r>
            <a:endParaRPr lang="en-US" sz="1400" dirty="0"/>
          </a:p>
        </p:txBody>
      </p:sp>
      <p:sp>
        <p:nvSpPr>
          <p:cNvPr id="12" name="Text 7"/>
          <p:cNvSpPr/>
          <p:nvPr/>
        </p:nvSpPr>
        <p:spPr>
          <a:xfrm>
            <a:off x="841248" y="2066544"/>
            <a:ext cx="3072384" cy="77724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Numeric time series — cheap to store, aggregate by design. The basis of dashboards, percentiles and alerts. Today: Prometheus.</a:t>
            </a:r>
            <a:endParaRPr lang="en-US" sz="1000" dirty="0"/>
          </a:p>
        </p:txBody>
      </p:sp>
      <p:sp>
        <p:nvSpPr>
          <p:cNvPr id="13" name="Shape 8"/>
          <p:cNvSpPr/>
          <p:nvPr/>
        </p:nvSpPr>
        <p:spPr>
          <a:xfrm>
            <a:off x="4343400" y="1417320"/>
            <a:ext cx="3474720" cy="1481328"/>
          </a:xfrm>
          <a:prstGeom prst="roundRect">
            <a:avLst>
              <a:gd name="adj" fmla="val 5556"/>
            </a:avLst>
          </a:prstGeom>
          <a:solidFill>
            <a:srgbClr val="EEF2FA"/>
          </a:solidFill>
          <a:ln/>
          <a:effectLst>
            <a:outerShdw sx="100000" sy="100000" kx="0" ky="0" algn="bl" rotWithShape="0" blurRad="76200" dist="25400" dir="5400000">
              <a:srgbClr val="9AA4B8">
                <a:alpha val="35000"/>
              </a:srgbClr>
            </a:outerShdw>
          </a:effectLst>
        </p:spPr>
      </p:sp>
      <p:sp>
        <p:nvSpPr>
          <p:cNvPr id="14" name="Shape 9"/>
          <p:cNvSpPr/>
          <p:nvPr/>
        </p:nvSpPr>
        <p:spPr>
          <a:xfrm>
            <a:off x="4544568" y="1581912"/>
            <a:ext cx="420624" cy="420624"/>
          </a:xfrm>
          <a:prstGeom prst="ellipse">
            <a:avLst/>
          </a:prstGeom>
          <a:solidFill>
            <a:srgbClr val="232946"/>
          </a:solidFill>
          <a:ln/>
        </p:spPr>
      </p:sp>
      <p:pic>
        <p:nvPicPr>
          <p:cNvPr id="15" name="Image 2" descr="preencoded.png">    </p:cNvPr>
          <p:cNvPicPr>
            <a:picLocks noChangeAspect="1"/>
          </p:cNvPicPr>
          <p:nvPr/>
        </p:nvPicPr>
        <p:blipFill>
          <a:blip r:embed="rId3"/>
          <a:stretch>
            <a:fillRect/>
          </a:stretch>
        </p:blipFill>
        <p:spPr>
          <a:xfrm>
            <a:off x="4653930" y="1691274"/>
            <a:ext cx="201900" cy="201900"/>
          </a:xfrm>
          <a:prstGeom prst="rect">
            <a:avLst/>
          </a:prstGeom>
        </p:spPr>
      </p:pic>
      <p:sp>
        <p:nvSpPr>
          <p:cNvPr id="16" name="Text 10"/>
          <p:cNvSpPr/>
          <p:nvPr/>
        </p:nvSpPr>
        <p:spPr>
          <a:xfrm>
            <a:off x="5093208" y="1627632"/>
            <a:ext cx="2560320" cy="320040"/>
          </a:xfrm>
          <a:prstGeom prst="rect">
            <a:avLst/>
          </a:prstGeom>
          <a:noFill/>
          <a:ln/>
        </p:spPr>
        <p:txBody>
          <a:bodyPr wrap="square" lIns="0" tIns="0" rIns="0" bIns="0" rtlCol="0" anchor="ctr"/>
          <a:lstStyle/>
          <a:p>
            <a:pPr indent="0" marL="0">
              <a:buNone/>
            </a:pPr>
            <a:r>
              <a:rPr lang="en-US" sz="1400" b="1" dirty="0">
                <a:solidFill>
                  <a:srgbClr val="232946"/>
                </a:solidFill>
                <a:latin typeface="Arial" pitchFamily="34" charset="0"/>
                <a:ea typeface="Arial" pitchFamily="34" charset="-122"/>
                <a:cs typeface="Arial" pitchFamily="34" charset="-120"/>
              </a:rPr>
              <a:t>Logs</a:t>
            </a:r>
            <a:endParaRPr lang="en-US" sz="1400" dirty="0"/>
          </a:p>
        </p:txBody>
      </p:sp>
      <p:sp>
        <p:nvSpPr>
          <p:cNvPr id="17" name="Text 11"/>
          <p:cNvSpPr/>
          <p:nvPr/>
        </p:nvSpPr>
        <p:spPr>
          <a:xfrm>
            <a:off x="4544568" y="2066544"/>
            <a:ext cx="3072384" cy="77724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Discrete structured events with per-request detail. Today's audit trail is a specialised, regulator-facing log.</a:t>
            </a:r>
            <a:endParaRPr lang="en-US" sz="1000" dirty="0"/>
          </a:p>
        </p:txBody>
      </p:sp>
      <p:sp>
        <p:nvSpPr>
          <p:cNvPr id="18" name="Shape 12"/>
          <p:cNvSpPr/>
          <p:nvPr/>
        </p:nvSpPr>
        <p:spPr>
          <a:xfrm>
            <a:off x="8046720" y="1417320"/>
            <a:ext cx="3474720" cy="1481328"/>
          </a:xfrm>
          <a:prstGeom prst="roundRect">
            <a:avLst>
              <a:gd name="adj" fmla="val 5556"/>
            </a:avLst>
          </a:prstGeom>
          <a:solidFill>
            <a:srgbClr val="EEF2FA"/>
          </a:solidFill>
          <a:ln/>
          <a:effectLst>
            <a:outerShdw sx="100000" sy="100000" kx="0" ky="0" algn="bl" rotWithShape="0" blurRad="76200" dist="25400" dir="5400000">
              <a:srgbClr val="9AA4B8">
                <a:alpha val="35000"/>
              </a:srgbClr>
            </a:outerShdw>
          </a:effectLst>
        </p:spPr>
      </p:sp>
      <p:sp>
        <p:nvSpPr>
          <p:cNvPr id="19" name="Shape 13"/>
          <p:cNvSpPr/>
          <p:nvPr/>
        </p:nvSpPr>
        <p:spPr>
          <a:xfrm>
            <a:off x="8247888" y="1581912"/>
            <a:ext cx="420624" cy="420624"/>
          </a:xfrm>
          <a:prstGeom prst="ellipse">
            <a:avLst/>
          </a:prstGeom>
          <a:solidFill>
            <a:srgbClr val="232946"/>
          </a:solidFill>
          <a:ln/>
        </p:spPr>
      </p:sp>
      <p:pic>
        <p:nvPicPr>
          <p:cNvPr id="20" name="Image 3" descr="preencoded.png">    </p:cNvPr>
          <p:cNvPicPr>
            <a:picLocks noChangeAspect="1"/>
          </p:cNvPicPr>
          <p:nvPr/>
        </p:nvPicPr>
        <p:blipFill>
          <a:blip r:embed="rId4"/>
          <a:stretch>
            <a:fillRect/>
          </a:stretch>
        </p:blipFill>
        <p:spPr>
          <a:xfrm>
            <a:off x="8357250" y="1691274"/>
            <a:ext cx="201900" cy="201900"/>
          </a:xfrm>
          <a:prstGeom prst="rect">
            <a:avLst/>
          </a:prstGeom>
        </p:spPr>
      </p:pic>
      <p:sp>
        <p:nvSpPr>
          <p:cNvPr id="21" name="Text 14"/>
          <p:cNvSpPr/>
          <p:nvPr/>
        </p:nvSpPr>
        <p:spPr>
          <a:xfrm>
            <a:off x="8796528" y="1627632"/>
            <a:ext cx="2560320" cy="320040"/>
          </a:xfrm>
          <a:prstGeom prst="rect">
            <a:avLst/>
          </a:prstGeom>
          <a:noFill/>
          <a:ln/>
        </p:spPr>
        <p:txBody>
          <a:bodyPr wrap="square" lIns="0" tIns="0" rIns="0" bIns="0" rtlCol="0" anchor="ctr"/>
          <a:lstStyle/>
          <a:p>
            <a:pPr indent="0" marL="0">
              <a:buNone/>
            </a:pPr>
            <a:r>
              <a:rPr lang="en-US" sz="1400" b="1" dirty="0">
                <a:solidFill>
                  <a:srgbClr val="232946"/>
                </a:solidFill>
                <a:latin typeface="Arial" pitchFamily="34" charset="0"/>
                <a:ea typeface="Arial" pitchFamily="34" charset="-122"/>
                <a:cs typeface="Arial" pitchFamily="34" charset="-120"/>
              </a:rPr>
              <a:t>Traces</a:t>
            </a:r>
            <a:endParaRPr lang="en-US" sz="1400" dirty="0"/>
          </a:p>
        </p:txBody>
      </p:sp>
      <p:sp>
        <p:nvSpPr>
          <p:cNvPr id="22" name="Text 15"/>
          <p:cNvSpPr/>
          <p:nvPr/>
        </p:nvSpPr>
        <p:spPr>
          <a:xfrm>
            <a:off x="8247888" y="2066544"/>
            <a:ext cx="3072384" cy="77724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The path of one request across services — latency attribution in multi-service systems. Referenced today, not built.</a:t>
            </a:r>
            <a:endParaRPr lang="en-US" sz="1000" dirty="0"/>
          </a:p>
        </p:txBody>
      </p:sp>
      <p:sp>
        <p:nvSpPr>
          <p:cNvPr id="23" name="Text 16"/>
          <p:cNvSpPr/>
          <p:nvPr/>
        </p:nvSpPr>
        <p:spPr>
          <a:xfrm>
            <a:off x="640080" y="3127248"/>
            <a:ext cx="10881360" cy="32004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The golden signals — what to watch first on any service</a:t>
            </a:r>
            <a:endParaRPr lang="en-US" sz="1450" dirty="0"/>
          </a:p>
        </p:txBody>
      </p:sp>
      <p:sp>
        <p:nvSpPr>
          <p:cNvPr id="24" name="Shape 17"/>
          <p:cNvSpPr/>
          <p:nvPr/>
        </p:nvSpPr>
        <p:spPr>
          <a:xfrm>
            <a:off x="640080" y="3520440"/>
            <a:ext cx="2048256" cy="1600200"/>
          </a:xfrm>
          <a:prstGeom prst="roundRect">
            <a:avLst>
              <a:gd name="adj" fmla="val 5143"/>
            </a:avLst>
          </a:prstGeom>
          <a:solidFill>
            <a:srgbClr val="DDE6F5"/>
          </a:solidFill>
          <a:ln/>
          <a:effectLst>
            <a:outerShdw sx="100000" sy="100000" kx="0" ky="0" algn="bl" rotWithShape="0" blurRad="76200" dist="25400" dir="5400000">
              <a:srgbClr val="9AA4B8">
                <a:alpha val="35000"/>
              </a:srgbClr>
            </a:outerShdw>
          </a:effectLst>
        </p:spPr>
      </p:sp>
      <p:sp>
        <p:nvSpPr>
          <p:cNvPr id="25" name="Text 18"/>
          <p:cNvSpPr/>
          <p:nvPr/>
        </p:nvSpPr>
        <p:spPr>
          <a:xfrm>
            <a:off x="786384" y="3657600"/>
            <a:ext cx="1783080" cy="29260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Latency</a:t>
            </a:r>
            <a:endParaRPr lang="en-US" sz="1250" dirty="0"/>
          </a:p>
        </p:txBody>
      </p:sp>
      <p:sp>
        <p:nvSpPr>
          <p:cNvPr id="26" name="Text 19"/>
          <p:cNvSpPr/>
          <p:nvPr/>
        </p:nvSpPr>
        <p:spPr>
          <a:xfrm>
            <a:off x="786384" y="4005072"/>
            <a:ext cx="1783080" cy="100584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How long requests take — tracked as percentiles (p50, p95), never as averages.</a:t>
            </a:r>
            <a:endParaRPr lang="en-US" sz="950" dirty="0"/>
          </a:p>
        </p:txBody>
      </p:sp>
      <p:sp>
        <p:nvSpPr>
          <p:cNvPr id="27" name="Shape 20"/>
          <p:cNvSpPr/>
          <p:nvPr/>
        </p:nvSpPr>
        <p:spPr>
          <a:xfrm>
            <a:off x="2852928" y="3520440"/>
            <a:ext cx="2048256" cy="1600200"/>
          </a:xfrm>
          <a:prstGeom prst="roundRect">
            <a:avLst>
              <a:gd name="adj" fmla="val 5143"/>
            </a:avLst>
          </a:prstGeom>
          <a:solidFill>
            <a:srgbClr val="DDE6F5"/>
          </a:solidFill>
          <a:ln/>
          <a:effectLst>
            <a:outerShdw sx="100000" sy="100000" kx="0" ky="0" algn="bl" rotWithShape="0" blurRad="76200" dist="25400" dir="5400000">
              <a:srgbClr val="9AA4B8">
                <a:alpha val="35000"/>
              </a:srgbClr>
            </a:outerShdw>
          </a:effectLst>
        </p:spPr>
      </p:sp>
      <p:sp>
        <p:nvSpPr>
          <p:cNvPr id="28" name="Text 21"/>
          <p:cNvSpPr/>
          <p:nvPr/>
        </p:nvSpPr>
        <p:spPr>
          <a:xfrm>
            <a:off x="2999232" y="3657600"/>
            <a:ext cx="1783080" cy="29260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Traffic</a:t>
            </a:r>
            <a:endParaRPr lang="en-US" sz="1250" dirty="0"/>
          </a:p>
        </p:txBody>
      </p:sp>
      <p:sp>
        <p:nvSpPr>
          <p:cNvPr id="29" name="Text 22"/>
          <p:cNvSpPr/>
          <p:nvPr/>
        </p:nvSpPr>
        <p:spPr>
          <a:xfrm>
            <a:off x="2999232" y="4005072"/>
            <a:ext cx="1783080" cy="100584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Demand on the service — requests per second, by endpoint.</a:t>
            </a:r>
            <a:endParaRPr lang="en-US" sz="950" dirty="0"/>
          </a:p>
        </p:txBody>
      </p:sp>
      <p:sp>
        <p:nvSpPr>
          <p:cNvPr id="30" name="Shape 23"/>
          <p:cNvSpPr/>
          <p:nvPr/>
        </p:nvSpPr>
        <p:spPr>
          <a:xfrm>
            <a:off x="5065776" y="3520440"/>
            <a:ext cx="2048256" cy="1600200"/>
          </a:xfrm>
          <a:prstGeom prst="roundRect">
            <a:avLst>
              <a:gd name="adj" fmla="val 5143"/>
            </a:avLst>
          </a:prstGeom>
          <a:solidFill>
            <a:srgbClr val="DDE6F5"/>
          </a:solidFill>
          <a:ln/>
          <a:effectLst>
            <a:outerShdw sx="100000" sy="100000" kx="0" ky="0" algn="bl" rotWithShape="0" blurRad="76200" dist="25400" dir="5400000">
              <a:srgbClr val="9AA4B8">
                <a:alpha val="35000"/>
              </a:srgbClr>
            </a:outerShdw>
          </a:effectLst>
        </p:spPr>
      </p:sp>
      <p:sp>
        <p:nvSpPr>
          <p:cNvPr id="31" name="Text 24"/>
          <p:cNvSpPr/>
          <p:nvPr/>
        </p:nvSpPr>
        <p:spPr>
          <a:xfrm>
            <a:off x="5212080" y="3657600"/>
            <a:ext cx="1783080" cy="29260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Errors</a:t>
            </a:r>
            <a:endParaRPr lang="en-US" sz="1250" dirty="0"/>
          </a:p>
        </p:txBody>
      </p:sp>
      <p:sp>
        <p:nvSpPr>
          <p:cNvPr id="32" name="Text 25"/>
          <p:cNvSpPr/>
          <p:nvPr/>
        </p:nvSpPr>
        <p:spPr>
          <a:xfrm>
            <a:off x="5212080" y="4005072"/>
            <a:ext cx="1783080" cy="100584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The rate of failing requests — by status code.</a:t>
            </a:r>
            <a:endParaRPr lang="en-US" sz="950" dirty="0"/>
          </a:p>
        </p:txBody>
      </p:sp>
      <p:sp>
        <p:nvSpPr>
          <p:cNvPr id="33" name="Shape 26"/>
          <p:cNvSpPr/>
          <p:nvPr/>
        </p:nvSpPr>
        <p:spPr>
          <a:xfrm>
            <a:off x="7278624" y="3520440"/>
            <a:ext cx="2048256" cy="1600200"/>
          </a:xfrm>
          <a:prstGeom prst="roundRect">
            <a:avLst>
              <a:gd name="adj" fmla="val 5143"/>
            </a:avLst>
          </a:prstGeom>
          <a:solidFill>
            <a:srgbClr val="DDE6F5"/>
          </a:solidFill>
          <a:ln/>
          <a:effectLst>
            <a:outerShdw sx="100000" sy="100000" kx="0" ky="0" algn="bl" rotWithShape="0" blurRad="76200" dist="25400" dir="5400000">
              <a:srgbClr val="9AA4B8">
                <a:alpha val="35000"/>
              </a:srgbClr>
            </a:outerShdw>
          </a:effectLst>
        </p:spPr>
      </p:sp>
      <p:sp>
        <p:nvSpPr>
          <p:cNvPr id="34" name="Text 27"/>
          <p:cNvSpPr/>
          <p:nvPr/>
        </p:nvSpPr>
        <p:spPr>
          <a:xfrm>
            <a:off x="7424928" y="3657600"/>
            <a:ext cx="1783080" cy="29260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Saturation</a:t>
            </a:r>
            <a:endParaRPr lang="en-US" sz="1250" dirty="0"/>
          </a:p>
        </p:txBody>
      </p:sp>
      <p:sp>
        <p:nvSpPr>
          <p:cNvPr id="35" name="Text 28"/>
          <p:cNvSpPr/>
          <p:nvPr/>
        </p:nvSpPr>
        <p:spPr>
          <a:xfrm>
            <a:off x="7424928" y="4005072"/>
            <a:ext cx="1783080" cy="100584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How full the service is — memory, queue depth, GPU utilisation.</a:t>
            </a:r>
            <a:endParaRPr lang="en-US" sz="950" dirty="0"/>
          </a:p>
        </p:txBody>
      </p:sp>
      <p:sp>
        <p:nvSpPr>
          <p:cNvPr id="36" name="Shape 29"/>
          <p:cNvSpPr/>
          <p:nvPr/>
        </p:nvSpPr>
        <p:spPr>
          <a:xfrm>
            <a:off x="9491472" y="3520440"/>
            <a:ext cx="2048256" cy="1600200"/>
          </a:xfrm>
          <a:prstGeom prst="roundRect">
            <a:avLst>
              <a:gd name="adj" fmla="val 5143"/>
            </a:avLst>
          </a:prstGeom>
          <a:solidFill>
            <a:srgbClr val="FBF1E3"/>
          </a:solidFill>
          <a:ln/>
          <a:effectLst>
            <a:outerShdw sx="100000" sy="100000" kx="0" ky="0" algn="bl" rotWithShape="0" blurRad="76200" dist="25400" dir="5400000">
              <a:srgbClr val="9AA4B8">
                <a:alpha val="35000"/>
              </a:srgbClr>
            </a:outerShdw>
          </a:effectLst>
        </p:spPr>
      </p:sp>
      <p:sp>
        <p:nvSpPr>
          <p:cNvPr id="37" name="Text 30"/>
          <p:cNvSpPr/>
          <p:nvPr/>
        </p:nvSpPr>
        <p:spPr>
          <a:xfrm>
            <a:off x="9637776" y="3657600"/>
            <a:ext cx="1828800" cy="292608"/>
          </a:xfrm>
          <a:prstGeom prst="rect">
            <a:avLst/>
          </a:prstGeom>
          <a:noFill/>
          <a:ln/>
        </p:spPr>
        <p:txBody>
          <a:bodyPr wrap="square" lIns="0" tIns="0" rIns="0" bIns="0" rtlCol="0" anchor="ctr"/>
          <a:lstStyle/>
          <a:p>
            <a:pPr indent="0" marL="0">
              <a:buNone/>
            </a:pPr>
            <a:r>
              <a:rPr lang="en-US" sz="1250" b="1" dirty="0">
                <a:solidFill>
                  <a:srgbClr val="E8871E"/>
                </a:solidFill>
                <a:latin typeface="Arial" pitchFamily="34" charset="0"/>
                <a:ea typeface="Arial" pitchFamily="34" charset="-122"/>
                <a:cs typeface="Arial" pitchFamily="34" charset="-120"/>
              </a:rPr>
              <a:t>+ Answer quality</a:t>
            </a:r>
            <a:endParaRPr lang="en-US" sz="1250" dirty="0"/>
          </a:p>
        </p:txBody>
      </p:sp>
      <p:sp>
        <p:nvSpPr>
          <p:cNvPr id="38" name="Text 31"/>
          <p:cNvSpPr/>
          <p:nvPr/>
        </p:nvSpPr>
        <p:spPr>
          <a:xfrm>
            <a:off x="9637776" y="4005072"/>
            <a:ext cx="1783080" cy="1005840"/>
          </a:xfrm>
          <a:prstGeom prst="rect">
            <a:avLst/>
          </a:prstGeom>
          <a:noFill/>
          <a:ln/>
        </p:spPr>
        <p:txBody>
          <a:bodyPr wrap="square" lIns="0" tIns="0" rIns="0" bIns="0" rtlCol="0" anchor="ctr"/>
          <a:lstStyle/>
          <a:p>
            <a:pPr indent="0" marL="0">
              <a:buNone/>
            </a:pPr>
            <a:r>
              <a:rPr lang="en-US" sz="950" dirty="0">
                <a:solidFill>
                  <a:srgbClr val="232946"/>
                </a:solidFill>
                <a:latin typeface="Calibri" pitchFamily="34" charset="0"/>
                <a:ea typeface="Calibri" pitchFamily="34" charset="-122"/>
                <a:cs typeface="Calibri" pitchFamily="34" charset="-120"/>
              </a:rPr>
              <a:t>The AI-specific fifth signal: eval scores, drift indicators, user feedback. A 200 OK can still carry a wrong answer.</a:t>
            </a:r>
            <a:endParaRPr lang="en-US" sz="950" dirty="0"/>
          </a:p>
        </p:txBody>
      </p:sp>
      <p:sp>
        <p:nvSpPr>
          <p:cNvPr id="39" name="Shape 32"/>
          <p:cNvSpPr/>
          <p:nvPr/>
        </p:nvSpPr>
        <p:spPr>
          <a:xfrm>
            <a:off x="640080" y="5440680"/>
            <a:ext cx="10881360" cy="777240"/>
          </a:xfrm>
          <a:prstGeom prst="roundRect">
            <a:avLst>
              <a:gd name="adj" fmla="val 10588"/>
            </a:avLst>
          </a:prstGeom>
          <a:solidFill>
            <a:srgbClr val="232946"/>
          </a:solidFill>
          <a:ln/>
          <a:effectLst>
            <a:outerShdw sx="100000" sy="100000" kx="0" ky="0" algn="bl" rotWithShape="0" blurRad="76200" dist="25400" dir="5400000">
              <a:srgbClr val="9AA4B8">
                <a:alpha val="35000"/>
              </a:srgbClr>
            </a:outerShdw>
          </a:effectLst>
        </p:spPr>
      </p:sp>
      <p:sp>
        <p:nvSpPr>
          <p:cNvPr id="40" name="Text 33"/>
          <p:cNvSpPr/>
          <p:nvPr/>
        </p:nvSpPr>
        <p:spPr>
          <a:xfrm>
            <a:off x="868680" y="5504688"/>
            <a:ext cx="10424160" cy="649224"/>
          </a:xfrm>
          <a:prstGeom prst="rect">
            <a:avLst/>
          </a:prstGeom>
          <a:noFill/>
          <a:ln/>
        </p:spPr>
        <p:txBody>
          <a:bodyPr wrap="square" lIns="0" tIns="0" rIns="0" bIns="0" rtlCol="0" anchor="ctr"/>
          <a:lstStyle/>
          <a:p>
            <a:pPr indent="0" marL="0">
              <a:buNone/>
            </a:pPr>
            <a:r>
              <a:rPr lang="en-US" sz="1250" b="1" dirty="0">
                <a:solidFill>
                  <a:srgbClr val="F5B971"/>
                </a:solidFill>
                <a:latin typeface="Calibri" pitchFamily="34" charset="0"/>
                <a:ea typeface="Calibri" pitchFamily="34" charset="-122"/>
                <a:cs typeface="Calibri" pitchFamily="34" charset="-120"/>
              </a:rPr>
              <a:t>In today's lab:  </a:t>
            </a:r>
            <a:pPr indent="0" marL="0">
              <a:buNone/>
            </a:pPr>
            <a:r>
              <a:rPr lang="en-US" sz="1250" dirty="0">
                <a:solidFill>
                  <a:srgbClr val="FFFFFF"/>
                </a:solidFill>
                <a:latin typeface="Calibri" pitchFamily="34" charset="0"/>
                <a:ea typeface="Calibri" pitchFamily="34" charset="-122"/>
                <a:cs typeface="Calibri" pitchFamily="34" charset="-120"/>
              </a:rPr>
              <a:t>the Grafana dashboard implements latency, traffic and errors; saturation is discussed against the container limits; Step 5 addresses answer quality through drift detection.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PROMETHEUS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Prometheus model: pull-based scraping of labelled time series</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Text 4"/>
          <p:cNvSpPr/>
          <p:nvPr/>
        </p:nvSpPr>
        <p:spPr>
          <a:xfrm>
            <a:off x="640080" y="1508760"/>
            <a:ext cx="5120640" cy="42062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00" b="1" dirty="0">
                <a:solidFill>
                  <a:srgbClr val="232946"/>
                </a:solidFill>
                <a:latin typeface="Calibri" pitchFamily="34" charset="0"/>
                <a:ea typeface="Calibri" pitchFamily="34" charset="-122"/>
                <a:cs typeface="Calibri" pitchFamily="34" charset="-120"/>
              </a:rPr>
              <a:t>Pull-based collection: the service only exposes /metrics as plain text; Prometheus scrapes it on a schedule (every 5 s in the lab) and stores what it reads. The service never pushes.</a:t>
            </a:r>
            <a:endParaRPr lang="en-US" sz="1200" dirty="0"/>
          </a:p>
          <a:p>
            <a:pPr marL="152400" indent="-152400">
              <a:lnSpc>
                <a:spcPct val="108000"/>
              </a:lnSpc>
              <a:spcAft>
                <a:spcPts val="800"/>
              </a:spcAft>
              <a:buSzPct val="100000"/>
              <a:buChar char="•"/>
            </a:pPr>
            <a:r>
              <a:rPr lang="en-US" sz="1200" dirty="0">
                <a:solidFill>
                  <a:srgbClr val="232946"/>
                </a:solidFill>
                <a:latin typeface="Calibri" pitchFamily="34" charset="0"/>
                <a:ea typeface="Calibri" pitchFamily="34" charset="-122"/>
                <a:cs typeface="Calibri" pitchFamily="34" charset="-120"/>
              </a:rPr>
              <a:t>Each sample belongs to a time series identified by a metric name plus labels — for example llm_requests_total{endpoint="/generate", status="200"}.</a:t>
            </a:r>
            <a:endParaRPr lang="en-US" sz="1200" dirty="0"/>
          </a:p>
          <a:p>
            <a:pPr marL="152400" indent="-152400">
              <a:lnSpc>
                <a:spcPct val="108000"/>
              </a:lnSpc>
              <a:spcAft>
                <a:spcPts val="800"/>
              </a:spcAft>
              <a:buSzPct val="100000"/>
              <a:buChar char="•"/>
            </a:pPr>
            <a:r>
              <a:rPr lang="en-US" sz="1200" dirty="0">
                <a:solidFill>
                  <a:srgbClr val="232946"/>
                </a:solidFill>
                <a:latin typeface="Calibri" pitchFamily="34" charset="0"/>
                <a:ea typeface="Calibri" pitchFamily="34" charset="-122"/>
                <a:cs typeface="Calibri" pitchFamily="34" charset="-120"/>
              </a:rPr>
              <a:t>Labels multiply one metric into many series: traffic and errors are the same counter, distinguished only by the status label.</a:t>
            </a:r>
            <a:endParaRPr lang="en-US" sz="1200" dirty="0"/>
          </a:p>
          <a:p>
            <a:pPr marL="152400" indent="-152400">
              <a:lnSpc>
                <a:spcPct val="108000"/>
              </a:lnSpc>
              <a:spcAft>
                <a:spcPts val="800"/>
              </a:spcAft>
              <a:buSzPct val="100000"/>
              <a:buChar char="•"/>
            </a:pPr>
            <a:r>
              <a:rPr lang="en-US" sz="1200" dirty="0">
                <a:solidFill>
                  <a:srgbClr val="232946"/>
                </a:solidFill>
                <a:latin typeface="Calibri" pitchFamily="34" charset="0"/>
                <a:ea typeface="Calibri" pitchFamily="34" charset="-122"/>
                <a:cs typeface="Calibri" pitchFamily="34" charset="-120"/>
              </a:rPr>
              <a:t>Instrumentation costs one library and roughly twenty lines of code (next two slides); every query, panel and alert downstream consumes the scraped series.</a:t>
            </a:r>
            <a:endParaRPr lang="en-US" sz="1200" dirty="0"/>
          </a:p>
        </p:txBody>
      </p:sp>
      <p:sp>
        <p:nvSpPr>
          <p:cNvPr id="9" name="Shape 5"/>
          <p:cNvSpPr/>
          <p:nvPr/>
        </p:nvSpPr>
        <p:spPr>
          <a:xfrm>
            <a:off x="6035040" y="1463040"/>
            <a:ext cx="5532120" cy="731520"/>
          </a:xfrm>
          <a:prstGeom prst="roundRect">
            <a:avLst>
              <a:gd name="adj" fmla="val 11250"/>
            </a:avLst>
          </a:prstGeom>
          <a:solidFill>
            <a:srgbClr val="DDE6F5"/>
          </a:solidFill>
          <a:ln/>
          <a:effectLst>
            <a:outerShdw sx="100000" sy="100000" kx="0" ky="0" algn="bl" rotWithShape="0" blurRad="76200" dist="25400" dir="5400000">
              <a:srgbClr val="9AA4B8">
                <a:alpha val="35000"/>
              </a:srgbClr>
            </a:outerShdw>
          </a:effectLst>
        </p:spPr>
      </p:sp>
      <p:sp>
        <p:nvSpPr>
          <p:cNvPr id="10" name="Text 6"/>
          <p:cNvSpPr/>
          <p:nvPr/>
        </p:nvSpPr>
        <p:spPr>
          <a:xfrm>
            <a:off x="6217920" y="1463040"/>
            <a:ext cx="5166360" cy="731520"/>
          </a:xfrm>
          <a:prstGeom prst="rect">
            <a:avLst/>
          </a:prstGeom>
          <a:noFill/>
          <a:ln/>
        </p:spPr>
        <p:txBody>
          <a:bodyPr wrap="square" lIns="0" tIns="0" rIns="0" bIns="0" rtlCol="0" anchor="ctr"/>
          <a:lstStyle/>
          <a:p>
            <a:pPr indent="0" marL="0">
              <a:buNone/>
            </a:pPr>
            <a:r>
              <a:rPr lang="en-US" sz="1200" b="1" dirty="0">
                <a:solidFill>
                  <a:srgbClr val="232946"/>
                </a:solidFill>
                <a:latin typeface="Calibri" pitchFamily="34" charset="0"/>
                <a:ea typeface="Calibri" pitchFamily="34" charset="-122"/>
                <a:cs typeface="Calibri" pitchFamily="34" charset="-120"/>
              </a:rPr>
              <a:t>llm service  </a:t>
            </a:r>
            <a:pPr indent="0" marL="0">
              <a:buNone/>
            </a:pPr>
            <a:r>
              <a:rPr lang="en-US" sz="1200" dirty="0">
                <a:solidFill>
                  <a:srgbClr val="5A6478"/>
                </a:solidFill>
                <a:latin typeface="Calibri" pitchFamily="34" charset="0"/>
                <a:ea typeface="Calibri" pitchFamily="34" charset="-122"/>
                <a:cs typeface="Calibri" pitchFamily="34" charset="-120"/>
              </a:rPr>
              <a:t>— exposes /metrics, plain text, port 8080</a:t>
            </a:r>
            <a:endParaRPr lang="en-US" sz="1200" dirty="0"/>
          </a:p>
        </p:txBody>
      </p:sp>
      <p:sp>
        <p:nvSpPr>
          <p:cNvPr id="11" name="Shape 7"/>
          <p:cNvSpPr/>
          <p:nvPr/>
        </p:nvSpPr>
        <p:spPr>
          <a:xfrm>
            <a:off x="8801100" y="2834640"/>
            <a:ext cx="0" cy="-594360"/>
          </a:xfrm>
          <a:prstGeom prst="line">
            <a:avLst/>
          </a:prstGeom>
          <a:noFill/>
          <a:ln w="31750">
            <a:solidFill>
              <a:srgbClr val="E8871E"/>
            </a:solidFill>
            <a:prstDash val="solid"/>
            <a:tailEnd type="triangle"/>
          </a:ln>
        </p:spPr>
      </p:sp>
      <p:sp>
        <p:nvSpPr>
          <p:cNvPr id="12" name="Text 8"/>
          <p:cNvSpPr/>
          <p:nvPr/>
        </p:nvSpPr>
        <p:spPr>
          <a:xfrm>
            <a:off x="8938260" y="2331720"/>
            <a:ext cx="2651760" cy="457200"/>
          </a:xfrm>
          <a:prstGeom prst="rect">
            <a:avLst/>
          </a:prstGeom>
          <a:noFill/>
          <a:ln/>
        </p:spPr>
        <p:txBody>
          <a:bodyPr wrap="square" lIns="0" tIns="0" rIns="0" bIns="0" rtlCol="0" anchor="ctr"/>
          <a:lstStyle/>
          <a:p>
            <a:pPr indent="0" marL="0">
              <a:buNone/>
            </a:pPr>
            <a:r>
              <a:rPr lang="en-US" sz="950" i="1" dirty="0">
                <a:solidFill>
                  <a:srgbClr val="E8871E"/>
                </a:solidFill>
                <a:latin typeface="Calibri" pitchFamily="34" charset="0"/>
                <a:ea typeface="Calibri" pitchFamily="34" charset="-122"/>
                <a:cs typeface="Calibri" pitchFamily="34" charset="-120"/>
              </a:rPr>
              <a:t>HTTP GET /metrics every 5 s  (pull)</a:t>
            </a:r>
            <a:endParaRPr lang="en-US" sz="950" dirty="0"/>
          </a:p>
        </p:txBody>
      </p:sp>
      <p:sp>
        <p:nvSpPr>
          <p:cNvPr id="13" name="Shape 9"/>
          <p:cNvSpPr/>
          <p:nvPr/>
        </p:nvSpPr>
        <p:spPr>
          <a:xfrm>
            <a:off x="6035040" y="2880360"/>
            <a:ext cx="5532120" cy="731520"/>
          </a:xfrm>
          <a:prstGeom prst="roundRect">
            <a:avLst>
              <a:gd name="adj" fmla="val 11250"/>
            </a:avLst>
          </a:prstGeom>
          <a:solidFill>
            <a:srgbClr val="232946"/>
          </a:solidFill>
          <a:ln/>
          <a:effectLst>
            <a:outerShdw sx="100000" sy="100000" kx="0" ky="0" algn="bl" rotWithShape="0" blurRad="76200" dist="25400" dir="5400000">
              <a:srgbClr val="9AA4B8">
                <a:alpha val="35000"/>
              </a:srgbClr>
            </a:outerShdw>
          </a:effectLst>
        </p:spPr>
      </p:sp>
      <p:sp>
        <p:nvSpPr>
          <p:cNvPr id="14" name="Text 10"/>
          <p:cNvSpPr/>
          <p:nvPr/>
        </p:nvSpPr>
        <p:spPr>
          <a:xfrm>
            <a:off x="6217920" y="2880360"/>
            <a:ext cx="5166360" cy="7315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Prometheus  </a:t>
            </a:r>
            <a:pPr indent="0" marL="0">
              <a:buNone/>
            </a:pPr>
            <a:r>
              <a:rPr lang="en-US" sz="1200" dirty="0">
                <a:solidFill>
                  <a:srgbClr val="CADCFC"/>
                </a:solidFill>
                <a:latin typeface="Calibri" pitchFamily="34" charset="0"/>
                <a:ea typeface="Calibri" pitchFamily="34" charset="-122"/>
                <a:cs typeface="Calibri" pitchFamily="34" charset="-120"/>
              </a:rPr>
              <a:t>— scrapes, stores time series, serves PromQL, port 9090</a:t>
            </a:r>
            <a:endParaRPr lang="en-US" sz="1200" dirty="0"/>
          </a:p>
        </p:txBody>
      </p:sp>
      <p:sp>
        <p:nvSpPr>
          <p:cNvPr id="15" name="Shape 11"/>
          <p:cNvSpPr/>
          <p:nvPr/>
        </p:nvSpPr>
        <p:spPr>
          <a:xfrm>
            <a:off x="6035040" y="3840480"/>
            <a:ext cx="5532120" cy="1783080"/>
          </a:xfrm>
          <a:prstGeom prst="roundRect">
            <a:avLst>
              <a:gd name="adj" fmla="val 4103"/>
            </a:avLst>
          </a:prstGeom>
          <a:solidFill>
            <a:srgbClr val="1B2130"/>
          </a:solidFill>
          <a:ln/>
          <a:effectLst>
            <a:outerShdw sx="100000" sy="100000" kx="0" ky="0" algn="bl" rotWithShape="0" blurRad="76200" dist="25400" dir="5400000">
              <a:srgbClr val="9AA4B8">
                <a:alpha val="35000"/>
              </a:srgbClr>
            </a:outerShdw>
          </a:effectLst>
        </p:spPr>
      </p:sp>
      <p:sp>
        <p:nvSpPr>
          <p:cNvPr id="16" name="Text 12"/>
          <p:cNvSpPr/>
          <p:nvPr/>
        </p:nvSpPr>
        <p:spPr>
          <a:xfrm>
            <a:off x="6236208" y="3950208"/>
            <a:ext cx="5129784" cy="1563624"/>
          </a:xfrm>
          <a:prstGeom prst="rect">
            <a:avLst/>
          </a:prstGeom>
          <a:noFill/>
          <a:ln/>
        </p:spPr>
        <p:txBody>
          <a:bodyPr wrap="square" lIns="0" tIns="0" rIns="0" bIns="0" rtlCol="0" anchor="t"/>
          <a:lstStyle/>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curl -s localhost:8080/metrics | grep llm_</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llm_requests_total{endpoint="/generate",</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status="200"}  57.0</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llm_requests_total{endpoint="/generate",</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status="401"}  12.0</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llm_request_latency_seconds_bucket{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endpoint="/generate",le="4.0"}  55.0</a:t>
            </a:r>
            <a:endParaRPr lang="en-US" sz="950" dirty="0"/>
          </a:p>
        </p:txBody>
      </p:sp>
      <p:sp>
        <p:nvSpPr>
          <p:cNvPr id="17" name="Shape 13"/>
          <p:cNvSpPr/>
          <p:nvPr/>
        </p:nvSpPr>
        <p:spPr>
          <a:xfrm>
            <a:off x="640080" y="5806440"/>
            <a:ext cx="10881360" cy="566928"/>
          </a:xfrm>
          <a:prstGeom prst="roundRect">
            <a:avLst>
              <a:gd name="adj" fmla="val 14516"/>
            </a:avLst>
          </a:prstGeom>
          <a:solidFill>
            <a:srgbClr val="FBF1E3"/>
          </a:solidFill>
          <a:ln/>
          <a:effectLst>
            <a:outerShdw sx="100000" sy="100000" kx="0" ky="0" algn="bl" rotWithShape="0" blurRad="76200" dist="25400" dir="5400000">
              <a:srgbClr val="9AA4B8">
                <a:alpha val="35000"/>
              </a:srgbClr>
            </a:outerShdw>
          </a:effectLst>
        </p:spPr>
      </p:sp>
      <p:sp>
        <p:nvSpPr>
          <p:cNvPr id="18" name="Text 14"/>
          <p:cNvSpPr/>
          <p:nvPr/>
        </p:nvSpPr>
        <p:spPr>
          <a:xfrm>
            <a:off x="868680" y="5843016"/>
            <a:ext cx="10424160" cy="493776"/>
          </a:xfrm>
          <a:prstGeom prst="rect">
            <a:avLst/>
          </a:prstGeom>
          <a:noFill/>
          <a:ln/>
        </p:spPr>
        <p:txBody>
          <a:bodyPr wrap="square" lIns="0" tIns="0" rIns="0" bIns="0" rtlCol="0" anchor="ctr"/>
          <a:lstStyle/>
          <a:p>
            <a:pPr indent="0" marL="0">
              <a:buNone/>
            </a:pPr>
            <a:r>
              <a:rPr lang="en-US" sz="1200" b="1" dirty="0">
                <a:solidFill>
                  <a:srgbClr val="E8871E"/>
                </a:solidFill>
                <a:latin typeface="Calibri" pitchFamily="34" charset="0"/>
                <a:ea typeface="Calibri" pitchFamily="34" charset="-122"/>
                <a:cs typeface="Calibri" pitchFamily="34" charset="-120"/>
              </a:rPr>
              <a:t>The contract:  </a:t>
            </a:r>
            <a:pPr indent="0" marL="0">
              <a:buNone/>
            </a:pPr>
            <a:r>
              <a:rPr lang="en-US" sz="1200" dirty="0">
                <a:solidFill>
                  <a:srgbClr val="232946"/>
                </a:solidFill>
                <a:latin typeface="Calibri" pitchFamily="34" charset="0"/>
                <a:ea typeface="Calibri" pitchFamily="34" charset="-122"/>
                <a:cs typeface="Calibri" pitchFamily="34" charset="-120"/>
              </a:rPr>
              <a:t>this plain-text exposition format is the monitoring contract — Prometheus, Grafana, the alert and the SLO are all built on what this endpoint publishes.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PROMETHEUS · INSTRUMENTATION 1 OF 2</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Defining the metrics: a counter and a histogram</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508760"/>
            <a:ext cx="6126480" cy="3977640"/>
          </a:xfrm>
          <a:prstGeom prst="roundRect">
            <a:avLst>
              <a:gd name="adj" fmla="val 1839"/>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724144" cy="3758184"/>
          </a:xfrm>
          <a:prstGeom prst="rect">
            <a:avLst/>
          </a:prstGeom>
          <a:noFill/>
          <a:ln/>
        </p:spPr>
        <p:txBody>
          <a:bodyPr wrap="square" lIns="0" tIns="0" rIns="0" bIns="0" rtlCol="0" anchor="t"/>
          <a:lstStyle/>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app.py — the lab's instrumentation (exact)</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from prometheus_client import (</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Counter, Histogram,</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generate_latest, CONTENT_TYPE_LATEST)</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REQUESTS = Counter(</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"llm_requests_total",</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"Total HTTP requests",</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["endpoint", "status"],   # labels</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LATENCY = Histogram(</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"llm_request_latency_seconds",</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"Request latency in seconds",</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["endpoint"],</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buckets=(0.1, 0.25, 0.5, 1, 2,</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4, 8, 16, 32),   # seconds</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a:t>
            </a:r>
            <a:endParaRPr lang="en-US" sz="1050" dirty="0"/>
          </a:p>
        </p:txBody>
      </p:sp>
      <p:sp>
        <p:nvSpPr>
          <p:cNvPr id="10" name="Shape 6"/>
          <p:cNvSpPr/>
          <p:nvPr/>
        </p:nvSpPr>
        <p:spPr>
          <a:xfrm>
            <a:off x="6995160" y="1508760"/>
            <a:ext cx="4572000" cy="2011680"/>
          </a:xfrm>
          <a:prstGeom prst="roundRect">
            <a:avLst>
              <a:gd name="adj" fmla="val 4091"/>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7223760" y="1645920"/>
            <a:ext cx="4114800" cy="292608"/>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Counter — monotonic</a:t>
            </a:r>
            <a:endParaRPr lang="en-US" sz="1300" dirty="0"/>
          </a:p>
        </p:txBody>
      </p:sp>
      <p:sp>
        <p:nvSpPr>
          <p:cNvPr id="12" name="Text 8"/>
          <p:cNvSpPr/>
          <p:nvPr/>
        </p:nvSpPr>
        <p:spPr>
          <a:xfrm>
            <a:off x="7223760" y="1975104"/>
            <a:ext cx="4160520" cy="14630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Only ever increases; rate() derives per-second traffic from it at query time</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endpoint and status labels make one metric carry both the traffic and the error signal</a:t>
            </a:r>
            <a:endParaRPr lang="en-US" sz="1100" dirty="0"/>
          </a:p>
        </p:txBody>
      </p:sp>
      <p:sp>
        <p:nvSpPr>
          <p:cNvPr id="13" name="Shape 9"/>
          <p:cNvSpPr/>
          <p:nvPr/>
        </p:nvSpPr>
        <p:spPr>
          <a:xfrm>
            <a:off x="6995160" y="3703320"/>
            <a:ext cx="4572000" cy="2651760"/>
          </a:xfrm>
          <a:prstGeom prst="roundRect">
            <a:avLst>
              <a:gd name="adj" fmla="val 3103"/>
            </a:avLst>
          </a:prstGeom>
          <a:solidFill>
            <a:srgbClr val="DDE6F5"/>
          </a:solidFill>
          <a:ln/>
          <a:effectLst>
            <a:outerShdw sx="100000" sy="100000" kx="0" ky="0" algn="bl" rotWithShape="0" blurRad="76200" dist="25400" dir="5400000">
              <a:srgbClr val="9AA4B8">
                <a:alpha val="35000"/>
              </a:srgbClr>
            </a:outerShdw>
          </a:effectLst>
        </p:spPr>
      </p:sp>
      <p:sp>
        <p:nvSpPr>
          <p:cNvPr id="14" name="Text 10"/>
          <p:cNvSpPr/>
          <p:nvPr/>
        </p:nvSpPr>
        <p:spPr>
          <a:xfrm>
            <a:off x="7223760" y="3840480"/>
            <a:ext cx="4114800" cy="292608"/>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Histogram — bucketed latency</a:t>
            </a:r>
            <a:endParaRPr lang="en-US" sz="1300" dirty="0"/>
          </a:p>
        </p:txBody>
      </p:sp>
      <p:sp>
        <p:nvSpPr>
          <p:cNvPr id="15" name="Text 11"/>
          <p:cNvSpPr/>
          <p:nvPr/>
        </p:nvSpPr>
        <p:spPr>
          <a:xfrm>
            <a:off x="7223760" y="4169664"/>
            <a:ext cx="4160520" cy="210312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Each observation lands in every cumulative bucket it fits (le = "less than or equal")</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Percentiles are computed at query time from the buckets — nothing is pre-aggregated</a:t>
            </a:r>
            <a:endParaRPr lang="en-US" sz="1100" dirty="0"/>
          </a:p>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Bucket boundaries bracket the SLO: 4 s is a boundary because the lab's alert and objective are stated at 4 s</a:t>
            </a:r>
            <a:endParaRPr lang="en-US" sz="1100" dirty="0"/>
          </a:p>
        </p:txBody>
      </p:sp>
      <p:sp>
        <p:nvSpPr>
          <p:cNvPr id="16" name="Shape 12"/>
          <p:cNvSpPr/>
          <p:nvPr/>
        </p:nvSpPr>
        <p:spPr>
          <a:xfrm>
            <a:off x="640080" y="5806440"/>
            <a:ext cx="6126480" cy="566928"/>
          </a:xfrm>
          <a:prstGeom prst="roundRect">
            <a:avLst>
              <a:gd name="adj" fmla="val 14516"/>
            </a:avLst>
          </a:prstGeom>
          <a:solidFill>
            <a:srgbClr val="FBF1E3"/>
          </a:solidFill>
          <a:ln/>
          <a:effectLst>
            <a:outerShdw sx="100000" sy="100000" kx="0" ky="0" algn="bl" rotWithShape="0" blurRad="76200" dist="25400" dir="5400000">
              <a:srgbClr val="9AA4B8">
                <a:alpha val="35000"/>
              </a:srgbClr>
            </a:outerShdw>
          </a:effectLst>
        </p:spPr>
      </p:sp>
      <p:sp>
        <p:nvSpPr>
          <p:cNvPr id="17" name="Text 13"/>
          <p:cNvSpPr/>
          <p:nvPr/>
        </p:nvSpPr>
        <p:spPr>
          <a:xfrm>
            <a:off x="868680" y="5843016"/>
            <a:ext cx="5669280" cy="493776"/>
          </a:xfrm>
          <a:prstGeom prst="rect">
            <a:avLst/>
          </a:prstGeom>
          <a:noFill/>
          <a:ln/>
        </p:spPr>
        <p:txBody>
          <a:bodyPr wrap="square" lIns="0" tIns="0" rIns="0" bIns="0" rtlCol="0" anchor="ctr"/>
          <a:lstStyle/>
          <a:p>
            <a:pPr indent="0" marL="0">
              <a:buNone/>
            </a:pPr>
            <a:r>
              <a:rPr lang="en-US" sz="1150" b="1" dirty="0">
                <a:solidFill>
                  <a:srgbClr val="E8871E"/>
                </a:solidFill>
                <a:latin typeface="Calibri" pitchFamily="34" charset="0"/>
                <a:ea typeface="Calibri" pitchFamily="34" charset="-122"/>
                <a:cs typeface="Calibri" pitchFamily="34" charset="-120"/>
              </a:rPr>
              <a:t>Design rule:  </a:t>
            </a:r>
            <a:pPr indent="0" marL="0">
              <a:buNone/>
            </a:pPr>
            <a:r>
              <a:rPr lang="en-US" sz="1150" dirty="0">
                <a:solidFill>
                  <a:srgbClr val="232946"/>
                </a:solidFill>
                <a:latin typeface="Calibri" pitchFamily="34" charset="0"/>
                <a:ea typeface="Calibri" pitchFamily="34" charset="-122"/>
                <a:cs typeface="Calibri" pitchFamily="34" charset="-120"/>
              </a:rPr>
              <a:t>choose bucket boundaries around the thresholds you intend to alert 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PROMETHEUS · INSTRUMENTATION 2 OF 2</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Recording every request: middleware and the /metrics endpoint</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508760"/>
            <a:ext cx="6126480" cy="4434840"/>
          </a:xfrm>
          <a:prstGeom prst="roundRect">
            <a:avLst>
              <a:gd name="adj" fmla="val 1649"/>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724144" cy="4215384"/>
          </a:xfrm>
          <a:prstGeom prst="rect">
            <a:avLst/>
          </a:prstGeom>
          <a:noFill/>
          <a:ln/>
        </p:spPr>
        <p:txBody>
          <a:bodyPr wrap="square" lIns="0" tIns="0" rIns="0" bIns="0" rtlCol="0" anchor="t"/>
          <a:lstStyle/>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@app.middleware("http")</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async def metrics_middleware(request, call_next):</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"""Times EVERY request: endpoint + status."""</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t0 = time.perf_counter()</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response = await call_next(request)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dt = time.perf_counter() - t0</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path = request.url.path</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if path in ("/generate", "/health"):</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 keep label cardinality bounded</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REQUESTS.labels(endpoint=path,</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status=str(response.status_code)).inc()</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LATENCY.labels(endpoint=path).observe(dt)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return response</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@app.get("/metrics")</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def metrics():</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"""Prometheus scrapes this. Plain text."""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return Response(generate_latest(),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media_type=CONTENT_TYPE_LATEST)</a:t>
            </a:r>
            <a:endParaRPr lang="en-US" sz="1000" dirty="0"/>
          </a:p>
        </p:txBody>
      </p:sp>
      <p:sp>
        <p:nvSpPr>
          <p:cNvPr id="10" name="Shape 6"/>
          <p:cNvSpPr/>
          <p:nvPr/>
        </p:nvSpPr>
        <p:spPr>
          <a:xfrm>
            <a:off x="6995160" y="1508760"/>
            <a:ext cx="4572000" cy="4434840"/>
          </a:xfrm>
          <a:prstGeom prst="roundRect">
            <a:avLst>
              <a:gd name="adj" fmla="val 1856"/>
            </a:avLst>
          </a:prstGeom>
          <a:solidFill>
            <a:srgbClr val="FBF1E3"/>
          </a:solidFill>
          <a:ln/>
          <a:effectLst>
            <a:outerShdw sx="100000" sy="100000" kx="0" ky="0" algn="bl" rotWithShape="0" blurRad="76200" dist="25400" dir="5400000">
              <a:srgbClr val="9AA4B8">
                <a:alpha val="35000"/>
              </a:srgbClr>
            </a:outerShdw>
          </a:effectLst>
        </p:spPr>
      </p:sp>
      <p:sp>
        <p:nvSpPr>
          <p:cNvPr id="11" name="Text 7"/>
          <p:cNvSpPr/>
          <p:nvPr/>
        </p:nvSpPr>
        <p:spPr>
          <a:xfrm>
            <a:off x="7223760" y="1664208"/>
            <a:ext cx="411480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What to observe in this code</a:t>
            </a:r>
            <a:endParaRPr lang="en-US" sz="1350" dirty="0"/>
          </a:p>
        </p:txBody>
      </p:sp>
      <p:sp>
        <p:nvSpPr>
          <p:cNvPr id="12" name="Text 8"/>
          <p:cNvSpPr/>
          <p:nvPr/>
        </p:nvSpPr>
        <p:spPr>
          <a:xfrm>
            <a:off x="7223760" y="2057400"/>
            <a:ext cx="4160520" cy="37490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One middleware instruments the whole service — no handler carries its own timing code, so no endpoint can be forgotten.</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status code is recorded whatever the outcome — the deliberate 401s in the lab's traffic script appear as their own series.</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path filter keeps label cardinality bounded: labels with unbounded values (raw paths, user IDs) create unbounded series and are a classic way to overwhelm a metrics store.</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/metrics serialises current values on demand; the service holds no history. Storage, retention and querying are entirely Prometheus's job.</a:t>
            </a:r>
            <a:endParaRPr lang="en-US" sz="1100" dirty="0"/>
          </a:p>
        </p:txBody>
      </p:sp>
      <p:sp>
        <p:nvSpPr>
          <p:cNvPr id="13" name="Shape 9"/>
          <p:cNvSpPr/>
          <p:nvPr/>
        </p:nvSpPr>
        <p:spPr>
          <a:xfrm>
            <a:off x="640080" y="6080760"/>
            <a:ext cx="10881360" cy="384048"/>
          </a:xfrm>
          <a:prstGeom prst="roundRect">
            <a:avLst>
              <a:gd name="adj" fmla="val 21429"/>
            </a:avLst>
          </a:prstGeom>
          <a:solidFill>
            <a:srgbClr val="EEF2FA"/>
          </a:solidFill>
          <a:ln/>
          <a:effectLst>
            <a:outerShdw sx="100000" sy="100000" kx="0" ky="0" algn="bl" rotWithShape="0" blurRad="76200" dist="25400" dir="5400000">
              <a:srgbClr val="9AA4B8">
                <a:alpha val="35000"/>
              </a:srgbClr>
            </a:outerShdw>
          </a:effectLst>
        </p:spPr>
      </p:sp>
      <p:sp>
        <p:nvSpPr>
          <p:cNvPr id="14" name="Text 10"/>
          <p:cNvSpPr/>
          <p:nvPr/>
        </p:nvSpPr>
        <p:spPr>
          <a:xfrm>
            <a:off x="868680" y="6099048"/>
            <a:ext cx="10424160" cy="347472"/>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This exact code runs in the lab container — </a:t>
            </a:r>
            <a:pPr indent="0" marL="0">
              <a:buNone/>
            </a:pPr>
            <a:r>
              <a:rPr lang="en-US" sz="1150" dirty="0">
                <a:solidFill>
                  <a:srgbClr val="5A6478"/>
                </a:solidFill>
                <a:latin typeface="Calibri" pitchFamily="34" charset="0"/>
                <a:ea typeface="Calibri" pitchFamily="34" charset="-122"/>
                <a:cs typeface="Calibri" pitchFamily="34" charset="-120"/>
              </a:rPr>
              <a:t>Step 1 reads its output with curl before Prometheus ever touches it.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PROMQL</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PromQL essentials: the two queries used in the lab</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463040"/>
            <a:ext cx="5349240" cy="457200"/>
          </a:xfrm>
          <a:prstGeom prst="roundRect">
            <a:avLst>
              <a:gd name="adj" fmla="val 18000"/>
            </a:avLst>
          </a:prstGeom>
          <a:solidFill>
            <a:srgbClr val="DDE6F5"/>
          </a:solidFill>
          <a:ln/>
          <a:effectLst>
            <a:outerShdw sx="100000" sy="100000" kx="0" ky="0" algn="bl" rotWithShape="0" blurRad="76200" dist="25400" dir="5400000">
              <a:srgbClr val="9AA4B8">
                <a:alpha val="35000"/>
              </a:srgbClr>
            </a:outerShdw>
          </a:effectLst>
        </p:spPr>
      </p:sp>
      <p:sp>
        <p:nvSpPr>
          <p:cNvPr id="9" name="Text 5"/>
          <p:cNvSpPr/>
          <p:nvPr/>
        </p:nvSpPr>
        <p:spPr>
          <a:xfrm>
            <a:off x="640080" y="1463040"/>
            <a:ext cx="5349240" cy="457200"/>
          </a:xfrm>
          <a:prstGeom prst="rect">
            <a:avLst/>
          </a:prstGeom>
          <a:noFill/>
          <a:ln/>
        </p:spPr>
        <p:txBody>
          <a:bodyPr wrap="square" lIns="0" tIns="0" rIns="0" bIns="0" rtlCol="0" anchor="ctr"/>
          <a:lstStyle/>
          <a:p>
            <a:pPr algn="ctr" indent="0" marL="0">
              <a:buNone/>
            </a:pPr>
            <a:r>
              <a:rPr lang="en-US" sz="1300" b="1" dirty="0">
                <a:solidFill>
                  <a:srgbClr val="232946"/>
                </a:solidFill>
                <a:latin typeface="Arial" pitchFamily="34" charset="0"/>
                <a:ea typeface="Arial" pitchFamily="34" charset="-122"/>
                <a:cs typeface="Arial" pitchFamily="34" charset="-120"/>
              </a:rPr>
              <a:t>Query 1 — traffic and errors</a:t>
            </a:r>
            <a:endParaRPr lang="en-US" sz="1300" dirty="0"/>
          </a:p>
        </p:txBody>
      </p:sp>
      <p:sp>
        <p:nvSpPr>
          <p:cNvPr id="10" name="Shape 6"/>
          <p:cNvSpPr/>
          <p:nvPr/>
        </p:nvSpPr>
        <p:spPr>
          <a:xfrm>
            <a:off x="640080" y="2057400"/>
            <a:ext cx="5349240" cy="640080"/>
          </a:xfrm>
          <a:prstGeom prst="roundRect">
            <a:avLst>
              <a:gd name="adj" fmla="val 11429"/>
            </a:avLst>
          </a:prstGeom>
          <a:solidFill>
            <a:srgbClr val="1B2130"/>
          </a:solidFill>
          <a:ln/>
          <a:effectLst>
            <a:outerShdw sx="100000" sy="100000" kx="0" ky="0" algn="bl" rotWithShape="0" blurRad="76200" dist="25400" dir="5400000">
              <a:srgbClr val="9AA4B8">
                <a:alpha val="35000"/>
              </a:srgbClr>
            </a:outerShdw>
          </a:effectLst>
        </p:spPr>
      </p:sp>
      <p:sp>
        <p:nvSpPr>
          <p:cNvPr id="11" name="Text 7"/>
          <p:cNvSpPr/>
          <p:nvPr/>
        </p:nvSpPr>
        <p:spPr>
          <a:xfrm>
            <a:off x="841248" y="2167128"/>
            <a:ext cx="4946904" cy="420624"/>
          </a:xfrm>
          <a:prstGeom prst="rect">
            <a:avLst/>
          </a:prstGeom>
          <a:noFill/>
          <a:ln/>
        </p:spPr>
        <p:txBody>
          <a:bodyPr wrap="square" lIns="0" tIns="0" rIns="0" bIns="0" rtlCol="0" anchor="t"/>
          <a:lstStyle/>
          <a:p>
            <a:pPr indent="0" marL="0">
              <a:lnSpc>
                <a:spcPct val="112000"/>
              </a:lnSpc>
              <a:buNone/>
            </a:pPr>
            <a:r>
              <a:rPr lang="en-US" sz="1200" dirty="0">
                <a:solidFill>
                  <a:srgbClr val="E6EAF2"/>
                </a:solidFill>
                <a:latin typeface="Courier New" pitchFamily="34" charset="0"/>
                <a:ea typeface="Courier New" pitchFamily="34" charset="-122"/>
                <a:cs typeface="Courier New" pitchFamily="34" charset="-120"/>
              </a:rPr>
              <a:t>rate(llm_requests_total[1m])</a:t>
            </a:r>
            <a:endParaRPr lang="en-US" sz="1200" dirty="0"/>
          </a:p>
        </p:txBody>
      </p:sp>
      <p:sp>
        <p:nvSpPr>
          <p:cNvPr id="12" name="Text 8"/>
          <p:cNvSpPr/>
          <p:nvPr/>
        </p:nvSpPr>
        <p:spPr>
          <a:xfrm>
            <a:off x="777240" y="2880360"/>
            <a:ext cx="5120640" cy="301752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llm_requests_total — the counter; one series per {endpoint, status} combination</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[1m] — the trailing one-minute window of samples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rate() — per-second rate of increase across the window, tolerant of counter resets</a:t>
            </a:r>
            <a:endParaRPr lang="en-US" sz="1150" dirty="0"/>
          </a:p>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Result: requests per second, split by endpoint and status — the dashboard's traffic panel, and (filtered to 4xx/5xx) its error panel</a:t>
            </a:r>
            <a:endParaRPr lang="en-US" sz="1150" dirty="0"/>
          </a:p>
        </p:txBody>
      </p:sp>
      <p:sp>
        <p:nvSpPr>
          <p:cNvPr id="13" name="Shape 9"/>
          <p:cNvSpPr/>
          <p:nvPr/>
        </p:nvSpPr>
        <p:spPr>
          <a:xfrm>
            <a:off x="6263640" y="1463040"/>
            <a:ext cx="5303520" cy="457200"/>
          </a:xfrm>
          <a:prstGeom prst="roundRect">
            <a:avLst>
              <a:gd name="adj" fmla="val 18000"/>
            </a:avLst>
          </a:prstGeom>
          <a:solidFill>
            <a:srgbClr val="DDE6F5"/>
          </a:solidFill>
          <a:ln/>
          <a:effectLst>
            <a:outerShdw sx="100000" sy="100000" kx="0" ky="0" algn="bl" rotWithShape="0" blurRad="76200" dist="25400" dir="5400000">
              <a:srgbClr val="9AA4B8">
                <a:alpha val="35000"/>
              </a:srgbClr>
            </a:outerShdw>
          </a:effectLst>
        </p:spPr>
      </p:sp>
      <p:sp>
        <p:nvSpPr>
          <p:cNvPr id="14" name="Text 10"/>
          <p:cNvSpPr/>
          <p:nvPr/>
        </p:nvSpPr>
        <p:spPr>
          <a:xfrm>
            <a:off x="6263640" y="1463040"/>
            <a:ext cx="5303520" cy="457200"/>
          </a:xfrm>
          <a:prstGeom prst="rect">
            <a:avLst/>
          </a:prstGeom>
          <a:noFill/>
          <a:ln/>
        </p:spPr>
        <p:txBody>
          <a:bodyPr wrap="square" lIns="0" tIns="0" rIns="0" bIns="0" rtlCol="0" anchor="ctr"/>
          <a:lstStyle/>
          <a:p>
            <a:pPr algn="ctr" indent="0" marL="0">
              <a:buNone/>
            </a:pPr>
            <a:r>
              <a:rPr lang="en-US" sz="1300" b="1" dirty="0">
                <a:solidFill>
                  <a:srgbClr val="232946"/>
                </a:solidFill>
                <a:latin typeface="Arial" pitchFamily="34" charset="0"/>
                <a:ea typeface="Arial" pitchFamily="34" charset="-122"/>
                <a:cs typeface="Arial" pitchFamily="34" charset="-120"/>
              </a:rPr>
              <a:t>Query 2 — p95 latency</a:t>
            </a:r>
            <a:endParaRPr lang="en-US" sz="1300" dirty="0"/>
          </a:p>
        </p:txBody>
      </p:sp>
      <p:sp>
        <p:nvSpPr>
          <p:cNvPr id="15" name="Shape 11"/>
          <p:cNvSpPr/>
          <p:nvPr/>
        </p:nvSpPr>
        <p:spPr>
          <a:xfrm>
            <a:off x="6263640" y="2057400"/>
            <a:ext cx="5303520" cy="1371600"/>
          </a:xfrm>
          <a:prstGeom prst="roundRect">
            <a:avLst>
              <a:gd name="adj" fmla="val 5333"/>
            </a:avLst>
          </a:prstGeom>
          <a:solidFill>
            <a:srgbClr val="1B2130"/>
          </a:solidFill>
          <a:ln/>
          <a:effectLst>
            <a:outerShdw sx="100000" sy="100000" kx="0" ky="0" algn="bl" rotWithShape="0" blurRad="76200" dist="25400" dir="5400000">
              <a:srgbClr val="9AA4B8">
                <a:alpha val="35000"/>
              </a:srgbClr>
            </a:outerShdw>
          </a:effectLst>
        </p:spPr>
      </p:sp>
      <p:sp>
        <p:nvSpPr>
          <p:cNvPr id="16" name="Text 12"/>
          <p:cNvSpPr/>
          <p:nvPr/>
        </p:nvSpPr>
        <p:spPr>
          <a:xfrm>
            <a:off x="6464808" y="2167128"/>
            <a:ext cx="4901184" cy="1152144"/>
          </a:xfrm>
          <a:prstGeom prst="rect">
            <a:avLst/>
          </a:prstGeom>
          <a:noFill/>
          <a:ln/>
        </p:spPr>
        <p:txBody>
          <a:bodyPr wrap="square" lIns="0" tIns="0" rIns="0" bIns="0" rtlCol="0" anchor="t"/>
          <a:lstStyle/>
          <a:p>
            <a:pPr indent="0" marL="0">
              <a:lnSpc>
                <a:spcPct val="112000"/>
              </a:lnSpc>
              <a:buNone/>
            </a:pPr>
            <a:r>
              <a:rPr lang="en-US" sz="1100" dirty="0">
                <a:solidFill>
                  <a:srgbClr val="E6EAF2"/>
                </a:solidFill>
                <a:latin typeface="Courier New" pitchFamily="34" charset="0"/>
                <a:ea typeface="Courier New" pitchFamily="34" charset="-122"/>
                <a:cs typeface="Courier New" pitchFamily="34" charset="-120"/>
              </a:rPr>
              <a:t>histogram_quantile(0.95,</a:t>
            </a:r>
            <a:endParaRPr lang="en-US" sz="1100" dirty="0"/>
          </a:p>
          <a:p>
            <a:pPr indent="0" marL="0">
              <a:lnSpc>
                <a:spcPct val="112000"/>
              </a:lnSpc>
              <a:buNone/>
            </a:pPr>
            <a:r>
              <a:rPr lang="en-US" sz="1100" dirty="0">
                <a:solidFill>
                  <a:srgbClr val="E6EAF2"/>
                </a:solidFill>
                <a:latin typeface="Courier New" pitchFamily="34" charset="0"/>
                <a:ea typeface="Courier New" pitchFamily="34" charset="-122"/>
                <a:cs typeface="Courier New" pitchFamily="34" charset="-120"/>
              </a:rPr>
              <a:t>  sum(rate(</a:t>
            </a:r>
            <a:endParaRPr lang="en-US" sz="1100" dirty="0"/>
          </a:p>
          <a:p>
            <a:pPr indent="0" marL="0">
              <a:lnSpc>
                <a:spcPct val="112000"/>
              </a:lnSpc>
              <a:buNone/>
            </a:pPr>
            <a:r>
              <a:rPr lang="en-US" sz="1100" dirty="0">
                <a:solidFill>
                  <a:srgbClr val="E6EAF2"/>
                </a:solidFill>
                <a:latin typeface="Courier New" pitchFamily="34" charset="0"/>
                <a:ea typeface="Courier New" pitchFamily="34" charset="-122"/>
                <a:cs typeface="Courier New" pitchFamily="34" charset="-120"/>
              </a:rPr>
              <a:t>    llm_request_latency_seconds_bucket[5m]</a:t>
            </a:r>
            <a:endParaRPr lang="en-US" sz="1100" dirty="0"/>
          </a:p>
          <a:p>
            <a:pPr indent="0" marL="0">
              <a:lnSpc>
                <a:spcPct val="112000"/>
              </a:lnSpc>
              <a:buNone/>
            </a:pPr>
            <a:r>
              <a:rPr lang="en-US" sz="1100" dirty="0">
                <a:solidFill>
                  <a:srgbClr val="E6EAF2"/>
                </a:solidFill>
                <a:latin typeface="Courier New" pitchFamily="34" charset="0"/>
                <a:ea typeface="Courier New" pitchFamily="34" charset="-122"/>
                <a:cs typeface="Courier New" pitchFamily="34" charset="-120"/>
              </a:rPr>
              <a:t>  )) by (le))</a:t>
            </a:r>
            <a:endParaRPr lang="en-US" sz="1100" dirty="0"/>
          </a:p>
        </p:txBody>
      </p:sp>
      <p:sp>
        <p:nvSpPr>
          <p:cNvPr id="17" name="Text 13"/>
          <p:cNvSpPr/>
          <p:nvPr/>
        </p:nvSpPr>
        <p:spPr>
          <a:xfrm>
            <a:off x="6400800" y="3611880"/>
            <a:ext cx="5074920" cy="210312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_bucket — the histogram's cumulative counters, one per le boundary</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rate(...[5m]) — each bucket's per-second growth over five minutes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sum(...) by (le) — aggregate across series while preserving the bucket boundaries</a:t>
            </a:r>
            <a:endParaRPr lang="en-US" sz="1150" dirty="0"/>
          </a:p>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histogram_quantile(0.95, ...) — interpolates the 95th percentile. This expression is both the latency panel and the alert condition in Step 3</a:t>
            </a:r>
            <a:endParaRPr lang="en-US" sz="1150" dirty="0"/>
          </a:p>
        </p:txBody>
      </p:sp>
      <p:sp>
        <p:nvSpPr>
          <p:cNvPr id="18" name="Shape 14"/>
          <p:cNvSpPr/>
          <p:nvPr/>
        </p:nvSpPr>
        <p:spPr>
          <a:xfrm>
            <a:off x="640080" y="5852160"/>
            <a:ext cx="10881360" cy="566928"/>
          </a:xfrm>
          <a:prstGeom prst="roundRect">
            <a:avLst>
              <a:gd name="adj" fmla="val 14516"/>
            </a:avLst>
          </a:prstGeom>
          <a:solidFill>
            <a:srgbClr val="232946"/>
          </a:solidFill>
          <a:ln/>
          <a:effectLst>
            <a:outerShdw sx="100000" sy="100000" kx="0" ky="0" algn="bl" rotWithShape="0" blurRad="76200" dist="25400" dir="5400000">
              <a:srgbClr val="9AA4B8">
                <a:alpha val="35000"/>
              </a:srgbClr>
            </a:outerShdw>
          </a:effectLst>
        </p:spPr>
      </p:sp>
      <p:sp>
        <p:nvSpPr>
          <p:cNvPr id="19" name="Text 15"/>
          <p:cNvSpPr/>
          <p:nvPr/>
        </p:nvSpPr>
        <p:spPr>
          <a:xfrm>
            <a:off x="868680" y="5888736"/>
            <a:ext cx="10424160" cy="493776"/>
          </a:xfrm>
          <a:prstGeom prst="rect">
            <a:avLst/>
          </a:prstGeom>
          <a:noFill/>
          <a:ln/>
        </p:spPr>
        <p:txBody>
          <a:bodyPr wrap="square" lIns="0" tIns="0" rIns="0" bIns="0" rtlCol="0" anchor="ctr"/>
          <a:lstStyle/>
          <a:p>
            <a:pPr indent="0" marL="0">
              <a:buNone/>
            </a:pPr>
            <a:r>
              <a:rPr lang="en-US" sz="1200" b="1" dirty="0">
                <a:solidFill>
                  <a:srgbClr val="F5B971"/>
                </a:solidFill>
                <a:latin typeface="Calibri" pitchFamily="34" charset="0"/>
                <a:ea typeface="Calibri" pitchFamily="34" charset="-122"/>
                <a:cs typeface="Calibri" pitchFamily="34" charset="-120"/>
              </a:rPr>
              <a:t>Where they run:  </a:t>
            </a:r>
            <a:pPr indent="0" marL="0">
              <a:buNone/>
            </a:pPr>
            <a:r>
              <a:rPr lang="en-US" sz="1200" dirty="0">
                <a:solidFill>
                  <a:srgbClr val="FFFFFF"/>
                </a:solidFill>
                <a:latin typeface="Calibri" pitchFamily="34" charset="0"/>
                <a:ea typeface="Calibri" pitchFamily="34" charset="-122"/>
                <a:cs typeface="Calibri" pitchFamily="34" charset="-120"/>
              </a:rPr>
              <a:t>both queries are executed verbatim in the Prometheus UI in Lab Step 2, and the same two expressions power the Grafana panels and the alert in Step 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GRAFANA</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Grafana: dashboards as provisioned code, alerts as discipline</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Text 4"/>
          <p:cNvSpPr/>
          <p:nvPr/>
        </p:nvSpPr>
        <p:spPr>
          <a:xfrm>
            <a:off x="640080" y="1508760"/>
            <a:ext cx="5806440" cy="32918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00" b="1" dirty="0">
                <a:solidFill>
                  <a:srgbClr val="232946"/>
                </a:solidFill>
                <a:latin typeface="Calibri" pitchFamily="34" charset="0"/>
                <a:ea typeface="Calibri" pitchFamily="34" charset="-122"/>
                <a:cs typeface="Calibri" pitchFamily="34" charset="-120"/>
              </a:rPr>
              <a:t>Provisioned, not clicked: the lab ships grafana/provisioning/ — a datasource YAML pointing at Prometheus and the dashboard JSON itself. The container starts with the dashboard already in place.</a:t>
            </a:r>
            <a:endParaRPr lang="en-US" sz="1200" dirty="0"/>
          </a:p>
          <a:p>
            <a:pPr marL="152400" indent="-152400">
              <a:lnSpc>
                <a:spcPct val="108000"/>
              </a:lnSpc>
              <a:spcAft>
                <a:spcPts val="800"/>
              </a:spcAft>
              <a:buSzPct val="100000"/>
              <a:buChar char="•"/>
            </a:pPr>
            <a:r>
              <a:rPr lang="en-US" sz="1200" dirty="0">
                <a:solidFill>
                  <a:srgbClr val="232946"/>
                </a:solidFill>
                <a:latin typeface="Calibri" pitchFamily="34" charset="0"/>
                <a:ea typeface="Calibri" pitchFamily="34" charset="-122"/>
                <a:cs typeface="Calibri" pitchFamily="34" charset="-120"/>
              </a:rPr>
              <a:t>Dashboards as code: the JSON lives in the repository, is reviewed in git, and is reproduced identically on every machine — the same discipline as any other configuration.</a:t>
            </a:r>
            <a:endParaRPr lang="en-US" sz="1200" dirty="0"/>
          </a:p>
          <a:p>
            <a:pPr marL="152400" indent="-152400">
              <a:lnSpc>
                <a:spcPct val="108000"/>
              </a:lnSpc>
              <a:spcAft>
                <a:spcPts val="800"/>
              </a:spcAft>
              <a:buSzPct val="100000"/>
              <a:buChar char="•"/>
            </a:pPr>
            <a:r>
              <a:rPr lang="en-US" sz="1200" dirty="0">
                <a:solidFill>
                  <a:srgbClr val="232946"/>
                </a:solidFill>
                <a:latin typeface="Calibri" pitchFamily="34" charset="0"/>
                <a:ea typeface="Calibri" pitchFamily="34" charset="-122"/>
                <a:cs typeface="Calibri" pitchFamily="34" charset="-120"/>
              </a:rPr>
              <a:t>Alert rules state a sustained condition — a threshold held for a duration — not an instantaneous spike. The lab's rule: p95 above 4 s for 1 minute.</a:t>
            </a:r>
            <a:endParaRPr lang="en-US" sz="1200" dirty="0"/>
          </a:p>
          <a:p>
            <a:pPr marL="152400" indent="-152400">
              <a:lnSpc>
                <a:spcPct val="108000"/>
              </a:lnSpc>
              <a:spcAft>
                <a:spcPts val="800"/>
              </a:spcAft>
              <a:buSzPct val="100000"/>
              <a:buChar char="•"/>
            </a:pPr>
            <a:r>
              <a:rPr lang="en-US" sz="1200" b="1" dirty="0">
                <a:solidFill>
                  <a:srgbClr val="232946"/>
                </a:solidFill>
                <a:latin typeface="Calibri" pitchFamily="34" charset="0"/>
                <a:ea typeface="Calibri" pitchFamily="34" charset="-122"/>
                <a:cs typeface="Calibri" pitchFamily="34" charset="-120"/>
              </a:rPr>
              <a:t>Alert on symptoms users feel — latency, error rate, availability — not on every metric collected. Every alert must be actionable; an alert with no action is noise.</a:t>
            </a:r>
            <a:endParaRPr lang="en-US" sz="1200" dirty="0"/>
          </a:p>
        </p:txBody>
      </p:sp>
      <p:sp>
        <p:nvSpPr>
          <p:cNvPr id="9" name="Text 5"/>
          <p:cNvSpPr/>
          <p:nvPr/>
        </p:nvSpPr>
        <p:spPr>
          <a:xfrm>
            <a:off x="6766560" y="1481328"/>
            <a:ext cx="4800600" cy="274320"/>
          </a:xfrm>
          <a:prstGeom prst="rect">
            <a:avLst/>
          </a:prstGeom>
          <a:noFill/>
          <a:ln/>
        </p:spPr>
        <p:txBody>
          <a:bodyPr wrap="square" lIns="0" tIns="0" rIns="0" bIns="0" rtlCol="0" anchor="ctr"/>
          <a:lstStyle/>
          <a:p>
            <a:pPr indent="0" marL="0">
              <a:buNone/>
            </a:pPr>
            <a:r>
              <a:rPr lang="en-US" sz="1200" b="1" dirty="0">
                <a:solidFill>
                  <a:srgbClr val="232946"/>
                </a:solidFill>
                <a:latin typeface="Arial" pitchFamily="34" charset="0"/>
                <a:ea typeface="Arial" pitchFamily="34" charset="-122"/>
                <a:cs typeface="Arial" pitchFamily="34" charset="-120"/>
              </a:rPr>
              <a:t>“LLM Service — Golden Signals” · the provisioned dashboard</a:t>
            </a:r>
            <a:endParaRPr lang="en-US" sz="1200" dirty="0"/>
          </a:p>
        </p:txBody>
      </p:sp>
      <p:sp>
        <p:nvSpPr>
          <p:cNvPr id="10" name="Shape 6"/>
          <p:cNvSpPr/>
          <p:nvPr/>
        </p:nvSpPr>
        <p:spPr>
          <a:xfrm>
            <a:off x="6766560" y="1874520"/>
            <a:ext cx="4800600" cy="896112"/>
          </a:xfrm>
          <a:prstGeom prst="roundRect">
            <a:avLst>
              <a:gd name="adj" fmla="val 9184"/>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6967728" y="1984248"/>
            <a:ext cx="4434840" cy="274320"/>
          </a:xfrm>
          <a:prstGeom prst="rect">
            <a:avLst/>
          </a:prstGeom>
          <a:noFill/>
          <a:ln/>
        </p:spPr>
        <p:txBody>
          <a:bodyPr wrap="square" lIns="0" tIns="0" rIns="0" bIns="0" rtlCol="0" anchor="ctr"/>
          <a:lstStyle/>
          <a:p>
            <a:pPr indent="0" marL="0">
              <a:buNone/>
            </a:pPr>
            <a:r>
              <a:rPr lang="en-US" sz="1150" b="1" dirty="0">
                <a:solidFill>
                  <a:srgbClr val="232946"/>
                </a:solidFill>
                <a:latin typeface="Arial" pitchFamily="34" charset="0"/>
                <a:ea typeface="Arial" pitchFamily="34" charset="-122"/>
                <a:cs typeface="Arial" pitchFamily="34" charset="-120"/>
              </a:rPr>
              <a:t>Traffic — requests / second</a:t>
            </a:r>
            <a:endParaRPr lang="en-US" sz="1150" dirty="0"/>
          </a:p>
        </p:txBody>
      </p:sp>
      <p:sp>
        <p:nvSpPr>
          <p:cNvPr id="12" name="Text 8"/>
          <p:cNvSpPr/>
          <p:nvPr/>
        </p:nvSpPr>
        <p:spPr>
          <a:xfrm>
            <a:off x="6967728" y="2276856"/>
            <a:ext cx="4434840" cy="411480"/>
          </a:xfrm>
          <a:prstGeom prst="rect">
            <a:avLst/>
          </a:prstGeom>
          <a:noFill/>
          <a:ln/>
        </p:spPr>
        <p:txBody>
          <a:bodyPr wrap="square" lIns="0" tIns="0" rIns="0" bIns="0" rtlCol="0" anchor="ctr"/>
          <a:lstStyle/>
          <a:p>
            <a:pPr indent="0" marL="0">
              <a:buNone/>
            </a:pPr>
            <a:r>
              <a:rPr lang="en-US" sz="850" dirty="0">
                <a:solidFill>
                  <a:srgbClr val="5A6478"/>
                </a:solidFill>
                <a:latin typeface="Courier New" pitchFamily="34" charset="0"/>
                <a:ea typeface="Courier New" pitchFamily="34" charset="-122"/>
                <a:cs typeface="Courier New" pitchFamily="34" charset="-120"/>
              </a:rPr>
              <a:t>rate(llm_requests_total[1m])</a:t>
            </a:r>
            <a:endParaRPr lang="en-US" sz="850" dirty="0"/>
          </a:p>
        </p:txBody>
      </p:sp>
      <p:sp>
        <p:nvSpPr>
          <p:cNvPr id="13" name="Shape 9"/>
          <p:cNvSpPr/>
          <p:nvPr/>
        </p:nvSpPr>
        <p:spPr>
          <a:xfrm>
            <a:off x="6766560" y="2898648"/>
            <a:ext cx="4800600" cy="896112"/>
          </a:xfrm>
          <a:prstGeom prst="roundRect">
            <a:avLst>
              <a:gd name="adj" fmla="val 9184"/>
            </a:avLst>
          </a:prstGeom>
          <a:solidFill>
            <a:srgbClr val="DDE6F5"/>
          </a:solidFill>
          <a:ln/>
          <a:effectLst>
            <a:outerShdw sx="100000" sy="100000" kx="0" ky="0" algn="bl" rotWithShape="0" blurRad="76200" dist="25400" dir="5400000">
              <a:srgbClr val="9AA4B8">
                <a:alpha val="35000"/>
              </a:srgbClr>
            </a:outerShdw>
          </a:effectLst>
        </p:spPr>
      </p:sp>
      <p:sp>
        <p:nvSpPr>
          <p:cNvPr id="14" name="Text 10"/>
          <p:cNvSpPr/>
          <p:nvPr/>
        </p:nvSpPr>
        <p:spPr>
          <a:xfrm>
            <a:off x="6967728" y="3008376"/>
            <a:ext cx="4434840" cy="274320"/>
          </a:xfrm>
          <a:prstGeom prst="rect">
            <a:avLst/>
          </a:prstGeom>
          <a:noFill/>
          <a:ln/>
        </p:spPr>
        <p:txBody>
          <a:bodyPr wrap="square" lIns="0" tIns="0" rIns="0" bIns="0" rtlCol="0" anchor="ctr"/>
          <a:lstStyle/>
          <a:p>
            <a:pPr indent="0" marL="0">
              <a:buNone/>
            </a:pPr>
            <a:r>
              <a:rPr lang="en-US" sz="1150" b="1" dirty="0">
                <a:solidFill>
                  <a:srgbClr val="232946"/>
                </a:solidFill>
                <a:latin typeface="Arial" pitchFamily="34" charset="0"/>
                <a:ea typeface="Arial" pitchFamily="34" charset="-122"/>
                <a:cs typeface="Arial" pitchFamily="34" charset="-120"/>
              </a:rPr>
              <a:t>Latency — p50 / p95</a:t>
            </a:r>
            <a:endParaRPr lang="en-US" sz="1150" dirty="0"/>
          </a:p>
        </p:txBody>
      </p:sp>
      <p:sp>
        <p:nvSpPr>
          <p:cNvPr id="15" name="Text 11"/>
          <p:cNvSpPr/>
          <p:nvPr/>
        </p:nvSpPr>
        <p:spPr>
          <a:xfrm>
            <a:off x="6967728" y="3300984"/>
            <a:ext cx="4434840" cy="411480"/>
          </a:xfrm>
          <a:prstGeom prst="rect">
            <a:avLst/>
          </a:prstGeom>
          <a:noFill/>
          <a:ln/>
        </p:spPr>
        <p:txBody>
          <a:bodyPr wrap="square" lIns="0" tIns="0" rIns="0" bIns="0" rtlCol="0" anchor="ctr"/>
          <a:lstStyle/>
          <a:p>
            <a:pPr indent="0" marL="0">
              <a:buNone/>
            </a:pPr>
            <a:r>
              <a:rPr lang="en-US" sz="850" dirty="0">
                <a:solidFill>
                  <a:srgbClr val="5A6478"/>
                </a:solidFill>
                <a:latin typeface="Courier New" pitchFamily="34" charset="0"/>
                <a:ea typeface="Courier New" pitchFamily="34" charset="-122"/>
                <a:cs typeface="Courier New" pitchFamily="34" charset="-120"/>
              </a:rPr>
              <a:t>histogram_quantile(0.95, sum(rate(..._bucket[5m])) by (le))</a:t>
            </a:r>
            <a:endParaRPr lang="en-US" sz="850" dirty="0"/>
          </a:p>
        </p:txBody>
      </p:sp>
      <p:sp>
        <p:nvSpPr>
          <p:cNvPr id="16" name="Shape 12"/>
          <p:cNvSpPr/>
          <p:nvPr/>
        </p:nvSpPr>
        <p:spPr>
          <a:xfrm>
            <a:off x="6766560" y="3922776"/>
            <a:ext cx="4800600" cy="896112"/>
          </a:xfrm>
          <a:prstGeom prst="roundRect">
            <a:avLst>
              <a:gd name="adj" fmla="val 9184"/>
            </a:avLst>
          </a:prstGeom>
          <a:solidFill>
            <a:srgbClr val="EEF2FA"/>
          </a:solidFill>
          <a:ln/>
          <a:effectLst>
            <a:outerShdw sx="100000" sy="100000" kx="0" ky="0" algn="bl" rotWithShape="0" blurRad="76200" dist="25400" dir="5400000">
              <a:srgbClr val="9AA4B8">
                <a:alpha val="35000"/>
              </a:srgbClr>
            </a:outerShdw>
          </a:effectLst>
        </p:spPr>
      </p:sp>
      <p:sp>
        <p:nvSpPr>
          <p:cNvPr id="17" name="Text 13"/>
          <p:cNvSpPr/>
          <p:nvPr/>
        </p:nvSpPr>
        <p:spPr>
          <a:xfrm>
            <a:off x="6967728" y="4032504"/>
            <a:ext cx="4434840" cy="274320"/>
          </a:xfrm>
          <a:prstGeom prst="rect">
            <a:avLst/>
          </a:prstGeom>
          <a:noFill/>
          <a:ln/>
        </p:spPr>
        <p:txBody>
          <a:bodyPr wrap="square" lIns="0" tIns="0" rIns="0" bIns="0" rtlCol="0" anchor="ctr"/>
          <a:lstStyle/>
          <a:p>
            <a:pPr indent="0" marL="0">
              <a:buNone/>
            </a:pPr>
            <a:r>
              <a:rPr lang="en-US" sz="1150" b="1" dirty="0">
                <a:solidFill>
                  <a:srgbClr val="232946"/>
                </a:solidFill>
                <a:latin typeface="Arial" pitchFamily="34" charset="0"/>
                <a:ea typeface="Arial" pitchFamily="34" charset="-122"/>
                <a:cs typeface="Arial" pitchFamily="34" charset="-120"/>
              </a:rPr>
              <a:t>Error rate — % of requests</a:t>
            </a:r>
            <a:endParaRPr lang="en-US" sz="1150" dirty="0"/>
          </a:p>
        </p:txBody>
      </p:sp>
      <p:sp>
        <p:nvSpPr>
          <p:cNvPr id="18" name="Text 14"/>
          <p:cNvSpPr/>
          <p:nvPr/>
        </p:nvSpPr>
        <p:spPr>
          <a:xfrm>
            <a:off x="6967728" y="4325112"/>
            <a:ext cx="4434840" cy="411480"/>
          </a:xfrm>
          <a:prstGeom prst="rect">
            <a:avLst/>
          </a:prstGeom>
          <a:noFill/>
          <a:ln/>
        </p:spPr>
        <p:txBody>
          <a:bodyPr wrap="square" lIns="0" tIns="0" rIns="0" bIns="0" rtlCol="0" anchor="ctr"/>
          <a:lstStyle/>
          <a:p>
            <a:pPr indent="0" marL="0">
              <a:buNone/>
            </a:pPr>
            <a:r>
              <a:rPr lang="en-US" sz="850" dirty="0">
                <a:solidFill>
                  <a:srgbClr val="5A6478"/>
                </a:solidFill>
                <a:latin typeface="Courier New" pitchFamily="34" charset="0"/>
                <a:ea typeface="Courier New" pitchFamily="34" charset="-122"/>
                <a:cs typeface="Courier New" pitchFamily="34" charset="-120"/>
              </a:rPr>
              <a:t>rate of status=~"4..|5.." divided by rate of all requests</a:t>
            </a:r>
            <a:endParaRPr lang="en-US" sz="850" dirty="0"/>
          </a:p>
        </p:txBody>
      </p:sp>
      <p:sp>
        <p:nvSpPr>
          <p:cNvPr id="19" name="Shape 15"/>
          <p:cNvSpPr/>
          <p:nvPr/>
        </p:nvSpPr>
        <p:spPr>
          <a:xfrm>
            <a:off x="6766560" y="5029200"/>
            <a:ext cx="4800600" cy="960120"/>
          </a:xfrm>
          <a:prstGeom prst="roundRect">
            <a:avLst>
              <a:gd name="adj" fmla="val 8571"/>
            </a:avLst>
          </a:prstGeom>
          <a:solidFill>
            <a:srgbClr val="FBF1E3"/>
          </a:solidFill>
          <a:ln/>
          <a:effectLst>
            <a:outerShdw sx="100000" sy="100000" kx="0" ky="0" algn="bl" rotWithShape="0" blurRad="76200" dist="25400" dir="5400000">
              <a:srgbClr val="9AA4B8">
                <a:alpha val="35000"/>
              </a:srgbClr>
            </a:outerShdw>
          </a:effectLst>
        </p:spPr>
      </p:sp>
      <p:sp>
        <p:nvSpPr>
          <p:cNvPr id="20" name="Text 16"/>
          <p:cNvSpPr/>
          <p:nvPr/>
        </p:nvSpPr>
        <p:spPr>
          <a:xfrm>
            <a:off x="6967728" y="5102352"/>
            <a:ext cx="4434840" cy="822960"/>
          </a:xfrm>
          <a:prstGeom prst="rect">
            <a:avLst/>
          </a:prstGeom>
          <a:noFill/>
          <a:ln/>
        </p:spPr>
        <p:txBody>
          <a:bodyPr wrap="square" lIns="0" tIns="0" rIns="0" bIns="0" rtlCol="0" anchor="ctr"/>
          <a:lstStyle/>
          <a:p>
            <a:pPr indent="0" marL="0">
              <a:buNone/>
            </a:pPr>
            <a:r>
              <a:rPr lang="en-US" sz="1050" b="1" dirty="0">
                <a:solidFill>
                  <a:srgbClr val="E8871E"/>
                </a:solidFill>
                <a:latin typeface="Calibri" pitchFamily="34" charset="0"/>
                <a:ea typeface="Calibri" pitchFamily="34" charset="-122"/>
                <a:cs typeface="Calibri" pitchFamily="34" charset="-120"/>
              </a:rPr>
              <a:t>Alert lifecycle:  </a:t>
            </a:r>
            <a:pPr indent="0" marL="0">
              <a:buNone/>
            </a:pPr>
            <a:r>
              <a:rPr lang="en-US" sz="1050" dirty="0">
                <a:solidFill>
                  <a:srgbClr val="232946"/>
                </a:solidFill>
                <a:latin typeface="Calibri" pitchFamily="34" charset="0"/>
                <a:ea typeface="Calibri" pitchFamily="34" charset="-122"/>
                <a:cs typeface="Calibri" pitchFamily="34" charset="-120"/>
              </a:rPr>
              <a:t>condition breached → Pending for the rule's duration → Firing → routed to a notification channel. Step 3 builds and trips this on the p95 panel.</a:t>
            </a:r>
            <a:endParaRPr lang="en-US" sz="1050" dirty="0"/>
          </a:p>
        </p:txBody>
      </p:sp>
      <p:sp>
        <p:nvSpPr>
          <p:cNvPr id="21" name="Shape 17"/>
          <p:cNvSpPr/>
          <p:nvPr/>
        </p:nvSpPr>
        <p:spPr>
          <a:xfrm>
            <a:off x="640080" y="5257800"/>
            <a:ext cx="5806440" cy="731520"/>
          </a:xfrm>
          <a:prstGeom prst="roundRect">
            <a:avLst>
              <a:gd name="adj" fmla="val 11250"/>
            </a:avLst>
          </a:prstGeom>
          <a:solidFill>
            <a:srgbClr val="EEF2FA"/>
          </a:solidFill>
          <a:ln/>
          <a:effectLst>
            <a:outerShdw sx="100000" sy="100000" kx="0" ky="0" algn="bl" rotWithShape="0" blurRad="76200" dist="25400" dir="5400000">
              <a:srgbClr val="9AA4B8">
                <a:alpha val="35000"/>
              </a:srgbClr>
            </a:outerShdw>
          </a:effectLst>
        </p:spPr>
      </p:sp>
      <p:sp>
        <p:nvSpPr>
          <p:cNvPr id="22" name="Text 18"/>
          <p:cNvSpPr/>
          <p:nvPr/>
        </p:nvSpPr>
        <p:spPr>
          <a:xfrm>
            <a:off x="868680" y="5312664"/>
            <a:ext cx="5486400" cy="621792"/>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Rule:  </a:t>
            </a:r>
            <a:pPr indent="0" marL="0">
              <a:buNone/>
            </a:pPr>
            <a:r>
              <a:rPr lang="en-US" sz="1150" dirty="0">
                <a:solidFill>
                  <a:srgbClr val="5A6478"/>
                </a:solidFill>
                <a:latin typeface="Calibri" pitchFamily="34" charset="0"/>
                <a:ea typeface="Calibri" pitchFamily="34" charset="-122"/>
                <a:cs typeface="Calibri" pitchFamily="34" charset="-120"/>
              </a:rPr>
              <a:t>a dashboard is a collection of queries; an alert is a query with a threshold and a duration attached.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RELIABILITY TARGETS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SLI, SLO, SLA: measurement, objective, contract</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417320"/>
            <a:ext cx="2377440" cy="365760"/>
          </a:xfrm>
          <a:prstGeom prst="rect">
            <a:avLst/>
          </a:prstGeom>
          <a:solidFill>
            <a:srgbClr val="232946"/>
          </a:solidFill>
          <a:ln/>
        </p:spPr>
      </p:sp>
      <p:sp>
        <p:nvSpPr>
          <p:cNvPr id="9" name="Text 5"/>
          <p:cNvSpPr/>
          <p:nvPr/>
        </p:nvSpPr>
        <p:spPr>
          <a:xfrm>
            <a:off x="768096" y="1417320"/>
            <a:ext cx="215798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Term</a:t>
            </a:r>
            <a:endParaRPr lang="en-US" sz="1250" dirty="0"/>
          </a:p>
        </p:txBody>
      </p:sp>
      <p:sp>
        <p:nvSpPr>
          <p:cNvPr id="10" name="Shape 6"/>
          <p:cNvSpPr/>
          <p:nvPr/>
        </p:nvSpPr>
        <p:spPr>
          <a:xfrm>
            <a:off x="3017520" y="1417320"/>
            <a:ext cx="4389120" cy="365760"/>
          </a:xfrm>
          <a:prstGeom prst="rect">
            <a:avLst/>
          </a:prstGeom>
          <a:solidFill>
            <a:srgbClr val="232946"/>
          </a:solidFill>
          <a:ln/>
        </p:spPr>
      </p:sp>
      <p:sp>
        <p:nvSpPr>
          <p:cNvPr id="11" name="Text 7"/>
          <p:cNvSpPr/>
          <p:nvPr/>
        </p:nvSpPr>
        <p:spPr>
          <a:xfrm>
            <a:off x="3145536" y="1417320"/>
            <a:ext cx="416966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Definition</a:t>
            </a:r>
            <a:endParaRPr lang="en-US" sz="1250" dirty="0"/>
          </a:p>
        </p:txBody>
      </p:sp>
      <p:sp>
        <p:nvSpPr>
          <p:cNvPr id="12" name="Shape 8"/>
          <p:cNvSpPr/>
          <p:nvPr/>
        </p:nvSpPr>
        <p:spPr>
          <a:xfrm>
            <a:off x="7406640" y="1417320"/>
            <a:ext cx="4142232" cy="365760"/>
          </a:xfrm>
          <a:prstGeom prst="rect">
            <a:avLst/>
          </a:prstGeom>
          <a:solidFill>
            <a:srgbClr val="E8871E"/>
          </a:solidFill>
          <a:ln/>
        </p:spPr>
      </p:sp>
      <p:sp>
        <p:nvSpPr>
          <p:cNvPr id="13" name="Text 9"/>
          <p:cNvSpPr/>
          <p:nvPr/>
        </p:nvSpPr>
        <p:spPr>
          <a:xfrm>
            <a:off x="7534656" y="1417320"/>
            <a:ext cx="3922776"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Today's service</a:t>
            </a:r>
            <a:endParaRPr lang="en-US" sz="1250" dirty="0"/>
          </a:p>
        </p:txBody>
      </p:sp>
      <p:sp>
        <p:nvSpPr>
          <p:cNvPr id="14" name="Shape 10"/>
          <p:cNvSpPr/>
          <p:nvPr/>
        </p:nvSpPr>
        <p:spPr>
          <a:xfrm>
            <a:off x="640080" y="1801368"/>
            <a:ext cx="2377440" cy="1225296"/>
          </a:xfrm>
          <a:prstGeom prst="rect">
            <a:avLst/>
          </a:prstGeom>
          <a:solidFill>
            <a:srgbClr val="EEF2FA"/>
          </a:solidFill>
          <a:ln w="9525">
            <a:solidFill>
              <a:srgbClr val="C9D3E6"/>
            </a:solidFill>
            <a:prstDash val="solid"/>
          </a:ln>
        </p:spPr>
      </p:sp>
      <p:sp>
        <p:nvSpPr>
          <p:cNvPr id="15" name="Text 11"/>
          <p:cNvSpPr/>
          <p:nvPr/>
        </p:nvSpPr>
        <p:spPr>
          <a:xfrm>
            <a:off x="768096" y="1801368"/>
            <a:ext cx="2157984" cy="1225296"/>
          </a:xfrm>
          <a:prstGeom prst="rect">
            <a:avLst/>
          </a:prstGeom>
          <a:noFill/>
          <a:ln/>
        </p:spPr>
        <p:txBody>
          <a:bodyPr wrap="square" lIns="0" tIns="0" rIns="0" bIns="0" rtlCol="0" anchor="ctr"/>
          <a:lstStyle/>
          <a:p>
            <a:pPr indent="0" marL="0">
              <a:buNone/>
            </a:pPr>
            <a:r>
              <a:rPr lang="en-US" sz="1400" b="1" dirty="0">
                <a:solidFill>
                  <a:srgbClr val="232946"/>
                </a:solidFill>
                <a:latin typeface="Arial" pitchFamily="34" charset="0"/>
                <a:ea typeface="Arial" pitchFamily="34" charset="-122"/>
                <a:cs typeface="Arial" pitchFamily="34" charset="-120"/>
              </a:rPr>
              <a:t>SLI
</a:t>
            </a:r>
            <a:pPr indent="0" marL="0">
              <a:buNone/>
            </a:pPr>
            <a:r>
              <a:rPr lang="en-US" sz="950" dirty="0">
                <a:solidFill>
                  <a:srgbClr val="5A6478"/>
                </a:solidFill>
                <a:latin typeface="Arial" pitchFamily="34" charset="0"/>
                <a:ea typeface="Arial" pitchFamily="34" charset="-122"/>
                <a:cs typeface="Arial" pitchFamily="34" charset="-120"/>
              </a:rPr>
              <a:t>Service level indicator</a:t>
            </a:r>
            <a:endParaRPr lang="en-US" sz="1400" dirty="0"/>
          </a:p>
        </p:txBody>
      </p:sp>
      <p:sp>
        <p:nvSpPr>
          <p:cNvPr id="16" name="Shape 12"/>
          <p:cNvSpPr/>
          <p:nvPr/>
        </p:nvSpPr>
        <p:spPr>
          <a:xfrm>
            <a:off x="3017520" y="1801368"/>
            <a:ext cx="4389120" cy="1225296"/>
          </a:xfrm>
          <a:prstGeom prst="rect">
            <a:avLst/>
          </a:prstGeom>
          <a:solidFill>
            <a:srgbClr val="EEF2FA"/>
          </a:solidFill>
          <a:ln w="9525">
            <a:solidFill>
              <a:srgbClr val="C9D3E6"/>
            </a:solidFill>
            <a:prstDash val="solid"/>
          </a:ln>
        </p:spPr>
      </p:sp>
      <p:sp>
        <p:nvSpPr>
          <p:cNvPr id="17" name="Text 13"/>
          <p:cNvSpPr/>
          <p:nvPr/>
        </p:nvSpPr>
        <p:spPr>
          <a:xfrm>
            <a:off x="3145536" y="1801368"/>
            <a:ext cx="4169664" cy="1225296"/>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A measured quantity of service behaviour: a latency percentile, an error rate, an availability ratio.</a:t>
            </a:r>
            <a:endParaRPr lang="en-US" sz="1050" dirty="0"/>
          </a:p>
        </p:txBody>
      </p:sp>
      <p:sp>
        <p:nvSpPr>
          <p:cNvPr id="18" name="Shape 14"/>
          <p:cNvSpPr/>
          <p:nvPr/>
        </p:nvSpPr>
        <p:spPr>
          <a:xfrm>
            <a:off x="7406640" y="1801368"/>
            <a:ext cx="4142232" cy="1225296"/>
          </a:xfrm>
          <a:prstGeom prst="rect">
            <a:avLst/>
          </a:prstGeom>
          <a:solidFill>
            <a:srgbClr val="FBF1E3"/>
          </a:solidFill>
          <a:ln w="9525">
            <a:solidFill>
              <a:srgbClr val="C9D3E6"/>
            </a:solidFill>
            <a:prstDash val="solid"/>
          </a:ln>
        </p:spPr>
      </p:sp>
      <p:sp>
        <p:nvSpPr>
          <p:cNvPr id="19" name="Text 15"/>
          <p:cNvSpPr/>
          <p:nvPr/>
        </p:nvSpPr>
        <p:spPr>
          <a:xfrm>
            <a:off x="7534656" y="1801368"/>
            <a:ext cx="3922776" cy="1225296"/>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p95 of llm_request_latency_seconds, computed by the histogram_quantile query from Step 2.</a:t>
            </a:r>
            <a:endParaRPr lang="en-US" sz="1050" dirty="0"/>
          </a:p>
        </p:txBody>
      </p:sp>
      <p:sp>
        <p:nvSpPr>
          <p:cNvPr id="20" name="Shape 16"/>
          <p:cNvSpPr/>
          <p:nvPr/>
        </p:nvSpPr>
        <p:spPr>
          <a:xfrm>
            <a:off x="640080" y="3044952"/>
            <a:ext cx="2377440" cy="1225296"/>
          </a:xfrm>
          <a:prstGeom prst="rect">
            <a:avLst/>
          </a:prstGeom>
          <a:solidFill>
            <a:srgbClr val="FFFFFF"/>
          </a:solidFill>
          <a:ln w="9525">
            <a:solidFill>
              <a:srgbClr val="C9D3E6"/>
            </a:solidFill>
            <a:prstDash val="solid"/>
          </a:ln>
        </p:spPr>
      </p:sp>
      <p:sp>
        <p:nvSpPr>
          <p:cNvPr id="21" name="Text 17"/>
          <p:cNvSpPr/>
          <p:nvPr/>
        </p:nvSpPr>
        <p:spPr>
          <a:xfrm>
            <a:off x="768096" y="3044952"/>
            <a:ext cx="2157984" cy="1225296"/>
          </a:xfrm>
          <a:prstGeom prst="rect">
            <a:avLst/>
          </a:prstGeom>
          <a:noFill/>
          <a:ln/>
        </p:spPr>
        <p:txBody>
          <a:bodyPr wrap="square" lIns="0" tIns="0" rIns="0" bIns="0" rtlCol="0" anchor="ctr"/>
          <a:lstStyle/>
          <a:p>
            <a:pPr indent="0" marL="0">
              <a:buNone/>
            </a:pPr>
            <a:r>
              <a:rPr lang="en-US" sz="1400" b="1" dirty="0">
                <a:solidFill>
                  <a:srgbClr val="232946"/>
                </a:solidFill>
                <a:latin typeface="Arial" pitchFamily="34" charset="0"/>
                <a:ea typeface="Arial" pitchFamily="34" charset="-122"/>
                <a:cs typeface="Arial" pitchFamily="34" charset="-120"/>
              </a:rPr>
              <a:t>SLO
</a:t>
            </a:r>
            <a:pPr indent="0" marL="0">
              <a:buNone/>
            </a:pPr>
            <a:r>
              <a:rPr lang="en-US" sz="950" dirty="0">
                <a:solidFill>
                  <a:srgbClr val="5A6478"/>
                </a:solidFill>
                <a:latin typeface="Arial" pitchFamily="34" charset="0"/>
                <a:ea typeface="Arial" pitchFamily="34" charset="-122"/>
                <a:cs typeface="Arial" pitchFamily="34" charset="-120"/>
              </a:rPr>
              <a:t>Service level objective</a:t>
            </a:r>
            <a:endParaRPr lang="en-US" sz="1400" dirty="0"/>
          </a:p>
        </p:txBody>
      </p:sp>
      <p:sp>
        <p:nvSpPr>
          <p:cNvPr id="22" name="Shape 18"/>
          <p:cNvSpPr/>
          <p:nvPr/>
        </p:nvSpPr>
        <p:spPr>
          <a:xfrm>
            <a:off x="3017520" y="3044952"/>
            <a:ext cx="4389120" cy="1225296"/>
          </a:xfrm>
          <a:prstGeom prst="rect">
            <a:avLst/>
          </a:prstGeom>
          <a:solidFill>
            <a:srgbClr val="FFFFFF"/>
          </a:solidFill>
          <a:ln w="9525">
            <a:solidFill>
              <a:srgbClr val="C9D3E6"/>
            </a:solidFill>
            <a:prstDash val="solid"/>
          </a:ln>
        </p:spPr>
      </p:sp>
      <p:sp>
        <p:nvSpPr>
          <p:cNvPr id="23" name="Text 19"/>
          <p:cNvSpPr/>
          <p:nvPr/>
        </p:nvSpPr>
        <p:spPr>
          <a:xfrm>
            <a:off x="3145536" y="3044952"/>
            <a:ext cx="4169664" cy="1225296"/>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The internal target the team engineers against: SLI + threshold + time window.</a:t>
            </a:r>
            <a:endParaRPr lang="en-US" sz="1050" dirty="0"/>
          </a:p>
        </p:txBody>
      </p:sp>
      <p:sp>
        <p:nvSpPr>
          <p:cNvPr id="24" name="Shape 20"/>
          <p:cNvSpPr/>
          <p:nvPr/>
        </p:nvSpPr>
        <p:spPr>
          <a:xfrm>
            <a:off x="7406640" y="3044952"/>
            <a:ext cx="4142232" cy="1225296"/>
          </a:xfrm>
          <a:prstGeom prst="rect">
            <a:avLst/>
          </a:prstGeom>
          <a:solidFill>
            <a:srgbClr val="FBF1E3"/>
          </a:solidFill>
          <a:ln w="9525">
            <a:solidFill>
              <a:srgbClr val="C9D3E6"/>
            </a:solidFill>
            <a:prstDash val="solid"/>
          </a:ln>
        </p:spPr>
      </p:sp>
      <p:sp>
        <p:nvSpPr>
          <p:cNvPr id="25" name="Text 21"/>
          <p:cNvSpPr/>
          <p:nvPr/>
        </p:nvSpPr>
        <p:spPr>
          <a:xfrm>
            <a:off x="7534656" y="3044952"/>
            <a:ext cx="3922776" cy="1225296"/>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“p95 &lt; 4 s for 99.9% of a 30-day month.” The Step 3 alert (p95 &gt; 4 s for 1 min) is the tripwire on this objective.</a:t>
            </a:r>
            <a:endParaRPr lang="en-US" sz="1050" dirty="0"/>
          </a:p>
        </p:txBody>
      </p:sp>
      <p:sp>
        <p:nvSpPr>
          <p:cNvPr id="26" name="Shape 22"/>
          <p:cNvSpPr/>
          <p:nvPr/>
        </p:nvSpPr>
        <p:spPr>
          <a:xfrm>
            <a:off x="640080" y="4288536"/>
            <a:ext cx="2377440" cy="1225296"/>
          </a:xfrm>
          <a:prstGeom prst="rect">
            <a:avLst/>
          </a:prstGeom>
          <a:solidFill>
            <a:srgbClr val="EEF2FA"/>
          </a:solidFill>
          <a:ln w="9525">
            <a:solidFill>
              <a:srgbClr val="C9D3E6"/>
            </a:solidFill>
            <a:prstDash val="solid"/>
          </a:ln>
        </p:spPr>
      </p:sp>
      <p:sp>
        <p:nvSpPr>
          <p:cNvPr id="27" name="Text 23"/>
          <p:cNvSpPr/>
          <p:nvPr/>
        </p:nvSpPr>
        <p:spPr>
          <a:xfrm>
            <a:off x="768096" y="4288536"/>
            <a:ext cx="2157984" cy="1225296"/>
          </a:xfrm>
          <a:prstGeom prst="rect">
            <a:avLst/>
          </a:prstGeom>
          <a:noFill/>
          <a:ln/>
        </p:spPr>
        <p:txBody>
          <a:bodyPr wrap="square" lIns="0" tIns="0" rIns="0" bIns="0" rtlCol="0" anchor="ctr"/>
          <a:lstStyle/>
          <a:p>
            <a:pPr indent="0" marL="0">
              <a:buNone/>
            </a:pPr>
            <a:r>
              <a:rPr lang="en-US" sz="1400" b="1" dirty="0">
                <a:solidFill>
                  <a:srgbClr val="232946"/>
                </a:solidFill>
                <a:latin typeface="Arial" pitchFamily="34" charset="0"/>
                <a:ea typeface="Arial" pitchFamily="34" charset="-122"/>
                <a:cs typeface="Arial" pitchFamily="34" charset="-120"/>
              </a:rPr>
              <a:t>SLA
</a:t>
            </a:r>
            <a:pPr indent="0" marL="0">
              <a:buNone/>
            </a:pPr>
            <a:r>
              <a:rPr lang="en-US" sz="950" dirty="0">
                <a:solidFill>
                  <a:srgbClr val="5A6478"/>
                </a:solidFill>
                <a:latin typeface="Arial" pitchFamily="34" charset="0"/>
                <a:ea typeface="Arial" pitchFamily="34" charset="-122"/>
                <a:cs typeface="Arial" pitchFamily="34" charset="-120"/>
              </a:rPr>
              <a:t>Service level agreement</a:t>
            </a:r>
            <a:endParaRPr lang="en-US" sz="1400" dirty="0"/>
          </a:p>
        </p:txBody>
      </p:sp>
      <p:sp>
        <p:nvSpPr>
          <p:cNvPr id="28" name="Shape 24"/>
          <p:cNvSpPr/>
          <p:nvPr/>
        </p:nvSpPr>
        <p:spPr>
          <a:xfrm>
            <a:off x="3017520" y="4288536"/>
            <a:ext cx="4389120" cy="1225296"/>
          </a:xfrm>
          <a:prstGeom prst="rect">
            <a:avLst/>
          </a:prstGeom>
          <a:solidFill>
            <a:srgbClr val="EEF2FA"/>
          </a:solidFill>
          <a:ln w="9525">
            <a:solidFill>
              <a:srgbClr val="C9D3E6"/>
            </a:solidFill>
            <a:prstDash val="solid"/>
          </a:ln>
        </p:spPr>
      </p:sp>
      <p:sp>
        <p:nvSpPr>
          <p:cNvPr id="29" name="Text 25"/>
          <p:cNvSpPr/>
          <p:nvPr/>
        </p:nvSpPr>
        <p:spPr>
          <a:xfrm>
            <a:off x="3145536" y="4288536"/>
            <a:ext cx="4169664" cy="1225296"/>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A contractual promise to a customer, with remedies or penalties — deliberately looser than the internal SLO.</a:t>
            </a:r>
            <a:endParaRPr lang="en-US" sz="1050" dirty="0"/>
          </a:p>
        </p:txBody>
      </p:sp>
      <p:sp>
        <p:nvSpPr>
          <p:cNvPr id="30" name="Shape 26"/>
          <p:cNvSpPr/>
          <p:nvPr/>
        </p:nvSpPr>
        <p:spPr>
          <a:xfrm>
            <a:off x="7406640" y="4288536"/>
            <a:ext cx="4142232" cy="1225296"/>
          </a:xfrm>
          <a:prstGeom prst="rect">
            <a:avLst/>
          </a:prstGeom>
          <a:solidFill>
            <a:srgbClr val="FBF1E3"/>
          </a:solidFill>
          <a:ln w="9525">
            <a:solidFill>
              <a:srgbClr val="C9D3E6"/>
            </a:solidFill>
            <a:prstDash val="solid"/>
          </a:ln>
        </p:spPr>
      </p:sp>
      <p:sp>
        <p:nvSpPr>
          <p:cNvPr id="31" name="Text 27"/>
          <p:cNvSpPr/>
          <p:nvPr/>
        </p:nvSpPr>
        <p:spPr>
          <a:xfrm>
            <a:off x="7534656" y="4288536"/>
            <a:ext cx="3922776" cy="1225296"/>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A hosted-API contract would promise less than the team's internal 99.9%, keeping the internal bar stricter than the legal one.</a:t>
            </a:r>
            <a:endParaRPr lang="en-US" sz="1050" dirty="0"/>
          </a:p>
        </p:txBody>
      </p:sp>
      <p:sp>
        <p:nvSpPr>
          <p:cNvPr id="32" name="Shape 28"/>
          <p:cNvSpPr/>
          <p:nvPr/>
        </p:nvSpPr>
        <p:spPr>
          <a:xfrm>
            <a:off x="640080" y="5715000"/>
            <a:ext cx="10881360" cy="658368"/>
          </a:xfrm>
          <a:prstGeom prst="roundRect">
            <a:avLst>
              <a:gd name="adj" fmla="val 12500"/>
            </a:avLst>
          </a:prstGeom>
          <a:solidFill>
            <a:srgbClr val="EEF2FA"/>
          </a:solidFill>
          <a:ln/>
          <a:effectLst>
            <a:outerShdw sx="100000" sy="100000" kx="0" ky="0" algn="bl" rotWithShape="0" blurRad="76200" dist="25400" dir="5400000">
              <a:srgbClr val="9AA4B8">
                <a:alpha val="35000"/>
              </a:srgbClr>
            </a:outerShdw>
          </a:effectLst>
        </p:spPr>
      </p:sp>
      <p:sp>
        <p:nvSpPr>
          <p:cNvPr id="33" name="Text 29"/>
          <p:cNvSpPr/>
          <p:nvPr/>
        </p:nvSpPr>
        <p:spPr>
          <a:xfrm>
            <a:off x="868680" y="5769864"/>
            <a:ext cx="10424160" cy="548640"/>
          </a:xfrm>
          <a:prstGeom prst="rect">
            <a:avLst/>
          </a:prstGeom>
          <a:noFill/>
          <a:ln/>
        </p:spPr>
        <p:txBody>
          <a:bodyPr wrap="square" lIns="0" tIns="0" rIns="0" bIns="0" rtlCol="0" anchor="ctr"/>
          <a:lstStyle/>
          <a:p>
            <a:pPr indent="0" marL="0">
              <a:buNone/>
            </a:pPr>
            <a:r>
              <a:rPr lang="en-US" sz="1200" b="1" dirty="0">
                <a:solidFill>
                  <a:srgbClr val="232946"/>
                </a:solidFill>
                <a:latin typeface="Calibri" pitchFamily="34" charset="0"/>
                <a:ea typeface="Calibri" pitchFamily="34" charset="-122"/>
                <a:cs typeface="Calibri" pitchFamily="34" charset="-120"/>
              </a:rPr>
              <a:t>Alignment rule:  </a:t>
            </a:r>
            <a:pPr indent="0" marL="0">
              <a:buNone/>
            </a:pPr>
            <a:r>
              <a:rPr lang="en-US" sz="1200" dirty="0">
                <a:solidFill>
                  <a:srgbClr val="5A6478"/>
                </a:solidFill>
                <a:latin typeface="Calibri" pitchFamily="34" charset="0"/>
                <a:ea typeface="Calibri" pitchFamily="34" charset="-122"/>
                <a:cs typeface="Calibri" pitchFamily="34" charset="-120"/>
              </a:rPr>
              <a:t>state the SLO over a quantity the instrumentation can actually measure — the histogram's bucket boundaries include 4 s precisely because the objective is stated at 4 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RELIABILITY TARGETS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error budget: 99.9% of 30 days leaves 43.2 minutes</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508760"/>
            <a:ext cx="4023360" cy="2743200"/>
          </a:xfrm>
          <a:prstGeom prst="roundRect">
            <a:avLst>
              <a:gd name="adj" fmla="val 3000"/>
            </a:avLst>
          </a:prstGeom>
          <a:solidFill>
            <a:srgbClr val="232946"/>
          </a:solidFill>
          <a:ln/>
          <a:effectLst>
            <a:outerShdw sx="100000" sy="100000" kx="0" ky="0" algn="bl" rotWithShape="0" blurRad="76200" dist="25400" dir="5400000">
              <a:srgbClr val="9AA4B8">
                <a:alpha val="35000"/>
              </a:srgbClr>
            </a:outerShdw>
          </a:effectLst>
        </p:spPr>
      </p:sp>
      <p:sp>
        <p:nvSpPr>
          <p:cNvPr id="9" name="Text 5"/>
          <p:cNvSpPr/>
          <p:nvPr/>
        </p:nvSpPr>
        <p:spPr>
          <a:xfrm>
            <a:off x="640080" y="1828800"/>
            <a:ext cx="4023360" cy="1097280"/>
          </a:xfrm>
          <a:prstGeom prst="rect">
            <a:avLst/>
          </a:prstGeom>
          <a:noFill/>
          <a:ln/>
        </p:spPr>
        <p:txBody>
          <a:bodyPr wrap="square" lIns="0" tIns="0" rIns="0" bIns="0" rtlCol="0" anchor="ctr"/>
          <a:lstStyle/>
          <a:p>
            <a:pPr algn="ctr" indent="0" marL="0">
              <a:buNone/>
            </a:pPr>
            <a:r>
              <a:rPr lang="en-US" sz="6400" b="1" dirty="0">
                <a:solidFill>
                  <a:srgbClr val="F5B971"/>
                </a:solidFill>
                <a:latin typeface="Arial" pitchFamily="34" charset="0"/>
                <a:ea typeface="Arial" pitchFamily="34" charset="-122"/>
                <a:cs typeface="Arial" pitchFamily="34" charset="-120"/>
              </a:rPr>
              <a:t>43.2</a:t>
            </a:r>
            <a:endParaRPr lang="en-US" sz="6400" dirty="0"/>
          </a:p>
        </p:txBody>
      </p:sp>
      <p:sp>
        <p:nvSpPr>
          <p:cNvPr id="10" name="Text 6"/>
          <p:cNvSpPr/>
          <p:nvPr/>
        </p:nvSpPr>
        <p:spPr>
          <a:xfrm>
            <a:off x="640080" y="3017520"/>
            <a:ext cx="4023360" cy="82296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minutes of permitted breach per month</a:t>
            </a:r>
            <a:endParaRPr lang="en-US" sz="1300" dirty="0"/>
          </a:p>
          <a:p>
            <a:pPr algn="ctr" indent="0" marL="0">
              <a:buNone/>
            </a:pPr>
            <a:r>
              <a:rPr lang="en-US" sz="1300" dirty="0">
                <a:solidFill>
                  <a:srgbClr val="CADCFC"/>
                </a:solidFill>
                <a:latin typeface="Calibri" pitchFamily="34" charset="0"/>
                <a:ea typeface="Calibri" pitchFamily="34" charset="-122"/>
                <a:cs typeface="Calibri" pitchFamily="34" charset="-120"/>
              </a:rPr>
              <a:t>at a 99.9% / 30-day objective</a:t>
            </a:r>
            <a:endParaRPr lang="en-US" sz="1300" dirty="0"/>
          </a:p>
        </p:txBody>
      </p:sp>
      <p:sp>
        <p:nvSpPr>
          <p:cNvPr id="11" name="Shape 7"/>
          <p:cNvSpPr/>
          <p:nvPr/>
        </p:nvSpPr>
        <p:spPr>
          <a:xfrm>
            <a:off x="640080" y="4434840"/>
            <a:ext cx="4023360" cy="1874520"/>
          </a:xfrm>
          <a:prstGeom prst="roundRect">
            <a:avLst>
              <a:gd name="adj" fmla="val 4390"/>
            </a:avLst>
          </a:prstGeom>
          <a:solidFill>
            <a:srgbClr val="EEF2FA"/>
          </a:solidFill>
          <a:ln/>
          <a:effectLst>
            <a:outerShdw sx="100000" sy="100000" kx="0" ky="0" algn="bl" rotWithShape="0" blurRad="76200" dist="25400" dir="5400000">
              <a:srgbClr val="9AA4B8">
                <a:alpha val="35000"/>
              </a:srgbClr>
            </a:outerShdw>
          </a:effectLst>
        </p:spPr>
      </p:sp>
      <p:sp>
        <p:nvSpPr>
          <p:cNvPr id="12" name="Text 8"/>
          <p:cNvSpPr/>
          <p:nvPr/>
        </p:nvSpPr>
        <p:spPr>
          <a:xfrm>
            <a:off x="868680" y="4572000"/>
            <a:ext cx="3566160" cy="274320"/>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The arithmetic</a:t>
            </a:r>
            <a:endParaRPr lang="en-US" sz="1250" dirty="0"/>
          </a:p>
        </p:txBody>
      </p:sp>
      <p:sp>
        <p:nvSpPr>
          <p:cNvPr id="13" name="Text 9"/>
          <p:cNvSpPr/>
          <p:nvPr/>
        </p:nvSpPr>
        <p:spPr>
          <a:xfrm>
            <a:off x="868680" y="4892040"/>
            <a:ext cx="3657600" cy="1280160"/>
          </a:xfrm>
          <a:prstGeom prst="rect">
            <a:avLst/>
          </a:prstGeom>
          <a:noFill/>
          <a:ln/>
        </p:spPr>
        <p:txBody>
          <a:bodyPr wrap="square" lIns="0" tIns="0" rIns="0" bIns="0" rtlCol="0" anchor="t"/>
          <a:lstStyle/>
          <a:p>
            <a:pPr indent="0" marL="0">
              <a:lnSpc>
                <a:spcPct val="130000"/>
              </a:lnSpc>
              <a:buNone/>
            </a:pPr>
            <a:r>
              <a:rPr lang="en-US" sz="1100" dirty="0">
                <a:solidFill>
                  <a:srgbClr val="232946"/>
                </a:solidFill>
                <a:latin typeface="Courier New" pitchFamily="34" charset="0"/>
                <a:ea typeface="Courier New" pitchFamily="34" charset="-122"/>
                <a:cs typeface="Courier New" pitchFamily="34" charset="-120"/>
              </a:rPr>
              <a:t>30 d × 24 h × 60 min = 43,200 min
</a:t>
            </a:r>
            <a:pPr indent="0" marL="0">
              <a:lnSpc>
                <a:spcPct val="130000"/>
              </a:lnSpc>
              <a:buNone/>
            </a:pPr>
            <a:r>
              <a:rPr lang="en-US" sz="1100" dirty="0">
                <a:solidFill>
                  <a:srgbClr val="232946"/>
                </a:solidFill>
                <a:latin typeface="Courier New" pitchFamily="34" charset="0"/>
                <a:ea typeface="Courier New" pitchFamily="34" charset="-122"/>
                <a:cs typeface="Courier New" pitchFamily="34" charset="-120"/>
              </a:rPr>
              <a:t>100% − 99.9% = 0.1% tolerated
</a:t>
            </a:r>
            <a:pPr indent="0" marL="0">
              <a:lnSpc>
                <a:spcPct val="130000"/>
              </a:lnSpc>
              <a:buNone/>
            </a:pPr>
            <a:r>
              <a:rPr lang="en-US" sz="1100" b="1" dirty="0">
                <a:solidFill>
                  <a:srgbClr val="E8871E"/>
                </a:solidFill>
                <a:latin typeface="Courier New" pitchFamily="34" charset="0"/>
                <a:ea typeface="Courier New" pitchFamily="34" charset="-122"/>
                <a:cs typeface="Courier New" pitchFamily="34" charset="-120"/>
              </a:rPr>
              <a:t>0.1% × 43,200 = 43.2 min / month</a:t>
            </a:r>
            <a:endParaRPr lang="en-US" sz="1100" dirty="0"/>
          </a:p>
        </p:txBody>
      </p:sp>
      <p:sp>
        <p:nvSpPr>
          <p:cNvPr id="14" name="Shape 10"/>
          <p:cNvSpPr/>
          <p:nvPr/>
        </p:nvSpPr>
        <p:spPr>
          <a:xfrm>
            <a:off x="4983480" y="1508760"/>
            <a:ext cx="6583680" cy="2743200"/>
          </a:xfrm>
          <a:prstGeom prst="roundRect">
            <a:avLst>
              <a:gd name="adj" fmla="val 3000"/>
            </a:avLst>
          </a:prstGeom>
          <a:solidFill>
            <a:srgbClr val="DDE6F5"/>
          </a:solidFill>
          <a:ln/>
          <a:effectLst>
            <a:outerShdw sx="100000" sy="100000" kx="0" ky="0" algn="bl" rotWithShape="0" blurRad="76200" dist="25400" dir="5400000">
              <a:srgbClr val="9AA4B8">
                <a:alpha val="35000"/>
              </a:srgbClr>
            </a:outerShdw>
          </a:effectLst>
        </p:spPr>
      </p:sp>
      <p:sp>
        <p:nvSpPr>
          <p:cNvPr id="15" name="Text 11"/>
          <p:cNvSpPr/>
          <p:nvPr/>
        </p:nvSpPr>
        <p:spPr>
          <a:xfrm>
            <a:off x="5212080" y="1664208"/>
            <a:ext cx="6126480" cy="320040"/>
          </a:xfrm>
          <a:prstGeom prst="rect">
            <a:avLst/>
          </a:prstGeom>
          <a:noFill/>
          <a:ln/>
        </p:spPr>
        <p:txBody>
          <a:bodyPr wrap="square" lIns="0" tIns="0" rIns="0" bIns="0" rtlCol="0" anchor="ctr"/>
          <a:lstStyle/>
          <a:p>
            <a:pPr indent="0" marL="0">
              <a:buNone/>
            </a:pPr>
            <a:r>
              <a:rPr lang="en-US" sz="1400" b="1" dirty="0">
                <a:solidFill>
                  <a:srgbClr val="232946"/>
                </a:solidFill>
                <a:latin typeface="Arial" pitchFamily="34" charset="0"/>
                <a:ea typeface="Arial" pitchFamily="34" charset="-122"/>
                <a:cs typeface="Arial" pitchFamily="34" charset="-120"/>
              </a:rPr>
              <a:t>The budget as a release policy</a:t>
            </a:r>
            <a:endParaRPr lang="en-US" sz="1400" dirty="0"/>
          </a:p>
        </p:txBody>
      </p:sp>
      <p:sp>
        <p:nvSpPr>
          <p:cNvPr id="16" name="Text 12"/>
          <p:cNvSpPr/>
          <p:nvPr/>
        </p:nvSpPr>
        <p:spPr>
          <a:xfrm>
            <a:off x="5212080" y="2057400"/>
            <a:ext cx="6172200" cy="210312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The budget reframes reliability from “never fail” to “spend failure deliberately” — a shared currency between product and operations.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Budget exhausted → feature releases stop; engineering effort shifts to reliability until the window recovers.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Budget largely intact → the team has objective licence to ship faster and take more release risk.</a:t>
            </a:r>
            <a:endParaRPr lang="en-US" sz="1150" dirty="0"/>
          </a:p>
        </p:txBody>
      </p:sp>
      <p:sp>
        <p:nvSpPr>
          <p:cNvPr id="17" name="Shape 13"/>
          <p:cNvSpPr/>
          <p:nvPr/>
        </p:nvSpPr>
        <p:spPr>
          <a:xfrm>
            <a:off x="4983480" y="4434840"/>
            <a:ext cx="6583680" cy="1874520"/>
          </a:xfrm>
          <a:prstGeom prst="roundRect">
            <a:avLst>
              <a:gd name="adj" fmla="val 4390"/>
            </a:avLst>
          </a:prstGeom>
          <a:solidFill>
            <a:srgbClr val="FBF1E3"/>
          </a:solidFill>
          <a:ln/>
          <a:effectLst>
            <a:outerShdw sx="100000" sy="100000" kx="0" ky="0" algn="bl" rotWithShape="0" blurRad="76200" dist="25400" dir="5400000">
              <a:srgbClr val="9AA4B8">
                <a:alpha val="35000"/>
              </a:srgbClr>
            </a:outerShdw>
          </a:effectLst>
        </p:spPr>
      </p:sp>
      <p:sp>
        <p:nvSpPr>
          <p:cNvPr id="18" name="Text 14"/>
          <p:cNvSpPr/>
          <p:nvPr/>
        </p:nvSpPr>
        <p:spPr>
          <a:xfrm>
            <a:off x="5212080" y="4572000"/>
            <a:ext cx="6126480" cy="320040"/>
          </a:xfrm>
          <a:prstGeom prst="rect">
            <a:avLst/>
          </a:prstGeom>
          <a:noFill/>
          <a:ln/>
        </p:spPr>
        <p:txBody>
          <a:bodyPr wrap="square" lIns="0" tIns="0" rIns="0" bIns="0" rtlCol="0" anchor="ctr"/>
          <a:lstStyle/>
          <a:p>
            <a:pPr indent="0" marL="0">
              <a:buNone/>
            </a:pPr>
            <a:r>
              <a:rPr lang="en-US" sz="1400" b="1" dirty="0">
                <a:solidFill>
                  <a:srgbClr val="E8871E"/>
                </a:solidFill>
                <a:latin typeface="Arial" pitchFamily="34" charset="0"/>
                <a:ea typeface="Arial" pitchFamily="34" charset="-122"/>
                <a:cs typeface="Arial" pitchFamily="34" charset="-120"/>
              </a:rPr>
              <a:t>The lab's alert is the SLO tripwire</a:t>
            </a:r>
            <a:endParaRPr lang="en-US" sz="1400" dirty="0"/>
          </a:p>
        </p:txBody>
      </p:sp>
      <p:sp>
        <p:nvSpPr>
          <p:cNvPr id="19" name="Text 15"/>
          <p:cNvSpPr/>
          <p:nvPr/>
        </p:nvSpPr>
        <p:spPr>
          <a:xfrm>
            <a:off x="5212080" y="4937760"/>
            <a:ext cx="6172200" cy="1280160"/>
          </a:xfrm>
          <a:prstGeom prst="rect">
            <a:avLst/>
          </a:prstGeom>
          <a:noFill/>
          <a:ln/>
        </p:spPr>
        <p:txBody>
          <a:bodyPr wrap="square" lIns="0" tIns="0" rIns="0" bIns="0" rtlCol="0" anchor="ctr"/>
          <a:lstStyle/>
          <a:p>
            <a:pPr indent="0" marL="0">
              <a:buNone/>
            </a:pPr>
            <a:r>
              <a:rPr lang="en-US" sz="1150" dirty="0">
                <a:solidFill>
                  <a:srgbClr val="232946"/>
                </a:solidFill>
                <a:latin typeface="Calibri" pitchFamily="34" charset="0"/>
                <a:ea typeface="Calibri" pitchFamily="34" charset="-122"/>
                <a:cs typeface="Calibri" pitchFamily="34" charset="-120"/>
              </a:rPr>
              <a:t>The Grafana rule built in Step 3 — p95 above 4 s sustained for 1 minute — detects exactly the condition the SLO forbids. Every minute the alert spends in the Firing state is a minute of budget spent; roughly 43 such minutes in a month exhaust the objective and, under the policy above, stop releases.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DRIFT</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Drift: the model degrades while every signal stays green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Text 4"/>
          <p:cNvSpPr/>
          <p:nvPr/>
        </p:nvSpPr>
        <p:spPr>
          <a:xfrm>
            <a:off x="640080" y="1417320"/>
            <a:ext cx="10881360" cy="566928"/>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Drift is degradation without a failure signal: no exception is raised, no 500 is returned, and every operational dashboard stays green — while answer quality quietly declines. The code did not change; the world did.</a:t>
            </a:r>
            <a:endParaRPr lang="en-US" sz="1300" dirty="0"/>
          </a:p>
        </p:txBody>
      </p:sp>
      <p:sp>
        <p:nvSpPr>
          <p:cNvPr id="9" name="Shape 5"/>
          <p:cNvSpPr/>
          <p:nvPr/>
        </p:nvSpPr>
        <p:spPr>
          <a:xfrm>
            <a:off x="640080" y="2148840"/>
            <a:ext cx="3474720" cy="3063240"/>
          </a:xfrm>
          <a:prstGeom prst="roundRect">
            <a:avLst>
              <a:gd name="adj" fmla="val 2687"/>
            </a:avLst>
          </a:prstGeom>
          <a:solidFill>
            <a:srgbClr val="EEF2FA"/>
          </a:solidFill>
          <a:ln/>
          <a:effectLst>
            <a:outerShdw sx="100000" sy="100000" kx="0" ky="0" algn="bl" rotWithShape="0" blurRad="76200" dist="25400" dir="5400000">
              <a:srgbClr val="9AA4B8">
                <a:alpha val="35000"/>
              </a:srgbClr>
            </a:outerShdw>
          </a:effectLst>
        </p:spPr>
      </p:sp>
      <p:sp>
        <p:nvSpPr>
          <p:cNvPr id="10" name="Text 6"/>
          <p:cNvSpPr/>
          <p:nvPr/>
        </p:nvSpPr>
        <p:spPr>
          <a:xfrm>
            <a:off x="868680" y="2331720"/>
            <a:ext cx="3017520" cy="347472"/>
          </a:xfrm>
          <a:prstGeom prst="rect">
            <a:avLst/>
          </a:prstGeom>
          <a:noFill/>
          <a:ln/>
        </p:spPr>
        <p:txBody>
          <a:bodyPr wrap="square" lIns="0" tIns="0" rIns="0" bIns="0" rtlCol="0" anchor="ctr"/>
          <a:lstStyle/>
          <a:p>
            <a:pPr indent="0" marL="0">
              <a:buNone/>
            </a:pPr>
            <a:r>
              <a:rPr lang="en-US" sz="1500" b="1" dirty="0">
                <a:solidFill>
                  <a:srgbClr val="E8871E"/>
                </a:solidFill>
                <a:latin typeface="Arial" pitchFamily="34" charset="0"/>
                <a:ea typeface="Arial" pitchFamily="34" charset="-122"/>
                <a:cs typeface="Arial" pitchFamily="34" charset="-120"/>
              </a:rPr>
              <a:t>Data drift</a:t>
            </a:r>
            <a:endParaRPr lang="en-US" sz="1500" dirty="0"/>
          </a:p>
        </p:txBody>
      </p:sp>
      <p:sp>
        <p:nvSpPr>
          <p:cNvPr id="11" name="Text 7"/>
          <p:cNvSpPr/>
          <p:nvPr/>
        </p:nvSpPr>
        <p:spPr>
          <a:xfrm>
            <a:off x="868680" y="2743200"/>
            <a:ext cx="3017520" cy="96012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The input distribution shifts away from the one the model was validated on.</a:t>
            </a:r>
            <a:endParaRPr lang="en-US" sz="1150" dirty="0"/>
          </a:p>
        </p:txBody>
      </p:sp>
      <p:sp>
        <p:nvSpPr>
          <p:cNvPr id="12" name="Text 8"/>
          <p:cNvSpPr/>
          <p:nvPr/>
        </p:nvSpPr>
        <p:spPr>
          <a:xfrm>
            <a:off x="868680" y="3794760"/>
            <a:ext cx="3017520" cy="128016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Example: mean prompt length rises from ~60 to ~95 words as users begin pasting whole documents — the exact scenario of Lab Step 5.</a:t>
            </a:r>
            <a:endParaRPr lang="en-US" sz="1050" dirty="0"/>
          </a:p>
        </p:txBody>
      </p:sp>
      <p:sp>
        <p:nvSpPr>
          <p:cNvPr id="13" name="Shape 9"/>
          <p:cNvSpPr/>
          <p:nvPr/>
        </p:nvSpPr>
        <p:spPr>
          <a:xfrm>
            <a:off x="4343400" y="2148840"/>
            <a:ext cx="3474720" cy="3063240"/>
          </a:xfrm>
          <a:prstGeom prst="roundRect">
            <a:avLst>
              <a:gd name="adj" fmla="val 2687"/>
            </a:avLst>
          </a:prstGeom>
          <a:solidFill>
            <a:srgbClr val="DDE6F5"/>
          </a:solidFill>
          <a:ln/>
          <a:effectLst>
            <a:outerShdw sx="100000" sy="100000" kx="0" ky="0" algn="bl" rotWithShape="0" blurRad="76200" dist="25400" dir="5400000">
              <a:srgbClr val="9AA4B8">
                <a:alpha val="35000"/>
              </a:srgbClr>
            </a:outerShdw>
          </a:effectLst>
        </p:spPr>
      </p:sp>
      <p:sp>
        <p:nvSpPr>
          <p:cNvPr id="14" name="Text 10"/>
          <p:cNvSpPr/>
          <p:nvPr/>
        </p:nvSpPr>
        <p:spPr>
          <a:xfrm>
            <a:off x="4572000" y="2331720"/>
            <a:ext cx="3017520" cy="347472"/>
          </a:xfrm>
          <a:prstGeom prst="rect">
            <a:avLst/>
          </a:prstGeom>
          <a:noFill/>
          <a:ln/>
        </p:spPr>
        <p:txBody>
          <a:bodyPr wrap="square" lIns="0" tIns="0" rIns="0" bIns="0" rtlCol="0" anchor="ctr"/>
          <a:lstStyle/>
          <a:p>
            <a:pPr indent="0" marL="0">
              <a:buNone/>
            </a:pPr>
            <a:r>
              <a:rPr lang="en-US" sz="1500" b="1" dirty="0">
                <a:solidFill>
                  <a:srgbClr val="E8871E"/>
                </a:solidFill>
                <a:latin typeface="Arial" pitchFamily="34" charset="0"/>
                <a:ea typeface="Arial" pitchFamily="34" charset="-122"/>
                <a:cs typeface="Arial" pitchFamily="34" charset="-120"/>
              </a:rPr>
              <a:t>Prediction drift</a:t>
            </a:r>
            <a:endParaRPr lang="en-US" sz="1500" dirty="0"/>
          </a:p>
        </p:txBody>
      </p:sp>
      <p:sp>
        <p:nvSpPr>
          <p:cNvPr id="15" name="Text 11"/>
          <p:cNvSpPr/>
          <p:nvPr/>
        </p:nvSpPr>
        <p:spPr>
          <a:xfrm>
            <a:off x="4572000" y="2743200"/>
            <a:ext cx="3017520" cy="96012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The distribution of the model's outputs shifts, whatever the underlying cause.</a:t>
            </a:r>
            <a:endParaRPr lang="en-US" sz="1150" dirty="0"/>
          </a:p>
        </p:txBody>
      </p:sp>
      <p:sp>
        <p:nvSpPr>
          <p:cNvPr id="16" name="Text 12"/>
          <p:cNvSpPr/>
          <p:nvPr/>
        </p:nvSpPr>
        <p:spPr>
          <a:xfrm>
            <a:off x="4572000" y="3794760"/>
            <a:ext cx="3017520" cy="128016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Example: a credit-decision model's approval rate falls from 62% to 45% across a quarter with no release in between.</a:t>
            </a:r>
            <a:endParaRPr lang="en-US" sz="1050" dirty="0"/>
          </a:p>
        </p:txBody>
      </p:sp>
      <p:sp>
        <p:nvSpPr>
          <p:cNvPr id="17" name="Shape 13"/>
          <p:cNvSpPr/>
          <p:nvPr/>
        </p:nvSpPr>
        <p:spPr>
          <a:xfrm>
            <a:off x="8046720" y="2148840"/>
            <a:ext cx="3474720" cy="3063240"/>
          </a:xfrm>
          <a:prstGeom prst="roundRect">
            <a:avLst>
              <a:gd name="adj" fmla="val 2687"/>
            </a:avLst>
          </a:prstGeom>
          <a:solidFill>
            <a:srgbClr val="EEF2FA"/>
          </a:solidFill>
          <a:ln/>
          <a:effectLst>
            <a:outerShdw sx="100000" sy="100000" kx="0" ky="0" algn="bl" rotWithShape="0" blurRad="76200" dist="25400" dir="5400000">
              <a:srgbClr val="9AA4B8">
                <a:alpha val="35000"/>
              </a:srgbClr>
            </a:outerShdw>
          </a:effectLst>
        </p:spPr>
      </p:sp>
      <p:sp>
        <p:nvSpPr>
          <p:cNvPr id="18" name="Text 14"/>
          <p:cNvSpPr/>
          <p:nvPr/>
        </p:nvSpPr>
        <p:spPr>
          <a:xfrm>
            <a:off x="8275320" y="2331720"/>
            <a:ext cx="3017520" cy="347472"/>
          </a:xfrm>
          <a:prstGeom prst="rect">
            <a:avLst/>
          </a:prstGeom>
          <a:noFill/>
          <a:ln/>
        </p:spPr>
        <p:txBody>
          <a:bodyPr wrap="square" lIns="0" tIns="0" rIns="0" bIns="0" rtlCol="0" anchor="ctr"/>
          <a:lstStyle/>
          <a:p>
            <a:pPr indent="0" marL="0">
              <a:buNone/>
            </a:pPr>
            <a:r>
              <a:rPr lang="en-US" sz="1500" b="1" dirty="0">
                <a:solidFill>
                  <a:srgbClr val="E8871E"/>
                </a:solidFill>
                <a:latin typeface="Arial" pitchFamily="34" charset="0"/>
                <a:ea typeface="Arial" pitchFamily="34" charset="-122"/>
                <a:cs typeface="Arial" pitchFamily="34" charset="-120"/>
              </a:rPr>
              <a:t>Concept drift</a:t>
            </a:r>
            <a:endParaRPr lang="en-US" sz="1500" dirty="0"/>
          </a:p>
        </p:txBody>
      </p:sp>
      <p:sp>
        <p:nvSpPr>
          <p:cNvPr id="19" name="Text 15"/>
          <p:cNvSpPr/>
          <p:nvPr/>
        </p:nvSpPr>
        <p:spPr>
          <a:xfrm>
            <a:off x="8275320" y="2743200"/>
            <a:ext cx="3017520" cy="96012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The relationship between inputs and the correct answer changes — yesterday's right answer is wrong today.</a:t>
            </a:r>
            <a:endParaRPr lang="en-US" sz="1150" dirty="0"/>
          </a:p>
        </p:txBody>
      </p:sp>
      <p:sp>
        <p:nvSpPr>
          <p:cNvPr id="20" name="Text 16"/>
          <p:cNvSpPr/>
          <p:nvPr/>
        </p:nvSpPr>
        <p:spPr>
          <a:xfrm>
            <a:off x="8275320" y="3794760"/>
            <a:ext cx="3017520" cy="128016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Example: fraud tactics evolve, so transaction patterns that were legitimate at training time become fraudulent.</a:t>
            </a:r>
            <a:endParaRPr lang="en-US" sz="1050" dirty="0"/>
          </a:p>
        </p:txBody>
      </p:sp>
      <p:sp>
        <p:nvSpPr>
          <p:cNvPr id="21" name="Shape 17"/>
          <p:cNvSpPr/>
          <p:nvPr/>
        </p:nvSpPr>
        <p:spPr>
          <a:xfrm>
            <a:off x="640080" y="5486400"/>
            <a:ext cx="10881360" cy="822960"/>
          </a:xfrm>
          <a:prstGeom prst="roundRect">
            <a:avLst>
              <a:gd name="adj" fmla="val 10000"/>
            </a:avLst>
          </a:prstGeom>
          <a:solidFill>
            <a:srgbClr val="232946"/>
          </a:solidFill>
          <a:ln/>
          <a:effectLst>
            <a:outerShdw sx="100000" sy="100000" kx="0" ky="0" algn="bl" rotWithShape="0" blurRad="76200" dist="25400" dir="5400000">
              <a:srgbClr val="9AA4B8">
                <a:alpha val="35000"/>
              </a:srgbClr>
            </a:outerShdw>
          </a:effectLst>
        </p:spPr>
      </p:sp>
      <p:sp>
        <p:nvSpPr>
          <p:cNvPr id="22" name="Text 18"/>
          <p:cNvSpPr/>
          <p:nvPr/>
        </p:nvSpPr>
        <p:spPr>
          <a:xfrm>
            <a:off x="868680" y="5550408"/>
            <a:ext cx="10424160" cy="694944"/>
          </a:xfrm>
          <a:prstGeom prst="rect">
            <a:avLst/>
          </a:prstGeom>
          <a:noFill/>
          <a:ln/>
        </p:spPr>
        <p:txBody>
          <a:bodyPr wrap="square" lIns="0" tIns="0" rIns="0" bIns="0" rtlCol="0" anchor="ctr"/>
          <a:lstStyle/>
          <a:p>
            <a:pPr indent="0" marL="0">
              <a:buNone/>
            </a:pPr>
            <a:r>
              <a:rPr lang="en-US" sz="1200" b="1" dirty="0">
                <a:solidFill>
                  <a:srgbClr val="F5B971"/>
                </a:solidFill>
                <a:latin typeface="Calibri" pitchFamily="34" charset="0"/>
                <a:ea typeface="Calibri" pitchFamily="34" charset="-122"/>
                <a:cs typeface="Calibri" pitchFamily="34" charset="-120"/>
              </a:rPr>
              <a:t>Detection is a comparison of windows:  </a:t>
            </a:r>
            <a:pPr indent="0" marL="0">
              <a:buNone/>
            </a:pPr>
            <a:r>
              <a:rPr lang="en-US" sz="1200" dirty="0">
                <a:solidFill>
                  <a:srgbClr val="FFFFFF"/>
                </a:solidFill>
                <a:latin typeface="Calibri" pitchFamily="34" charset="0"/>
                <a:ea typeface="Calibri" pitchFamily="34" charset="-122"/>
                <a:cs typeface="Calibri" pitchFamily="34" charset="-120"/>
              </a:rPr>
              <a:t>a baseline window (the traffic profile the service was validated against) is compared with the current window, feature by feature, on a schedule. The next slide runs exactly this comparison.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DRIFT</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Evidently: the baseline-versus-current comparison, in code</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463040"/>
            <a:ext cx="6035040" cy="4434840"/>
          </a:xfrm>
          <a:prstGeom prst="roundRect">
            <a:avLst>
              <a:gd name="adj" fmla="val 1649"/>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572768"/>
            <a:ext cx="5632704" cy="4215384"/>
          </a:xfrm>
          <a:prstGeom prst="rect">
            <a:avLst/>
          </a:prstGeom>
          <a:noFill/>
          <a:ln/>
        </p:spPr>
        <p:txBody>
          <a:bodyPr wrap="square" lIns="0" tIns="0" rIns="0" bIns="0" rtlCol="0" anchor="t"/>
          <a:lstStyle/>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drift/drift_report.py — the lab script (abbrev.)</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from evidently.report import Report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from evidently.metric_preset import DataDriftPreset</a:t>
            </a:r>
            <a:endParaRPr lang="en-US" sz="950" dirty="0"/>
          </a:p>
          <a:p>
            <a:pPr indent="0" marL="0">
              <a:lnSpc>
                <a:spcPct val="112000"/>
              </a:lnSpc>
              <a:buNone/>
            </a:pP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baseline = pd.DataFrame({   # validated traffic</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"prompt_length_words": ...,  # mean 60</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"latency_seconds":     ...,  # mean 1.5</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"satisfaction_score":  ...,  # skewed high</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current = pd.DataFrame({    # today's traffic</a:t>
            </a:r>
            <a:endParaRPr lang="en-US" sz="950" dirty="0"/>
          </a:p>
          <a:p>
            <a:pPr indent="0" marL="0">
              <a:lnSpc>
                <a:spcPct val="112000"/>
              </a:lnSpc>
              <a:buNone/>
            </a:pPr>
            <a:r>
              <a:rPr lang="en-US" sz="950" dirty="0">
                <a:solidFill>
                  <a:srgbClr val="F0937A"/>
                </a:solidFill>
                <a:latin typeface="Courier New" pitchFamily="34" charset="0"/>
                <a:ea typeface="Courier New" pitchFamily="34" charset="-122"/>
                <a:cs typeface="Courier New" pitchFamily="34" charset="-120"/>
              </a:rPr>
              <a:t>  "prompt_length_words": ...,  # mean 95</a:t>
            </a:r>
            <a:endParaRPr lang="en-US" sz="950" dirty="0"/>
          </a:p>
          <a:p>
            <a:pPr indent="0" marL="0">
              <a:lnSpc>
                <a:spcPct val="112000"/>
              </a:lnSpc>
              <a:buNone/>
            </a:pPr>
            <a:r>
              <a:rPr lang="en-US" sz="950" dirty="0">
                <a:solidFill>
                  <a:srgbClr val="F0937A"/>
                </a:solidFill>
                <a:latin typeface="Courier New" pitchFamily="34" charset="0"/>
                <a:ea typeface="Courier New" pitchFamily="34" charset="-122"/>
                <a:cs typeface="Courier New" pitchFamily="34" charset="-120"/>
              </a:rPr>
              <a:t>  "latency_seconds":     ...,  # mean 2.6</a:t>
            </a:r>
            <a:endParaRPr lang="en-US" sz="950" dirty="0"/>
          </a:p>
          <a:p>
            <a:pPr indent="0" marL="0">
              <a:lnSpc>
                <a:spcPct val="112000"/>
              </a:lnSpc>
              <a:buNone/>
            </a:pPr>
            <a:r>
              <a:rPr lang="en-US" sz="950" dirty="0">
                <a:solidFill>
                  <a:srgbClr val="F0937A"/>
                </a:solidFill>
                <a:latin typeface="Courier New" pitchFamily="34" charset="0"/>
                <a:ea typeface="Courier New" pitchFamily="34" charset="-122"/>
                <a:cs typeface="Courier New" pitchFamily="34" charset="-120"/>
              </a:rPr>
              <a:t>  "satisfaction_score":  ...,  # slipping</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a:t>
            </a:r>
            <a:endParaRPr lang="en-US" sz="950" dirty="0"/>
          </a:p>
          <a:p>
            <a:pPr indent="0" marL="0">
              <a:lnSpc>
                <a:spcPct val="112000"/>
              </a:lnSpc>
              <a:buNone/>
            </a:pP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report = Report(metrics=[DataDriftPreset()])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report.run(reference_data=baseline,</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current_data=current)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report.save_html("drift/drift_report.html")</a:t>
            </a:r>
            <a:endParaRPr lang="en-US" sz="950" dirty="0"/>
          </a:p>
        </p:txBody>
      </p:sp>
      <p:sp>
        <p:nvSpPr>
          <p:cNvPr id="10" name="Shape 6"/>
          <p:cNvSpPr/>
          <p:nvPr/>
        </p:nvSpPr>
        <p:spPr>
          <a:xfrm>
            <a:off x="6903720" y="1463040"/>
            <a:ext cx="4663440" cy="1783080"/>
          </a:xfrm>
          <a:prstGeom prst="roundRect">
            <a:avLst>
              <a:gd name="adj" fmla="val 4615"/>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7132320" y="1591056"/>
            <a:ext cx="4206240" cy="29260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Reading the report</a:t>
            </a:r>
            <a:endParaRPr lang="en-US" sz="1250" dirty="0"/>
          </a:p>
        </p:txBody>
      </p:sp>
      <p:sp>
        <p:nvSpPr>
          <p:cNvPr id="12" name="Text 8"/>
          <p:cNvSpPr/>
          <p:nvPr/>
        </p:nvSpPr>
        <p:spPr>
          <a:xfrm>
            <a:off x="7132320" y="1920240"/>
            <a:ext cx="4251960" cy="128016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Per-column drift score and verdict — the tool localises which feature moved</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A dataset-level verdict summarises whether the window as a whole has drifted</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The HTML file is self-contained — shareable evidence, no server required</a:t>
            </a:r>
            <a:endParaRPr lang="en-US" sz="1050" dirty="0"/>
          </a:p>
        </p:txBody>
      </p:sp>
      <p:sp>
        <p:nvSpPr>
          <p:cNvPr id="13" name="Shape 9"/>
          <p:cNvSpPr/>
          <p:nvPr/>
        </p:nvSpPr>
        <p:spPr>
          <a:xfrm>
            <a:off x="6903720" y="3429000"/>
            <a:ext cx="4663440" cy="2468880"/>
          </a:xfrm>
          <a:prstGeom prst="roundRect">
            <a:avLst>
              <a:gd name="adj" fmla="val 3333"/>
            </a:avLst>
          </a:prstGeom>
          <a:solidFill>
            <a:srgbClr val="DDE6F5"/>
          </a:solidFill>
          <a:ln/>
          <a:effectLst>
            <a:outerShdw sx="100000" sy="100000" kx="0" ky="0" algn="bl" rotWithShape="0" blurRad="76200" dist="25400" dir="5400000">
              <a:srgbClr val="9AA4B8">
                <a:alpha val="35000"/>
              </a:srgbClr>
            </a:outerShdw>
          </a:effectLst>
        </p:spPr>
      </p:sp>
      <p:sp>
        <p:nvSpPr>
          <p:cNvPr id="14" name="Text 10"/>
          <p:cNvSpPr/>
          <p:nvPr/>
        </p:nvSpPr>
        <p:spPr>
          <a:xfrm>
            <a:off x="7132320" y="3566160"/>
            <a:ext cx="4206240" cy="29260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Response playbook</a:t>
            </a:r>
            <a:endParaRPr lang="en-US" sz="1250" dirty="0"/>
          </a:p>
        </p:txBody>
      </p:sp>
      <p:sp>
        <p:nvSpPr>
          <p:cNvPr id="15" name="Text 11"/>
          <p:cNvSpPr/>
          <p:nvPr/>
        </p:nvSpPr>
        <p:spPr>
          <a:xfrm>
            <a:off x="7132320" y="3895344"/>
            <a:ext cx="4251960" cy="1920240"/>
          </a:xfrm>
          <a:prstGeom prst="rect">
            <a:avLst/>
          </a:prstGeom>
          <a:noFill/>
          <a:ln/>
        </p:spPr>
        <p:txBody>
          <a:bodyPr wrap="square" lIns="0" tIns="0" rIns="0" bIns="0" rtlCol="0" anchor="t"/>
          <a:lstStyle/>
          <a:p>
            <a:pPr indent="0" marL="0">
              <a:lnSpc>
                <a:spcPct val="108000"/>
              </a:lnSpc>
              <a:spcAft>
                <a:spcPts val="800"/>
              </a:spcAft>
              <a:buNone/>
            </a:pPr>
            <a:r>
              <a:rPr lang="en-US" sz="1050" dirty="0">
                <a:solidFill>
                  <a:srgbClr val="232946"/>
                </a:solidFill>
                <a:latin typeface="Calibri" pitchFamily="34" charset="0"/>
                <a:ea typeface="Calibri" pitchFamily="34" charset="-122"/>
                <a:cs typeface="Calibri" pitchFamily="34" charset="-120"/>
              </a:rPr>
              <a:t>1. Drift alert fires on a scheduled comparison of logged features</a:t>
            </a:r>
            <a:endParaRPr lang="en-US" sz="1050" dirty="0"/>
          </a:p>
          <a:p>
            <a:pPr indent="0" marL="0">
              <a:lnSpc>
                <a:spcPct val="108000"/>
              </a:lnSpc>
              <a:spcAft>
                <a:spcPts val="800"/>
              </a:spcAft>
              <a:buNone/>
            </a:pPr>
            <a:r>
              <a:rPr lang="en-US" sz="1050" dirty="0">
                <a:solidFill>
                  <a:srgbClr val="232946"/>
                </a:solidFill>
                <a:latin typeface="Calibri" pitchFamily="34" charset="0"/>
                <a:ea typeface="Calibri" pitchFamily="34" charset="-122"/>
                <a:cs typeface="Calibri" pitchFamily="34" charset="-120"/>
              </a:rPr>
              <a:t>2. Investigate: which features moved, and why — a new client, a new usage pattern, an upstream change?</a:t>
            </a:r>
            <a:endParaRPr lang="en-US" sz="1050" dirty="0"/>
          </a:p>
          <a:p>
            <a:pPr indent="0" marL="0">
              <a:lnSpc>
                <a:spcPct val="108000"/>
              </a:lnSpc>
              <a:spcAft>
                <a:spcPts val="800"/>
              </a:spcAft>
              <a:buNone/>
            </a:pPr>
            <a:r>
              <a:rPr lang="en-US" sz="1050" dirty="0">
                <a:solidFill>
                  <a:srgbClr val="232946"/>
                </a:solidFill>
                <a:latin typeface="Calibri" pitchFamily="34" charset="0"/>
                <a:ea typeface="Calibri" pitchFamily="34" charset="-122"/>
                <a:cs typeface="Calibri" pitchFamily="34" charset="-120"/>
              </a:rPr>
              <a:t>3. Decide: retrain on recent data, adjust the service, or accept and document the shift</a:t>
            </a:r>
            <a:endParaRPr lang="en-US" sz="1050" dirty="0"/>
          </a:p>
          <a:p>
            <a:pPr indent="0" marL="0">
              <a:lnSpc>
                <a:spcPct val="108000"/>
              </a:lnSpc>
              <a:spcAft>
                <a:spcPts val="800"/>
              </a:spcAft>
              <a:buNone/>
            </a:pPr>
            <a:r>
              <a:rPr lang="en-US" sz="1050" b="1" dirty="0">
                <a:solidFill>
                  <a:srgbClr val="232946"/>
                </a:solidFill>
                <a:latin typeface="Calibri" pitchFamily="34" charset="0"/>
                <a:ea typeface="Calibri" pitchFamily="34" charset="-122"/>
                <a:cs typeface="Calibri" pitchFamily="34" charset="-120"/>
              </a:rPr>
              <a:t>4. Session 5 automates the retraining trigger from this decision</a:t>
            </a:r>
            <a:endParaRPr lang="en-US" sz="1050" dirty="0"/>
          </a:p>
        </p:txBody>
      </p:sp>
      <p:sp>
        <p:nvSpPr>
          <p:cNvPr id="16" name="Shape 12"/>
          <p:cNvSpPr/>
          <p:nvPr/>
        </p:nvSpPr>
        <p:spPr>
          <a:xfrm>
            <a:off x="640080" y="6035040"/>
            <a:ext cx="10881360" cy="438912"/>
          </a:xfrm>
          <a:prstGeom prst="roundRect">
            <a:avLst>
              <a:gd name="adj" fmla="val 18750"/>
            </a:avLst>
          </a:prstGeom>
          <a:solidFill>
            <a:srgbClr val="FBF1E3"/>
          </a:solidFill>
          <a:ln/>
          <a:effectLst>
            <a:outerShdw sx="100000" sy="100000" kx="0" ky="0" algn="bl" rotWithShape="0" blurRad="76200" dist="25400" dir="5400000">
              <a:srgbClr val="9AA4B8">
                <a:alpha val="35000"/>
              </a:srgbClr>
            </a:outerShdw>
          </a:effectLst>
        </p:spPr>
      </p:sp>
      <p:sp>
        <p:nvSpPr>
          <p:cNvPr id="17" name="Text 13"/>
          <p:cNvSpPr/>
          <p:nvPr/>
        </p:nvSpPr>
        <p:spPr>
          <a:xfrm>
            <a:off x="868680" y="6062472"/>
            <a:ext cx="10424160" cy="384048"/>
          </a:xfrm>
          <a:prstGeom prst="rect">
            <a:avLst/>
          </a:prstGeom>
          <a:noFill/>
          <a:ln/>
        </p:spPr>
        <p:txBody>
          <a:bodyPr wrap="square" lIns="0" tIns="0" rIns="0" bIns="0" rtlCol="0" anchor="ctr"/>
          <a:lstStyle/>
          <a:p>
            <a:pPr indent="0" marL="0">
              <a:buNone/>
            </a:pPr>
            <a:r>
              <a:rPr lang="en-US" sz="1150" b="1" dirty="0">
                <a:solidFill>
                  <a:srgbClr val="E8871E"/>
                </a:solidFill>
                <a:latin typeface="Calibri" pitchFamily="34" charset="0"/>
                <a:ea typeface="Calibri" pitchFamily="34" charset="-122"/>
                <a:cs typeface="Calibri" pitchFamily="34" charset="-120"/>
              </a:rPr>
              <a:t>The finding to land:  </a:t>
            </a:r>
            <a:pPr indent="0" marL="0">
              <a:buNone/>
            </a:pPr>
            <a:r>
              <a:rPr lang="en-US" sz="1150" dirty="0">
                <a:solidFill>
                  <a:srgbClr val="232946"/>
                </a:solidFill>
                <a:latin typeface="Calibri" pitchFamily="34" charset="0"/>
                <a:ea typeface="Calibri" pitchFamily="34" charset="-122"/>
                <a:cs typeface="Calibri" pitchFamily="34" charset="-120"/>
              </a:rPr>
              <a:t>nothing in the code changed — the input distribution did. Metrics prove the service is up; drift detection warns it may be quietly becoming wrong.</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AUDIT LOGGING</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audit record: what a regulated service must retain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463040"/>
            <a:ext cx="5806440" cy="3657600"/>
          </a:xfrm>
          <a:prstGeom prst="roundRect">
            <a:avLst>
              <a:gd name="adj" fmla="val 2000"/>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572768"/>
            <a:ext cx="5404104" cy="343814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one line of logs/audit.jsonl (the lab schema)</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"ts": "2026-07-23T10:41:07Z",</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"request_id": "1f9c2ab8-...",</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"client": "172.19.0.1",</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"model_version": "v1",</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"prompt_redacted": "My phone is</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&lt;PHONE_REDACTED&gt;, email &lt;EMAIL_REDACTED&gt;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 What is my loan status?",</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"response_redacted":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"latency_ms": 2140,</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"max_tokens": 40</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a:t>
            </a:r>
            <a:endParaRPr lang="en-US" sz="1000" dirty="0"/>
          </a:p>
        </p:txBody>
      </p:sp>
      <p:sp>
        <p:nvSpPr>
          <p:cNvPr id="10" name="Shape 6"/>
          <p:cNvSpPr/>
          <p:nvPr/>
        </p:nvSpPr>
        <p:spPr>
          <a:xfrm>
            <a:off x="640080" y="5303520"/>
            <a:ext cx="5806440" cy="1051560"/>
          </a:xfrm>
          <a:prstGeom prst="roundRect">
            <a:avLst>
              <a:gd name="adj" fmla="val 7826"/>
            </a:avLst>
          </a:prstGeom>
          <a:solidFill>
            <a:srgbClr val="FBF1E3"/>
          </a:solidFill>
          <a:ln/>
          <a:effectLst>
            <a:outerShdw sx="100000" sy="100000" kx="0" ky="0" algn="bl" rotWithShape="0" blurRad="76200" dist="25400" dir="5400000">
              <a:srgbClr val="9AA4B8">
                <a:alpha val="35000"/>
              </a:srgbClr>
            </a:outerShdw>
          </a:effectLst>
        </p:spPr>
      </p:sp>
      <p:sp>
        <p:nvSpPr>
          <p:cNvPr id="11" name="Text 7"/>
          <p:cNvSpPr/>
          <p:nvPr/>
        </p:nvSpPr>
        <p:spPr>
          <a:xfrm>
            <a:off x="868680" y="5413248"/>
            <a:ext cx="5349240" cy="274320"/>
          </a:xfrm>
          <a:prstGeom prst="rect">
            <a:avLst/>
          </a:prstGeom>
          <a:noFill/>
          <a:ln/>
        </p:spPr>
        <p:txBody>
          <a:bodyPr wrap="square" lIns="0" tIns="0" rIns="0" bIns="0" rtlCol="0" anchor="ctr"/>
          <a:lstStyle/>
          <a:p>
            <a:pPr indent="0" marL="0">
              <a:buNone/>
            </a:pPr>
            <a:r>
              <a:rPr lang="en-US" sz="1200" b="1" dirty="0">
                <a:solidFill>
                  <a:srgbClr val="E8871E"/>
                </a:solidFill>
                <a:latin typeface="Arial" pitchFamily="34" charset="0"/>
                <a:ea typeface="Arial" pitchFamily="34" charset="-122"/>
                <a:cs typeface="Arial" pitchFamily="34" charset="-120"/>
              </a:rPr>
              <a:t>Production additions to the same record</a:t>
            </a:r>
            <a:endParaRPr lang="en-US" sz="1200" dirty="0"/>
          </a:p>
        </p:txBody>
      </p:sp>
      <p:sp>
        <p:nvSpPr>
          <p:cNvPr id="12" name="Text 8"/>
          <p:cNvSpPr/>
          <p:nvPr/>
        </p:nvSpPr>
        <p:spPr>
          <a:xfrm>
            <a:off x="868680" y="5705856"/>
            <a:ext cx="5394960" cy="59436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Retrieval sources — which documents grounded the answer (RAG); guardrail verdicts — which safety filters ran and what each decided.</a:t>
            </a:r>
            <a:endParaRPr lang="en-US" sz="1050" dirty="0"/>
          </a:p>
        </p:txBody>
      </p:sp>
      <p:sp>
        <p:nvSpPr>
          <p:cNvPr id="13" name="Shape 9"/>
          <p:cNvSpPr/>
          <p:nvPr/>
        </p:nvSpPr>
        <p:spPr>
          <a:xfrm>
            <a:off x="6675120" y="1463040"/>
            <a:ext cx="4892040" cy="3657600"/>
          </a:xfrm>
          <a:prstGeom prst="roundRect">
            <a:avLst>
              <a:gd name="adj" fmla="val 2250"/>
            </a:avLst>
          </a:prstGeom>
          <a:solidFill>
            <a:srgbClr val="EEF2FA"/>
          </a:solidFill>
          <a:ln/>
          <a:effectLst>
            <a:outerShdw sx="100000" sy="100000" kx="0" ky="0" algn="bl" rotWithShape="0" blurRad="76200" dist="25400" dir="5400000">
              <a:srgbClr val="9AA4B8">
                <a:alpha val="35000"/>
              </a:srgbClr>
            </a:outerShdw>
          </a:effectLst>
        </p:spPr>
      </p:sp>
      <p:sp>
        <p:nvSpPr>
          <p:cNvPr id="14" name="Text 10"/>
          <p:cNvSpPr/>
          <p:nvPr/>
        </p:nvSpPr>
        <p:spPr>
          <a:xfrm>
            <a:off x="6903720" y="1609344"/>
            <a:ext cx="4434840" cy="32004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Why each field is retained</a:t>
            </a:r>
            <a:endParaRPr lang="en-US" sz="1350" dirty="0"/>
          </a:p>
        </p:txBody>
      </p:sp>
      <p:sp>
        <p:nvSpPr>
          <p:cNvPr id="15" name="Text 11"/>
          <p:cNvSpPr/>
          <p:nvPr/>
        </p:nvSpPr>
        <p:spPr>
          <a:xfrm>
            <a:off x="6903720" y="1993392"/>
            <a:ext cx="4480560" cy="301752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ts + request_id — locate and cite one specific interaction among millions</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client — attribute the request to a caller or system</a:t>
            </a:r>
            <a:endParaRPr lang="en-US" sz="1100" dirty="0"/>
          </a:p>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model_version — bind the answer to a release; without it no dispute can be attributed and no rollback correlated</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prompt_redacted / response_redacted — the content itself, with personal data already removed</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latency_ms — ties the record to the performance history on the dashboards</a:t>
            </a:r>
            <a:endParaRPr lang="en-US" sz="1100" dirty="0"/>
          </a:p>
        </p:txBody>
      </p:sp>
      <p:sp>
        <p:nvSpPr>
          <p:cNvPr id="16" name="Shape 12"/>
          <p:cNvSpPr/>
          <p:nvPr/>
        </p:nvSpPr>
        <p:spPr>
          <a:xfrm>
            <a:off x="6675120" y="5303520"/>
            <a:ext cx="4892040" cy="1051560"/>
          </a:xfrm>
          <a:prstGeom prst="roundRect">
            <a:avLst>
              <a:gd name="adj" fmla="val 7826"/>
            </a:avLst>
          </a:prstGeom>
          <a:solidFill>
            <a:srgbClr val="232946"/>
          </a:solidFill>
          <a:ln/>
          <a:effectLst>
            <a:outerShdw sx="100000" sy="100000" kx="0" ky="0" algn="bl" rotWithShape="0" blurRad="76200" dist="25400" dir="5400000">
              <a:srgbClr val="9AA4B8">
                <a:alpha val="35000"/>
              </a:srgbClr>
            </a:outerShdw>
          </a:effectLst>
        </p:spPr>
      </p:sp>
      <p:sp>
        <p:nvSpPr>
          <p:cNvPr id="17" name="Text 13"/>
          <p:cNvSpPr/>
          <p:nvPr/>
        </p:nvSpPr>
        <p:spPr>
          <a:xfrm>
            <a:off x="6903720" y="5376672"/>
            <a:ext cx="4434840" cy="914400"/>
          </a:xfrm>
          <a:prstGeom prst="rect">
            <a:avLst/>
          </a:prstGeom>
          <a:noFill/>
          <a:ln/>
        </p:spPr>
        <p:txBody>
          <a:bodyPr wrap="square" lIns="0" tIns="0" rIns="0" bIns="0" rtlCol="0" anchor="ctr"/>
          <a:lstStyle/>
          <a:p>
            <a:pPr indent="0" marL="0">
              <a:buNone/>
            </a:pPr>
            <a:r>
              <a:rPr lang="en-US" sz="1150" b="1" dirty="0">
                <a:solidFill>
                  <a:srgbClr val="F5B971"/>
                </a:solidFill>
                <a:latin typeface="Calibri" pitchFamily="34" charset="0"/>
                <a:ea typeface="Calibri" pitchFamily="34" charset="-122"/>
                <a:cs typeface="Calibri" pitchFamily="34" charset="-120"/>
              </a:rPr>
              <a:t>The test of an audit schema:  </a:t>
            </a:r>
            <a:pPr indent="0" marL="0">
              <a:buNone/>
            </a:pPr>
            <a:r>
              <a:rPr lang="en-US" sz="1150" dirty="0">
                <a:solidFill>
                  <a:srgbClr val="FFFFFF"/>
                </a:solidFill>
                <a:latin typeface="Calibri" pitchFamily="34" charset="0"/>
                <a:ea typeface="Calibri" pitchFamily="34" charset="-122"/>
                <a:cs typeface="Calibri" pitchFamily="34" charset="-120"/>
              </a:rPr>
              <a:t>“What did the model say to this customer on 3 March — and which model version said it?”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AUDIT LOGGING · THEORY</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Audit storage in production: append-only, retained, guarded</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8229600" y="475488"/>
            <a:ext cx="3337560" cy="310896"/>
          </a:xfrm>
          <a:prstGeom prst="roundRect">
            <a:avLst>
              <a:gd name="adj" fmla="val 50000"/>
            </a:avLst>
          </a:prstGeom>
          <a:solidFill>
            <a:srgbClr val="FBF1E3"/>
          </a:solidFill>
          <a:ln w="12700">
            <a:solidFill>
              <a:srgbClr val="E8871E"/>
            </a:solidFill>
            <a:prstDash val="solid"/>
          </a:ln>
        </p:spPr>
      </p:sp>
      <p:sp>
        <p:nvSpPr>
          <p:cNvPr id="9" name="Text 5"/>
          <p:cNvSpPr/>
          <p:nvPr/>
        </p:nvSpPr>
        <p:spPr>
          <a:xfrm>
            <a:off x="8321040" y="475488"/>
            <a:ext cx="3154680" cy="310896"/>
          </a:xfrm>
          <a:prstGeom prst="rect">
            <a:avLst/>
          </a:prstGeom>
          <a:noFill/>
          <a:ln/>
        </p:spPr>
        <p:txBody>
          <a:bodyPr wrap="square" lIns="0" tIns="0" rIns="0" bIns="0" rtlCol="0" anchor="ctr"/>
          <a:lstStyle/>
          <a:p>
            <a:pPr algn="ctr" indent="0" marL="0">
              <a:buNone/>
            </a:pPr>
            <a:r>
              <a:rPr lang="en-US" sz="850" b="1" spc="50" kern="0" dirty="0">
                <a:solidFill>
                  <a:srgbClr val="E8871E"/>
                </a:solidFill>
                <a:latin typeface="Arial" pitchFamily="34" charset="0"/>
                <a:ea typeface="Arial" pitchFamily="34" charset="-122"/>
                <a:cs typeface="Arial" pitchFamily="34" charset="-120"/>
              </a:rPr>
              <a:t>REFERENCE THEORY · NOT IN TODAY'S LAB</a:t>
            </a:r>
            <a:endParaRPr lang="en-US" sz="850" dirty="0"/>
          </a:p>
        </p:txBody>
      </p:sp>
      <p:sp>
        <p:nvSpPr>
          <p:cNvPr id="10" name="Text 6"/>
          <p:cNvSpPr/>
          <p:nvPr/>
        </p:nvSpPr>
        <p:spPr>
          <a:xfrm>
            <a:off x="640080" y="1508760"/>
            <a:ext cx="5943600" cy="448056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00" b="1" dirty="0">
                <a:solidFill>
                  <a:srgbClr val="232946"/>
                </a:solidFill>
                <a:latin typeface="Calibri" pitchFamily="34" charset="0"/>
                <a:ea typeface="Calibri" pitchFamily="34" charset="-122"/>
                <a:cs typeface="Calibri" pitchFamily="34" charset="-120"/>
              </a:rPr>
              <a:t>Append-only: records are written once and never updated or deleted — an editable log has essentially no evidentiary value in a dispute.</a:t>
            </a:r>
            <a:endParaRPr lang="en-US" sz="1200" dirty="0"/>
          </a:p>
          <a:p>
            <a:pPr marL="152400" indent="-152400">
              <a:lnSpc>
                <a:spcPct val="108000"/>
              </a:lnSpc>
              <a:spcAft>
                <a:spcPts val="800"/>
              </a:spcAft>
              <a:buSzPct val="100000"/>
              <a:buChar char="•"/>
            </a:pPr>
            <a:r>
              <a:rPr lang="en-US" sz="1200" dirty="0">
                <a:solidFill>
                  <a:srgbClr val="232946"/>
                </a:solidFill>
                <a:latin typeface="Calibri" pitchFamily="34" charset="0"/>
                <a:ea typeface="Calibri" pitchFamily="34" charset="-122"/>
                <a:cs typeface="Calibri" pitchFamily="34" charset="-120"/>
              </a:rPr>
              <a:t>WORM storage (write once, read many): S3 Object Lock in compliance mode prevents deletion until the retention date — by anyone, including administrators.</a:t>
            </a:r>
            <a:endParaRPr lang="en-US" sz="1200" dirty="0"/>
          </a:p>
          <a:p>
            <a:pPr marL="152400" indent="-152400">
              <a:lnSpc>
                <a:spcPct val="108000"/>
              </a:lnSpc>
              <a:spcAft>
                <a:spcPts val="800"/>
              </a:spcAft>
              <a:buSzPct val="100000"/>
              <a:buChar char="•"/>
            </a:pPr>
            <a:r>
              <a:rPr lang="en-US" sz="1200" dirty="0">
                <a:solidFill>
                  <a:srgbClr val="232946"/>
                </a:solidFill>
                <a:latin typeface="Calibri" pitchFamily="34" charset="0"/>
                <a:ea typeface="Calibri" pitchFamily="34" charset="-122"/>
                <a:cs typeface="Calibri" pitchFamily="34" charset="-120"/>
              </a:rPr>
              <a:t>Retention is set by the regulator, not the team: commonly multi-year in financial services. Deleting before expiry is itself a violation.</a:t>
            </a:r>
            <a:endParaRPr lang="en-US" sz="1200" dirty="0"/>
          </a:p>
          <a:p>
            <a:pPr marL="152400" indent="-152400">
              <a:lnSpc>
                <a:spcPct val="108000"/>
              </a:lnSpc>
              <a:spcAft>
                <a:spcPts val="800"/>
              </a:spcAft>
              <a:buSzPct val="100000"/>
              <a:buChar char="•"/>
            </a:pPr>
            <a:r>
              <a:rPr lang="en-US" sz="1200" dirty="0">
                <a:solidFill>
                  <a:srgbClr val="232946"/>
                </a:solidFill>
                <a:latin typeface="Calibri" pitchFamily="34" charset="0"/>
                <a:ea typeface="Calibri" pitchFamily="34" charset="-122"/>
                <a:cs typeface="Calibri" pitchFamily="34" charset="-120"/>
              </a:rPr>
              <a:t>SIEM integration: the audit stream feeds the organisation's security monitoring, where access patterns and anomalies are analysed.</a:t>
            </a:r>
            <a:endParaRPr lang="en-US" sz="1200" dirty="0"/>
          </a:p>
          <a:p>
            <a:pPr marL="152400" indent="-152400">
              <a:lnSpc>
                <a:spcPct val="108000"/>
              </a:lnSpc>
              <a:spcAft>
                <a:spcPts val="800"/>
              </a:spcAft>
              <a:buSzPct val="100000"/>
              <a:buChar char="•"/>
            </a:pPr>
            <a:r>
              <a:rPr lang="en-US" sz="1200" dirty="0">
                <a:solidFill>
                  <a:srgbClr val="232946"/>
                </a:solidFill>
                <a:latin typeface="Calibri" pitchFamily="34" charset="0"/>
                <a:ea typeface="Calibri" pitchFamily="34" charset="-122"/>
                <a:cs typeface="Calibri" pitchFamily="34" charset="-120"/>
              </a:rPr>
              <a:t>Access to the audit log is itself audited — reading these records is a recorded event with an approval trail.</a:t>
            </a:r>
            <a:endParaRPr lang="en-US" sz="1200" dirty="0"/>
          </a:p>
        </p:txBody>
      </p:sp>
      <p:sp>
        <p:nvSpPr>
          <p:cNvPr id="11" name="Shape 7"/>
          <p:cNvSpPr/>
          <p:nvPr/>
        </p:nvSpPr>
        <p:spPr>
          <a:xfrm>
            <a:off x="6949440" y="1554480"/>
            <a:ext cx="4617720" cy="777240"/>
          </a:xfrm>
          <a:prstGeom prst="roundRect">
            <a:avLst>
              <a:gd name="adj" fmla="val 10588"/>
            </a:avLst>
          </a:prstGeom>
          <a:solidFill>
            <a:srgbClr val="DDE6F5"/>
          </a:solidFill>
          <a:ln/>
          <a:effectLst>
            <a:outerShdw sx="100000" sy="100000" kx="0" ky="0" algn="bl" rotWithShape="0" blurRad="76200" dist="25400" dir="5400000">
              <a:srgbClr val="9AA4B8">
                <a:alpha val="35000"/>
              </a:srgbClr>
            </a:outerShdw>
          </a:effectLst>
        </p:spPr>
      </p:sp>
      <p:sp>
        <p:nvSpPr>
          <p:cNvPr id="12" name="Text 8"/>
          <p:cNvSpPr/>
          <p:nvPr/>
        </p:nvSpPr>
        <p:spPr>
          <a:xfrm>
            <a:off x="7132320" y="1554480"/>
            <a:ext cx="4251960" cy="77724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Model service  </a:t>
            </a:r>
            <a:pPr indent="0" marL="0">
              <a:buNone/>
            </a:pPr>
            <a:r>
              <a:rPr lang="en-US" sz="1150" dirty="0">
                <a:solidFill>
                  <a:srgbClr val="5A6478"/>
                </a:solidFill>
                <a:latin typeface="Calibri" pitchFamily="34" charset="0"/>
                <a:ea typeface="Calibri" pitchFamily="34" charset="-122"/>
                <a:cs typeface="Calibri" pitchFamily="34" charset="-120"/>
              </a:rPr>
              <a:t>— emits one audit line per interaction</a:t>
            </a:r>
            <a:endParaRPr lang="en-US" sz="1150" dirty="0"/>
          </a:p>
        </p:txBody>
      </p:sp>
      <p:sp>
        <p:nvSpPr>
          <p:cNvPr id="13" name="Shape 9"/>
          <p:cNvSpPr/>
          <p:nvPr/>
        </p:nvSpPr>
        <p:spPr>
          <a:xfrm>
            <a:off x="9258300" y="2377440"/>
            <a:ext cx="0" cy="365760"/>
          </a:xfrm>
          <a:prstGeom prst="line">
            <a:avLst/>
          </a:prstGeom>
          <a:noFill/>
          <a:ln w="31750">
            <a:solidFill>
              <a:srgbClr val="E8871E"/>
            </a:solidFill>
            <a:prstDash val="solid"/>
            <a:tailEnd type="triangle"/>
          </a:ln>
        </p:spPr>
      </p:sp>
      <p:sp>
        <p:nvSpPr>
          <p:cNvPr id="14" name="Shape 10"/>
          <p:cNvSpPr/>
          <p:nvPr/>
        </p:nvSpPr>
        <p:spPr>
          <a:xfrm>
            <a:off x="6949440" y="2788920"/>
            <a:ext cx="4617720" cy="1051560"/>
          </a:xfrm>
          <a:prstGeom prst="roundRect">
            <a:avLst>
              <a:gd name="adj" fmla="val 7826"/>
            </a:avLst>
          </a:prstGeom>
          <a:solidFill>
            <a:srgbClr val="232946"/>
          </a:solidFill>
          <a:ln/>
          <a:effectLst>
            <a:outerShdw sx="100000" sy="100000" kx="0" ky="0" algn="bl" rotWithShape="0" blurRad="76200" dist="25400" dir="5400000">
              <a:srgbClr val="9AA4B8">
                <a:alpha val="35000"/>
              </a:srgbClr>
            </a:outerShdw>
          </a:effectLst>
        </p:spPr>
      </p:sp>
      <p:sp>
        <p:nvSpPr>
          <p:cNvPr id="15" name="Text 11"/>
          <p:cNvSpPr/>
          <p:nvPr/>
        </p:nvSpPr>
        <p:spPr>
          <a:xfrm>
            <a:off x="7132320" y="2788920"/>
            <a:ext cx="4251960" cy="10515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Append-only store  </a:t>
            </a:r>
            <a:pPr indent="0" marL="0">
              <a:buNone/>
            </a:pPr>
            <a:r>
              <a:rPr lang="en-US" sz="1150" dirty="0">
                <a:solidFill>
                  <a:srgbClr val="CADCFC"/>
                </a:solidFill>
                <a:latin typeface="Calibri" pitchFamily="34" charset="0"/>
                <a:ea typeface="Calibri" pitchFamily="34" charset="-122"/>
                <a:cs typeface="Calibri" pitchFamily="34" charset="-120"/>
              </a:rPr>
              <a:t>— WORM / S3 Object Lock; retention enforced by the platform, not by policy documents</a:t>
            </a:r>
            <a:endParaRPr lang="en-US" sz="1150" dirty="0"/>
          </a:p>
        </p:txBody>
      </p:sp>
      <p:sp>
        <p:nvSpPr>
          <p:cNvPr id="16" name="Shape 12"/>
          <p:cNvSpPr/>
          <p:nvPr/>
        </p:nvSpPr>
        <p:spPr>
          <a:xfrm>
            <a:off x="9258300" y="3886200"/>
            <a:ext cx="0" cy="365760"/>
          </a:xfrm>
          <a:prstGeom prst="line">
            <a:avLst/>
          </a:prstGeom>
          <a:noFill/>
          <a:ln w="31750">
            <a:solidFill>
              <a:srgbClr val="E8871E"/>
            </a:solidFill>
            <a:prstDash val="solid"/>
            <a:tailEnd type="triangle"/>
          </a:ln>
        </p:spPr>
      </p:sp>
      <p:sp>
        <p:nvSpPr>
          <p:cNvPr id="17" name="Shape 13"/>
          <p:cNvSpPr/>
          <p:nvPr/>
        </p:nvSpPr>
        <p:spPr>
          <a:xfrm>
            <a:off x="6949440" y="4297680"/>
            <a:ext cx="4617720" cy="777240"/>
          </a:xfrm>
          <a:prstGeom prst="roundRect">
            <a:avLst>
              <a:gd name="adj" fmla="val 10588"/>
            </a:avLst>
          </a:prstGeom>
          <a:solidFill>
            <a:srgbClr val="EEF2FA"/>
          </a:solidFill>
          <a:ln/>
          <a:effectLst>
            <a:outerShdw sx="100000" sy="100000" kx="0" ky="0" algn="bl" rotWithShape="0" blurRad="76200" dist="25400" dir="5400000">
              <a:srgbClr val="9AA4B8">
                <a:alpha val="35000"/>
              </a:srgbClr>
            </a:outerShdw>
          </a:effectLst>
        </p:spPr>
      </p:sp>
      <p:sp>
        <p:nvSpPr>
          <p:cNvPr id="18" name="Text 14"/>
          <p:cNvSpPr/>
          <p:nvPr/>
        </p:nvSpPr>
        <p:spPr>
          <a:xfrm>
            <a:off x="7132320" y="4297680"/>
            <a:ext cx="4251960" cy="77724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SIEM  </a:t>
            </a:r>
            <a:pPr indent="0" marL="0">
              <a:buNone/>
            </a:pPr>
            <a:r>
              <a:rPr lang="en-US" sz="1150" dirty="0">
                <a:solidFill>
                  <a:srgbClr val="5A6478"/>
                </a:solidFill>
                <a:latin typeface="Calibri" pitchFamily="34" charset="0"/>
                <a:ea typeface="Calibri" pitchFamily="34" charset="-122"/>
                <a:cs typeface="Calibri" pitchFamily="34" charset="-120"/>
              </a:rPr>
              <a:t>— security analytics over the audit stream; audited read access</a:t>
            </a:r>
            <a:endParaRPr lang="en-US" sz="1150" dirty="0"/>
          </a:p>
        </p:txBody>
      </p:sp>
      <p:sp>
        <p:nvSpPr>
          <p:cNvPr id="19" name="Shape 15"/>
          <p:cNvSpPr/>
          <p:nvPr/>
        </p:nvSpPr>
        <p:spPr>
          <a:xfrm>
            <a:off x="6949440" y="5349240"/>
            <a:ext cx="4617720" cy="960120"/>
          </a:xfrm>
          <a:prstGeom prst="roundRect">
            <a:avLst>
              <a:gd name="adj" fmla="val 8571"/>
            </a:avLst>
          </a:prstGeom>
          <a:solidFill>
            <a:srgbClr val="FBF1E3"/>
          </a:solidFill>
          <a:ln/>
          <a:effectLst>
            <a:outerShdw sx="100000" sy="100000" kx="0" ky="0" algn="bl" rotWithShape="0" blurRad="76200" dist="25400" dir="5400000">
              <a:srgbClr val="9AA4B8">
                <a:alpha val="35000"/>
              </a:srgbClr>
            </a:outerShdw>
          </a:effectLst>
        </p:spPr>
      </p:sp>
      <p:sp>
        <p:nvSpPr>
          <p:cNvPr id="20" name="Text 16"/>
          <p:cNvSpPr/>
          <p:nvPr/>
        </p:nvSpPr>
        <p:spPr>
          <a:xfrm>
            <a:off x="7178040" y="5422392"/>
            <a:ext cx="4160520" cy="822960"/>
          </a:xfrm>
          <a:prstGeom prst="rect">
            <a:avLst/>
          </a:prstGeom>
          <a:noFill/>
          <a:ln/>
        </p:spPr>
        <p:txBody>
          <a:bodyPr wrap="square" lIns="0" tIns="0" rIns="0" bIns="0" rtlCol="0" anchor="ctr"/>
          <a:lstStyle/>
          <a:p>
            <a:pPr indent="0" marL="0">
              <a:buNone/>
            </a:pPr>
            <a:r>
              <a:rPr lang="en-US" sz="1050" b="1" dirty="0">
                <a:solidFill>
                  <a:srgbClr val="E8871E"/>
                </a:solidFill>
                <a:latin typeface="Calibri" pitchFamily="34" charset="0"/>
                <a:ea typeface="Calibri" pitchFamily="34" charset="-122"/>
                <a:cs typeface="Calibri" pitchFamily="34" charset="-120"/>
              </a:rPr>
              <a:t>Today's stand-in:  </a:t>
            </a:r>
            <a:pPr indent="0" marL="0">
              <a:buNone/>
            </a:pPr>
            <a:r>
              <a:rPr lang="en-US" sz="1050" dirty="0">
                <a:solidFill>
                  <a:srgbClr val="232946"/>
                </a:solidFill>
                <a:latin typeface="Calibri" pitchFamily="34" charset="0"/>
                <a:ea typeface="Calibri" pitchFamily="34" charset="-122"/>
                <a:cs typeface="Calibri" pitchFamily="34" charset="-120"/>
              </a:rPr>
              <a:t>audit.jsonl, appended on local disk. The schema and redaction are production-grade; the storage regime is what production adds.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PII REDACTION</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Redaction at log time versus redaction at query time</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463040"/>
            <a:ext cx="5349240" cy="4160520"/>
          </a:xfrm>
          <a:prstGeom prst="roundRect">
            <a:avLst>
              <a:gd name="adj" fmla="val 1978"/>
            </a:avLst>
          </a:prstGeom>
          <a:solidFill>
            <a:srgbClr val="EAF4EC"/>
          </a:solidFill>
          <a:ln/>
          <a:effectLst>
            <a:outerShdw sx="100000" sy="100000" kx="0" ky="0" algn="bl" rotWithShape="0" blurRad="76200" dist="25400" dir="5400000">
              <a:srgbClr val="9AA4B8">
                <a:alpha val="35000"/>
              </a:srgbClr>
            </a:outerShdw>
          </a:effectLst>
        </p:spPr>
      </p:sp>
      <p:sp>
        <p:nvSpPr>
          <p:cNvPr id="9" name="Text 5"/>
          <p:cNvSpPr/>
          <p:nvPr/>
        </p:nvSpPr>
        <p:spPr>
          <a:xfrm>
            <a:off x="868680" y="1627632"/>
            <a:ext cx="4846320" cy="347472"/>
          </a:xfrm>
          <a:prstGeom prst="rect">
            <a:avLst/>
          </a:prstGeom>
          <a:noFill/>
          <a:ln/>
        </p:spPr>
        <p:txBody>
          <a:bodyPr wrap="square" lIns="0" tIns="0" rIns="0" bIns="0" rtlCol="0" anchor="ctr"/>
          <a:lstStyle/>
          <a:p>
            <a:pPr indent="0" marL="0">
              <a:buNone/>
            </a:pPr>
            <a:r>
              <a:rPr lang="en-US" sz="1500" b="1" dirty="0">
                <a:solidFill>
                  <a:srgbClr val="2C7A4B"/>
                </a:solidFill>
                <a:latin typeface="Arial" pitchFamily="34" charset="0"/>
                <a:ea typeface="Arial" pitchFamily="34" charset="-122"/>
                <a:cs typeface="Arial" pitchFamily="34" charset="-120"/>
              </a:rPr>
              <a:t>Redaction at log time</a:t>
            </a:r>
            <a:endParaRPr lang="en-US" sz="1500" dirty="0"/>
          </a:p>
        </p:txBody>
      </p:sp>
      <p:sp>
        <p:nvSpPr>
          <p:cNvPr id="10" name="Text 6"/>
          <p:cNvSpPr/>
          <p:nvPr/>
        </p:nvSpPr>
        <p:spPr>
          <a:xfrm>
            <a:off x="868680" y="1975104"/>
            <a:ext cx="4846320" cy="27432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The lab's implementation — redact before write</a:t>
            </a:r>
            <a:endParaRPr lang="en-US" sz="1100" dirty="0"/>
          </a:p>
        </p:txBody>
      </p:sp>
      <p:sp>
        <p:nvSpPr>
          <p:cNvPr id="11" name="Text 7"/>
          <p:cNvSpPr/>
          <p:nvPr/>
        </p:nvSpPr>
        <p:spPr>
          <a:xfrm>
            <a:off x="868680" y="2331720"/>
            <a:ext cx="4937760" cy="32004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Only the redacted text is ever written — raw PII never reaches disk</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Irreversible by construction: the original cannot be recovered, by anyone</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A leaked, stolen or subpoenaed log file exposes no personal data</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Less flexible: later investigations see placeholders, not values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The default posture for regulated data — the safest failure mode</a:t>
            </a:r>
            <a:endParaRPr lang="en-US" sz="1150" dirty="0"/>
          </a:p>
        </p:txBody>
      </p:sp>
      <p:sp>
        <p:nvSpPr>
          <p:cNvPr id="12" name="Shape 8"/>
          <p:cNvSpPr/>
          <p:nvPr/>
        </p:nvSpPr>
        <p:spPr>
          <a:xfrm>
            <a:off x="6263640" y="1463040"/>
            <a:ext cx="5303520" cy="4160520"/>
          </a:xfrm>
          <a:prstGeom prst="roundRect">
            <a:avLst>
              <a:gd name="adj" fmla="val 1978"/>
            </a:avLst>
          </a:prstGeom>
          <a:solidFill>
            <a:srgbClr val="EEF2FA"/>
          </a:solidFill>
          <a:ln/>
          <a:effectLst>
            <a:outerShdw sx="100000" sy="100000" kx="0" ky="0" algn="bl" rotWithShape="0" blurRad="76200" dist="25400" dir="5400000">
              <a:srgbClr val="9AA4B8">
                <a:alpha val="35000"/>
              </a:srgbClr>
            </a:outerShdw>
          </a:effectLst>
        </p:spPr>
      </p:sp>
      <p:sp>
        <p:nvSpPr>
          <p:cNvPr id="13" name="Text 9"/>
          <p:cNvSpPr/>
          <p:nvPr/>
        </p:nvSpPr>
        <p:spPr>
          <a:xfrm>
            <a:off x="6492240" y="1627632"/>
            <a:ext cx="4754880" cy="347472"/>
          </a:xfrm>
          <a:prstGeom prst="rect">
            <a:avLst/>
          </a:prstGeom>
          <a:noFill/>
          <a:ln/>
        </p:spPr>
        <p:txBody>
          <a:bodyPr wrap="square" lIns="0" tIns="0" rIns="0" bIns="0" rtlCol="0" anchor="ctr"/>
          <a:lstStyle/>
          <a:p>
            <a:pPr indent="0" marL="0">
              <a:buNone/>
            </a:pPr>
            <a:r>
              <a:rPr lang="en-US" sz="1500" b="1" dirty="0">
                <a:solidFill>
                  <a:srgbClr val="B3402A"/>
                </a:solidFill>
                <a:latin typeface="Arial" pitchFamily="34" charset="0"/>
                <a:ea typeface="Arial" pitchFamily="34" charset="-122"/>
                <a:cs typeface="Arial" pitchFamily="34" charset="-120"/>
              </a:rPr>
              <a:t>Redaction at query time</a:t>
            </a:r>
            <a:endParaRPr lang="en-US" sz="1500" dirty="0"/>
          </a:p>
        </p:txBody>
      </p:sp>
      <p:sp>
        <p:nvSpPr>
          <p:cNvPr id="14" name="Text 10"/>
          <p:cNvSpPr/>
          <p:nvPr/>
        </p:nvSpPr>
        <p:spPr>
          <a:xfrm>
            <a:off x="6492240" y="1975104"/>
            <a:ext cx="4754880" cy="27432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Store raw, mask on read</a:t>
            </a:r>
            <a:endParaRPr lang="en-US" sz="1100" dirty="0"/>
          </a:p>
        </p:txBody>
      </p:sp>
      <p:sp>
        <p:nvSpPr>
          <p:cNvPr id="15" name="Text 11"/>
          <p:cNvSpPr/>
          <p:nvPr/>
        </p:nvSpPr>
        <p:spPr>
          <a:xfrm>
            <a:off x="6492240" y="2331720"/>
            <a:ext cx="4892040" cy="32004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Raw text is stored (encrypted); masking is applied on read, per role</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Recoverable: authorised investigations can retrieve the originals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The store remains a high-value target — every safeguard is an access control that can fail or be misconfigured</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Full flexibility for later analysis and dispute resolution</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Fits cases where a regulator explicitly requires the originals to exist</a:t>
            </a:r>
            <a:endParaRPr lang="en-US" sz="1150" dirty="0"/>
          </a:p>
        </p:txBody>
      </p:sp>
      <p:sp>
        <p:nvSpPr>
          <p:cNvPr id="16" name="Shape 12"/>
          <p:cNvSpPr/>
          <p:nvPr/>
        </p:nvSpPr>
        <p:spPr>
          <a:xfrm>
            <a:off x="640080" y="5806440"/>
            <a:ext cx="10881360" cy="658368"/>
          </a:xfrm>
          <a:prstGeom prst="roundRect">
            <a:avLst>
              <a:gd name="adj" fmla="val 12500"/>
            </a:avLst>
          </a:prstGeom>
          <a:solidFill>
            <a:srgbClr val="232946"/>
          </a:solidFill>
          <a:ln/>
          <a:effectLst>
            <a:outerShdw sx="100000" sy="100000" kx="0" ky="0" algn="bl" rotWithShape="0" blurRad="76200" dist="25400" dir="5400000">
              <a:srgbClr val="9AA4B8">
                <a:alpha val="35000"/>
              </a:srgbClr>
            </a:outerShdw>
          </a:effectLst>
        </p:spPr>
      </p:sp>
      <p:sp>
        <p:nvSpPr>
          <p:cNvPr id="17" name="Text 13"/>
          <p:cNvSpPr/>
          <p:nvPr/>
        </p:nvSpPr>
        <p:spPr>
          <a:xfrm>
            <a:off x="868680" y="5861304"/>
            <a:ext cx="10424160" cy="548640"/>
          </a:xfrm>
          <a:prstGeom prst="rect">
            <a:avLst/>
          </a:prstGeom>
          <a:noFill/>
          <a:ln/>
        </p:spPr>
        <p:txBody>
          <a:bodyPr wrap="square" lIns="0" tIns="0" rIns="0" bIns="0" rtlCol="0" anchor="ctr"/>
          <a:lstStyle/>
          <a:p>
            <a:pPr indent="0" marL="0">
              <a:buNone/>
            </a:pPr>
            <a:r>
              <a:rPr lang="en-US" sz="1200" b="1" dirty="0">
                <a:solidFill>
                  <a:srgbClr val="F5B971"/>
                </a:solidFill>
                <a:latin typeface="Calibri" pitchFamily="34" charset="0"/>
                <a:ea typeface="Calibri" pitchFamily="34" charset="-122"/>
                <a:cs typeface="Calibri" pitchFamily="34" charset="-120"/>
              </a:rPr>
              <a:t>Decision rule:  </a:t>
            </a:r>
            <a:pPr indent="0" marL="0">
              <a:buNone/>
            </a:pPr>
            <a:r>
              <a:rPr lang="en-US" sz="1200" dirty="0">
                <a:solidFill>
                  <a:srgbClr val="FFFFFF"/>
                </a:solidFill>
                <a:latin typeface="Calibri" pitchFamily="34" charset="0"/>
                <a:ea typeface="Calibri" pitchFamily="34" charset="-122"/>
                <a:cs typeface="Calibri" pitchFamily="34" charset="-120"/>
              </a:rPr>
              <a:t>choose log-time redaction unless a regulator explicitly requires originals — and if originals must exist, they belong in a separately governed vault, never in the operational log.</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PII REDACTION</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lab's redaction: deterministic patterns, applied before write</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508760"/>
            <a:ext cx="6309360" cy="4069080"/>
          </a:xfrm>
          <a:prstGeom prst="roundRect">
            <a:avLst>
              <a:gd name="adj" fmla="val 1798"/>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907024" cy="384962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app.py — redaction at log time (the lab, exact)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PII_PATTERNS =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("EMAIL",   re.compile(</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r"[\w.+-]+@[\w-]+\.[\w.-]+")),</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("AADHAAR", re.compile(</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r"\b\d{4}\s?\d{4}\s?\d{4}\b")),</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("PAN",     re.compile(</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r"\b[A-Z]{5}\d{4}[A-Z]\b")),</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("PHONE",   re.compile(</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r"\b(?:\+91[\s-]?)?[6-9]\d{9}\b")),</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def redact(text: str) -&gt; str:</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for name, pattern in PII_PATTERNS:</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text = pattern.sub(</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f"&lt;{name}_REDACTED&gt;", text)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return text</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applied BEFORE the audit line is written</a:t>
            </a:r>
            <a:endParaRPr lang="en-US" sz="1000" dirty="0"/>
          </a:p>
        </p:txBody>
      </p:sp>
      <p:sp>
        <p:nvSpPr>
          <p:cNvPr id="10" name="Shape 6"/>
          <p:cNvSpPr/>
          <p:nvPr/>
        </p:nvSpPr>
        <p:spPr>
          <a:xfrm>
            <a:off x="7178040" y="1508760"/>
            <a:ext cx="4389120" cy="4069080"/>
          </a:xfrm>
          <a:prstGeom prst="roundRect">
            <a:avLst>
              <a:gd name="adj" fmla="val 2022"/>
            </a:avLst>
          </a:prstGeom>
          <a:solidFill>
            <a:srgbClr val="FBF1E3"/>
          </a:solidFill>
          <a:ln/>
          <a:effectLst>
            <a:outerShdw sx="100000" sy="100000" kx="0" ky="0" algn="bl" rotWithShape="0" blurRad="76200" dist="25400" dir="5400000">
              <a:srgbClr val="9AA4B8">
                <a:alpha val="35000"/>
              </a:srgbClr>
            </a:outerShdw>
          </a:effectLst>
        </p:spPr>
      </p:sp>
      <p:sp>
        <p:nvSpPr>
          <p:cNvPr id="11" name="Text 7"/>
          <p:cNvSpPr/>
          <p:nvPr/>
        </p:nvSpPr>
        <p:spPr>
          <a:xfrm>
            <a:off x="7406640" y="1664208"/>
            <a:ext cx="393192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From lab to production</a:t>
            </a:r>
            <a:endParaRPr lang="en-US" sz="1350" dirty="0"/>
          </a:p>
        </p:txBody>
      </p:sp>
      <p:sp>
        <p:nvSpPr>
          <p:cNvPr id="12" name="Text 8"/>
          <p:cNvSpPr/>
          <p:nvPr/>
        </p:nvSpPr>
        <p:spPr>
          <a:xfrm>
            <a:off x="7406640" y="2057400"/>
            <a:ext cx="3977640" cy="338328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Regex recognises formatted identifiers — phone, Aadhaar, PAN, email — but cannot find names, addresses or free-text identifiers.</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Production layers an NER-based engine over the pattern set; Microsoft Presidio is the common choice, with custom recognisers for domain identifiers.</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system is evaluated by recall on labelled samples of the organisation's own traffic — the metric that matters is what escapes redaction.</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Recall is never 100%: keep the storage and access controls in place even with redaction operating.</a:t>
            </a:r>
            <a:endParaRPr lang="en-US" sz="1100" dirty="0"/>
          </a:p>
        </p:txBody>
      </p:sp>
      <p:sp>
        <p:nvSpPr>
          <p:cNvPr id="13" name="Shape 9"/>
          <p:cNvSpPr/>
          <p:nvPr/>
        </p:nvSpPr>
        <p:spPr>
          <a:xfrm>
            <a:off x="640080" y="5806440"/>
            <a:ext cx="10881360" cy="566928"/>
          </a:xfrm>
          <a:prstGeom prst="roundRect">
            <a:avLst>
              <a:gd name="adj" fmla="val 14516"/>
            </a:avLst>
          </a:prstGeom>
          <a:solidFill>
            <a:srgbClr val="EEF2FA"/>
          </a:solidFill>
          <a:ln/>
          <a:effectLst>
            <a:outerShdw sx="100000" sy="100000" kx="0" ky="0" algn="bl" rotWithShape="0" blurRad="76200" dist="25400" dir="5400000">
              <a:srgbClr val="9AA4B8">
                <a:alpha val="35000"/>
              </a:srgbClr>
            </a:outerShdw>
          </a:effectLst>
        </p:spPr>
      </p:sp>
      <p:sp>
        <p:nvSpPr>
          <p:cNvPr id="14" name="Text 10"/>
          <p:cNvSpPr/>
          <p:nvPr/>
        </p:nvSpPr>
        <p:spPr>
          <a:xfrm>
            <a:off x="868680" y="5843016"/>
            <a:ext cx="10424160" cy="493776"/>
          </a:xfrm>
          <a:prstGeom prst="rect">
            <a:avLst/>
          </a:prstGeom>
          <a:noFill/>
          <a:ln/>
        </p:spPr>
        <p:txBody>
          <a:bodyPr wrap="square" lIns="0" tIns="0" rIns="0" bIns="0" rtlCol="0" anchor="ctr"/>
          <a:lstStyle/>
          <a:p>
            <a:pPr indent="0" marL="0">
              <a:buNone/>
            </a:pPr>
            <a:r>
              <a:rPr lang="en-US" sz="1200" b="1" dirty="0">
                <a:solidFill>
                  <a:srgbClr val="232946"/>
                </a:solidFill>
                <a:latin typeface="Calibri" pitchFamily="34" charset="0"/>
                <a:ea typeface="Calibri" pitchFamily="34" charset="-122"/>
                <a:cs typeface="Calibri" pitchFamily="34" charset="-120"/>
              </a:rPr>
              <a:t>Verified in Lab Step 4:  </a:t>
            </a:r>
            <a:pPr indent="0" marL="0">
              <a:buNone/>
            </a:pPr>
            <a:r>
              <a:rPr lang="en-US" sz="1200" dirty="0">
                <a:solidFill>
                  <a:srgbClr val="5A6478"/>
                </a:solidFill>
                <a:latin typeface="Calibri" pitchFamily="34" charset="0"/>
                <a:ea typeface="Calibri" pitchFamily="34" charset="-122"/>
                <a:cs typeface="Calibri" pitchFamily="34" charset="-120"/>
              </a:rPr>
              <a:t>a request carrying a phone number, an email address and an Aadhaar-format number produces an audit line containing only the placeholders.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32946"/>
        </a:solidFill>
      </p:bgPr>
    </p:bg>
    <p:spTree>
      <p:nvGrpSpPr>
        <p:cNvPr id="1" name=""/>
        <p:cNvGrpSpPr/>
        <p:nvPr/>
      </p:nvGrpSpPr>
      <p:grpSpPr>
        <a:xfrm>
          <a:off x="0" y="0"/>
          <a:ext cx="0" cy="0"/>
          <a:chOff x="0" y="0"/>
          <a:chExt cx="0" cy="0"/>
        </a:xfrm>
      </p:grpSpPr>
      <p:sp>
        <p:nvSpPr>
          <p:cNvPr id="2" name="Shape 0"/>
          <p:cNvSpPr/>
          <p:nvPr/>
        </p:nvSpPr>
        <p:spPr>
          <a:xfrm>
            <a:off x="9692640" y="4206240"/>
            <a:ext cx="4389120" cy="4389120"/>
          </a:xfrm>
          <a:prstGeom prst="ellipse">
            <a:avLst/>
          </a:prstGeom>
          <a:solidFill>
            <a:srgbClr val="2E3554"/>
          </a:solidFill>
          <a:ln/>
        </p:spPr>
      </p:sp>
      <p:sp>
        <p:nvSpPr>
          <p:cNvPr id="3" name="Shape 1"/>
          <p:cNvSpPr/>
          <p:nvPr/>
        </p:nvSpPr>
        <p:spPr>
          <a:xfrm>
            <a:off x="-1280160" y="-1645920"/>
            <a:ext cx="3840480" cy="3840480"/>
          </a:xfrm>
          <a:prstGeom prst="ellipse">
            <a:avLst/>
          </a:prstGeom>
          <a:solidFill>
            <a:srgbClr val="2E3554"/>
          </a:solidFill>
          <a:ln/>
        </p:spPr>
      </p:sp>
      <p:sp>
        <p:nvSpPr>
          <p:cNvPr id="4" name="Shape 2"/>
          <p:cNvSpPr/>
          <p:nvPr/>
        </p:nvSpPr>
        <p:spPr>
          <a:xfrm>
            <a:off x="685800" y="1371600"/>
            <a:ext cx="822960" cy="822960"/>
          </a:xfrm>
          <a:prstGeom prst="ellipse">
            <a:avLst/>
          </a:prstGeom>
          <a:solidFill>
            <a:srgbClr val="E8871E"/>
          </a:solidFill>
          <a:ln/>
        </p:spPr>
      </p:sp>
      <p:pic>
        <p:nvPicPr>
          <p:cNvPr id="5" name="Image 0" descr="preencoded.png">    </p:cNvPr>
          <p:cNvPicPr>
            <a:picLocks noChangeAspect="1"/>
          </p:cNvPicPr>
          <p:nvPr/>
        </p:nvPicPr>
        <p:blipFill>
          <a:blip r:embed="rId1"/>
          <a:stretch>
            <a:fillRect/>
          </a:stretch>
        </p:blipFill>
        <p:spPr>
          <a:xfrm>
            <a:off x="899770" y="1585570"/>
            <a:ext cx="395021" cy="395021"/>
          </a:xfrm>
          <a:prstGeom prst="rect">
            <a:avLst/>
          </a:prstGeom>
        </p:spPr>
      </p:pic>
      <p:sp>
        <p:nvSpPr>
          <p:cNvPr id="6" name="Text 3"/>
          <p:cNvSpPr/>
          <p:nvPr/>
        </p:nvSpPr>
        <p:spPr>
          <a:xfrm>
            <a:off x="685800" y="2514600"/>
            <a:ext cx="9144000" cy="365760"/>
          </a:xfrm>
          <a:prstGeom prst="rect">
            <a:avLst/>
          </a:prstGeom>
          <a:noFill/>
          <a:ln/>
        </p:spPr>
        <p:txBody>
          <a:bodyPr wrap="square" lIns="0" tIns="0" rIns="0" bIns="0" rtlCol="0" anchor="ctr"/>
          <a:lstStyle/>
          <a:p>
            <a:pPr indent="0" marL="0">
              <a:buNone/>
            </a:pPr>
            <a:r>
              <a:rPr lang="en-US" sz="1300" b="1" spc="200" kern="0" dirty="0">
                <a:solidFill>
                  <a:srgbClr val="E8871E"/>
                </a:solidFill>
                <a:latin typeface="Arial" pitchFamily="34" charset="0"/>
                <a:ea typeface="Arial" pitchFamily="34" charset="-122"/>
                <a:cs typeface="Arial" pitchFamily="34" charset="-120"/>
              </a:rPr>
              <a:t>HANDS-ON LAB · 60 MINUTES · ENTIRELY LOCAL</a:t>
            </a:r>
            <a:endParaRPr lang="en-US" sz="1300" dirty="0"/>
          </a:p>
        </p:txBody>
      </p:sp>
      <p:sp>
        <p:nvSpPr>
          <p:cNvPr id="7" name="Text 4"/>
          <p:cNvSpPr/>
          <p:nvPr/>
        </p:nvSpPr>
        <p:spPr>
          <a:xfrm>
            <a:off x="658368" y="2880360"/>
            <a:ext cx="10789920" cy="77724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Local Observability Lab</a:t>
            </a:r>
            <a:endParaRPr lang="en-US" sz="4000" dirty="0"/>
          </a:p>
        </p:txBody>
      </p:sp>
      <p:sp>
        <p:nvSpPr>
          <p:cNvPr id="8" name="Text 5"/>
          <p:cNvSpPr/>
          <p:nvPr/>
        </p:nvSpPr>
        <p:spPr>
          <a:xfrm>
            <a:off x="685800" y="3703320"/>
            <a:ext cx="10789920" cy="457200"/>
          </a:xfrm>
          <a:prstGeom prst="rect">
            <a:avLst/>
          </a:prstGeom>
          <a:noFill/>
          <a:ln/>
        </p:spPr>
        <p:txBody>
          <a:bodyPr wrap="square" lIns="0" tIns="0" rIns="0" bIns="0" rtlCol="0" anchor="ctr"/>
          <a:lstStyle/>
          <a:p>
            <a:pPr indent="0" marL="0">
              <a:buNone/>
            </a:pPr>
            <a:r>
              <a:rPr lang="en-US" sz="2000" b="1" dirty="0">
                <a:solidFill>
                  <a:srgbClr val="F5B971"/>
                </a:solidFill>
                <a:latin typeface="Arial" pitchFamily="34" charset="0"/>
                <a:ea typeface="Arial" pitchFamily="34" charset="-122"/>
                <a:cs typeface="Arial" pitchFamily="34" charset="-120"/>
              </a:rPr>
              <a:t>Metrics, dashboards, alerts, audit and drift — around one model server</a:t>
            </a:r>
            <a:endParaRPr lang="en-US" sz="2000" dirty="0"/>
          </a:p>
        </p:txBody>
      </p:sp>
      <p:sp>
        <p:nvSpPr>
          <p:cNvPr id="9" name="Text 6"/>
          <p:cNvSpPr/>
          <p:nvPr/>
        </p:nvSpPr>
        <p:spPr>
          <a:xfrm>
            <a:off x="685800" y="4434840"/>
            <a:ext cx="10241280" cy="868680"/>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A Docker stack surrounds the instrumented model server with Prometheus and Grafana. You will read the raw metrics contract, generate mixed traffic with deliberate errors, query it with PromQL, build and trip a p95 latency alert, verify PII redaction in the audit log, and produce an Evidently drift report in the host Python environment.</a:t>
            </a:r>
            <a:endParaRPr lang="en-US" sz="1450" dirty="0"/>
          </a:p>
        </p:txBody>
      </p:sp>
      <p:sp>
        <p:nvSpPr>
          <p:cNvPr id="10" name="Text 7"/>
          <p:cNvSpPr/>
          <p:nvPr/>
        </p:nvSpPr>
        <p:spPr>
          <a:xfrm>
            <a:off x="685800" y="5623560"/>
            <a:ext cx="10789920" cy="365760"/>
          </a:xfrm>
          <a:prstGeom prst="rect">
            <a:avLst/>
          </a:prstGeom>
          <a:noFill/>
          <a:ln/>
        </p:spPr>
        <p:txBody>
          <a:bodyPr wrap="square" lIns="0" tIns="0" rIns="0" bIns="0" rtlCol="0" anchor="ctr"/>
          <a:lstStyle/>
          <a:p>
            <a:pPr indent="0" marL="0">
              <a:buNone/>
            </a:pPr>
            <a:r>
              <a:rPr lang="en-US" sz="1200" dirty="0">
                <a:solidFill>
                  <a:srgbClr val="9AA7C7"/>
                </a:solidFill>
                <a:latin typeface="Calibri" pitchFamily="34" charset="0"/>
                <a:ea typeface="Calibri" pitchFamily="34" charset="-122"/>
                <a:cs typeface="Calibri" pitchFamily="34" charset="-120"/>
              </a:rPr>
              <a:t>Step 0 prerequisites · Step 1 stack &amp; raw metrics · Step 2 traffic &amp; PromQL · Step 3 dashboard &amp; alert · Step 4 audit &amp; redaction · Step 5 drift report · Step 6 cleanup</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ARCHITECTURE</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lab stack: one service, its metrics store, its dashboards</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828800"/>
            <a:ext cx="2103120" cy="1280160"/>
          </a:xfrm>
          <a:prstGeom prst="roundRect">
            <a:avLst>
              <a:gd name="adj" fmla="val 6429"/>
            </a:avLst>
          </a:prstGeom>
          <a:solidFill>
            <a:srgbClr val="EEF2FA"/>
          </a:solidFill>
          <a:ln/>
          <a:effectLst>
            <a:outerShdw sx="100000" sy="100000" kx="0" ky="0" algn="bl" rotWithShape="0" blurRad="76200" dist="25400" dir="5400000">
              <a:srgbClr val="9AA4B8">
                <a:alpha val="35000"/>
              </a:srgbClr>
            </a:outerShdw>
          </a:effectLst>
        </p:spPr>
      </p:sp>
      <p:sp>
        <p:nvSpPr>
          <p:cNvPr id="9" name="Shape 5"/>
          <p:cNvSpPr/>
          <p:nvPr/>
        </p:nvSpPr>
        <p:spPr>
          <a:xfrm>
            <a:off x="841248" y="1975104"/>
            <a:ext cx="402336" cy="402336"/>
          </a:xfrm>
          <a:prstGeom prst="ellipse">
            <a:avLst/>
          </a:prstGeom>
          <a:solidFill>
            <a:srgbClr val="232946"/>
          </a:solidFill>
          <a:ln/>
        </p:spPr>
      </p:sp>
      <p:pic>
        <p:nvPicPr>
          <p:cNvPr id="10" name="Image 1" descr="preencoded.png">    </p:cNvPr>
          <p:cNvPicPr>
            <a:picLocks noChangeAspect="1"/>
          </p:cNvPicPr>
          <p:nvPr/>
        </p:nvPicPr>
        <p:blipFill>
          <a:blip r:embed="rId2"/>
          <a:stretch>
            <a:fillRect/>
          </a:stretch>
        </p:blipFill>
        <p:spPr>
          <a:xfrm>
            <a:off x="945855" y="2079711"/>
            <a:ext cx="193121" cy="193121"/>
          </a:xfrm>
          <a:prstGeom prst="rect">
            <a:avLst/>
          </a:prstGeom>
        </p:spPr>
      </p:pic>
      <p:sp>
        <p:nvSpPr>
          <p:cNvPr id="11" name="Text 6"/>
          <p:cNvSpPr/>
          <p:nvPr/>
        </p:nvSpPr>
        <p:spPr>
          <a:xfrm>
            <a:off x="841248" y="2468880"/>
            <a:ext cx="1783080" cy="274320"/>
          </a:xfrm>
          <a:prstGeom prst="rect">
            <a:avLst/>
          </a:prstGeom>
          <a:noFill/>
          <a:ln/>
        </p:spPr>
        <p:txBody>
          <a:bodyPr wrap="square" lIns="0" tIns="0" rIns="0" bIns="0" rtlCol="0" anchor="ctr"/>
          <a:lstStyle/>
          <a:p>
            <a:pPr indent="0" marL="0">
              <a:buNone/>
            </a:pPr>
            <a:r>
              <a:rPr lang="en-US" sz="1150" b="1" dirty="0">
                <a:solidFill>
                  <a:srgbClr val="232946"/>
                </a:solidFill>
                <a:latin typeface="Arial" pitchFamily="34" charset="0"/>
                <a:ea typeface="Arial" pitchFamily="34" charset="-122"/>
                <a:cs typeface="Arial" pitchFamily="34" charset="-120"/>
              </a:rPr>
              <a:t>traffic.sh / curl</a:t>
            </a:r>
            <a:endParaRPr lang="en-US" sz="1150" dirty="0"/>
          </a:p>
        </p:txBody>
      </p:sp>
      <p:sp>
        <p:nvSpPr>
          <p:cNvPr id="12" name="Text 7"/>
          <p:cNvSpPr/>
          <p:nvPr/>
        </p:nvSpPr>
        <p:spPr>
          <a:xfrm>
            <a:off x="841248" y="2724912"/>
            <a:ext cx="1783080" cy="32004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requests + deliberate 401s</a:t>
            </a:r>
            <a:endParaRPr lang="en-US" sz="900" dirty="0"/>
          </a:p>
        </p:txBody>
      </p:sp>
      <p:sp>
        <p:nvSpPr>
          <p:cNvPr id="13" name="Shape 8"/>
          <p:cNvSpPr/>
          <p:nvPr/>
        </p:nvSpPr>
        <p:spPr>
          <a:xfrm>
            <a:off x="2788920" y="2468880"/>
            <a:ext cx="731520" cy="0"/>
          </a:xfrm>
          <a:prstGeom prst="line">
            <a:avLst/>
          </a:prstGeom>
          <a:noFill/>
          <a:ln w="31750">
            <a:solidFill>
              <a:srgbClr val="E8871E"/>
            </a:solidFill>
            <a:prstDash val="solid"/>
            <a:tailEnd type="triangle"/>
          </a:ln>
        </p:spPr>
      </p:sp>
      <p:sp>
        <p:nvSpPr>
          <p:cNvPr id="14" name="Text 9"/>
          <p:cNvSpPr/>
          <p:nvPr/>
        </p:nvSpPr>
        <p:spPr>
          <a:xfrm>
            <a:off x="2724912" y="2560320"/>
            <a:ext cx="868680" cy="228600"/>
          </a:xfrm>
          <a:prstGeom prst="rect">
            <a:avLst/>
          </a:prstGeom>
          <a:noFill/>
          <a:ln/>
        </p:spPr>
        <p:txBody>
          <a:bodyPr wrap="square" lIns="0" tIns="0" rIns="0" bIns="0" rtlCol="0" anchor="ctr"/>
          <a:lstStyle/>
          <a:p>
            <a:pPr algn="ctr" indent="0" marL="0">
              <a:buNone/>
            </a:pPr>
            <a:r>
              <a:rPr lang="en-US" sz="900" dirty="0">
                <a:solidFill>
                  <a:srgbClr val="5A6478"/>
                </a:solidFill>
                <a:latin typeface="Courier New" pitchFamily="34" charset="0"/>
                <a:ea typeface="Courier New" pitchFamily="34" charset="-122"/>
                <a:cs typeface="Courier New" pitchFamily="34" charset="-120"/>
              </a:rPr>
              <a:t>:8080</a:t>
            </a:r>
            <a:endParaRPr lang="en-US" sz="900" dirty="0"/>
          </a:p>
        </p:txBody>
      </p:sp>
      <p:sp>
        <p:nvSpPr>
          <p:cNvPr id="15" name="Shape 10"/>
          <p:cNvSpPr/>
          <p:nvPr/>
        </p:nvSpPr>
        <p:spPr>
          <a:xfrm>
            <a:off x="3611880" y="1600200"/>
            <a:ext cx="3017520" cy="1737360"/>
          </a:xfrm>
          <a:prstGeom prst="roundRect">
            <a:avLst>
              <a:gd name="adj" fmla="val 4737"/>
            </a:avLst>
          </a:prstGeom>
          <a:solidFill>
            <a:srgbClr val="232946"/>
          </a:solidFill>
          <a:ln/>
          <a:effectLst>
            <a:outerShdw sx="100000" sy="100000" kx="0" ky="0" algn="bl" rotWithShape="0" blurRad="76200" dist="25400" dir="5400000">
              <a:srgbClr val="9AA4B8">
                <a:alpha val="35000"/>
              </a:srgbClr>
            </a:outerShdw>
          </a:effectLst>
        </p:spPr>
      </p:sp>
      <p:sp>
        <p:nvSpPr>
          <p:cNvPr id="16" name="Text 11"/>
          <p:cNvSpPr/>
          <p:nvPr/>
        </p:nvSpPr>
        <p:spPr>
          <a:xfrm>
            <a:off x="3813048" y="1755648"/>
            <a:ext cx="2651760" cy="29260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llm — instrumented server</a:t>
            </a:r>
            <a:endParaRPr lang="en-US" sz="1250" dirty="0"/>
          </a:p>
        </p:txBody>
      </p:sp>
      <p:sp>
        <p:nvSpPr>
          <p:cNvPr id="17" name="Text 12"/>
          <p:cNvSpPr/>
          <p:nvPr/>
        </p:nvSpPr>
        <p:spPr>
          <a:xfrm>
            <a:off x="3813048" y="2066544"/>
            <a:ext cx="2651760" cy="256032"/>
          </a:xfrm>
          <a:prstGeom prst="rect">
            <a:avLst/>
          </a:prstGeom>
          <a:noFill/>
          <a:ln/>
        </p:spPr>
        <p:txBody>
          <a:bodyPr wrap="square" lIns="0" tIns="0" rIns="0" bIns="0" rtlCol="0" anchor="ctr"/>
          <a:lstStyle/>
          <a:p>
            <a:pPr indent="0" marL="0">
              <a:buNone/>
            </a:pPr>
            <a:r>
              <a:rPr lang="en-US" sz="950" dirty="0">
                <a:solidFill>
                  <a:srgbClr val="F5B971"/>
                </a:solidFill>
                <a:latin typeface="Courier New" pitchFamily="34" charset="0"/>
                <a:ea typeface="Courier New" pitchFamily="34" charset="-122"/>
                <a:cs typeface="Courier New" pitchFamily="34" charset="-120"/>
              </a:rPr>
              <a:t>/generate · /health · /metrics</a:t>
            </a:r>
            <a:endParaRPr lang="en-US" sz="950" dirty="0"/>
          </a:p>
        </p:txBody>
      </p:sp>
      <p:sp>
        <p:nvSpPr>
          <p:cNvPr id="18" name="Text 13"/>
          <p:cNvSpPr/>
          <p:nvPr/>
        </p:nvSpPr>
        <p:spPr>
          <a:xfrm>
            <a:off x="3813048" y="2359152"/>
            <a:ext cx="2651760" cy="566928"/>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Counter + Histogram middleware; writes one audit line per interaction</a:t>
            </a:r>
            <a:endParaRPr lang="en-US" sz="950" dirty="0"/>
          </a:p>
        </p:txBody>
      </p:sp>
      <p:sp>
        <p:nvSpPr>
          <p:cNvPr id="19" name="Text 14"/>
          <p:cNvSpPr/>
          <p:nvPr/>
        </p:nvSpPr>
        <p:spPr>
          <a:xfrm>
            <a:off x="3813048" y="2999232"/>
            <a:ext cx="2651760" cy="237744"/>
          </a:xfrm>
          <a:prstGeom prst="rect">
            <a:avLst/>
          </a:prstGeom>
          <a:noFill/>
          <a:ln/>
        </p:spPr>
        <p:txBody>
          <a:bodyPr wrap="square" lIns="0" tIns="0" rIns="0" bIns="0" rtlCol="0" anchor="ctr"/>
          <a:lstStyle/>
          <a:p>
            <a:pPr indent="0" marL="0">
              <a:buNone/>
            </a:pPr>
            <a:r>
              <a:rPr lang="en-US" sz="900" dirty="0">
                <a:solidFill>
                  <a:srgbClr val="9AA7C7"/>
                </a:solidFill>
                <a:latin typeface="Courier New" pitchFamily="34" charset="0"/>
                <a:ea typeface="Courier New" pitchFamily="34" charset="-122"/>
                <a:cs typeface="Courier New" pitchFamily="34" charset="-120"/>
              </a:rPr>
              <a:t>port 8080</a:t>
            </a:r>
            <a:endParaRPr lang="en-US" sz="900" dirty="0"/>
          </a:p>
        </p:txBody>
      </p:sp>
      <p:sp>
        <p:nvSpPr>
          <p:cNvPr id="20" name="Shape 15"/>
          <p:cNvSpPr/>
          <p:nvPr/>
        </p:nvSpPr>
        <p:spPr>
          <a:xfrm>
            <a:off x="7315200" y="1600200"/>
            <a:ext cx="2011680" cy="1737360"/>
          </a:xfrm>
          <a:prstGeom prst="roundRect">
            <a:avLst>
              <a:gd name="adj" fmla="val 4737"/>
            </a:avLst>
          </a:prstGeom>
          <a:solidFill>
            <a:srgbClr val="DDE6F5"/>
          </a:solidFill>
          <a:ln/>
          <a:effectLst>
            <a:outerShdw sx="100000" sy="100000" kx="0" ky="0" algn="bl" rotWithShape="0" blurRad="76200" dist="25400" dir="5400000">
              <a:srgbClr val="9AA4B8">
                <a:alpha val="35000"/>
              </a:srgbClr>
            </a:outerShdw>
          </a:effectLst>
        </p:spPr>
      </p:sp>
      <p:sp>
        <p:nvSpPr>
          <p:cNvPr id="21" name="Text 16"/>
          <p:cNvSpPr/>
          <p:nvPr/>
        </p:nvSpPr>
        <p:spPr>
          <a:xfrm>
            <a:off x="7498080" y="1755648"/>
            <a:ext cx="1691640" cy="274320"/>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Prometheus</a:t>
            </a:r>
            <a:endParaRPr lang="en-US" sz="1250" dirty="0"/>
          </a:p>
        </p:txBody>
      </p:sp>
      <p:sp>
        <p:nvSpPr>
          <p:cNvPr id="22" name="Text 17"/>
          <p:cNvSpPr/>
          <p:nvPr/>
        </p:nvSpPr>
        <p:spPr>
          <a:xfrm>
            <a:off x="7498080" y="2066544"/>
            <a:ext cx="1691640" cy="82296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Pulls /metrics every 5 s; stores time series; serves PromQL</a:t>
            </a:r>
            <a:endParaRPr lang="en-US" sz="950" dirty="0"/>
          </a:p>
        </p:txBody>
      </p:sp>
      <p:sp>
        <p:nvSpPr>
          <p:cNvPr id="23" name="Text 18"/>
          <p:cNvSpPr/>
          <p:nvPr/>
        </p:nvSpPr>
        <p:spPr>
          <a:xfrm>
            <a:off x="7498080" y="2999232"/>
            <a:ext cx="1691640" cy="237744"/>
          </a:xfrm>
          <a:prstGeom prst="rect">
            <a:avLst/>
          </a:prstGeom>
          <a:noFill/>
          <a:ln/>
        </p:spPr>
        <p:txBody>
          <a:bodyPr wrap="square" lIns="0" tIns="0" rIns="0" bIns="0" rtlCol="0" anchor="ctr"/>
          <a:lstStyle/>
          <a:p>
            <a:pPr indent="0" marL="0">
              <a:buNone/>
            </a:pPr>
            <a:r>
              <a:rPr lang="en-US" sz="900" dirty="0">
                <a:solidFill>
                  <a:srgbClr val="5A6478"/>
                </a:solidFill>
                <a:latin typeface="Courier New" pitchFamily="34" charset="0"/>
                <a:ea typeface="Courier New" pitchFamily="34" charset="-122"/>
                <a:cs typeface="Courier New" pitchFamily="34" charset="-120"/>
              </a:rPr>
              <a:t>port 9090</a:t>
            </a:r>
            <a:endParaRPr lang="en-US" sz="900" dirty="0"/>
          </a:p>
        </p:txBody>
      </p:sp>
      <p:sp>
        <p:nvSpPr>
          <p:cNvPr id="24" name="Shape 19"/>
          <p:cNvSpPr/>
          <p:nvPr/>
        </p:nvSpPr>
        <p:spPr>
          <a:xfrm>
            <a:off x="7315200" y="2331720"/>
            <a:ext cx="-685800" cy="0"/>
          </a:xfrm>
          <a:prstGeom prst="line">
            <a:avLst/>
          </a:prstGeom>
          <a:noFill/>
          <a:ln w="31750">
            <a:solidFill>
              <a:srgbClr val="2C7A4B"/>
            </a:solidFill>
            <a:prstDash val="solid"/>
            <a:tailEnd type="triangle"/>
          </a:ln>
        </p:spPr>
      </p:sp>
      <p:sp>
        <p:nvSpPr>
          <p:cNvPr id="25" name="Shape 20"/>
          <p:cNvSpPr/>
          <p:nvPr/>
        </p:nvSpPr>
        <p:spPr>
          <a:xfrm>
            <a:off x="9829800" y="1600200"/>
            <a:ext cx="1737360" cy="1737360"/>
          </a:xfrm>
          <a:prstGeom prst="roundRect">
            <a:avLst>
              <a:gd name="adj" fmla="val 4737"/>
            </a:avLst>
          </a:prstGeom>
          <a:solidFill>
            <a:srgbClr val="EEF2FA"/>
          </a:solidFill>
          <a:ln/>
          <a:effectLst>
            <a:outerShdw sx="100000" sy="100000" kx="0" ky="0" algn="bl" rotWithShape="0" blurRad="76200" dist="25400" dir="5400000">
              <a:srgbClr val="9AA4B8">
                <a:alpha val="35000"/>
              </a:srgbClr>
            </a:outerShdw>
          </a:effectLst>
        </p:spPr>
      </p:sp>
      <p:sp>
        <p:nvSpPr>
          <p:cNvPr id="26" name="Text 21"/>
          <p:cNvSpPr/>
          <p:nvPr/>
        </p:nvSpPr>
        <p:spPr>
          <a:xfrm>
            <a:off x="10012680" y="1755648"/>
            <a:ext cx="1463040" cy="274320"/>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Grafana</a:t>
            </a:r>
            <a:endParaRPr lang="en-US" sz="1250" dirty="0"/>
          </a:p>
        </p:txBody>
      </p:sp>
      <p:sp>
        <p:nvSpPr>
          <p:cNvPr id="27" name="Text 22"/>
          <p:cNvSpPr/>
          <p:nvPr/>
        </p:nvSpPr>
        <p:spPr>
          <a:xfrm>
            <a:off x="10012680" y="2066544"/>
            <a:ext cx="1417320" cy="82296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Queries Prometheus; golden-signals dashboard + p95 alert</a:t>
            </a:r>
            <a:endParaRPr lang="en-US" sz="950" dirty="0"/>
          </a:p>
        </p:txBody>
      </p:sp>
      <p:sp>
        <p:nvSpPr>
          <p:cNvPr id="28" name="Text 23"/>
          <p:cNvSpPr/>
          <p:nvPr/>
        </p:nvSpPr>
        <p:spPr>
          <a:xfrm>
            <a:off x="10012680" y="2999232"/>
            <a:ext cx="1417320" cy="237744"/>
          </a:xfrm>
          <a:prstGeom prst="rect">
            <a:avLst/>
          </a:prstGeom>
          <a:noFill/>
          <a:ln/>
        </p:spPr>
        <p:txBody>
          <a:bodyPr wrap="square" lIns="0" tIns="0" rIns="0" bIns="0" rtlCol="0" anchor="ctr"/>
          <a:lstStyle/>
          <a:p>
            <a:pPr indent="0" marL="0">
              <a:buNone/>
            </a:pPr>
            <a:r>
              <a:rPr lang="en-US" sz="900" dirty="0">
                <a:solidFill>
                  <a:srgbClr val="5A6478"/>
                </a:solidFill>
                <a:latin typeface="Courier New" pitchFamily="34" charset="0"/>
                <a:ea typeface="Courier New" pitchFamily="34" charset="-122"/>
                <a:cs typeface="Courier New" pitchFamily="34" charset="-120"/>
              </a:rPr>
              <a:t>port 3000</a:t>
            </a:r>
            <a:endParaRPr lang="en-US" sz="900" dirty="0"/>
          </a:p>
        </p:txBody>
      </p:sp>
      <p:sp>
        <p:nvSpPr>
          <p:cNvPr id="29" name="Shape 24"/>
          <p:cNvSpPr/>
          <p:nvPr/>
        </p:nvSpPr>
        <p:spPr>
          <a:xfrm>
            <a:off x="9829800" y="2697480"/>
            <a:ext cx="-502920" cy="0"/>
          </a:xfrm>
          <a:prstGeom prst="line">
            <a:avLst/>
          </a:prstGeom>
          <a:noFill/>
          <a:ln w="31750">
            <a:solidFill>
              <a:srgbClr val="E8871E"/>
            </a:solidFill>
            <a:prstDash val="solid"/>
            <a:tailEnd type="triangle"/>
          </a:ln>
        </p:spPr>
      </p:sp>
      <p:sp>
        <p:nvSpPr>
          <p:cNvPr id="30" name="Shape 25"/>
          <p:cNvSpPr/>
          <p:nvPr/>
        </p:nvSpPr>
        <p:spPr>
          <a:xfrm>
            <a:off x="5120640" y="3337560"/>
            <a:ext cx="0" cy="411480"/>
          </a:xfrm>
          <a:prstGeom prst="line">
            <a:avLst/>
          </a:prstGeom>
          <a:noFill/>
          <a:ln w="19050">
            <a:solidFill>
              <a:srgbClr val="E8871E"/>
            </a:solidFill>
            <a:prstDash val="dash"/>
            <a:tailEnd type="triangle"/>
          </a:ln>
        </p:spPr>
      </p:sp>
      <p:sp>
        <p:nvSpPr>
          <p:cNvPr id="31" name="Shape 26"/>
          <p:cNvSpPr/>
          <p:nvPr/>
        </p:nvSpPr>
        <p:spPr>
          <a:xfrm>
            <a:off x="3611880" y="3749040"/>
            <a:ext cx="3017520" cy="914400"/>
          </a:xfrm>
          <a:prstGeom prst="roundRect">
            <a:avLst>
              <a:gd name="adj" fmla="val 9000"/>
            </a:avLst>
          </a:prstGeom>
          <a:solidFill>
            <a:srgbClr val="FBF1E3"/>
          </a:solidFill>
          <a:ln/>
          <a:effectLst>
            <a:outerShdw sx="100000" sy="100000" kx="0" ky="0" algn="bl" rotWithShape="0" blurRad="76200" dist="25400" dir="5400000">
              <a:srgbClr val="9AA4B8">
                <a:alpha val="35000"/>
              </a:srgbClr>
            </a:outerShdw>
          </a:effectLst>
        </p:spPr>
      </p:sp>
      <p:sp>
        <p:nvSpPr>
          <p:cNvPr id="32" name="Text 27"/>
          <p:cNvSpPr/>
          <p:nvPr/>
        </p:nvSpPr>
        <p:spPr>
          <a:xfrm>
            <a:off x="3813048" y="3822192"/>
            <a:ext cx="2651760" cy="777240"/>
          </a:xfrm>
          <a:prstGeom prst="rect">
            <a:avLst/>
          </a:prstGeom>
          <a:noFill/>
          <a:ln/>
        </p:spPr>
        <p:txBody>
          <a:bodyPr wrap="square" lIns="0" tIns="0" rIns="0" bIns="0" rtlCol="0" anchor="ctr"/>
          <a:lstStyle/>
          <a:p>
            <a:pPr indent="0" marL="0">
              <a:buNone/>
            </a:pPr>
            <a:r>
              <a:rPr lang="en-US" sz="1050" b="1" dirty="0">
                <a:solidFill>
                  <a:srgbClr val="E8871E"/>
                </a:solidFill>
                <a:latin typeface="Courier New" pitchFamily="34" charset="0"/>
                <a:ea typeface="Courier New" pitchFamily="34" charset="-122"/>
                <a:cs typeface="Courier New" pitchFamily="34" charset="-120"/>
              </a:rPr>
              <a:t>./logs volume  </a:t>
            </a:r>
            <a:pPr indent="0" marL="0">
              <a:buNone/>
            </a:pPr>
            <a:r>
              <a:rPr lang="en-US" sz="1000" dirty="0">
                <a:solidFill>
                  <a:srgbClr val="232946"/>
                </a:solidFill>
                <a:latin typeface="Calibri" pitchFamily="34" charset="0"/>
                <a:ea typeface="Calibri" pitchFamily="34" charset="-122"/>
                <a:cs typeface="Calibri" pitchFamily="34" charset="-120"/>
              </a:rPr>
              <a:t>→ audit.jsonl on the host — created and opened in Step 0</a:t>
            </a:r>
            <a:endParaRPr lang="en-US" sz="1050" dirty="0"/>
          </a:p>
        </p:txBody>
      </p:sp>
      <p:sp>
        <p:nvSpPr>
          <p:cNvPr id="33" name="Shape 28"/>
          <p:cNvSpPr/>
          <p:nvPr/>
        </p:nvSpPr>
        <p:spPr>
          <a:xfrm>
            <a:off x="7315200" y="3749040"/>
            <a:ext cx="4251960" cy="914400"/>
          </a:xfrm>
          <a:prstGeom prst="roundRect">
            <a:avLst>
              <a:gd name="adj" fmla="val 9000"/>
            </a:avLst>
          </a:prstGeom>
          <a:solidFill>
            <a:srgbClr val="DDE6F5"/>
          </a:solidFill>
          <a:ln/>
          <a:effectLst>
            <a:outerShdw sx="100000" sy="100000" kx="0" ky="0" algn="bl" rotWithShape="0" blurRad="76200" dist="25400" dir="5400000">
              <a:srgbClr val="9AA4B8">
                <a:alpha val="35000"/>
              </a:srgbClr>
            </a:outerShdw>
          </a:effectLst>
        </p:spPr>
      </p:sp>
      <p:sp>
        <p:nvSpPr>
          <p:cNvPr id="34" name="Text 29"/>
          <p:cNvSpPr/>
          <p:nvPr/>
        </p:nvSpPr>
        <p:spPr>
          <a:xfrm>
            <a:off x="7516368" y="3822192"/>
            <a:ext cx="3886200" cy="777240"/>
          </a:xfrm>
          <a:prstGeom prst="rect">
            <a:avLst/>
          </a:prstGeom>
          <a:noFill/>
          <a:ln/>
        </p:spPr>
        <p:txBody>
          <a:bodyPr wrap="square" lIns="0" tIns="0" rIns="0" bIns="0" rtlCol="0" anchor="ctr"/>
          <a:lstStyle/>
          <a:p>
            <a:pPr indent="0" marL="0">
              <a:buNone/>
            </a:pPr>
            <a:r>
              <a:rPr lang="en-US" sz="1050" b="1" dirty="0">
                <a:solidFill>
                  <a:srgbClr val="232946"/>
                </a:solidFill>
                <a:latin typeface="Calibri" pitchFamily="34" charset="0"/>
                <a:ea typeface="Calibri" pitchFamily="34" charset="-122"/>
                <a:cs typeface="Calibri" pitchFamily="34" charset="-120"/>
              </a:rPr>
              <a:t>Evidently — host Python venv  </a:t>
            </a:r>
            <a:pPr indent="0" marL="0">
              <a:buNone/>
            </a:pPr>
            <a:r>
              <a:rPr lang="en-US" sz="1000" dirty="0">
                <a:solidFill>
                  <a:srgbClr val="5A6478"/>
                </a:solidFill>
                <a:latin typeface="Calibri" pitchFamily="34" charset="0"/>
                <a:ea typeface="Calibri" pitchFamily="34" charset="-122"/>
                <a:cs typeface="Calibri" pitchFamily="34" charset="-120"/>
              </a:rPr>
              <a:t>compares baseline vs current windows offline → drift/drift_report.html (Step 5)</a:t>
            </a:r>
            <a:endParaRPr lang="en-US" sz="1050" dirty="0"/>
          </a:p>
        </p:txBody>
      </p:sp>
      <p:sp>
        <p:nvSpPr>
          <p:cNvPr id="35" name="Shape 30"/>
          <p:cNvSpPr/>
          <p:nvPr/>
        </p:nvSpPr>
        <p:spPr>
          <a:xfrm>
            <a:off x="640080" y="4937760"/>
            <a:ext cx="10881360" cy="658368"/>
          </a:xfrm>
          <a:prstGeom prst="roundRect">
            <a:avLst>
              <a:gd name="adj" fmla="val 12500"/>
            </a:avLst>
          </a:prstGeom>
          <a:solidFill>
            <a:srgbClr val="EEF2FA"/>
          </a:solidFill>
          <a:ln/>
          <a:effectLst>
            <a:outerShdw sx="100000" sy="100000" kx="0" ky="0" algn="bl" rotWithShape="0" blurRad="76200" dist="25400" dir="5400000">
              <a:srgbClr val="9AA4B8">
                <a:alpha val="35000"/>
              </a:srgbClr>
            </a:outerShdw>
          </a:effectLst>
        </p:spPr>
      </p:sp>
      <p:sp>
        <p:nvSpPr>
          <p:cNvPr id="36" name="Text 31"/>
          <p:cNvSpPr/>
          <p:nvPr/>
        </p:nvSpPr>
        <p:spPr>
          <a:xfrm>
            <a:off x="868680" y="4992624"/>
            <a:ext cx="10424160" cy="54864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Pre-provisioned from the repository:  </a:t>
            </a:r>
            <a:pPr indent="0" marL="0">
              <a:buNone/>
            </a:pPr>
            <a:r>
              <a:rPr lang="en-US" sz="1150" dirty="0">
                <a:solidFill>
                  <a:srgbClr val="5A6478"/>
                </a:solidFill>
                <a:latin typeface="Calibri" pitchFamily="34" charset="0"/>
                <a:ea typeface="Calibri" pitchFamily="34" charset="-122"/>
                <a:cs typeface="Calibri" pitchFamily="34" charset="-120"/>
              </a:rPr>
              <a:t>grafana/provisioning/ holds the datasource YAML and the “LLM Service — Golden Signals” dashboard JSON; prometheus/prometheus.yml sets the 5 s scrape of job llm.</a:t>
            </a:r>
            <a:endParaRPr lang="en-US" sz="1150" dirty="0"/>
          </a:p>
        </p:txBody>
      </p:sp>
      <p:sp>
        <p:nvSpPr>
          <p:cNvPr id="37" name="Shape 32"/>
          <p:cNvSpPr/>
          <p:nvPr/>
        </p:nvSpPr>
        <p:spPr>
          <a:xfrm>
            <a:off x="640080" y="5760720"/>
            <a:ext cx="10881360" cy="658368"/>
          </a:xfrm>
          <a:prstGeom prst="roundRect">
            <a:avLst>
              <a:gd name="adj" fmla="val 12500"/>
            </a:avLst>
          </a:prstGeom>
          <a:solidFill>
            <a:srgbClr val="232946"/>
          </a:solidFill>
          <a:ln/>
          <a:effectLst>
            <a:outerShdw sx="100000" sy="100000" kx="0" ky="0" algn="bl" rotWithShape="0" blurRad="76200" dist="25400" dir="5400000">
              <a:srgbClr val="9AA4B8">
                <a:alpha val="35000"/>
              </a:srgbClr>
            </a:outerShdw>
          </a:effectLst>
        </p:spPr>
      </p:sp>
      <p:sp>
        <p:nvSpPr>
          <p:cNvPr id="38" name="Text 33"/>
          <p:cNvSpPr/>
          <p:nvPr/>
        </p:nvSpPr>
        <p:spPr>
          <a:xfrm>
            <a:off x="868680" y="5815584"/>
            <a:ext cx="10424160" cy="548640"/>
          </a:xfrm>
          <a:prstGeom prst="rect">
            <a:avLst/>
          </a:prstGeom>
          <a:noFill/>
          <a:ln/>
        </p:spPr>
        <p:txBody>
          <a:bodyPr wrap="square" lIns="0" tIns="0" rIns="0" bIns="0" rtlCol="0" anchor="ctr"/>
          <a:lstStyle/>
          <a:p>
            <a:pPr indent="0" marL="0">
              <a:buNone/>
            </a:pPr>
            <a:r>
              <a:rPr lang="en-US" sz="1200" b="1" dirty="0">
                <a:solidFill>
                  <a:srgbClr val="F5B971"/>
                </a:solidFill>
                <a:latin typeface="Calibri" pitchFamily="34" charset="0"/>
                <a:ea typeface="Calibri" pitchFamily="34" charset="-122"/>
                <a:cs typeface="Calibri" pitchFamily="34" charset="-120"/>
              </a:rPr>
              <a:t>Key design point:  </a:t>
            </a:r>
            <a:pPr indent="0" marL="0">
              <a:buNone/>
            </a:pPr>
            <a:r>
              <a:rPr lang="en-US" sz="1200" dirty="0">
                <a:solidFill>
                  <a:srgbClr val="FFFFFF"/>
                </a:solidFill>
                <a:latin typeface="Calibri" pitchFamily="34" charset="0"/>
                <a:ea typeface="Calibri" pitchFamily="34" charset="-122"/>
                <a:cs typeface="Calibri" pitchFamily="34" charset="-120"/>
              </a:rPr>
              <a:t>the service sends nothing anywhere — Prometheus pulls from it, Grafana queries Prometheus, and every panel and alert is derived from the /metrics text page.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STEPS 0–1</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Prerequisites, start the stack, read the raw metrics (5 + 10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508760"/>
            <a:ext cx="5989320" cy="1600200"/>
          </a:xfrm>
          <a:prstGeom prst="roundRect">
            <a:avLst>
              <a:gd name="adj" fmla="val 4571"/>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586984" cy="138074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Step 0 — prerequisites (5 min)</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cd session4_lab</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echo "API_KEY=$(openssl rand -hex 12)" &gt; .env</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mkdir -p logs &amp;&amp; chmod 777 logs</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audit log lands here from the container</a:t>
            </a:r>
            <a:endParaRPr lang="en-US" sz="1000" dirty="0"/>
          </a:p>
        </p:txBody>
      </p:sp>
      <p:sp>
        <p:nvSpPr>
          <p:cNvPr id="10" name="Shape 6"/>
          <p:cNvSpPr/>
          <p:nvPr/>
        </p:nvSpPr>
        <p:spPr>
          <a:xfrm>
            <a:off x="640080" y="3291840"/>
            <a:ext cx="5989320" cy="2286000"/>
          </a:xfrm>
          <a:prstGeom prst="roundRect">
            <a:avLst>
              <a:gd name="adj" fmla="val 3200"/>
            </a:avLst>
          </a:prstGeom>
          <a:solidFill>
            <a:srgbClr val="1B2130"/>
          </a:solidFill>
          <a:ln/>
          <a:effectLst>
            <a:outerShdw sx="100000" sy="100000" kx="0" ky="0" algn="bl" rotWithShape="0" blurRad="76200" dist="25400" dir="5400000">
              <a:srgbClr val="9AA4B8">
                <a:alpha val="35000"/>
              </a:srgbClr>
            </a:outerShdw>
          </a:effectLst>
        </p:spPr>
      </p:sp>
      <p:sp>
        <p:nvSpPr>
          <p:cNvPr id="11" name="Text 7"/>
          <p:cNvSpPr/>
          <p:nvPr/>
        </p:nvSpPr>
        <p:spPr>
          <a:xfrm>
            <a:off x="841248" y="3401568"/>
            <a:ext cx="5586984" cy="206654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Step 1 — start the stack (10 min)</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docker compose up -d --build</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watch -n 2 'docker ps --format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"{{.Names}} {{.Status}}"'   # llm (healthy)</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raw metrics — before Prometheus touches them</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curl -s localhost:8080/metrics | grep llm_</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open localhost:9090/targets — job llm: UP</a:t>
            </a:r>
            <a:endParaRPr lang="en-US" sz="1000" dirty="0"/>
          </a:p>
        </p:txBody>
      </p:sp>
      <p:sp>
        <p:nvSpPr>
          <p:cNvPr id="12" name="Shape 8"/>
          <p:cNvSpPr/>
          <p:nvPr/>
        </p:nvSpPr>
        <p:spPr>
          <a:xfrm>
            <a:off x="6858000" y="1508760"/>
            <a:ext cx="4709160" cy="4069080"/>
          </a:xfrm>
          <a:prstGeom prst="roundRect">
            <a:avLst>
              <a:gd name="adj" fmla="val 2022"/>
            </a:avLst>
          </a:prstGeom>
          <a:solidFill>
            <a:srgbClr val="FBF1E3"/>
          </a:solidFill>
          <a:ln/>
          <a:effectLst>
            <a:outerShdw sx="100000" sy="100000" kx="0" ky="0" algn="bl" rotWithShape="0" blurRad="76200" dist="25400" dir="5400000">
              <a:srgbClr val="9AA4B8">
                <a:alpha val="35000"/>
              </a:srgbClr>
            </a:outerShdw>
          </a:effectLst>
        </p:spPr>
      </p:sp>
      <p:sp>
        <p:nvSpPr>
          <p:cNvPr id="13" name="Text 9"/>
          <p:cNvSpPr/>
          <p:nvPr/>
        </p:nvSpPr>
        <p:spPr>
          <a:xfrm>
            <a:off x="7086600" y="1664208"/>
            <a:ext cx="42519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Observe and interpret</a:t>
            </a:r>
            <a:endParaRPr lang="en-US" sz="1350" dirty="0"/>
          </a:p>
        </p:txBody>
      </p:sp>
      <p:sp>
        <p:nvSpPr>
          <p:cNvPr id="14" name="Text 10"/>
          <p:cNvSpPr/>
          <p:nvPr/>
        </p:nvSpPr>
        <p:spPr>
          <a:xfrm>
            <a:off x="7086600" y="2057400"/>
            <a:ext cx="4297680" cy="338328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Roughly 6 GB of free RAM is required: the model container plus Prometheus plus Grafana. Reuse the Session 1 Python venv later, in Step 5.</a:t>
            </a:r>
            <a:endParaRPr lang="en-US" sz="1100" dirty="0"/>
          </a:p>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The curl output shows llm_requests_total counters and llm_request_latency_seconds_bucket entries as plain text. This format is the monitoring contract — Prometheus, Grafana and the alert are all built on it.</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metrics exist before and independently of Prometheus — the scraper only collects what the page already publishes.</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Checkpoint before Step 2: the Prometheus targets page (localhost:9090/targets) lists job llm in the UP state.</a:t>
            </a:r>
            <a:endParaRPr lang="en-US" sz="1100" dirty="0"/>
          </a:p>
        </p:txBody>
      </p:sp>
      <p:sp>
        <p:nvSpPr>
          <p:cNvPr id="15" name="Shape 11"/>
          <p:cNvSpPr/>
          <p:nvPr/>
        </p:nvSpPr>
        <p:spPr>
          <a:xfrm>
            <a:off x="640080" y="5806440"/>
            <a:ext cx="10881360" cy="566928"/>
          </a:xfrm>
          <a:prstGeom prst="roundRect">
            <a:avLst>
              <a:gd name="adj" fmla="val 14516"/>
            </a:avLst>
          </a:prstGeom>
          <a:solidFill>
            <a:srgbClr val="EEF2FA"/>
          </a:solidFill>
          <a:ln/>
          <a:effectLst>
            <a:outerShdw sx="100000" sy="100000" kx="0" ky="0" algn="bl" rotWithShape="0" blurRad="76200" dist="25400" dir="5400000">
              <a:srgbClr val="9AA4B8">
                <a:alpha val="35000"/>
              </a:srgbClr>
            </a:outerShdw>
          </a:effectLst>
        </p:spPr>
      </p:sp>
      <p:sp>
        <p:nvSpPr>
          <p:cNvPr id="16" name="Text 12"/>
          <p:cNvSpPr/>
          <p:nvPr/>
        </p:nvSpPr>
        <p:spPr>
          <a:xfrm>
            <a:off x="868680" y="5843016"/>
            <a:ext cx="10424160" cy="493776"/>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Why chmod 777 logs:  </a:t>
            </a:r>
            <a:pPr indent="0" marL="0">
              <a:buNone/>
            </a:pPr>
            <a:r>
              <a:rPr lang="en-US" sz="1150" dirty="0">
                <a:solidFill>
                  <a:srgbClr val="5A6478"/>
                </a:solidFill>
                <a:latin typeface="Calibri" pitchFamily="34" charset="0"/>
                <a:ea typeface="Calibri" pitchFamily="34" charset="-122"/>
                <a:cs typeface="Calibri" pitchFamily="34" charset="-120"/>
              </a:rPr>
              <a:t>the container writes audit.jsonl through the ./logs volume mount as a non-root user — the host directory must be writable before the first request arrives.</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2</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Generate traffic and query it with PromQL (10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508760"/>
            <a:ext cx="5989320" cy="1188720"/>
          </a:xfrm>
          <a:prstGeom prst="roundRect">
            <a:avLst>
              <a:gd name="adj" fmla="val 6154"/>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586984" cy="969264"/>
          </a:xfrm>
          <a:prstGeom prst="rect">
            <a:avLst/>
          </a:prstGeom>
          <a:noFill/>
          <a:ln/>
        </p:spPr>
        <p:txBody>
          <a:bodyPr wrap="square" lIns="0" tIns="0" rIns="0" bIns="0" rtlCol="0" anchor="t"/>
          <a:lstStyle/>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chmod +x scripts/traffic.sh</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./scripts/traffic.sh 60</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~60 requests; every 5th uses a wrong key</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-&gt; deliberate 401s for the error panel</a:t>
            </a:r>
            <a:endParaRPr lang="en-US" sz="1000" dirty="0"/>
          </a:p>
        </p:txBody>
      </p:sp>
      <p:sp>
        <p:nvSpPr>
          <p:cNvPr id="10" name="Shape 6"/>
          <p:cNvSpPr/>
          <p:nvPr/>
        </p:nvSpPr>
        <p:spPr>
          <a:xfrm>
            <a:off x="640080" y="2880360"/>
            <a:ext cx="5989320" cy="1828800"/>
          </a:xfrm>
          <a:prstGeom prst="roundRect">
            <a:avLst>
              <a:gd name="adj" fmla="val 4000"/>
            </a:avLst>
          </a:prstGeom>
          <a:solidFill>
            <a:srgbClr val="1B2130"/>
          </a:solidFill>
          <a:ln/>
          <a:effectLst>
            <a:outerShdw sx="100000" sy="100000" kx="0" ky="0" algn="bl" rotWithShape="0" blurRad="76200" dist="25400" dir="5400000">
              <a:srgbClr val="9AA4B8">
                <a:alpha val="35000"/>
              </a:srgbClr>
            </a:outerShdw>
          </a:effectLst>
        </p:spPr>
      </p:sp>
      <p:sp>
        <p:nvSpPr>
          <p:cNvPr id="11" name="Text 7"/>
          <p:cNvSpPr/>
          <p:nvPr/>
        </p:nvSpPr>
        <p:spPr>
          <a:xfrm>
            <a:off x="841248" y="2990088"/>
            <a:ext cx="5586984" cy="160934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in the Prometheus UI: localhost:9090 -&gt; Graph</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rate(llm_requests_total[1m])</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histogram_quantile(0.95,</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sum(rate(</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llm_request_latency_seconds_bucket[5m]</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 by (le))</a:t>
            </a:r>
            <a:endParaRPr lang="en-US" sz="1000" dirty="0"/>
          </a:p>
        </p:txBody>
      </p:sp>
      <p:sp>
        <p:nvSpPr>
          <p:cNvPr id="12" name="Shape 8"/>
          <p:cNvSpPr/>
          <p:nvPr/>
        </p:nvSpPr>
        <p:spPr>
          <a:xfrm>
            <a:off x="640080" y="4892040"/>
            <a:ext cx="5989320" cy="1417320"/>
          </a:xfrm>
          <a:prstGeom prst="roundRect">
            <a:avLst>
              <a:gd name="adj" fmla="val 5806"/>
            </a:avLst>
          </a:prstGeom>
          <a:solidFill>
            <a:srgbClr val="EEF2FA"/>
          </a:solidFill>
          <a:ln/>
          <a:effectLst>
            <a:outerShdw sx="100000" sy="100000" kx="0" ky="0" algn="bl" rotWithShape="0" blurRad="76200" dist="25400" dir="5400000">
              <a:srgbClr val="9AA4B8">
                <a:alpha val="35000"/>
              </a:srgbClr>
            </a:outerShdw>
          </a:effectLst>
        </p:spPr>
      </p:sp>
      <p:sp>
        <p:nvSpPr>
          <p:cNvPr id="13" name="Text 9"/>
          <p:cNvSpPr/>
          <p:nvPr/>
        </p:nvSpPr>
        <p:spPr>
          <a:xfrm>
            <a:off x="868680" y="5029200"/>
            <a:ext cx="5486400" cy="29260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Reading the results</a:t>
            </a:r>
            <a:endParaRPr lang="en-US" sz="1250" dirty="0"/>
          </a:p>
        </p:txBody>
      </p:sp>
      <p:sp>
        <p:nvSpPr>
          <p:cNvPr id="14" name="Text 10"/>
          <p:cNvSpPr/>
          <p:nvPr/>
        </p:nvSpPr>
        <p:spPr>
          <a:xfrm>
            <a:off x="868680" y="5358384"/>
            <a:ext cx="5577840" cy="86868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The rate query returns one line per {endpoint, status} combination — traffic and errors in a single result. The quantile query returns a single p95 series; switch to the Graph tab to watch it move as the load builds.</a:t>
            </a:r>
            <a:endParaRPr lang="en-US" sz="1100" dirty="0"/>
          </a:p>
        </p:txBody>
      </p:sp>
      <p:sp>
        <p:nvSpPr>
          <p:cNvPr id="15" name="Shape 11"/>
          <p:cNvSpPr/>
          <p:nvPr/>
        </p:nvSpPr>
        <p:spPr>
          <a:xfrm>
            <a:off x="6858000" y="1508760"/>
            <a:ext cx="4709160" cy="3520440"/>
          </a:xfrm>
          <a:prstGeom prst="roundRect">
            <a:avLst>
              <a:gd name="adj" fmla="val 2338"/>
            </a:avLst>
          </a:prstGeom>
          <a:solidFill>
            <a:srgbClr val="FBF1E3"/>
          </a:solidFill>
          <a:ln/>
          <a:effectLst>
            <a:outerShdw sx="100000" sy="100000" kx="0" ky="0" algn="bl" rotWithShape="0" blurRad="76200" dist="25400" dir="5400000">
              <a:srgbClr val="9AA4B8">
                <a:alpha val="35000"/>
              </a:srgbClr>
            </a:outerShdw>
          </a:effectLst>
        </p:spPr>
      </p:sp>
      <p:sp>
        <p:nvSpPr>
          <p:cNvPr id="16" name="Text 12"/>
          <p:cNvSpPr/>
          <p:nvPr/>
        </p:nvSpPr>
        <p:spPr>
          <a:xfrm>
            <a:off x="7086600" y="1664208"/>
            <a:ext cx="42519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Observe and interpret</a:t>
            </a:r>
            <a:endParaRPr lang="en-US" sz="1350" dirty="0"/>
          </a:p>
        </p:txBody>
      </p:sp>
      <p:sp>
        <p:nvSpPr>
          <p:cNvPr id="17" name="Text 13"/>
          <p:cNvSpPr/>
          <p:nvPr/>
        </p:nvSpPr>
        <p:spPr>
          <a:xfrm>
            <a:off x="7086600" y="2057400"/>
            <a:ext cx="429768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The 401s appear as a separate status="401" series in the first query — errors are not a separate system, they are the same labelled counter sliced by label.</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Run the queries while the script is still sending: rate() needs a window of samples, so the curves build over the first minute.</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second query returns the live p95 in seconds — note the value; the Step 3 alert threshold of 4 s is judged against it.</a:t>
            </a:r>
            <a:endParaRPr lang="en-US" sz="1100" dirty="0"/>
          </a:p>
        </p:txBody>
      </p:sp>
      <p:sp>
        <p:nvSpPr>
          <p:cNvPr id="18" name="Shape 14"/>
          <p:cNvSpPr/>
          <p:nvPr/>
        </p:nvSpPr>
        <p:spPr>
          <a:xfrm>
            <a:off x="6858000" y="5212080"/>
            <a:ext cx="4709160" cy="1097280"/>
          </a:xfrm>
          <a:prstGeom prst="roundRect">
            <a:avLst>
              <a:gd name="adj" fmla="val 7500"/>
            </a:avLst>
          </a:prstGeom>
          <a:solidFill>
            <a:srgbClr val="EEF2FA"/>
          </a:solidFill>
          <a:ln/>
          <a:effectLst>
            <a:outerShdw sx="100000" sy="100000" kx="0" ky="0" algn="bl" rotWithShape="0" blurRad="76200" dist="25400" dir="5400000">
              <a:srgbClr val="9AA4B8">
                <a:alpha val="35000"/>
              </a:srgbClr>
            </a:outerShdw>
          </a:effectLst>
        </p:spPr>
      </p:sp>
      <p:sp>
        <p:nvSpPr>
          <p:cNvPr id="19" name="Text 15"/>
          <p:cNvSpPr/>
          <p:nvPr/>
        </p:nvSpPr>
        <p:spPr>
          <a:xfrm>
            <a:off x="7086600" y="5285232"/>
            <a:ext cx="4251960" cy="950976"/>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Deliverable 1:  </a:t>
            </a:r>
            <a:pPr indent="0" marL="0">
              <a:buNone/>
            </a:pPr>
            <a:r>
              <a:rPr lang="en-US" sz="1150" dirty="0">
                <a:solidFill>
                  <a:srgbClr val="5A6478"/>
                </a:solidFill>
                <a:latin typeface="Calibri" pitchFamily="34" charset="0"/>
                <a:ea typeface="Calibri" pitchFamily="34" charset="-122"/>
                <a:cs typeface="Calibri" pitchFamily="34" charset="-120"/>
              </a:rPr>
              <a:t>a screenshot of the Prometheus target in the UP state and one PromQL query with its results.</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3</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Grafana dashboard and a firing alert (15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463040"/>
            <a:ext cx="5989320" cy="2286000"/>
          </a:xfrm>
          <a:prstGeom prst="roundRect">
            <a:avLst>
              <a:gd name="adj" fmla="val 3600"/>
            </a:avLst>
          </a:prstGeom>
          <a:solidFill>
            <a:srgbClr val="EEF2FA"/>
          </a:solidFill>
          <a:ln/>
          <a:effectLst>
            <a:outerShdw sx="100000" sy="100000" kx="0" ky="0" algn="bl" rotWithShape="0" blurRad="76200" dist="25400" dir="5400000">
              <a:srgbClr val="9AA4B8">
                <a:alpha val="35000"/>
              </a:srgbClr>
            </a:outerShdw>
          </a:effectLst>
        </p:spPr>
      </p:sp>
      <p:sp>
        <p:nvSpPr>
          <p:cNvPr id="9" name="Text 5"/>
          <p:cNvSpPr/>
          <p:nvPr/>
        </p:nvSpPr>
        <p:spPr>
          <a:xfrm>
            <a:off x="868680" y="1591056"/>
            <a:ext cx="5486400" cy="29260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In the Grafana UI — localhost:3000 (admin / admin)</a:t>
            </a:r>
            <a:endParaRPr lang="en-US" sz="1250" dirty="0"/>
          </a:p>
        </p:txBody>
      </p:sp>
      <p:sp>
        <p:nvSpPr>
          <p:cNvPr id="10" name="Text 6"/>
          <p:cNvSpPr/>
          <p:nvPr/>
        </p:nvSpPr>
        <p:spPr>
          <a:xfrm>
            <a:off x="868680" y="1920240"/>
            <a:ext cx="5577840" cy="1783080"/>
          </a:xfrm>
          <a:prstGeom prst="rect">
            <a:avLst/>
          </a:prstGeom>
          <a:noFill/>
          <a:ln/>
        </p:spPr>
        <p:txBody>
          <a:bodyPr wrap="square" lIns="0" tIns="0" rIns="0" bIns="0" rtlCol="0" anchor="t"/>
          <a:lstStyle/>
          <a:p>
            <a:pPr indent="0" marL="0">
              <a:lnSpc>
                <a:spcPct val="108000"/>
              </a:lnSpc>
              <a:spcAft>
                <a:spcPts val="800"/>
              </a:spcAft>
              <a:buNone/>
            </a:pPr>
            <a:r>
              <a:rPr lang="en-US" sz="1050" dirty="0">
                <a:solidFill>
                  <a:srgbClr val="232946"/>
                </a:solidFill>
                <a:latin typeface="Calibri" pitchFamily="34" charset="0"/>
                <a:ea typeface="Calibri" pitchFamily="34" charset="-122"/>
                <a:cs typeface="Calibri" pitchFamily="34" charset="-120"/>
              </a:rPr>
              <a:t>1. Open the pre-provisioned dashboard “LLM Service — Golden Signals”: traffic (req/s), latency (p50/p95), error rate (%)</a:t>
            </a:r>
            <a:endParaRPr lang="en-US" sz="1050" dirty="0"/>
          </a:p>
          <a:p>
            <a:pPr indent="0" marL="0">
              <a:lnSpc>
                <a:spcPct val="108000"/>
              </a:lnSpc>
              <a:spcAft>
                <a:spcPts val="800"/>
              </a:spcAft>
              <a:buNone/>
            </a:pPr>
            <a:r>
              <a:rPr lang="en-US" sz="1050" dirty="0">
                <a:solidFill>
                  <a:srgbClr val="232946"/>
                </a:solidFill>
                <a:latin typeface="Calibri" pitchFamily="34" charset="0"/>
                <a:ea typeface="Calibri" pitchFamily="34" charset="-122"/>
                <a:cs typeface="Calibri" pitchFamily="34" charset="-120"/>
              </a:rPr>
              <a:t>2. On the p95 latency panel: panel menu → Edit → Alert → New alert rule</a:t>
            </a:r>
            <a:endParaRPr lang="en-US" sz="1050" dirty="0"/>
          </a:p>
          <a:p>
            <a:pPr indent="0" marL="0">
              <a:lnSpc>
                <a:spcPct val="108000"/>
              </a:lnSpc>
              <a:spcAft>
                <a:spcPts val="800"/>
              </a:spcAft>
              <a:buNone/>
            </a:pPr>
            <a:r>
              <a:rPr lang="en-US" sz="1050" dirty="0">
                <a:solidFill>
                  <a:srgbClr val="232946"/>
                </a:solidFill>
                <a:latin typeface="Calibri" pitchFamily="34" charset="0"/>
                <a:ea typeface="Calibri" pitchFamily="34" charset="-122"/>
                <a:cs typeface="Calibri" pitchFamily="34" charset="-120"/>
              </a:rPr>
              <a:t>3. Condition: p95 above 4 seconds, sustained for 1 minute → Save</a:t>
            </a:r>
            <a:endParaRPr lang="en-US" sz="1050" dirty="0"/>
          </a:p>
          <a:p>
            <a:pPr indent="0" marL="0">
              <a:lnSpc>
                <a:spcPct val="108000"/>
              </a:lnSpc>
              <a:spcAft>
                <a:spcPts val="800"/>
              </a:spcAft>
              <a:buNone/>
            </a:pPr>
            <a:r>
              <a:rPr lang="en-US" sz="1050" dirty="0">
                <a:solidFill>
                  <a:srgbClr val="232946"/>
                </a:solidFill>
                <a:latin typeface="Calibri" pitchFamily="34" charset="0"/>
                <a:ea typeface="Calibri" pitchFamily="34" charset="-122"/>
                <a:cs typeface="Calibri" pitchFamily="34" charset="-120"/>
              </a:rPr>
              <a:t>4. Watch the rule under Alerting → Alert rules: Pending → Firing</a:t>
            </a:r>
            <a:endParaRPr lang="en-US" sz="1050" dirty="0"/>
          </a:p>
        </p:txBody>
      </p:sp>
      <p:sp>
        <p:nvSpPr>
          <p:cNvPr id="11" name="Shape 7"/>
          <p:cNvSpPr/>
          <p:nvPr/>
        </p:nvSpPr>
        <p:spPr>
          <a:xfrm>
            <a:off x="640080" y="3931920"/>
            <a:ext cx="5989320" cy="1417320"/>
          </a:xfrm>
          <a:prstGeom prst="roundRect">
            <a:avLst>
              <a:gd name="adj" fmla="val 5161"/>
            </a:avLst>
          </a:prstGeom>
          <a:solidFill>
            <a:srgbClr val="1B2130"/>
          </a:solidFill>
          <a:ln/>
          <a:effectLst>
            <a:outerShdw sx="100000" sy="100000" kx="0" ky="0" algn="bl" rotWithShape="0" blurRad="76200" dist="25400" dir="5400000">
              <a:srgbClr val="9AA4B8">
                <a:alpha val="35000"/>
              </a:srgbClr>
            </a:outerShdw>
          </a:effectLst>
        </p:spPr>
      </p:sp>
      <p:sp>
        <p:nvSpPr>
          <p:cNvPr id="12" name="Text 8"/>
          <p:cNvSpPr/>
          <p:nvPr/>
        </p:nvSpPr>
        <p:spPr>
          <a:xfrm>
            <a:off x="841248" y="4041648"/>
            <a:ext cx="5586984" cy="119786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feed the panels, then trip the alert: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./scripts/traffic.sh 60          # terminal 1</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./scripts/traffic.sh 60          # terminal 2</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two parallel scripts push p95 past 4 s</a:t>
            </a:r>
            <a:endParaRPr lang="en-US" sz="1000" dirty="0"/>
          </a:p>
        </p:txBody>
      </p:sp>
      <p:sp>
        <p:nvSpPr>
          <p:cNvPr id="13" name="Shape 9"/>
          <p:cNvSpPr/>
          <p:nvPr/>
        </p:nvSpPr>
        <p:spPr>
          <a:xfrm>
            <a:off x="6858000" y="1463040"/>
            <a:ext cx="4709160" cy="2651760"/>
          </a:xfrm>
          <a:prstGeom prst="roundRect">
            <a:avLst>
              <a:gd name="adj" fmla="val 3103"/>
            </a:avLst>
          </a:prstGeom>
          <a:solidFill>
            <a:srgbClr val="FBF1E3"/>
          </a:solidFill>
          <a:ln/>
          <a:effectLst>
            <a:outerShdw sx="100000" sy="100000" kx="0" ky="0" algn="bl" rotWithShape="0" blurRad="76200" dist="25400" dir="5400000">
              <a:srgbClr val="9AA4B8">
                <a:alpha val="35000"/>
              </a:srgbClr>
            </a:outerShdw>
          </a:effectLst>
        </p:spPr>
      </p:sp>
      <p:sp>
        <p:nvSpPr>
          <p:cNvPr id="14" name="Text 10"/>
          <p:cNvSpPr/>
          <p:nvPr/>
        </p:nvSpPr>
        <p:spPr>
          <a:xfrm>
            <a:off x="7086600" y="1609344"/>
            <a:ext cx="4251960" cy="502920"/>
          </a:xfrm>
          <a:prstGeom prst="rect">
            <a:avLst/>
          </a:prstGeom>
          <a:noFill/>
          <a:ln/>
        </p:spPr>
        <p:txBody>
          <a:bodyPr wrap="square" lIns="0" tIns="0" rIns="0" bIns="0" rtlCol="0" anchor="ctr"/>
          <a:lstStyle/>
          <a:p>
            <a:pPr indent="0" marL="0">
              <a:buNone/>
            </a:pPr>
            <a:r>
              <a:rPr lang="en-US" sz="1250" b="1" dirty="0">
                <a:solidFill>
                  <a:srgbClr val="E8871E"/>
                </a:solidFill>
                <a:latin typeface="Arial" pitchFamily="34" charset="0"/>
                <a:ea typeface="Arial" pitchFamily="34" charset="-122"/>
                <a:cs typeface="Arial" pitchFamily="34" charset="-120"/>
              </a:rPr>
              <a:t>SLO checkpoint — discuss while the alert fires</a:t>
            </a:r>
            <a:endParaRPr lang="en-US" sz="1250" dirty="0"/>
          </a:p>
        </p:txBody>
      </p:sp>
      <p:sp>
        <p:nvSpPr>
          <p:cNvPr id="15" name="Text 11"/>
          <p:cNvSpPr/>
          <p:nvPr/>
        </p:nvSpPr>
        <p:spPr>
          <a:xfrm>
            <a:off x="7086600" y="2148840"/>
            <a:ext cx="4297680" cy="19202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b="1" dirty="0">
                <a:solidFill>
                  <a:srgbClr val="232946"/>
                </a:solidFill>
                <a:latin typeface="Calibri" pitchFamily="34" charset="0"/>
                <a:ea typeface="Calibri" pitchFamily="34" charset="-122"/>
                <a:cs typeface="Calibri" pitchFamily="34" charset="-120"/>
              </a:rPr>
              <a:t>The objective: “p95 &lt; 4 s for 99.9% of a 30-day month” — an error budget of ~43 minutes of breach per month.</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The alert just built is the tripwire; the budget decides how much tripping is tolerable before releases stop.</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Note the Pending stage: the 1-minute duration filters momentary spikes from sustained breaches.</a:t>
            </a:r>
            <a:endParaRPr lang="en-US" sz="1050" dirty="0"/>
          </a:p>
        </p:txBody>
      </p:sp>
      <p:sp>
        <p:nvSpPr>
          <p:cNvPr id="16" name="Shape 12"/>
          <p:cNvSpPr/>
          <p:nvPr/>
        </p:nvSpPr>
        <p:spPr>
          <a:xfrm>
            <a:off x="6858000" y="4297680"/>
            <a:ext cx="4709160" cy="1097280"/>
          </a:xfrm>
          <a:prstGeom prst="roundRect">
            <a:avLst>
              <a:gd name="adj" fmla="val 7500"/>
            </a:avLst>
          </a:prstGeom>
          <a:solidFill>
            <a:srgbClr val="EEF2FA"/>
          </a:solidFill>
          <a:ln/>
          <a:effectLst>
            <a:outerShdw sx="100000" sy="100000" kx="0" ky="0" algn="bl" rotWithShape="0" blurRad="76200" dist="25400" dir="5400000">
              <a:srgbClr val="9AA4B8">
                <a:alpha val="35000"/>
              </a:srgbClr>
            </a:outerShdw>
          </a:effectLst>
        </p:spPr>
      </p:sp>
      <p:sp>
        <p:nvSpPr>
          <p:cNvPr id="17" name="Text 13"/>
          <p:cNvSpPr/>
          <p:nvPr/>
        </p:nvSpPr>
        <p:spPr>
          <a:xfrm>
            <a:off x="7086600" y="4370832"/>
            <a:ext cx="4251960" cy="950976"/>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Deliverable 2:  </a:t>
            </a:r>
            <a:pPr indent="0" marL="0">
              <a:buNone/>
            </a:pPr>
            <a:r>
              <a:rPr lang="en-US" sz="1150" dirty="0">
                <a:solidFill>
                  <a:srgbClr val="5A6478"/>
                </a:solidFill>
                <a:latin typeface="Calibri" pitchFamily="34" charset="0"/>
                <a:ea typeface="Calibri" pitchFamily="34" charset="-122"/>
                <a:cs typeface="Calibri" pitchFamily="34" charset="-120"/>
              </a:rPr>
              <a:t>the golden-signals dashboard during traffic, and the alert rule in the Firing state.</a:t>
            </a:r>
            <a:endParaRPr lang="en-US" sz="1150" dirty="0"/>
          </a:p>
        </p:txBody>
      </p:sp>
      <p:sp>
        <p:nvSpPr>
          <p:cNvPr id="18" name="Shape 14"/>
          <p:cNvSpPr/>
          <p:nvPr/>
        </p:nvSpPr>
        <p:spPr>
          <a:xfrm>
            <a:off x="640080" y="5623560"/>
            <a:ext cx="10881360" cy="658368"/>
          </a:xfrm>
          <a:prstGeom prst="roundRect">
            <a:avLst>
              <a:gd name="adj" fmla="val 12500"/>
            </a:avLst>
          </a:prstGeom>
          <a:solidFill>
            <a:srgbClr val="232946"/>
          </a:solidFill>
          <a:ln/>
          <a:effectLst>
            <a:outerShdw sx="100000" sy="100000" kx="0" ky="0" algn="bl" rotWithShape="0" blurRad="76200" dist="25400" dir="5400000">
              <a:srgbClr val="9AA4B8">
                <a:alpha val="35000"/>
              </a:srgbClr>
            </a:outerShdw>
          </a:effectLst>
        </p:spPr>
      </p:sp>
      <p:sp>
        <p:nvSpPr>
          <p:cNvPr id="19" name="Text 15"/>
          <p:cNvSpPr/>
          <p:nvPr/>
        </p:nvSpPr>
        <p:spPr>
          <a:xfrm>
            <a:off x="868680" y="5678424"/>
            <a:ext cx="10424160" cy="548640"/>
          </a:xfrm>
          <a:prstGeom prst="rect">
            <a:avLst/>
          </a:prstGeom>
          <a:noFill/>
          <a:ln/>
        </p:spPr>
        <p:txBody>
          <a:bodyPr wrap="square" lIns="0" tIns="0" rIns="0" bIns="0" rtlCol="0" anchor="ctr"/>
          <a:lstStyle/>
          <a:p>
            <a:pPr indent="0" marL="0">
              <a:buNone/>
            </a:pPr>
            <a:r>
              <a:rPr lang="en-US" sz="1200" b="1" dirty="0">
                <a:solidFill>
                  <a:srgbClr val="F5B971"/>
                </a:solidFill>
                <a:latin typeface="Calibri" pitchFamily="34" charset="0"/>
                <a:ea typeface="Calibri" pitchFamily="34" charset="-122"/>
                <a:cs typeface="Calibri" pitchFamily="34" charset="-120"/>
              </a:rPr>
              <a:t>Dashboards as code:  </a:t>
            </a:r>
            <a:pPr indent="0" marL="0">
              <a:buNone/>
            </a:pPr>
            <a:r>
              <a:rPr lang="en-US" sz="1200" dirty="0">
                <a:solidFill>
                  <a:srgbClr val="FFFFFF"/>
                </a:solidFill>
                <a:latin typeface="Calibri" pitchFamily="34" charset="0"/>
                <a:ea typeface="Calibri" pitchFamily="34" charset="-122"/>
                <a:cs typeface="Calibri" pitchFamily="34" charset="-120"/>
              </a:rPr>
              <a:t>nothing on this dashboard was clicked into existence — it was provisioned from JSON shipped in the repository, identically on every machine in the room.</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4</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Read the audit log and verify redaction (10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508760"/>
            <a:ext cx="6309360" cy="2926080"/>
          </a:xfrm>
          <a:prstGeom prst="roundRect">
            <a:avLst>
              <a:gd name="adj" fmla="val 2500"/>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907024" cy="270662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send a request containing PII</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KEY=$(grep API_KEY .env | cut -d= -f2)</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curl -s -X POST localhost:8080/generate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-H "Content-Type: application/json"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-H "X-API-Key: $KEY"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-d '{"text": "My phone is 9876543210,</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email ravi.k@example.com,</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Aadhaar 1234 5678 9012.</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What is my loan status?",</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"max_tokens": 40}' &gt; /dev/null</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tail -1 logs/audit.jsonl | python3 -m json.tool</a:t>
            </a:r>
            <a:endParaRPr lang="en-US" sz="1000" dirty="0"/>
          </a:p>
        </p:txBody>
      </p:sp>
      <p:sp>
        <p:nvSpPr>
          <p:cNvPr id="10" name="Shape 6"/>
          <p:cNvSpPr/>
          <p:nvPr/>
        </p:nvSpPr>
        <p:spPr>
          <a:xfrm>
            <a:off x="640080" y="4617720"/>
            <a:ext cx="6309360" cy="914400"/>
          </a:xfrm>
          <a:prstGeom prst="roundRect">
            <a:avLst>
              <a:gd name="adj" fmla="val 9000"/>
            </a:avLst>
          </a:prstGeom>
          <a:solidFill>
            <a:srgbClr val="EAF4EC"/>
          </a:solidFill>
          <a:ln/>
          <a:effectLst>
            <a:outerShdw sx="100000" sy="100000" kx="0" ky="0" algn="bl" rotWithShape="0" blurRad="76200" dist="25400" dir="5400000">
              <a:srgbClr val="9AA4B8">
                <a:alpha val="35000"/>
              </a:srgbClr>
            </a:outerShdw>
          </a:effectLst>
        </p:spPr>
      </p:sp>
      <p:sp>
        <p:nvSpPr>
          <p:cNvPr id="11" name="Text 7"/>
          <p:cNvSpPr/>
          <p:nvPr/>
        </p:nvSpPr>
        <p:spPr>
          <a:xfrm>
            <a:off x="868680" y="4681728"/>
            <a:ext cx="5897880" cy="786384"/>
          </a:xfrm>
          <a:prstGeom prst="rect">
            <a:avLst/>
          </a:prstGeom>
          <a:noFill/>
          <a:ln/>
        </p:spPr>
        <p:txBody>
          <a:bodyPr wrap="square" lIns="0" tIns="0" rIns="0" bIns="0" rtlCol="0" anchor="ctr"/>
          <a:lstStyle/>
          <a:p>
            <a:pPr indent="0" marL="0">
              <a:buNone/>
            </a:pPr>
            <a:r>
              <a:rPr lang="en-US" sz="1100" b="1" dirty="0">
                <a:solidFill>
                  <a:srgbClr val="2C7A4B"/>
                </a:solidFill>
                <a:latin typeface="Calibri" pitchFamily="34" charset="0"/>
                <a:ea typeface="Calibri" pitchFamily="34" charset="-122"/>
                <a:cs typeface="Calibri" pitchFamily="34" charset="-120"/>
              </a:rPr>
              <a:t>Confirm:  </a:t>
            </a:r>
            <a:pPr indent="0" marL="0">
              <a:buNone/>
            </a:pPr>
            <a:r>
              <a:rPr lang="en-US" sz="1100" dirty="0">
                <a:solidFill>
                  <a:srgbClr val="232946"/>
                </a:solidFill>
                <a:latin typeface="Calibri" pitchFamily="34" charset="0"/>
                <a:ea typeface="Calibri" pitchFamily="34" charset="-122"/>
                <a:cs typeface="Calibri" pitchFamily="34" charset="-120"/>
              </a:rPr>
              <a:t>prompt_redacted contains &lt;PHONE_REDACTED&gt;, &lt;EMAIL_REDACTED&gt; and &lt;AADHAAR_REDACTED&gt; — the raw values never reached the file.</a:t>
            </a:r>
            <a:endParaRPr lang="en-US" sz="1100" dirty="0"/>
          </a:p>
        </p:txBody>
      </p:sp>
      <p:sp>
        <p:nvSpPr>
          <p:cNvPr id="12" name="Shape 8"/>
          <p:cNvSpPr/>
          <p:nvPr/>
        </p:nvSpPr>
        <p:spPr>
          <a:xfrm>
            <a:off x="7178040" y="1508760"/>
            <a:ext cx="4389120" cy="3017520"/>
          </a:xfrm>
          <a:prstGeom prst="roundRect">
            <a:avLst>
              <a:gd name="adj" fmla="val 2727"/>
            </a:avLst>
          </a:prstGeom>
          <a:solidFill>
            <a:srgbClr val="FBF1E3"/>
          </a:solidFill>
          <a:ln/>
          <a:effectLst>
            <a:outerShdw sx="100000" sy="100000" kx="0" ky="0" algn="bl" rotWithShape="0" blurRad="76200" dist="25400" dir="5400000">
              <a:srgbClr val="9AA4B8">
                <a:alpha val="35000"/>
              </a:srgbClr>
            </a:outerShdw>
          </a:effectLst>
        </p:spPr>
      </p:sp>
      <p:sp>
        <p:nvSpPr>
          <p:cNvPr id="13" name="Text 9"/>
          <p:cNvSpPr/>
          <p:nvPr/>
        </p:nvSpPr>
        <p:spPr>
          <a:xfrm>
            <a:off x="7406640" y="1664208"/>
            <a:ext cx="393192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Observe and interpret</a:t>
            </a:r>
            <a:endParaRPr lang="en-US" sz="1350" dirty="0"/>
          </a:p>
        </p:txBody>
      </p:sp>
      <p:sp>
        <p:nvSpPr>
          <p:cNvPr id="14" name="Text 10"/>
          <p:cNvSpPr/>
          <p:nvPr/>
        </p:nvSpPr>
        <p:spPr>
          <a:xfrm>
            <a:off x="7406640" y="2057400"/>
            <a:ext cx="3977640" cy="23774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b="1" dirty="0">
                <a:solidFill>
                  <a:srgbClr val="232946"/>
                </a:solidFill>
                <a:latin typeface="Calibri" pitchFamily="34" charset="0"/>
                <a:ea typeface="Calibri" pitchFamily="34" charset="-122"/>
                <a:cs typeface="Calibri" pitchFamily="34" charset="-120"/>
              </a:rPr>
              <a:t>This is redaction at log time: irreversible, the safest failure mode. The trade-off against query-time redaction was the theory block's decision rule.</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Note what IS retained: ts, request_id, client, model_version, latency_ms — enough to answer “what did the model say to this customer, and which version said it?”</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Discussion: which regime does a bank require, and where might a query-time store be defensible?</a:t>
            </a:r>
            <a:endParaRPr lang="en-US" sz="1050" dirty="0"/>
          </a:p>
        </p:txBody>
      </p:sp>
      <p:sp>
        <p:nvSpPr>
          <p:cNvPr id="15" name="Shape 11"/>
          <p:cNvSpPr/>
          <p:nvPr/>
        </p:nvSpPr>
        <p:spPr>
          <a:xfrm>
            <a:off x="7178040" y="4617720"/>
            <a:ext cx="4389120" cy="914400"/>
          </a:xfrm>
          <a:prstGeom prst="roundRect">
            <a:avLst>
              <a:gd name="adj" fmla="val 9000"/>
            </a:avLst>
          </a:prstGeom>
          <a:solidFill>
            <a:srgbClr val="EEF2FA"/>
          </a:solidFill>
          <a:ln/>
          <a:effectLst>
            <a:outerShdw sx="100000" sy="100000" kx="0" ky="0" algn="bl" rotWithShape="0" blurRad="76200" dist="25400" dir="5400000">
              <a:srgbClr val="9AA4B8">
                <a:alpha val="35000"/>
              </a:srgbClr>
            </a:outerShdw>
          </a:effectLst>
        </p:spPr>
      </p:sp>
      <p:sp>
        <p:nvSpPr>
          <p:cNvPr id="16" name="Text 12"/>
          <p:cNvSpPr/>
          <p:nvPr/>
        </p:nvSpPr>
        <p:spPr>
          <a:xfrm>
            <a:off x="7406640" y="4681728"/>
            <a:ext cx="3977640" cy="786384"/>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Deliverable 3:  </a:t>
            </a:r>
            <a:pPr indent="0" marL="0">
              <a:buNone/>
            </a:pPr>
            <a:r>
              <a:rPr lang="en-US" sz="1150" dirty="0">
                <a:solidFill>
                  <a:srgbClr val="5A6478"/>
                </a:solidFill>
                <a:latin typeface="Calibri" pitchFamily="34" charset="0"/>
                <a:ea typeface="Calibri" pitchFamily="34" charset="-122"/>
                <a:cs typeface="Calibri" pitchFamily="34" charset="-120"/>
              </a:rPr>
              <a:t>the redacted audit.jsonl line for this PII request.</a:t>
            </a:r>
            <a:endParaRPr lang="en-US" sz="1150" dirty="0"/>
          </a:p>
        </p:txBody>
      </p:sp>
      <p:sp>
        <p:nvSpPr>
          <p:cNvPr id="17" name="Shape 13"/>
          <p:cNvSpPr/>
          <p:nvPr/>
        </p:nvSpPr>
        <p:spPr>
          <a:xfrm>
            <a:off x="640080" y="5806440"/>
            <a:ext cx="10881360" cy="566928"/>
          </a:xfrm>
          <a:prstGeom prst="roundRect">
            <a:avLst>
              <a:gd name="adj" fmla="val 14516"/>
            </a:avLst>
          </a:prstGeom>
          <a:solidFill>
            <a:srgbClr val="232946"/>
          </a:solidFill>
          <a:ln/>
          <a:effectLst>
            <a:outerShdw sx="100000" sy="100000" kx="0" ky="0" algn="bl" rotWithShape="0" blurRad="76200" dist="25400" dir="5400000">
              <a:srgbClr val="9AA4B8">
                <a:alpha val="35000"/>
              </a:srgbClr>
            </a:outerShdw>
          </a:effectLst>
        </p:spPr>
      </p:sp>
      <p:sp>
        <p:nvSpPr>
          <p:cNvPr id="18" name="Text 14"/>
          <p:cNvSpPr/>
          <p:nvPr/>
        </p:nvSpPr>
        <p:spPr>
          <a:xfrm>
            <a:off x="868680" y="5843016"/>
            <a:ext cx="10424160" cy="493776"/>
          </a:xfrm>
          <a:prstGeom prst="rect">
            <a:avLst/>
          </a:prstGeom>
          <a:noFill/>
          <a:ln/>
        </p:spPr>
        <p:txBody>
          <a:bodyPr wrap="square" lIns="0" tIns="0" rIns="0" bIns="0" rtlCol="0" anchor="ctr"/>
          <a:lstStyle/>
          <a:p>
            <a:pPr indent="0" marL="0">
              <a:buNone/>
            </a:pPr>
            <a:r>
              <a:rPr lang="en-US" sz="1200" b="1" dirty="0">
                <a:solidFill>
                  <a:srgbClr val="F5B971"/>
                </a:solidFill>
                <a:latin typeface="Calibri" pitchFamily="34" charset="0"/>
                <a:ea typeface="Calibri" pitchFamily="34" charset="-122"/>
                <a:cs typeface="Calibri" pitchFamily="34" charset="-120"/>
              </a:rPr>
              <a:t>One record per interaction:  </a:t>
            </a:r>
            <a:pPr indent="0" marL="0">
              <a:buNone/>
            </a:pPr>
            <a:r>
              <a:rPr lang="en-US" sz="1200" dirty="0">
                <a:solidFill>
                  <a:srgbClr val="FFFFFF"/>
                </a:solidFill>
                <a:latin typeface="Calibri" pitchFamily="34" charset="0"/>
                <a:ea typeface="Calibri" pitchFamily="34" charset="-122"/>
                <a:cs typeface="Calibri" pitchFamily="34" charset="-120"/>
              </a:rPr>
              <a:t>every /generate call in the lab has produced a line in this file since Step 1 — the audit trail has been accumulating throughout, not just for this test.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STEPS 5–6</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Evidently drift report, then cleanup (15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508760"/>
            <a:ext cx="5989320" cy="2377440"/>
          </a:xfrm>
          <a:prstGeom prst="roundRect">
            <a:avLst>
              <a:gd name="adj" fmla="val 3077"/>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586984" cy="215798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Step 5 — drift report (15 min), in your venv</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source ~/labenv/bin/activate   # or your venv path</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pip install "evidently==0.4.40" pandas numpy</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python drift/drift_report.py</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open drift/drift_report.html in a browser</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-&gt; per-column drift scores + dataset verdict</a:t>
            </a:r>
            <a:endParaRPr lang="en-US" sz="1000" dirty="0"/>
          </a:p>
        </p:txBody>
      </p:sp>
      <p:sp>
        <p:nvSpPr>
          <p:cNvPr id="10" name="Shape 6"/>
          <p:cNvSpPr/>
          <p:nvPr/>
        </p:nvSpPr>
        <p:spPr>
          <a:xfrm>
            <a:off x="640080" y="4069080"/>
            <a:ext cx="5989320" cy="1051560"/>
          </a:xfrm>
          <a:prstGeom prst="roundRect">
            <a:avLst>
              <a:gd name="adj" fmla="val 6957"/>
            </a:avLst>
          </a:prstGeom>
          <a:solidFill>
            <a:srgbClr val="1B2130"/>
          </a:solidFill>
          <a:ln/>
          <a:effectLst>
            <a:outerShdw sx="100000" sy="100000" kx="0" ky="0" algn="bl" rotWithShape="0" blurRad="76200" dist="25400" dir="5400000">
              <a:srgbClr val="9AA4B8">
                <a:alpha val="35000"/>
              </a:srgbClr>
            </a:outerShdw>
          </a:effectLst>
        </p:spPr>
      </p:sp>
      <p:sp>
        <p:nvSpPr>
          <p:cNvPr id="11" name="Text 7"/>
          <p:cNvSpPr/>
          <p:nvPr/>
        </p:nvSpPr>
        <p:spPr>
          <a:xfrm>
            <a:off x="841248" y="4178808"/>
            <a:ext cx="5586984" cy="83210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Step 6 — cleanup</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docker compose down</a:t>
            </a:r>
            <a:endParaRPr lang="en-US" sz="1000" dirty="0"/>
          </a:p>
        </p:txBody>
      </p:sp>
      <p:sp>
        <p:nvSpPr>
          <p:cNvPr id="12" name="Shape 8"/>
          <p:cNvSpPr/>
          <p:nvPr/>
        </p:nvSpPr>
        <p:spPr>
          <a:xfrm>
            <a:off x="6858000" y="1508760"/>
            <a:ext cx="4709160" cy="3611880"/>
          </a:xfrm>
          <a:prstGeom prst="roundRect">
            <a:avLst>
              <a:gd name="adj" fmla="val 2278"/>
            </a:avLst>
          </a:prstGeom>
          <a:solidFill>
            <a:srgbClr val="FBF1E3"/>
          </a:solidFill>
          <a:ln/>
          <a:effectLst>
            <a:outerShdw sx="100000" sy="100000" kx="0" ky="0" algn="bl" rotWithShape="0" blurRad="76200" dist="25400" dir="5400000">
              <a:srgbClr val="9AA4B8">
                <a:alpha val="35000"/>
              </a:srgbClr>
            </a:outerShdw>
          </a:effectLst>
        </p:spPr>
      </p:sp>
      <p:sp>
        <p:nvSpPr>
          <p:cNvPr id="13" name="Text 9"/>
          <p:cNvSpPr/>
          <p:nvPr/>
        </p:nvSpPr>
        <p:spPr>
          <a:xfrm>
            <a:off x="7086600" y="1664208"/>
            <a:ext cx="42519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Observe and interpret</a:t>
            </a:r>
            <a:endParaRPr lang="en-US" sz="1350" dirty="0"/>
          </a:p>
        </p:txBody>
      </p:sp>
      <p:sp>
        <p:nvSpPr>
          <p:cNvPr id="14" name="Text 10"/>
          <p:cNvSpPr/>
          <p:nvPr/>
        </p:nvSpPr>
        <p:spPr>
          <a:xfrm>
            <a:off x="7086600" y="2057400"/>
            <a:ext cx="4297680" cy="292608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b="1" dirty="0">
                <a:solidFill>
                  <a:srgbClr val="232946"/>
                </a:solidFill>
                <a:latin typeface="Calibri" pitchFamily="34" charset="0"/>
                <a:ea typeface="Calibri" pitchFamily="34" charset="-122"/>
                <a:cs typeface="Calibri" pitchFamily="34" charset="-120"/>
              </a:rPr>
              <a:t>The report compares a baseline window against a current window in which users send longer prompts (60 → 95 words), latency has crept up (1.5 → 2.6 s) and satisfaction is slipping.</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Read: which columns drifted, each column's drift score, and the overall dataset verdict.</a:t>
            </a:r>
            <a:endParaRPr lang="en-US" sz="1050" dirty="0"/>
          </a:p>
          <a:p>
            <a:pPr marL="152400" indent="-152400">
              <a:lnSpc>
                <a:spcPct val="108000"/>
              </a:lnSpc>
              <a:spcAft>
                <a:spcPts val="800"/>
              </a:spcAft>
              <a:buSzPct val="100000"/>
              <a:buChar char="•"/>
            </a:pPr>
            <a:r>
              <a:rPr lang="en-US" sz="1050" b="1" dirty="0">
                <a:solidFill>
                  <a:srgbClr val="232946"/>
                </a:solidFill>
                <a:latin typeface="Calibri" pitchFamily="34" charset="0"/>
                <a:ea typeface="Calibri" pitchFamily="34" charset="-122"/>
                <a:cs typeface="Calibri" pitchFamily="34" charset="-120"/>
              </a:rPr>
              <a:t>Nothing in the code changed — the input distribution did. Step 2's metrics say the service is up; this report says it may be quietly becoming wrong.</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In production this runs on a schedule against real logged features; a breach raises an alert and opens a retraining ticket — Session 5's subject.</a:t>
            </a:r>
            <a:endParaRPr lang="en-US" sz="1050" dirty="0"/>
          </a:p>
        </p:txBody>
      </p:sp>
      <p:sp>
        <p:nvSpPr>
          <p:cNvPr id="15" name="Shape 11"/>
          <p:cNvSpPr/>
          <p:nvPr/>
        </p:nvSpPr>
        <p:spPr>
          <a:xfrm>
            <a:off x="6858000" y="5257800"/>
            <a:ext cx="4709160" cy="1051560"/>
          </a:xfrm>
          <a:prstGeom prst="roundRect">
            <a:avLst>
              <a:gd name="adj" fmla="val 7826"/>
            </a:avLst>
          </a:prstGeom>
          <a:solidFill>
            <a:srgbClr val="EEF2FA"/>
          </a:solidFill>
          <a:ln/>
          <a:effectLst>
            <a:outerShdw sx="100000" sy="100000" kx="0" ky="0" algn="bl" rotWithShape="0" blurRad="76200" dist="25400" dir="5400000">
              <a:srgbClr val="9AA4B8">
                <a:alpha val="35000"/>
              </a:srgbClr>
            </a:outerShdw>
          </a:effectLst>
        </p:spPr>
      </p:sp>
      <p:sp>
        <p:nvSpPr>
          <p:cNvPr id="16" name="Text 12"/>
          <p:cNvSpPr/>
          <p:nvPr/>
        </p:nvSpPr>
        <p:spPr>
          <a:xfrm>
            <a:off x="7086600" y="5330952"/>
            <a:ext cx="4251960" cy="905256"/>
          </a:xfrm>
          <a:prstGeom prst="rect">
            <a:avLst/>
          </a:prstGeom>
          <a:noFill/>
          <a:ln/>
        </p:spPr>
        <p:txBody>
          <a:bodyPr wrap="square" lIns="0" tIns="0" rIns="0" bIns="0" rtlCol="0" anchor="ctr"/>
          <a:lstStyle/>
          <a:p>
            <a:pPr indent="0" marL="0">
              <a:buNone/>
            </a:pPr>
            <a:r>
              <a:rPr lang="en-US" sz="1100" b="1" dirty="0">
                <a:solidFill>
                  <a:srgbClr val="232946"/>
                </a:solidFill>
                <a:latin typeface="Calibri" pitchFamily="34" charset="0"/>
                <a:ea typeface="Calibri" pitchFamily="34" charset="-122"/>
                <a:cs typeface="Calibri" pitchFamily="34" charset="-120"/>
              </a:rPr>
              <a:t>Deliverable 4:  </a:t>
            </a:r>
            <a:pPr indent="0" marL="0">
              <a:buNone/>
            </a:pPr>
            <a:r>
              <a:rPr lang="en-US" sz="1100" dirty="0">
                <a:solidFill>
                  <a:srgbClr val="5A6478"/>
                </a:solidFill>
                <a:latin typeface="Calibri" pitchFamily="34" charset="0"/>
                <a:ea typeface="Calibri" pitchFamily="34" charset="-122"/>
                <a:cs typeface="Calibri" pitchFamily="34" charset="-120"/>
              </a:rPr>
              <a:t>drift_report.html plus 3–4 written sentences: which feature drifted most, and what a production team should do when this report turns red.</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SYNTHESIS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Mapping the local lab to the production stack</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417320"/>
            <a:ext cx="5394960" cy="384048"/>
          </a:xfrm>
          <a:prstGeom prst="rect">
            <a:avLst/>
          </a:prstGeom>
          <a:solidFill>
            <a:srgbClr val="232946"/>
          </a:solidFill>
          <a:ln/>
        </p:spPr>
      </p:sp>
      <p:sp>
        <p:nvSpPr>
          <p:cNvPr id="9" name="Text 5"/>
          <p:cNvSpPr/>
          <p:nvPr/>
        </p:nvSpPr>
        <p:spPr>
          <a:xfrm>
            <a:off x="777240" y="1417320"/>
            <a:ext cx="516636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Practiced locally — today's lab</a:t>
            </a:r>
            <a:endParaRPr lang="en-US" sz="1250" dirty="0"/>
          </a:p>
        </p:txBody>
      </p:sp>
      <p:sp>
        <p:nvSpPr>
          <p:cNvPr id="10" name="Shape 6"/>
          <p:cNvSpPr/>
          <p:nvPr/>
        </p:nvSpPr>
        <p:spPr>
          <a:xfrm>
            <a:off x="6108192" y="1417320"/>
            <a:ext cx="5440680" cy="384048"/>
          </a:xfrm>
          <a:prstGeom prst="rect">
            <a:avLst/>
          </a:prstGeom>
          <a:solidFill>
            <a:srgbClr val="E8871E"/>
          </a:solidFill>
          <a:ln/>
        </p:spPr>
      </p:sp>
      <p:sp>
        <p:nvSpPr>
          <p:cNvPr id="11" name="Text 7"/>
          <p:cNvSpPr/>
          <p:nvPr/>
        </p:nvSpPr>
        <p:spPr>
          <a:xfrm>
            <a:off x="6245352" y="1417320"/>
            <a:ext cx="521208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Production equivalent</a:t>
            </a:r>
            <a:endParaRPr lang="en-US" sz="1250" dirty="0"/>
          </a:p>
        </p:txBody>
      </p:sp>
      <p:sp>
        <p:nvSpPr>
          <p:cNvPr id="12" name="Shape 8"/>
          <p:cNvSpPr/>
          <p:nvPr/>
        </p:nvSpPr>
        <p:spPr>
          <a:xfrm>
            <a:off x="640080" y="1819656"/>
            <a:ext cx="5394960" cy="548640"/>
          </a:xfrm>
          <a:prstGeom prst="rect">
            <a:avLst/>
          </a:prstGeom>
          <a:solidFill>
            <a:srgbClr val="EEF2FA"/>
          </a:solidFill>
          <a:ln w="9525">
            <a:solidFill>
              <a:srgbClr val="C9D3E6"/>
            </a:solidFill>
            <a:prstDash val="solid"/>
          </a:ln>
        </p:spPr>
      </p:sp>
      <p:sp>
        <p:nvSpPr>
          <p:cNvPr id="13" name="Text 9"/>
          <p:cNvSpPr/>
          <p:nvPr/>
        </p:nvSpPr>
        <p:spPr>
          <a:xfrm>
            <a:off x="777240" y="1819656"/>
            <a:ext cx="5166360" cy="548640"/>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prometheus_client instrumentation in app.py</a:t>
            </a:r>
            <a:endParaRPr lang="en-US" sz="950" dirty="0"/>
          </a:p>
        </p:txBody>
      </p:sp>
      <p:sp>
        <p:nvSpPr>
          <p:cNvPr id="14" name="Shape 10"/>
          <p:cNvSpPr/>
          <p:nvPr/>
        </p:nvSpPr>
        <p:spPr>
          <a:xfrm>
            <a:off x="6108192" y="1819656"/>
            <a:ext cx="5440680" cy="548640"/>
          </a:xfrm>
          <a:prstGeom prst="rect">
            <a:avLst/>
          </a:prstGeom>
          <a:solidFill>
            <a:srgbClr val="FBF1E3"/>
          </a:solidFill>
          <a:ln w="9525">
            <a:solidFill>
              <a:srgbClr val="C9D3E6"/>
            </a:solidFill>
            <a:prstDash val="solid"/>
          </a:ln>
        </p:spPr>
      </p:sp>
      <p:sp>
        <p:nvSpPr>
          <p:cNvPr id="15" name="Text 11"/>
          <p:cNvSpPr/>
          <p:nvPr/>
        </p:nvSpPr>
        <p:spPr>
          <a:xfrm>
            <a:off x="6245352" y="1819656"/>
            <a:ext cx="5212080" cy="54864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The same library, unchanged — this layer is identical in production</a:t>
            </a:r>
            <a:endParaRPr lang="en-US" sz="1050" dirty="0"/>
          </a:p>
        </p:txBody>
      </p:sp>
      <p:sp>
        <p:nvSpPr>
          <p:cNvPr id="16" name="Shape 12"/>
          <p:cNvSpPr/>
          <p:nvPr/>
        </p:nvSpPr>
        <p:spPr>
          <a:xfrm>
            <a:off x="640080" y="2386584"/>
            <a:ext cx="5394960" cy="548640"/>
          </a:xfrm>
          <a:prstGeom prst="rect">
            <a:avLst/>
          </a:prstGeom>
          <a:solidFill>
            <a:srgbClr val="FFFFFF"/>
          </a:solidFill>
          <a:ln w="9525">
            <a:solidFill>
              <a:srgbClr val="C9D3E6"/>
            </a:solidFill>
            <a:prstDash val="solid"/>
          </a:ln>
        </p:spPr>
      </p:sp>
      <p:sp>
        <p:nvSpPr>
          <p:cNvPr id="17" name="Text 13"/>
          <p:cNvSpPr/>
          <p:nvPr/>
        </p:nvSpPr>
        <p:spPr>
          <a:xfrm>
            <a:off x="777240" y="2386584"/>
            <a:ext cx="5166360" cy="548640"/>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Prometheus container, 5 s scrape</a:t>
            </a:r>
            <a:endParaRPr lang="en-US" sz="950" dirty="0"/>
          </a:p>
        </p:txBody>
      </p:sp>
      <p:sp>
        <p:nvSpPr>
          <p:cNvPr id="18" name="Shape 14"/>
          <p:cNvSpPr/>
          <p:nvPr/>
        </p:nvSpPr>
        <p:spPr>
          <a:xfrm>
            <a:off x="6108192" y="2386584"/>
            <a:ext cx="5440680" cy="548640"/>
          </a:xfrm>
          <a:prstGeom prst="rect">
            <a:avLst/>
          </a:prstGeom>
          <a:solidFill>
            <a:srgbClr val="FFFFFF"/>
          </a:solidFill>
          <a:ln w="9525">
            <a:solidFill>
              <a:srgbClr val="C9D3E6"/>
            </a:solidFill>
            <a:prstDash val="solid"/>
          </a:ln>
        </p:spPr>
      </p:sp>
      <p:sp>
        <p:nvSpPr>
          <p:cNvPr id="19" name="Text 15"/>
          <p:cNvSpPr/>
          <p:nvPr/>
        </p:nvSpPr>
        <p:spPr>
          <a:xfrm>
            <a:off x="6245352" y="2386584"/>
            <a:ext cx="5212080" cy="54864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Managed Prometheus (Amazon, Google, Grafana Cloud) or an ops-team cluster; 15–60 s scrape</a:t>
            </a:r>
            <a:endParaRPr lang="en-US" sz="1050" dirty="0"/>
          </a:p>
        </p:txBody>
      </p:sp>
      <p:sp>
        <p:nvSpPr>
          <p:cNvPr id="20" name="Shape 16"/>
          <p:cNvSpPr/>
          <p:nvPr/>
        </p:nvSpPr>
        <p:spPr>
          <a:xfrm>
            <a:off x="640080" y="2953512"/>
            <a:ext cx="5394960" cy="548640"/>
          </a:xfrm>
          <a:prstGeom prst="rect">
            <a:avLst/>
          </a:prstGeom>
          <a:solidFill>
            <a:srgbClr val="EEF2FA"/>
          </a:solidFill>
          <a:ln w="9525">
            <a:solidFill>
              <a:srgbClr val="C9D3E6"/>
            </a:solidFill>
            <a:prstDash val="solid"/>
          </a:ln>
        </p:spPr>
      </p:sp>
      <p:sp>
        <p:nvSpPr>
          <p:cNvPr id="21" name="Text 17"/>
          <p:cNvSpPr/>
          <p:nvPr/>
        </p:nvSpPr>
        <p:spPr>
          <a:xfrm>
            <a:off x="777240" y="2953512"/>
            <a:ext cx="5166360" cy="548640"/>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Pre-provisioned Grafana dashboard (JSON in the repo)</a:t>
            </a:r>
            <a:endParaRPr lang="en-US" sz="950" dirty="0"/>
          </a:p>
        </p:txBody>
      </p:sp>
      <p:sp>
        <p:nvSpPr>
          <p:cNvPr id="22" name="Shape 18"/>
          <p:cNvSpPr/>
          <p:nvPr/>
        </p:nvSpPr>
        <p:spPr>
          <a:xfrm>
            <a:off x="6108192" y="2953512"/>
            <a:ext cx="5440680" cy="548640"/>
          </a:xfrm>
          <a:prstGeom prst="rect">
            <a:avLst/>
          </a:prstGeom>
          <a:solidFill>
            <a:srgbClr val="FBF1E3"/>
          </a:solidFill>
          <a:ln w="9525">
            <a:solidFill>
              <a:srgbClr val="C9D3E6"/>
            </a:solidFill>
            <a:prstDash val="solid"/>
          </a:ln>
        </p:spPr>
      </p:sp>
      <p:sp>
        <p:nvSpPr>
          <p:cNvPr id="23" name="Text 19"/>
          <p:cNvSpPr/>
          <p:nvPr/>
        </p:nvSpPr>
        <p:spPr>
          <a:xfrm>
            <a:off x="6245352" y="2953512"/>
            <a:ext cx="5212080" cy="54864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Dashboards as code, reviewed in git</a:t>
            </a:r>
            <a:endParaRPr lang="en-US" sz="1050" dirty="0"/>
          </a:p>
        </p:txBody>
      </p:sp>
      <p:sp>
        <p:nvSpPr>
          <p:cNvPr id="24" name="Shape 20"/>
          <p:cNvSpPr/>
          <p:nvPr/>
        </p:nvSpPr>
        <p:spPr>
          <a:xfrm>
            <a:off x="640080" y="3520440"/>
            <a:ext cx="5394960" cy="548640"/>
          </a:xfrm>
          <a:prstGeom prst="rect">
            <a:avLst/>
          </a:prstGeom>
          <a:solidFill>
            <a:srgbClr val="FFFFFF"/>
          </a:solidFill>
          <a:ln w="9525">
            <a:solidFill>
              <a:srgbClr val="C9D3E6"/>
            </a:solidFill>
            <a:prstDash val="solid"/>
          </a:ln>
        </p:spPr>
      </p:sp>
      <p:sp>
        <p:nvSpPr>
          <p:cNvPr id="25" name="Text 21"/>
          <p:cNvSpPr/>
          <p:nvPr/>
        </p:nvSpPr>
        <p:spPr>
          <a:xfrm>
            <a:off x="777240" y="3520440"/>
            <a:ext cx="5166360" cy="548640"/>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Alert rule built in the Grafana panel UI</a:t>
            </a:r>
            <a:endParaRPr lang="en-US" sz="950" dirty="0"/>
          </a:p>
        </p:txBody>
      </p:sp>
      <p:sp>
        <p:nvSpPr>
          <p:cNvPr id="26" name="Shape 22"/>
          <p:cNvSpPr/>
          <p:nvPr/>
        </p:nvSpPr>
        <p:spPr>
          <a:xfrm>
            <a:off x="6108192" y="3520440"/>
            <a:ext cx="5440680" cy="548640"/>
          </a:xfrm>
          <a:prstGeom prst="rect">
            <a:avLst/>
          </a:prstGeom>
          <a:solidFill>
            <a:srgbClr val="FFFFFF"/>
          </a:solidFill>
          <a:ln w="9525">
            <a:solidFill>
              <a:srgbClr val="C9D3E6"/>
            </a:solidFill>
            <a:prstDash val="solid"/>
          </a:ln>
        </p:spPr>
      </p:sp>
      <p:sp>
        <p:nvSpPr>
          <p:cNvPr id="27" name="Text 23"/>
          <p:cNvSpPr/>
          <p:nvPr/>
        </p:nvSpPr>
        <p:spPr>
          <a:xfrm>
            <a:off x="6245352" y="3520440"/>
            <a:ext cx="5212080" cy="54864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Alert rules as code, routed to PagerDuty / Opsgenie on-call</a:t>
            </a:r>
            <a:endParaRPr lang="en-US" sz="1050" dirty="0"/>
          </a:p>
        </p:txBody>
      </p:sp>
      <p:sp>
        <p:nvSpPr>
          <p:cNvPr id="28" name="Shape 24"/>
          <p:cNvSpPr/>
          <p:nvPr/>
        </p:nvSpPr>
        <p:spPr>
          <a:xfrm>
            <a:off x="640080" y="4087368"/>
            <a:ext cx="5394960" cy="548640"/>
          </a:xfrm>
          <a:prstGeom prst="rect">
            <a:avLst/>
          </a:prstGeom>
          <a:solidFill>
            <a:srgbClr val="EEF2FA"/>
          </a:solidFill>
          <a:ln w="9525">
            <a:solidFill>
              <a:srgbClr val="C9D3E6"/>
            </a:solidFill>
            <a:prstDash val="solid"/>
          </a:ln>
        </p:spPr>
      </p:sp>
      <p:sp>
        <p:nvSpPr>
          <p:cNvPr id="29" name="Text 25"/>
          <p:cNvSpPr/>
          <p:nvPr/>
        </p:nvSpPr>
        <p:spPr>
          <a:xfrm>
            <a:off x="777240" y="4087368"/>
            <a:ext cx="5166360" cy="548640"/>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audit.jsonl on the local disk</a:t>
            </a:r>
            <a:endParaRPr lang="en-US" sz="950" dirty="0"/>
          </a:p>
        </p:txBody>
      </p:sp>
      <p:sp>
        <p:nvSpPr>
          <p:cNvPr id="30" name="Shape 26"/>
          <p:cNvSpPr/>
          <p:nvPr/>
        </p:nvSpPr>
        <p:spPr>
          <a:xfrm>
            <a:off x="6108192" y="4087368"/>
            <a:ext cx="5440680" cy="548640"/>
          </a:xfrm>
          <a:prstGeom prst="rect">
            <a:avLst/>
          </a:prstGeom>
          <a:solidFill>
            <a:srgbClr val="FBF1E3"/>
          </a:solidFill>
          <a:ln w="9525">
            <a:solidFill>
              <a:srgbClr val="C9D3E6"/>
            </a:solidFill>
            <a:prstDash val="solid"/>
          </a:ln>
        </p:spPr>
      </p:sp>
      <p:sp>
        <p:nvSpPr>
          <p:cNvPr id="31" name="Text 27"/>
          <p:cNvSpPr/>
          <p:nvPr/>
        </p:nvSpPr>
        <p:spPr>
          <a:xfrm>
            <a:off x="6245352" y="4087368"/>
            <a:ext cx="5212080" cy="54864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Append-only store with retention policy (S3 Object Lock, WORM) + SIEM integration</a:t>
            </a:r>
            <a:endParaRPr lang="en-US" sz="1050" dirty="0"/>
          </a:p>
        </p:txBody>
      </p:sp>
      <p:sp>
        <p:nvSpPr>
          <p:cNvPr id="32" name="Shape 28"/>
          <p:cNvSpPr/>
          <p:nvPr/>
        </p:nvSpPr>
        <p:spPr>
          <a:xfrm>
            <a:off x="640080" y="4654296"/>
            <a:ext cx="5394960" cy="548640"/>
          </a:xfrm>
          <a:prstGeom prst="rect">
            <a:avLst/>
          </a:prstGeom>
          <a:solidFill>
            <a:srgbClr val="FFFFFF"/>
          </a:solidFill>
          <a:ln w="9525">
            <a:solidFill>
              <a:srgbClr val="C9D3E6"/>
            </a:solidFill>
            <a:prstDash val="solid"/>
          </a:ln>
        </p:spPr>
      </p:sp>
      <p:sp>
        <p:nvSpPr>
          <p:cNvPr id="33" name="Text 29"/>
          <p:cNvSpPr/>
          <p:nvPr/>
        </p:nvSpPr>
        <p:spPr>
          <a:xfrm>
            <a:off x="777240" y="4654296"/>
            <a:ext cx="5166360" cy="548640"/>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Regex PII redaction</a:t>
            </a:r>
            <a:endParaRPr lang="en-US" sz="950" dirty="0"/>
          </a:p>
        </p:txBody>
      </p:sp>
      <p:sp>
        <p:nvSpPr>
          <p:cNvPr id="34" name="Shape 30"/>
          <p:cNvSpPr/>
          <p:nvPr/>
        </p:nvSpPr>
        <p:spPr>
          <a:xfrm>
            <a:off x="6108192" y="4654296"/>
            <a:ext cx="5440680" cy="548640"/>
          </a:xfrm>
          <a:prstGeom prst="rect">
            <a:avLst/>
          </a:prstGeom>
          <a:solidFill>
            <a:srgbClr val="FFFFFF"/>
          </a:solidFill>
          <a:ln w="9525">
            <a:solidFill>
              <a:srgbClr val="C9D3E6"/>
            </a:solidFill>
            <a:prstDash val="solid"/>
          </a:ln>
        </p:spPr>
      </p:sp>
      <p:sp>
        <p:nvSpPr>
          <p:cNvPr id="35" name="Text 31"/>
          <p:cNvSpPr/>
          <p:nvPr/>
        </p:nvSpPr>
        <p:spPr>
          <a:xfrm>
            <a:off x="6245352" y="4654296"/>
            <a:ext cx="5212080" cy="54864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NER-based engines (Microsoft Presidio) layered over regex, evaluated for recall</a:t>
            </a:r>
            <a:endParaRPr lang="en-US" sz="1050" dirty="0"/>
          </a:p>
        </p:txBody>
      </p:sp>
      <p:sp>
        <p:nvSpPr>
          <p:cNvPr id="36" name="Shape 32"/>
          <p:cNvSpPr/>
          <p:nvPr/>
        </p:nvSpPr>
        <p:spPr>
          <a:xfrm>
            <a:off x="640080" y="5221224"/>
            <a:ext cx="5394960" cy="548640"/>
          </a:xfrm>
          <a:prstGeom prst="rect">
            <a:avLst/>
          </a:prstGeom>
          <a:solidFill>
            <a:srgbClr val="EEF2FA"/>
          </a:solidFill>
          <a:ln w="9525">
            <a:solidFill>
              <a:srgbClr val="C9D3E6"/>
            </a:solidFill>
            <a:prstDash val="solid"/>
          </a:ln>
        </p:spPr>
      </p:sp>
      <p:sp>
        <p:nvSpPr>
          <p:cNvPr id="37" name="Text 33"/>
          <p:cNvSpPr/>
          <p:nvPr/>
        </p:nvSpPr>
        <p:spPr>
          <a:xfrm>
            <a:off x="777240" y="5221224"/>
            <a:ext cx="5166360" cy="548640"/>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drift_report.py run by hand</a:t>
            </a:r>
            <a:endParaRPr lang="en-US" sz="950" dirty="0"/>
          </a:p>
        </p:txBody>
      </p:sp>
      <p:sp>
        <p:nvSpPr>
          <p:cNvPr id="38" name="Shape 34"/>
          <p:cNvSpPr/>
          <p:nvPr/>
        </p:nvSpPr>
        <p:spPr>
          <a:xfrm>
            <a:off x="6108192" y="5221224"/>
            <a:ext cx="5440680" cy="548640"/>
          </a:xfrm>
          <a:prstGeom prst="rect">
            <a:avLst/>
          </a:prstGeom>
          <a:solidFill>
            <a:srgbClr val="FBF1E3"/>
          </a:solidFill>
          <a:ln w="9525">
            <a:solidFill>
              <a:srgbClr val="C9D3E6"/>
            </a:solidFill>
            <a:prstDash val="solid"/>
          </a:ln>
        </p:spPr>
      </p:sp>
      <p:sp>
        <p:nvSpPr>
          <p:cNvPr id="39" name="Text 35"/>
          <p:cNvSpPr/>
          <p:nvPr/>
        </p:nvSpPr>
        <p:spPr>
          <a:xfrm>
            <a:off x="6245352" y="5221224"/>
            <a:ext cx="5212080" cy="54864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Scheduled job on logged features; a breach raises an alert and a retraining trigger</a:t>
            </a:r>
            <a:endParaRPr lang="en-US" sz="1050" dirty="0"/>
          </a:p>
        </p:txBody>
      </p:sp>
      <p:sp>
        <p:nvSpPr>
          <p:cNvPr id="40" name="Text 36"/>
          <p:cNvSpPr/>
          <p:nvPr/>
        </p:nvSpPr>
        <p:spPr>
          <a:xfrm>
            <a:off x="640080" y="6035040"/>
            <a:ext cx="10881360" cy="320040"/>
          </a:xfrm>
          <a:prstGeom prst="rect">
            <a:avLst/>
          </a:prstGeom>
          <a:noFill/>
          <a:ln/>
        </p:spPr>
        <p:txBody>
          <a:bodyPr wrap="square" lIns="0" tIns="0" rIns="0" bIns="0" rtlCol="0" anchor="ctr"/>
          <a:lstStyle/>
          <a:p>
            <a:pPr algn="ctr" indent="0" marL="0">
              <a:buNone/>
            </a:pPr>
            <a:r>
              <a:rPr lang="en-US" sz="1200" i="1" dirty="0">
                <a:solidFill>
                  <a:srgbClr val="5A6478"/>
                </a:solidFill>
                <a:latin typeface="Calibri" pitchFamily="34" charset="0"/>
                <a:ea typeface="Calibri" pitchFamily="34" charset="-122"/>
                <a:cs typeface="Calibri" pitchFamily="34" charset="-120"/>
              </a:rPr>
              <a:t>The instrumentation layer transfers unchanged; everything around it scales up — the concepts and the queries stay the same.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DELIVERABLES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Evidence to submit at the end of the session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554480"/>
            <a:ext cx="5349240" cy="2011680"/>
          </a:xfrm>
          <a:prstGeom prst="roundRect">
            <a:avLst>
              <a:gd name="adj" fmla="val 4091"/>
            </a:avLst>
          </a:prstGeom>
          <a:solidFill>
            <a:srgbClr val="EEF2FA"/>
          </a:solidFill>
          <a:ln/>
          <a:effectLst>
            <a:outerShdw sx="100000" sy="100000" kx="0" ky="0" algn="bl" rotWithShape="0" blurRad="76200" dist="25400" dir="5400000">
              <a:srgbClr val="9AA4B8">
                <a:alpha val="35000"/>
              </a:srgbClr>
            </a:outerShdw>
          </a:effectLst>
        </p:spPr>
      </p:sp>
      <p:sp>
        <p:nvSpPr>
          <p:cNvPr id="9" name="Shape 5"/>
          <p:cNvSpPr/>
          <p:nvPr/>
        </p:nvSpPr>
        <p:spPr>
          <a:xfrm>
            <a:off x="868680" y="1783080"/>
            <a:ext cx="548640" cy="548640"/>
          </a:xfrm>
          <a:prstGeom prst="ellipse">
            <a:avLst/>
          </a:prstGeom>
          <a:solidFill>
            <a:srgbClr val="E8871E"/>
          </a:solidFill>
          <a:ln/>
        </p:spPr>
      </p:sp>
      <p:sp>
        <p:nvSpPr>
          <p:cNvPr id="10" name="Text 6"/>
          <p:cNvSpPr/>
          <p:nvPr/>
        </p:nvSpPr>
        <p:spPr>
          <a:xfrm>
            <a:off x="868680" y="17830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1" name="Text 7"/>
          <p:cNvSpPr/>
          <p:nvPr/>
        </p:nvSpPr>
        <p:spPr>
          <a:xfrm>
            <a:off x="1600200" y="184708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Prometheus evidence</a:t>
            </a:r>
            <a:endParaRPr lang="en-US" sz="1450" dirty="0"/>
          </a:p>
        </p:txBody>
      </p:sp>
      <p:sp>
        <p:nvSpPr>
          <p:cNvPr id="12" name="Text 8"/>
          <p:cNvSpPr/>
          <p:nvPr/>
        </p:nvSpPr>
        <p:spPr>
          <a:xfrm>
            <a:off x="868680" y="246888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A screenshot of the target page showing job llm in the UP state, and one PromQL query with its results (Steps 1–2).</a:t>
            </a:r>
            <a:endParaRPr lang="en-US" sz="1100" dirty="0"/>
          </a:p>
        </p:txBody>
      </p:sp>
      <p:sp>
        <p:nvSpPr>
          <p:cNvPr id="13" name="Shape 9"/>
          <p:cNvSpPr/>
          <p:nvPr/>
        </p:nvSpPr>
        <p:spPr>
          <a:xfrm>
            <a:off x="6217920" y="1554480"/>
            <a:ext cx="5349240" cy="2011680"/>
          </a:xfrm>
          <a:prstGeom prst="roundRect">
            <a:avLst>
              <a:gd name="adj" fmla="val 4091"/>
            </a:avLst>
          </a:prstGeom>
          <a:solidFill>
            <a:srgbClr val="DDE6F5"/>
          </a:solidFill>
          <a:ln/>
          <a:effectLst>
            <a:outerShdw sx="100000" sy="100000" kx="0" ky="0" algn="bl" rotWithShape="0" blurRad="76200" dist="25400" dir="5400000">
              <a:srgbClr val="9AA4B8">
                <a:alpha val="35000"/>
              </a:srgbClr>
            </a:outerShdw>
          </a:effectLst>
        </p:spPr>
      </p:sp>
      <p:sp>
        <p:nvSpPr>
          <p:cNvPr id="14" name="Shape 10"/>
          <p:cNvSpPr/>
          <p:nvPr/>
        </p:nvSpPr>
        <p:spPr>
          <a:xfrm>
            <a:off x="6446520" y="1783080"/>
            <a:ext cx="548640" cy="548640"/>
          </a:xfrm>
          <a:prstGeom prst="ellipse">
            <a:avLst/>
          </a:prstGeom>
          <a:solidFill>
            <a:srgbClr val="E8871E"/>
          </a:solidFill>
          <a:ln/>
        </p:spPr>
      </p:sp>
      <p:sp>
        <p:nvSpPr>
          <p:cNvPr id="15" name="Text 11"/>
          <p:cNvSpPr/>
          <p:nvPr/>
        </p:nvSpPr>
        <p:spPr>
          <a:xfrm>
            <a:off x="6446520" y="17830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6" name="Text 12"/>
          <p:cNvSpPr/>
          <p:nvPr/>
        </p:nvSpPr>
        <p:spPr>
          <a:xfrm>
            <a:off x="7178040" y="184708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Grafana evidence</a:t>
            </a:r>
            <a:endParaRPr lang="en-US" sz="1450" dirty="0"/>
          </a:p>
        </p:txBody>
      </p:sp>
      <p:sp>
        <p:nvSpPr>
          <p:cNvPr id="17" name="Text 13"/>
          <p:cNvSpPr/>
          <p:nvPr/>
        </p:nvSpPr>
        <p:spPr>
          <a:xfrm>
            <a:off x="6446520" y="246888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The “LLM Service — Golden Signals” dashboard during traffic, and the p95 alert rule in the Firing state (Step 3).</a:t>
            </a:r>
            <a:endParaRPr lang="en-US" sz="1100" dirty="0"/>
          </a:p>
        </p:txBody>
      </p:sp>
      <p:sp>
        <p:nvSpPr>
          <p:cNvPr id="18" name="Shape 14"/>
          <p:cNvSpPr/>
          <p:nvPr/>
        </p:nvSpPr>
        <p:spPr>
          <a:xfrm>
            <a:off x="640080" y="3794760"/>
            <a:ext cx="5349240" cy="2011680"/>
          </a:xfrm>
          <a:prstGeom prst="roundRect">
            <a:avLst>
              <a:gd name="adj" fmla="val 4091"/>
            </a:avLst>
          </a:prstGeom>
          <a:solidFill>
            <a:srgbClr val="EEF2FA"/>
          </a:solidFill>
          <a:ln/>
          <a:effectLst>
            <a:outerShdw sx="100000" sy="100000" kx="0" ky="0" algn="bl" rotWithShape="0" blurRad="76200" dist="25400" dir="5400000">
              <a:srgbClr val="9AA4B8">
                <a:alpha val="35000"/>
              </a:srgbClr>
            </a:outerShdw>
          </a:effectLst>
        </p:spPr>
      </p:sp>
      <p:sp>
        <p:nvSpPr>
          <p:cNvPr id="19" name="Shape 15"/>
          <p:cNvSpPr/>
          <p:nvPr/>
        </p:nvSpPr>
        <p:spPr>
          <a:xfrm>
            <a:off x="868680" y="4023360"/>
            <a:ext cx="548640" cy="548640"/>
          </a:xfrm>
          <a:prstGeom prst="ellipse">
            <a:avLst/>
          </a:prstGeom>
          <a:solidFill>
            <a:srgbClr val="E8871E"/>
          </a:solidFill>
          <a:ln/>
        </p:spPr>
      </p:sp>
      <p:sp>
        <p:nvSpPr>
          <p:cNvPr id="20" name="Text 16"/>
          <p:cNvSpPr/>
          <p:nvPr/>
        </p:nvSpPr>
        <p:spPr>
          <a:xfrm>
            <a:off x="868680" y="4023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1" name="Text 17"/>
          <p:cNvSpPr/>
          <p:nvPr/>
        </p:nvSpPr>
        <p:spPr>
          <a:xfrm>
            <a:off x="1600200" y="408736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Redacted audit line</a:t>
            </a:r>
            <a:endParaRPr lang="en-US" sz="1450" dirty="0"/>
          </a:p>
        </p:txBody>
      </p:sp>
      <p:sp>
        <p:nvSpPr>
          <p:cNvPr id="22" name="Text 18"/>
          <p:cNvSpPr/>
          <p:nvPr/>
        </p:nvSpPr>
        <p:spPr>
          <a:xfrm>
            <a:off x="868680" y="470916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The audit.jsonl line for the PII request, showing &lt;PHONE_REDACTED&gt;, &lt;EMAIL_REDACTED&gt; and &lt;AADHAAR_REDACTED&gt; (Step 4).</a:t>
            </a:r>
            <a:endParaRPr lang="en-US" sz="1100" dirty="0"/>
          </a:p>
        </p:txBody>
      </p:sp>
      <p:sp>
        <p:nvSpPr>
          <p:cNvPr id="23" name="Shape 19"/>
          <p:cNvSpPr/>
          <p:nvPr/>
        </p:nvSpPr>
        <p:spPr>
          <a:xfrm>
            <a:off x="6217920" y="3794760"/>
            <a:ext cx="5349240" cy="2011680"/>
          </a:xfrm>
          <a:prstGeom prst="roundRect">
            <a:avLst>
              <a:gd name="adj" fmla="val 4091"/>
            </a:avLst>
          </a:prstGeom>
          <a:solidFill>
            <a:srgbClr val="DDE6F5"/>
          </a:solidFill>
          <a:ln/>
          <a:effectLst>
            <a:outerShdw sx="100000" sy="100000" kx="0" ky="0" algn="bl" rotWithShape="0" blurRad="76200" dist="25400" dir="5400000">
              <a:srgbClr val="9AA4B8">
                <a:alpha val="35000"/>
              </a:srgbClr>
            </a:outerShdw>
          </a:effectLst>
        </p:spPr>
      </p:sp>
      <p:sp>
        <p:nvSpPr>
          <p:cNvPr id="24" name="Shape 20"/>
          <p:cNvSpPr/>
          <p:nvPr/>
        </p:nvSpPr>
        <p:spPr>
          <a:xfrm>
            <a:off x="6446520" y="4023360"/>
            <a:ext cx="548640" cy="548640"/>
          </a:xfrm>
          <a:prstGeom prst="ellipse">
            <a:avLst/>
          </a:prstGeom>
          <a:solidFill>
            <a:srgbClr val="E8871E"/>
          </a:solidFill>
          <a:ln/>
        </p:spPr>
      </p:sp>
      <p:sp>
        <p:nvSpPr>
          <p:cNvPr id="25" name="Text 21"/>
          <p:cNvSpPr/>
          <p:nvPr/>
        </p:nvSpPr>
        <p:spPr>
          <a:xfrm>
            <a:off x="6446520" y="4023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6" name="Text 22"/>
          <p:cNvSpPr/>
          <p:nvPr/>
        </p:nvSpPr>
        <p:spPr>
          <a:xfrm>
            <a:off x="7178040" y="408736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Drift analysis</a:t>
            </a:r>
            <a:endParaRPr lang="en-US" sz="1450" dirty="0"/>
          </a:p>
        </p:txBody>
      </p:sp>
      <p:sp>
        <p:nvSpPr>
          <p:cNvPr id="27" name="Text 23"/>
          <p:cNvSpPr/>
          <p:nvPr/>
        </p:nvSpPr>
        <p:spPr>
          <a:xfrm>
            <a:off x="6446520" y="470916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drift_report.html plus 3–4 sentences: which feature drifted most, and what action a production team should take when this report turns red (Step 5).</a:t>
            </a:r>
            <a:endParaRPr lang="en-US" sz="1100" dirty="0"/>
          </a:p>
        </p:txBody>
      </p:sp>
      <p:sp>
        <p:nvSpPr>
          <p:cNvPr id="28" name="Text 24"/>
          <p:cNvSpPr/>
          <p:nvPr/>
        </p:nvSpPr>
        <p:spPr>
          <a:xfrm>
            <a:off x="640080" y="5943600"/>
            <a:ext cx="10881360" cy="320040"/>
          </a:xfrm>
          <a:prstGeom prst="rect">
            <a:avLst/>
          </a:prstGeom>
          <a:noFill/>
          <a:ln/>
        </p:spPr>
        <p:txBody>
          <a:bodyPr wrap="square" lIns="0" tIns="0" rIns="0" bIns="0" rtlCol="0" anchor="ctr"/>
          <a:lstStyle/>
          <a:p>
            <a:pPr algn="ctr" indent="0" marL="0">
              <a:buNone/>
            </a:pPr>
            <a:r>
              <a:rPr lang="en-US" sz="1200" i="1" dirty="0">
                <a:solidFill>
                  <a:srgbClr val="5A6478"/>
                </a:solidFill>
                <a:latin typeface="Calibri" pitchFamily="34" charset="0"/>
                <a:ea typeface="Calibri" pitchFamily="34" charset="-122"/>
                <a:cs typeface="Calibri" pitchFamily="34" charset="-120"/>
              </a:rPr>
              <a:t>Submission closes the lab block; the review compares drift analyses and alert evidence across pairs.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PITFALLS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Common failure modes in AI observability and audit</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4 — Monitoring &amp; Audit Logging</a:t>
            </a:r>
            <a:endParaRPr lang="en-US" sz="900" dirty="0"/>
          </a:p>
        </p:txBody>
      </p:sp>
      <p:sp>
        <p:nvSpPr>
          <p:cNvPr id="8" name="Shape 4"/>
          <p:cNvSpPr/>
          <p:nvPr/>
        </p:nvSpPr>
        <p:spPr>
          <a:xfrm>
            <a:off x="640080" y="1508760"/>
            <a:ext cx="5349240" cy="1353312"/>
          </a:xfrm>
          <a:prstGeom prst="roundRect">
            <a:avLst>
              <a:gd name="adj" fmla="val 6081"/>
            </a:avLst>
          </a:prstGeom>
          <a:solidFill>
            <a:srgbClr val="DDE6F5"/>
          </a:solidFill>
          <a:ln/>
          <a:effectLst>
            <a:outerShdw sx="100000" sy="100000" kx="0" ky="0" algn="bl" rotWithShape="0" blurRad="76200" dist="25400" dir="5400000">
              <a:srgbClr val="9AA4B8">
                <a:alpha val="35000"/>
              </a:srgbClr>
            </a:outerShdw>
          </a:effectLst>
        </p:spPr>
      </p:sp>
      <p:sp>
        <p:nvSpPr>
          <p:cNvPr id="9" name="Shape 5"/>
          <p:cNvSpPr/>
          <p:nvPr/>
        </p:nvSpPr>
        <p:spPr>
          <a:xfrm>
            <a:off x="841248" y="1691640"/>
            <a:ext cx="384048" cy="384048"/>
          </a:xfrm>
          <a:prstGeom prst="ellipse">
            <a:avLst/>
          </a:prstGeom>
          <a:solidFill>
            <a:srgbClr val="B3402A"/>
          </a:solidFill>
          <a:ln/>
        </p:spPr>
      </p:sp>
      <p:pic>
        <p:nvPicPr>
          <p:cNvPr id="10" name="Image 1" descr="preencoded.png">    </p:cNvPr>
          <p:cNvPicPr>
            <a:picLocks noChangeAspect="1"/>
          </p:cNvPicPr>
          <p:nvPr/>
        </p:nvPicPr>
        <p:blipFill>
          <a:blip r:embed="rId2"/>
          <a:stretch>
            <a:fillRect/>
          </a:stretch>
        </p:blipFill>
        <p:spPr>
          <a:xfrm>
            <a:off x="941100" y="1791492"/>
            <a:ext cx="184343" cy="184343"/>
          </a:xfrm>
          <a:prstGeom prst="rect">
            <a:avLst/>
          </a:prstGeom>
        </p:spPr>
      </p:pic>
      <p:sp>
        <p:nvSpPr>
          <p:cNvPr id="11" name="Text 6"/>
          <p:cNvSpPr/>
          <p:nvPr/>
        </p:nvSpPr>
        <p:spPr>
          <a:xfrm>
            <a:off x="1371600" y="1636776"/>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Monitoring infrastructure, not answers</a:t>
            </a:r>
            <a:endParaRPr lang="en-US" sz="1250" dirty="0"/>
          </a:p>
        </p:txBody>
      </p:sp>
      <p:sp>
        <p:nvSpPr>
          <p:cNvPr id="12" name="Text 7"/>
          <p:cNvSpPr/>
          <p:nvPr/>
        </p:nvSpPr>
        <p:spPr>
          <a:xfrm>
            <a:off x="1371600" y="2011680"/>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CPU, uptime and status dashboards while answer quality goes unmeasured — a 200 OK can carry a wrong answer. The golden signals need the fifth, AI-specific signal: quality and drift.</a:t>
            </a:r>
            <a:endParaRPr lang="en-US" sz="1000" dirty="0"/>
          </a:p>
        </p:txBody>
      </p:sp>
      <p:sp>
        <p:nvSpPr>
          <p:cNvPr id="13" name="Shape 8"/>
          <p:cNvSpPr/>
          <p:nvPr/>
        </p:nvSpPr>
        <p:spPr>
          <a:xfrm>
            <a:off x="6217920" y="1508760"/>
            <a:ext cx="5349240" cy="1353312"/>
          </a:xfrm>
          <a:prstGeom prst="roundRect">
            <a:avLst>
              <a:gd name="adj" fmla="val 6081"/>
            </a:avLst>
          </a:prstGeom>
          <a:solidFill>
            <a:srgbClr val="EEF2FA"/>
          </a:solidFill>
          <a:ln/>
          <a:effectLst>
            <a:outerShdw sx="100000" sy="100000" kx="0" ky="0" algn="bl" rotWithShape="0" blurRad="76200" dist="25400" dir="5400000">
              <a:srgbClr val="9AA4B8">
                <a:alpha val="35000"/>
              </a:srgbClr>
            </a:outerShdw>
          </a:effectLst>
        </p:spPr>
      </p:sp>
      <p:sp>
        <p:nvSpPr>
          <p:cNvPr id="14" name="Shape 9"/>
          <p:cNvSpPr/>
          <p:nvPr/>
        </p:nvSpPr>
        <p:spPr>
          <a:xfrm>
            <a:off x="6419088" y="1691640"/>
            <a:ext cx="384048" cy="384048"/>
          </a:xfrm>
          <a:prstGeom prst="ellipse">
            <a:avLst/>
          </a:prstGeom>
          <a:solidFill>
            <a:srgbClr val="B3402A"/>
          </a:solidFill>
          <a:ln/>
        </p:spPr>
      </p:sp>
      <p:pic>
        <p:nvPicPr>
          <p:cNvPr id="15" name="Image 2" descr="preencoded.png">    </p:cNvPr>
          <p:cNvPicPr>
            <a:picLocks noChangeAspect="1"/>
          </p:cNvPicPr>
          <p:nvPr/>
        </p:nvPicPr>
        <p:blipFill>
          <a:blip r:embed="rId3"/>
          <a:stretch>
            <a:fillRect/>
          </a:stretch>
        </p:blipFill>
        <p:spPr>
          <a:xfrm>
            <a:off x="6518940" y="1791492"/>
            <a:ext cx="184343" cy="184343"/>
          </a:xfrm>
          <a:prstGeom prst="rect">
            <a:avLst/>
          </a:prstGeom>
        </p:spPr>
      </p:pic>
      <p:sp>
        <p:nvSpPr>
          <p:cNvPr id="16" name="Text 10"/>
          <p:cNvSpPr/>
          <p:nvPr/>
        </p:nvSpPr>
        <p:spPr>
          <a:xfrm>
            <a:off x="6949440" y="1636776"/>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Averages instead of percentiles</a:t>
            </a:r>
            <a:endParaRPr lang="en-US" sz="1250" dirty="0"/>
          </a:p>
        </p:txBody>
      </p:sp>
      <p:sp>
        <p:nvSpPr>
          <p:cNvPr id="17" name="Text 11"/>
          <p:cNvSpPr/>
          <p:nvPr/>
        </p:nvSpPr>
        <p:spPr>
          <a:xfrm>
            <a:off x="6949440" y="2011680"/>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Mean latency hides the tail; the slowest 5% of requests are real users. State SLOs and alerts on p95/p99 computed from histograms — never on the mean.</a:t>
            </a:r>
            <a:endParaRPr lang="en-US" sz="1000" dirty="0"/>
          </a:p>
        </p:txBody>
      </p:sp>
      <p:sp>
        <p:nvSpPr>
          <p:cNvPr id="18" name="Shape 12"/>
          <p:cNvSpPr/>
          <p:nvPr/>
        </p:nvSpPr>
        <p:spPr>
          <a:xfrm>
            <a:off x="640080" y="3044952"/>
            <a:ext cx="5349240" cy="1353312"/>
          </a:xfrm>
          <a:prstGeom prst="roundRect">
            <a:avLst>
              <a:gd name="adj" fmla="val 6081"/>
            </a:avLst>
          </a:prstGeom>
          <a:solidFill>
            <a:srgbClr val="DDE6F5"/>
          </a:solidFill>
          <a:ln/>
          <a:effectLst>
            <a:outerShdw sx="100000" sy="100000" kx="0" ky="0" algn="bl" rotWithShape="0" blurRad="76200" dist="25400" dir="5400000">
              <a:srgbClr val="9AA4B8">
                <a:alpha val="35000"/>
              </a:srgbClr>
            </a:outerShdw>
          </a:effectLst>
        </p:spPr>
      </p:sp>
      <p:sp>
        <p:nvSpPr>
          <p:cNvPr id="19" name="Shape 13"/>
          <p:cNvSpPr/>
          <p:nvPr/>
        </p:nvSpPr>
        <p:spPr>
          <a:xfrm>
            <a:off x="841248" y="3227832"/>
            <a:ext cx="384048" cy="384048"/>
          </a:xfrm>
          <a:prstGeom prst="ellipse">
            <a:avLst/>
          </a:prstGeom>
          <a:solidFill>
            <a:srgbClr val="B3402A"/>
          </a:solidFill>
          <a:ln/>
        </p:spPr>
      </p:sp>
      <p:pic>
        <p:nvPicPr>
          <p:cNvPr id="20" name="Image 3" descr="preencoded.png">    </p:cNvPr>
          <p:cNvPicPr>
            <a:picLocks noChangeAspect="1"/>
          </p:cNvPicPr>
          <p:nvPr/>
        </p:nvPicPr>
        <p:blipFill>
          <a:blip r:embed="rId4"/>
          <a:stretch>
            <a:fillRect/>
          </a:stretch>
        </p:blipFill>
        <p:spPr>
          <a:xfrm>
            <a:off x="941100" y="3327684"/>
            <a:ext cx="184343" cy="184343"/>
          </a:xfrm>
          <a:prstGeom prst="rect">
            <a:avLst/>
          </a:prstGeom>
        </p:spPr>
      </p:pic>
      <p:sp>
        <p:nvSpPr>
          <p:cNvPr id="21" name="Text 14"/>
          <p:cNvSpPr/>
          <p:nvPr/>
        </p:nvSpPr>
        <p:spPr>
          <a:xfrm>
            <a:off x="1371600" y="3172968"/>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Alert fatigue from over-alerting</a:t>
            </a:r>
            <a:endParaRPr lang="en-US" sz="1250" dirty="0"/>
          </a:p>
        </p:txBody>
      </p:sp>
      <p:sp>
        <p:nvSpPr>
          <p:cNvPr id="22" name="Text 15"/>
          <p:cNvSpPr/>
          <p:nvPr/>
        </p:nvSpPr>
        <p:spPr>
          <a:xfrm>
            <a:off x="1371600" y="3547872"/>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 rule on every metric trains the on-call to mute the channel — which is no monitoring at all. Alert only on sustained, user-visible symptoms, and make every alert actionable.</a:t>
            </a:r>
            <a:endParaRPr lang="en-US" sz="1000" dirty="0"/>
          </a:p>
        </p:txBody>
      </p:sp>
      <p:sp>
        <p:nvSpPr>
          <p:cNvPr id="23" name="Shape 16"/>
          <p:cNvSpPr/>
          <p:nvPr/>
        </p:nvSpPr>
        <p:spPr>
          <a:xfrm>
            <a:off x="6217920" y="3044952"/>
            <a:ext cx="5349240" cy="1353312"/>
          </a:xfrm>
          <a:prstGeom prst="roundRect">
            <a:avLst>
              <a:gd name="adj" fmla="val 6081"/>
            </a:avLst>
          </a:prstGeom>
          <a:solidFill>
            <a:srgbClr val="EEF2FA"/>
          </a:solidFill>
          <a:ln/>
          <a:effectLst>
            <a:outerShdw sx="100000" sy="100000" kx="0" ky="0" algn="bl" rotWithShape="0" blurRad="76200" dist="25400" dir="5400000">
              <a:srgbClr val="9AA4B8">
                <a:alpha val="35000"/>
              </a:srgbClr>
            </a:outerShdw>
          </a:effectLst>
        </p:spPr>
      </p:sp>
      <p:sp>
        <p:nvSpPr>
          <p:cNvPr id="24" name="Shape 17"/>
          <p:cNvSpPr/>
          <p:nvPr/>
        </p:nvSpPr>
        <p:spPr>
          <a:xfrm>
            <a:off x="6419088" y="3227832"/>
            <a:ext cx="384048" cy="384048"/>
          </a:xfrm>
          <a:prstGeom prst="ellipse">
            <a:avLst/>
          </a:prstGeom>
          <a:solidFill>
            <a:srgbClr val="B3402A"/>
          </a:solidFill>
          <a:ln/>
        </p:spPr>
      </p:sp>
      <p:pic>
        <p:nvPicPr>
          <p:cNvPr id="25" name="Image 4" descr="preencoded.png">    </p:cNvPr>
          <p:cNvPicPr>
            <a:picLocks noChangeAspect="1"/>
          </p:cNvPicPr>
          <p:nvPr/>
        </p:nvPicPr>
        <p:blipFill>
          <a:blip r:embed="rId5"/>
          <a:stretch>
            <a:fillRect/>
          </a:stretch>
        </p:blipFill>
        <p:spPr>
          <a:xfrm>
            <a:off x="6518940" y="3327684"/>
            <a:ext cx="184343" cy="184343"/>
          </a:xfrm>
          <a:prstGeom prst="rect">
            <a:avLst/>
          </a:prstGeom>
        </p:spPr>
      </p:pic>
      <p:sp>
        <p:nvSpPr>
          <p:cNvPr id="26" name="Text 18"/>
          <p:cNvSpPr/>
          <p:nvPr/>
        </p:nvSpPr>
        <p:spPr>
          <a:xfrm>
            <a:off x="6949440" y="3172968"/>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Raw PII written to logs</a:t>
            </a:r>
            <a:endParaRPr lang="en-US" sz="1250" dirty="0"/>
          </a:p>
        </p:txBody>
      </p:sp>
      <p:sp>
        <p:nvSpPr>
          <p:cNvPr id="27" name="Text 19"/>
          <p:cNvSpPr/>
          <p:nvPr/>
        </p:nvSpPr>
        <p:spPr>
          <a:xfrm>
            <a:off x="6949440" y="3547872"/>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One debug print of a prompt is a reportable data breach in a regulated environment. Redact at log time, and measure the redactor's recall on your own traffic.</a:t>
            </a:r>
            <a:endParaRPr lang="en-US" sz="1000" dirty="0"/>
          </a:p>
        </p:txBody>
      </p:sp>
      <p:sp>
        <p:nvSpPr>
          <p:cNvPr id="28" name="Shape 20"/>
          <p:cNvSpPr/>
          <p:nvPr/>
        </p:nvSpPr>
        <p:spPr>
          <a:xfrm>
            <a:off x="640080" y="4581144"/>
            <a:ext cx="5349240" cy="1353312"/>
          </a:xfrm>
          <a:prstGeom prst="roundRect">
            <a:avLst>
              <a:gd name="adj" fmla="val 6081"/>
            </a:avLst>
          </a:prstGeom>
          <a:solidFill>
            <a:srgbClr val="DDE6F5"/>
          </a:solidFill>
          <a:ln/>
          <a:effectLst>
            <a:outerShdw sx="100000" sy="100000" kx="0" ky="0" algn="bl" rotWithShape="0" blurRad="76200" dist="25400" dir="5400000">
              <a:srgbClr val="9AA4B8">
                <a:alpha val="35000"/>
              </a:srgbClr>
            </a:outerShdw>
          </a:effectLst>
        </p:spPr>
      </p:sp>
      <p:sp>
        <p:nvSpPr>
          <p:cNvPr id="29" name="Shape 21"/>
          <p:cNvSpPr/>
          <p:nvPr/>
        </p:nvSpPr>
        <p:spPr>
          <a:xfrm>
            <a:off x="841248" y="4764024"/>
            <a:ext cx="384048" cy="384048"/>
          </a:xfrm>
          <a:prstGeom prst="ellipse">
            <a:avLst/>
          </a:prstGeom>
          <a:solidFill>
            <a:srgbClr val="B3402A"/>
          </a:solidFill>
          <a:ln/>
        </p:spPr>
      </p:sp>
      <p:pic>
        <p:nvPicPr>
          <p:cNvPr id="30" name="Image 5" descr="preencoded.png">    </p:cNvPr>
          <p:cNvPicPr>
            <a:picLocks noChangeAspect="1"/>
          </p:cNvPicPr>
          <p:nvPr/>
        </p:nvPicPr>
        <p:blipFill>
          <a:blip r:embed="rId6"/>
          <a:stretch>
            <a:fillRect/>
          </a:stretch>
        </p:blipFill>
        <p:spPr>
          <a:xfrm>
            <a:off x="941100" y="4863876"/>
            <a:ext cx="184343" cy="184343"/>
          </a:xfrm>
          <a:prstGeom prst="rect">
            <a:avLst/>
          </a:prstGeom>
        </p:spPr>
      </p:pic>
      <p:sp>
        <p:nvSpPr>
          <p:cNvPr id="31" name="Text 22"/>
          <p:cNvSpPr/>
          <p:nvPr/>
        </p:nvSpPr>
        <p:spPr>
          <a:xfrm>
            <a:off x="1371600" y="4709160"/>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Audit records without model_version</a:t>
            </a:r>
            <a:endParaRPr lang="en-US" sz="1250" dirty="0"/>
          </a:p>
        </p:txBody>
      </p:sp>
      <p:sp>
        <p:nvSpPr>
          <p:cNvPr id="32" name="Text 23"/>
          <p:cNvSpPr/>
          <p:nvPr/>
        </p:nvSpPr>
        <p:spPr>
          <a:xfrm>
            <a:off x="1371600" y="5084064"/>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 disputed answer that cannot be attributed to a release cannot be defended or correlated with a rollback. Version every record — the field costs nothing until it is missing.</a:t>
            </a:r>
            <a:endParaRPr lang="en-US" sz="1000" dirty="0"/>
          </a:p>
        </p:txBody>
      </p:sp>
      <p:sp>
        <p:nvSpPr>
          <p:cNvPr id="33" name="Shape 24"/>
          <p:cNvSpPr/>
          <p:nvPr/>
        </p:nvSpPr>
        <p:spPr>
          <a:xfrm>
            <a:off x="6217920" y="4581144"/>
            <a:ext cx="5349240" cy="1353312"/>
          </a:xfrm>
          <a:prstGeom prst="roundRect">
            <a:avLst>
              <a:gd name="adj" fmla="val 6081"/>
            </a:avLst>
          </a:prstGeom>
          <a:solidFill>
            <a:srgbClr val="EEF2FA"/>
          </a:solidFill>
          <a:ln/>
          <a:effectLst>
            <a:outerShdw sx="100000" sy="100000" kx="0" ky="0" algn="bl" rotWithShape="0" blurRad="76200" dist="25400" dir="5400000">
              <a:srgbClr val="9AA4B8">
                <a:alpha val="35000"/>
              </a:srgbClr>
            </a:outerShdw>
          </a:effectLst>
        </p:spPr>
      </p:sp>
      <p:sp>
        <p:nvSpPr>
          <p:cNvPr id="34" name="Shape 25"/>
          <p:cNvSpPr/>
          <p:nvPr/>
        </p:nvSpPr>
        <p:spPr>
          <a:xfrm>
            <a:off x="6419088" y="4764024"/>
            <a:ext cx="384048" cy="384048"/>
          </a:xfrm>
          <a:prstGeom prst="ellipse">
            <a:avLst/>
          </a:prstGeom>
          <a:solidFill>
            <a:srgbClr val="B3402A"/>
          </a:solidFill>
          <a:ln/>
        </p:spPr>
      </p:sp>
      <p:pic>
        <p:nvPicPr>
          <p:cNvPr id="35" name="Image 6" descr="preencoded.png">    </p:cNvPr>
          <p:cNvPicPr>
            <a:picLocks noChangeAspect="1"/>
          </p:cNvPicPr>
          <p:nvPr/>
        </p:nvPicPr>
        <p:blipFill>
          <a:blip r:embed="rId7"/>
          <a:stretch>
            <a:fillRect/>
          </a:stretch>
        </p:blipFill>
        <p:spPr>
          <a:xfrm>
            <a:off x="6518940" y="4863876"/>
            <a:ext cx="184343" cy="184343"/>
          </a:xfrm>
          <a:prstGeom prst="rect">
            <a:avLst/>
          </a:prstGeom>
        </p:spPr>
      </p:pic>
      <p:sp>
        <p:nvSpPr>
          <p:cNvPr id="36" name="Text 26"/>
          <p:cNvSpPr/>
          <p:nvPr/>
        </p:nvSpPr>
        <p:spPr>
          <a:xfrm>
            <a:off x="6949440" y="4709160"/>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Dashboards without owners</a:t>
            </a:r>
            <a:endParaRPr lang="en-US" sz="1250" dirty="0"/>
          </a:p>
        </p:txBody>
      </p:sp>
      <p:sp>
        <p:nvSpPr>
          <p:cNvPr id="37" name="Text 27"/>
          <p:cNvSpPr/>
          <p:nvPr/>
        </p:nvSpPr>
        <p:spPr>
          <a:xfrm>
            <a:off x="6949440" y="5084064"/>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Unowned dashboards decay: panels break, thresholds go stale, and nobody notices until an incident. Every dashboard and alert rule carries a named owner and a review cadence.</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32946"/>
        </a:solidFill>
      </p:bgPr>
    </p:bg>
    <p:spTree>
      <p:nvGrpSpPr>
        <p:cNvPr id="1" name=""/>
        <p:cNvGrpSpPr/>
        <p:nvPr/>
      </p:nvGrpSpPr>
      <p:grpSpPr>
        <a:xfrm>
          <a:off x="0" y="0"/>
          <a:ext cx="0" cy="0"/>
          <a:chOff x="0" y="0"/>
          <a:chExt cx="0" cy="0"/>
        </a:xfrm>
      </p:grpSpPr>
      <p:sp>
        <p:nvSpPr>
          <p:cNvPr id="2" name="Shape 0"/>
          <p:cNvSpPr/>
          <p:nvPr/>
        </p:nvSpPr>
        <p:spPr>
          <a:xfrm>
            <a:off x="10058400" y="-1463040"/>
            <a:ext cx="4206240" cy="4206240"/>
          </a:xfrm>
          <a:prstGeom prst="ellipse">
            <a:avLst/>
          </a:prstGeom>
          <a:solidFill>
            <a:srgbClr val="2E3554"/>
          </a:solidFill>
          <a:ln/>
        </p:spPr>
      </p:sp>
      <p:sp>
        <p:nvSpPr>
          <p:cNvPr id="3" name="Shape 1"/>
          <p:cNvSpPr/>
          <p:nvPr/>
        </p:nvSpPr>
        <p:spPr>
          <a:xfrm>
            <a:off x="685800" y="502920"/>
            <a:ext cx="640080" cy="640080"/>
          </a:xfrm>
          <a:prstGeom prst="ellipse">
            <a:avLst/>
          </a:prstGeom>
          <a:solidFill>
            <a:srgbClr val="E8871E"/>
          </a:solidFill>
          <a:ln/>
        </p:spPr>
      </p:sp>
      <p:pic>
        <p:nvPicPr>
          <p:cNvPr id="4" name="Image 0" descr="preencoded.png">    </p:cNvPr>
          <p:cNvPicPr>
            <a:picLocks noChangeAspect="1"/>
          </p:cNvPicPr>
          <p:nvPr/>
        </p:nvPicPr>
        <p:blipFill>
          <a:blip r:embed="rId1"/>
          <a:stretch>
            <a:fillRect/>
          </a:stretch>
        </p:blipFill>
        <p:spPr>
          <a:xfrm>
            <a:off x="852221" y="669341"/>
            <a:ext cx="307238" cy="307238"/>
          </a:xfrm>
          <a:prstGeom prst="rect">
            <a:avLst/>
          </a:prstGeom>
        </p:spPr>
      </p:pic>
      <p:sp>
        <p:nvSpPr>
          <p:cNvPr id="5" name="Text 2"/>
          <p:cNvSpPr/>
          <p:nvPr/>
        </p:nvSpPr>
        <p:spPr>
          <a:xfrm>
            <a:off x="1554480" y="566928"/>
            <a:ext cx="7315200" cy="320040"/>
          </a:xfrm>
          <a:prstGeom prst="rect">
            <a:avLst/>
          </a:prstGeom>
          <a:noFill/>
          <a:ln/>
        </p:spPr>
        <p:txBody>
          <a:bodyPr wrap="square" lIns="0" tIns="0" rIns="0" bIns="0" rtlCol="0" anchor="ctr"/>
          <a:lstStyle/>
          <a:p>
            <a:pPr indent="0" marL="0">
              <a:buNone/>
            </a:pPr>
            <a:r>
              <a:rPr lang="en-US" sz="1200" b="1" spc="200" kern="0" dirty="0">
                <a:solidFill>
                  <a:srgbClr val="E8871E"/>
                </a:solidFill>
                <a:latin typeface="Arial" pitchFamily="34" charset="0"/>
                <a:ea typeface="Arial" pitchFamily="34" charset="-122"/>
                <a:cs typeface="Arial" pitchFamily="34" charset="-120"/>
              </a:rPr>
              <a:t>SESSION 4 · RECAP</a:t>
            </a:r>
            <a:endParaRPr lang="en-US" sz="1200" dirty="0"/>
          </a:p>
        </p:txBody>
      </p:sp>
      <p:sp>
        <p:nvSpPr>
          <p:cNvPr id="6" name="Text 3"/>
          <p:cNvSpPr/>
          <p:nvPr/>
        </p:nvSpPr>
        <p:spPr>
          <a:xfrm>
            <a:off x="1536192" y="8229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Capabilities established today</a:t>
            </a:r>
            <a:endParaRPr lang="en-US" sz="2600" dirty="0"/>
          </a:p>
        </p:txBody>
      </p:sp>
      <p:sp>
        <p:nvSpPr>
          <p:cNvPr id="7" name="Shape 4"/>
          <p:cNvSpPr/>
          <p:nvPr/>
        </p:nvSpPr>
        <p:spPr>
          <a:xfrm>
            <a:off x="685800" y="1691640"/>
            <a:ext cx="7040880" cy="676656"/>
          </a:xfrm>
          <a:prstGeom prst="roundRect">
            <a:avLst>
              <a:gd name="adj" fmla="val 10811"/>
            </a:avLst>
          </a:prstGeom>
          <a:solidFill>
            <a:srgbClr val="2E3554"/>
          </a:solidFill>
          <a:ln/>
        </p:spPr>
      </p:sp>
      <p:pic>
        <p:nvPicPr>
          <p:cNvPr id="8" name="Image 1" descr="preencoded.png">    </p:cNvPr>
          <p:cNvPicPr>
            <a:picLocks noChangeAspect="1"/>
          </p:cNvPicPr>
          <p:nvPr/>
        </p:nvPicPr>
        <p:blipFill>
          <a:blip r:embed="rId2"/>
          <a:stretch>
            <a:fillRect/>
          </a:stretch>
        </p:blipFill>
        <p:spPr>
          <a:xfrm>
            <a:off x="914400" y="1892808"/>
            <a:ext cx="274320" cy="274320"/>
          </a:xfrm>
          <a:prstGeom prst="rect">
            <a:avLst/>
          </a:prstGeom>
        </p:spPr>
      </p:pic>
      <p:sp>
        <p:nvSpPr>
          <p:cNvPr id="9" name="Text 5"/>
          <p:cNvSpPr/>
          <p:nvPr/>
        </p:nvSpPr>
        <p:spPr>
          <a:xfrm>
            <a:off x="1371600" y="1691640"/>
            <a:ext cx="228600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Instrument the service</a:t>
            </a:r>
            <a:endParaRPr lang="en-US" sz="1300" dirty="0"/>
          </a:p>
        </p:txBody>
      </p:sp>
      <p:sp>
        <p:nvSpPr>
          <p:cNvPr id="10" name="Text 6"/>
          <p:cNvSpPr/>
          <p:nvPr/>
        </p:nvSpPr>
        <p:spPr>
          <a:xfrm>
            <a:off x="3703320" y="1691640"/>
            <a:ext cx="393192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 counter and a histogram via prometheus_client; the /metrics text page is the monitoring contract.</a:t>
            </a:r>
            <a:endParaRPr lang="en-US" sz="1050" dirty="0"/>
          </a:p>
        </p:txBody>
      </p:sp>
      <p:sp>
        <p:nvSpPr>
          <p:cNvPr id="11" name="Shape 7"/>
          <p:cNvSpPr/>
          <p:nvPr/>
        </p:nvSpPr>
        <p:spPr>
          <a:xfrm>
            <a:off x="685800" y="2496312"/>
            <a:ext cx="7040880" cy="676656"/>
          </a:xfrm>
          <a:prstGeom prst="roundRect">
            <a:avLst>
              <a:gd name="adj" fmla="val 10811"/>
            </a:avLst>
          </a:prstGeom>
          <a:solidFill>
            <a:srgbClr val="2E3554"/>
          </a:solidFill>
          <a:ln/>
        </p:spPr>
      </p:sp>
      <p:pic>
        <p:nvPicPr>
          <p:cNvPr id="12" name="Image 2" descr="preencoded.png">    </p:cNvPr>
          <p:cNvPicPr>
            <a:picLocks noChangeAspect="1"/>
          </p:cNvPicPr>
          <p:nvPr/>
        </p:nvPicPr>
        <p:blipFill>
          <a:blip r:embed="rId3"/>
          <a:stretch>
            <a:fillRect/>
          </a:stretch>
        </p:blipFill>
        <p:spPr>
          <a:xfrm>
            <a:off x="914400" y="2697480"/>
            <a:ext cx="274320" cy="274320"/>
          </a:xfrm>
          <a:prstGeom prst="rect">
            <a:avLst/>
          </a:prstGeom>
        </p:spPr>
      </p:pic>
      <p:sp>
        <p:nvSpPr>
          <p:cNvPr id="13" name="Text 8"/>
          <p:cNvSpPr/>
          <p:nvPr/>
        </p:nvSpPr>
        <p:spPr>
          <a:xfrm>
            <a:off x="1371600" y="2496312"/>
            <a:ext cx="228600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Query and visualise</a:t>
            </a:r>
            <a:endParaRPr lang="en-US" sz="1300" dirty="0"/>
          </a:p>
        </p:txBody>
      </p:sp>
      <p:sp>
        <p:nvSpPr>
          <p:cNvPr id="14" name="Text 9"/>
          <p:cNvSpPr/>
          <p:nvPr/>
        </p:nvSpPr>
        <p:spPr>
          <a:xfrm>
            <a:off x="3703320" y="2496312"/>
            <a:ext cx="393192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rate() and histogram_quantile() in PromQL; a provisioned golden-signals dashboard in Grafana.</a:t>
            </a:r>
            <a:endParaRPr lang="en-US" sz="1050" dirty="0"/>
          </a:p>
        </p:txBody>
      </p:sp>
      <p:sp>
        <p:nvSpPr>
          <p:cNvPr id="15" name="Shape 10"/>
          <p:cNvSpPr/>
          <p:nvPr/>
        </p:nvSpPr>
        <p:spPr>
          <a:xfrm>
            <a:off x="685800" y="3300984"/>
            <a:ext cx="7040880" cy="676656"/>
          </a:xfrm>
          <a:prstGeom prst="roundRect">
            <a:avLst>
              <a:gd name="adj" fmla="val 10811"/>
            </a:avLst>
          </a:prstGeom>
          <a:solidFill>
            <a:srgbClr val="2E3554"/>
          </a:solidFill>
          <a:ln/>
        </p:spPr>
      </p:sp>
      <p:pic>
        <p:nvPicPr>
          <p:cNvPr id="16" name="Image 3" descr="preencoded.png">    </p:cNvPr>
          <p:cNvPicPr>
            <a:picLocks noChangeAspect="1"/>
          </p:cNvPicPr>
          <p:nvPr/>
        </p:nvPicPr>
        <p:blipFill>
          <a:blip r:embed="rId4"/>
          <a:stretch>
            <a:fillRect/>
          </a:stretch>
        </p:blipFill>
        <p:spPr>
          <a:xfrm>
            <a:off x="914400" y="3502152"/>
            <a:ext cx="274320" cy="274320"/>
          </a:xfrm>
          <a:prstGeom prst="rect">
            <a:avLst/>
          </a:prstGeom>
        </p:spPr>
      </p:pic>
      <p:sp>
        <p:nvSpPr>
          <p:cNvPr id="17" name="Text 11"/>
          <p:cNvSpPr/>
          <p:nvPr/>
        </p:nvSpPr>
        <p:spPr>
          <a:xfrm>
            <a:off x="1371600" y="3300984"/>
            <a:ext cx="228600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Set reliability targets</a:t>
            </a:r>
            <a:endParaRPr lang="en-US" sz="1300" dirty="0"/>
          </a:p>
        </p:txBody>
      </p:sp>
      <p:sp>
        <p:nvSpPr>
          <p:cNvPr id="18" name="Text 12"/>
          <p:cNvSpPr/>
          <p:nvPr/>
        </p:nvSpPr>
        <p:spPr>
          <a:xfrm>
            <a:off x="3703320" y="3300984"/>
            <a:ext cx="393192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SLI, SLO, SLA distinguished; 99.9% of 30 days = 43.2 minutes of budget; the p95 alert as the tripwire.</a:t>
            </a:r>
            <a:endParaRPr lang="en-US" sz="1050" dirty="0"/>
          </a:p>
        </p:txBody>
      </p:sp>
      <p:sp>
        <p:nvSpPr>
          <p:cNvPr id="19" name="Shape 13"/>
          <p:cNvSpPr/>
          <p:nvPr/>
        </p:nvSpPr>
        <p:spPr>
          <a:xfrm>
            <a:off x="685800" y="4105656"/>
            <a:ext cx="7040880" cy="676656"/>
          </a:xfrm>
          <a:prstGeom prst="roundRect">
            <a:avLst>
              <a:gd name="adj" fmla="val 10811"/>
            </a:avLst>
          </a:prstGeom>
          <a:solidFill>
            <a:srgbClr val="2E3554"/>
          </a:solidFill>
          <a:ln/>
        </p:spPr>
      </p:sp>
      <p:pic>
        <p:nvPicPr>
          <p:cNvPr id="20" name="Image 4" descr="preencoded.png">    </p:cNvPr>
          <p:cNvPicPr>
            <a:picLocks noChangeAspect="1"/>
          </p:cNvPicPr>
          <p:nvPr/>
        </p:nvPicPr>
        <p:blipFill>
          <a:blip r:embed="rId5"/>
          <a:stretch>
            <a:fillRect/>
          </a:stretch>
        </p:blipFill>
        <p:spPr>
          <a:xfrm>
            <a:off x="914400" y="4306824"/>
            <a:ext cx="274320" cy="274320"/>
          </a:xfrm>
          <a:prstGeom prst="rect">
            <a:avLst/>
          </a:prstGeom>
        </p:spPr>
      </p:pic>
      <p:sp>
        <p:nvSpPr>
          <p:cNvPr id="21" name="Text 14"/>
          <p:cNvSpPr/>
          <p:nvPr/>
        </p:nvSpPr>
        <p:spPr>
          <a:xfrm>
            <a:off x="1371600" y="4105656"/>
            <a:ext cx="228600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Detect drift</a:t>
            </a:r>
            <a:endParaRPr lang="en-US" sz="1300" dirty="0"/>
          </a:p>
        </p:txBody>
      </p:sp>
      <p:sp>
        <p:nvSpPr>
          <p:cNvPr id="22" name="Text 15"/>
          <p:cNvSpPr/>
          <p:nvPr/>
        </p:nvSpPr>
        <p:spPr>
          <a:xfrm>
            <a:off x="3703320" y="4105656"/>
            <a:ext cx="393192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Baseline versus current windows with Evidently — degradation without any failure signal, localised by feature.</a:t>
            </a:r>
            <a:endParaRPr lang="en-US" sz="1050" dirty="0"/>
          </a:p>
        </p:txBody>
      </p:sp>
      <p:sp>
        <p:nvSpPr>
          <p:cNvPr id="23" name="Shape 16"/>
          <p:cNvSpPr/>
          <p:nvPr/>
        </p:nvSpPr>
        <p:spPr>
          <a:xfrm>
            <a:off x="685800" y="4910328"/>
            <a:ext cx="7040880" cy="676656"/>
          </a:xfrm>
          <a:prstGeom prst="roundRect">
            <a:avLst>
              <a:gd name="adj" fmla="val 10811"/>
            </a:avLst>
          </a:prstGeom>
          <a:solidFill>
            <a:srgbClr val="2E3554"/>
          </a:solidFill>
          <a:ln/>
        </p:spPr>
      </p:sp>
      <p:pic>
        <p:nvPicPr>
          <p:cNvPr id="24" name="Image 5" descr="preencoded.png">    </p:cNvPr>
          <p:cNvPicPr>
            <a:picLocks noChangeAspect="1"/>
          </p:cNvPicPr>
          <p:nvPr/>
        </p:nvPicPr>
        <p:blipFill>
          <a:blip r:embed="rId6"/>
          <a:stretch>
            <a:fillRect/>
          </a:stretch>
        </p:blipFill>
        <p:spPr>
          <a:xfrm>
            <a:off x="914400" y="5111496"/>
            <a:ext cx="274320" cy="274320"/>
          </a:xfrm>
          <a:prstGeom prst="rect">
            <a:avLst/>
          </a:prstGeom>
        </p:spPr>
      </p:pic>
      <p:sp>
        <p:nvSpPr>
          <p:cNvPr id="25" name="Text 17"/>
          <p:cNvSpPr/>
          <p:nvPr/>
        </p:nvSpPr>
        <p:spPr>
          <a:xfrm>
            <a:off x="1371600" y="4910328"/>
            <a:ext cx="228600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Log for the regulator</a:t>
            </a:r>
            <a:endParaRPr lang="en-US" sz="1300" dirty="0"/>
          </a:p>
        </p:txBody>
      </p:sp>
      <p:sp>
        <p:nvSpPr>
          <p:cNvPr id="26" name="Text 18"/>
          <p:cNvSpPr/>
          <p:nvPr/>
        </p:nvSpPr>
        <p:spPr>
          <a:xfrm>
            <a:off x="3703320" y="4910328"/>
            <a:ext cx="393192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An append-only audit record with model_version, redacted at log time — provable, attributable, PII-free.</a:t>
            </a:r>
            <a:endParaRPr lang="en-US" sz="1050" dirty="0"/>
          </a:p>
        </p:txBody>
      </p:sp>
      <p:sp>
        <p:nvSpPr>
          <p:cNvPr id="27" name="Shape 19"/>
          <p:cNvSpPr/>
          <p:nvPr/>
        </p:nvSpPr>
        <p:spPr>
          <a:xfrm>
            <a:off x="8092440" y="1691640"/>
            <a:ext cx="3429000" cy="4023360"/>
          </a:xfrm>
          <a:prstGeom prst="roundRect">
            <a:avLst>
              <a:gd name="adj" fmla="val 2400"/>
            </a:avLst>
          </a:prstGeom>
          <a:solidFill>
            <a:srgbClr val="2E3554"/>
          </a:solidFill>
          <a:ln/>
          <a:effectLst>
            <a:outerShdw sx="100000" sy="100000" kx="0" ky="0" algn="bl" rotWithShape="0" blurRad="76200" dist="25400" dir="5400000">
              <a:srgbClr val="9AA4B8">
                <a:alpha val="35000"/>
              </a:srgbClr>
            </a:outerShdw>
          </a:effectLst>
        </p:spPr>
      </p:sp>
      <p:sp>
        <p:nvSpPr>
          <p:cNvPr id="28" name="Text 20"/>
          <p:cNvSpPr/>
          <p:nvPr/>
        </p:nvSpPr>
        <p:spPr>
          <a:xfrm>
            <a:off x="8321040" y="1874520"/>
            <a:ext cx="2926080" cy="320040"/>
          </a:xfrm>
          <a:prstGeom prst="rect">
            <a:avLst/>
          </a:prstGeom>
          <a:noFill/>
          <a:ln/>
        </p:spPr>
        <p:txBody>
          <a:bodyPr wrap="square" lIns="0" tIns="0" rIns="0" bIns="0" rtlCol="0" anchor="ctr"/>
          <a:lstStyle/>
          <a:p>
            <a:pPr indent="0" marL="0">
              <a:buNone/>
            </a:pPr>
            <a:r>
              <a:rPr lang="en-US" sz="1200" b="1" spc="150" kern="0" dirty="0">
                <a:solidFill>
                  <a:srgbClr val="E8871E"/>
                </a:solidFill>
                <a:latin typeface="Arial" pitchFamily="34" charset="0"/>
                <a:ea typeface="Arial" pitchFamily="34" charset="-122"/>
                <a:cs typeface="Arial" pitchFamily="34" charset="-120"/>
              </a:rPr>
              <a:t>Next session</a:t>
            </a:r>
            <a:endParaRPr lang="en-US" sz="1200" dirty="0"/>
          </a:p>
        </p:txBody>
      </p:sp>
      <p:sp>
        <p:nvSpPr>
          <p:cNvPr id="29" name="Text 21"/>
          <p:cNvSpPr/>
          <p:nvPr/>
        </p:nvSpPr>
        <p:spPr>
          <a:xfrm>
            <a:off x="8321040" y="2194560"/>
            <a:ext cx="3017520" cy="7315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Safe Upgrades &amp; Incident Response</a:t>
            </a:r>
            <a:endParaRPr lang="en-US" sz="1600" dirty="0"/>
          </a:p>
        </p:txBody>
      </p:sp>
      <p:sp>
        <p:nvSpPr>
          <p:cNvPr id="30" name="Text 22"/>
          <p:cNvSpPr/>
          <p:nvPr/>
        </p:nvSpPr>
        <p:spPr>
          <a:xfrm>
            <a:off x="8321040" y="2971800"/>
            <a:ext cx="3017520" cy="182880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The service is now observable and auditable. Session 5 acts on what the signals reveal: shadow deployments to test candidates on live traffic without exposure, automated retraining triggers from drift breaches, and the incident-response discipline for when an alert fires at scale.</a:t>
            </a:r>
            <a:endParaRPr lang="en-US" sz="1150" dirty="0"/>
          </a:p>
        </p:txBody>
      </p:sp>
      <p:sp>
        <p:nvSpPr>
          <p:cNvPr id="31" name="Text 23"/>
          <p:cNvSpPr/>
          <p:nvPr/>
        </p:nvSpPr>
        <p:spPr>
          <a:xfrm>
            <a:off x="8321040" y="4846320"/>
            <a:ext cx="3017520" cy="777240"/>
          </a:xfrm>
          <a:prstGeom prst="rect">
            <a:avLst/>
          </a:prstGeom>
          <a:noFill/>
          <a:ln/>
        </p:spPr>
        <p:txBody>
          <a:bodyPr wrap="square" lIns="0" tIns="0" rIns="0" bIns="0" rtlCol="0" anchor="ctr"/>
          <a:lstStyle/>
          <a:p>
            <a:pPr indent="0" marL="0">
              <a:buNone/>
            </a:pPr>
            <a:r>
              <a:rPr lang="en-US" sz="1150" i="1" dirty="0">
                <a:solidFill>
                  <a:srgbClr val="F5B971"/>
                </a:solidFill>
                <a:latin typeface="Calibri" pitchFamily="34" charset="0"/>
                <a:ea typeface="Calibri" pitchFamily="34" charset="-122"/>
                <a:cs typeface="Calibri" pitchFamily="34" charset="-120"/>
              </a:rPr>
              <a:t>Retain the session4_lab stack — Session 5 builds its upgrade and incident drills on this instrumented service.</a:t>
            </a:r>
            <a:endParaRPr lang="en-US" sz="1150" dirty="0"/>
          </a:p>
        </p:txBody>
      </p:sp>
      <p:sp>
        <p:nvSpPr>
          <p:cNvPr id="32" name="Text 24"/>
          <p:cNvSpPr/>
          <p:nvPr/>
        </p:nvSpPr>
        <p:spPr>
          <a:xfrm>
            <a:off x="685800" y="6355080"/>
            <a:ext cx="8229600" cy="274320"/>
          </a:xfrm>
          <a:prstGeom prst="rect">
            <a:avLst/>
          </a:prstGeom>
          <a:noFill/>
          <a:ln/>
        </p:spPr>
        <p:txBody>
          <a:bodyPr wrap="square" lIns="0" tIns="0" rIns="0" bIns="0" rtlCol="0" anchor="ctr"/>
          <a:lstStyle/>
          <a:p>
            <a:pPr indent="0" marL="0">
              <a:buNone/>
            </a:pPr>
            <a:r>
              <a:rPr lang="en-US" sz="900" dirty="0">
                <a:solidFill>
                  <a:srgbClr val="9AA7C7"/>
                </a:solidFill>
                <a:latin typeface="Calibri" pitchFamily="34" charset="0"/>
                <a:ea typeface="Calibri" pitchFamily="34" charset="-122"/>
                <a:cs typeface="Calibri" pitchFamily="34" charset="-120"/>
              </a:rPr>
              <a:t>EXL AI Services · Track 2.A · Session 4 — Monitoring &amp; Audit Logging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2026-07-23T09:43:34Z</dcterms:created>
  <dcterms:modified xsi:type="dcterms:W3CDTF">2026-07-23T09:43:34Z</dcterms:modified>
</cp:coreProperties>
</file>