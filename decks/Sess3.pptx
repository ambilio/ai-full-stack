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to Session 3. Session 1 selected the serving stack; Session 2 packaged it as a container. Today the release process itself is engineered: every change is gated on measured model behaviour, delivered progressively through a canary, and reversible in seconds. State clearly at the outset that the lab is entirely local — a docker compose stack with two model versions and an nginx load balancer stands in for the cloud, and a git pre-push hook stands in for GitHub Actions, which is covered as reference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Emphasise the split: 45 minutes of concepts including the production pipeline walkthrough, 60 minutes of local lab, 15 minutes of review. The lab's central moments are the blocked push in Step 3 and the automatic rollback in Step 4 — protect time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core problem precisely: with AI services, a release can pass every unit test and still be a regression, because model behaviour is probabilistic and prompt changes are invisible to compilers, type-checkers and reviewers. The conclusion drives the whole session: releases must be gated on measured behaviour, not only on code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recap of CI versus CD, then the AI-specific point: an AI service releases three distinct artifact types — code, prompt/configuration, and model version. Each can change independently, each can regress behaviour, and therefore each requires a behavioural gate, not only compilation and unit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gate: an automated step that runs the model on a fixed test suite, scores the answers, and blocks the release on failure. promptfoo is the gate runner used throughout the course. Walk the flow diagram: any change enters the gate; only exit code 0 proceeds. The same gate runs at three points — developer machine, CI, and canary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blocks of the actual lab configuration: prompts (a file reference, versioned with the code), providers (the local model endpoint behind the load balancer), and tests (variables plus assertions). The defaultTest block applies the length and latency assertions to every case. This exact file is executed in Lab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top to bottom: deterministic substring checks are cheap and stable and form the base of the suite; javascript predicates cover structure; latency covers the performance budget; llm-rubric — model-graded assertion — is the advanced option for qualities that resist string matching, and it requires thresholds because judge scores vary between runs. The lab suite uses only deterministic assertions.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theory — the lab reproduces this mechanism locally with a pre-push hook. Walk the workflow top to bottom: it triggers on every pull request, checks out the branch, starts the model service, and runs the same promptfoo command used locally. A failing job produces a red check; branch protection marks that check required, which disables the merge button. Stress where each piece lives: the workflow file in the repository, branch protection in the repository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centrepiece slide. Walk left to right: developer commit, CI with the eval gate, image build and registry push, staging deployment, canary with automated analysis, full production. The saffron tag under each stage names the exact local mechanism participants use today — the lab is this pipeline in miniature. Finish with the red return path: rollback is a standing arrow back to the previous version, which remains warm; in the lab it is rollback.sh. Next slide covers where each change is made in a real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practical question: when a team member must change the pipeline in production, which file, in which place? Three change types: eval tests live in promptfooconfig.yaml in the application repository and grow after every incident; the pipeline definition is workflow YAML plus branch protection in the repository settings; traffic policy belongs to the deployment platform's configuration. Close with the ownership note: all three are versioned artifacts changed through review — none is edited on a server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across four dimensions. Rolling is the Kubernetes default and needs no extra capacity, but exposes all users progressively with no evaluation stage. Blue-green buys an instant switch at the price of double capacity. Canary limits the blast radius and inserts an analysis stage before each promotion — the properties AI services need. The next slide develops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arguments. First: behavioural regressions surface only under real traffic — offline evals sample expected questions, production supplies the unexpected ones — so AI releases need a stage where a small share of genuine traffic is measured. Second: promotion and rollback must be decided by metrics and evaluations against pre-agreed thresholds, not by a person watching dashboards; human observation does not scale, is not reproducible, and is absent at 3 a.m. In the lab, canary.sh implements exactly this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Rollback speed is a design property. The rules: reversal precedes diagnosis — restore service, then investigate with the pressure off; rollback must be a traffic change, never a rebuild; the previous version stays warm and deployed; code, prompt, configuration and model version are pinned and versioned together so the rollback restores all of them; and rollback is rehearsed on a schedule, because the first execution must not happen during a live incident. The commands at right are reference theory; the lab equivalent is rollback.sh, drilled in Step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pairs as Sessions 1 and 2. All steps run locally against the session3_lab handout; no cloud or GitHub credentials are distributed. The pass criterion: every participant sees one rejected push and one automatic rollback with their own eyes.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participants before any command runs. docker compose starts three containers: llm-v1 (stable, port 8081), llm-v2 (candidate, port 8082) and an nginx load balancer on port 8080 whose upstream weights are rewritten by the scripts. Both versions run the same image — they differ only in configuration, with the candidate's behaviour set by PREFIX_V2 in .env. All evaluation traffic enters through port 8080, exactly as user traffic enters production through a load balancer.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prerequisites before the clock starts. Docker and Compose carry over from Session 2. Node.js 18 or later is required for the evaluation runner; npx downloads promptfoo on first use, so the version check doubles as the download. Memory matters: two model containers run simultaneously, so roughly 8 GB of free RAM is required — close other heavy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environment template, then start the stack. Three containers come up: llm-v1, llm-v2 and nginx. The three curl commands establish the initial topology: v1 answers on 8081, v2 on 8082, and the load balancer on 8080 returns v1 because its initial weights are 100% v1 / 0% v2. Every later step is observed through these same three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execution of the gate, by hand, so its two outputs are understood before any automation consumes them: the human-readable results table, and the machine-readable exit code. Walk the four test cases at right — they are the promptfooconfig.yaml from the theory block. echo $? immediately after the run shows the exit code that every later gate consumes. promptfoo view serves the web report for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half of Step 3: build the local stand-in for GitHub. A bare repository on disk plays the remote; the pre-push hook plays GitHub Actions plus branch protection. The hook runs eval-gate.sh before any push leaves the machine, and a non-zero exit rejects the push. The first push runs the gate against the baseline and passes — establishing that a green gate lets work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Step 3, and the first key result of the lab. Edit the prompt to an instruction that breaks every answer. The commit succeeds — version control accepts anything — but the push is rejected: the hook runs the gate, the suite fails, and the failing table prints in the terminal. Draw the teaching point explicitly: a reviewer reading this one-line diff cannot foresee the behavioural damage; only executed evaluations can. git revert restores the baseline and the push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same regression is pushed one stage further — into a deployed candidate. Setting PREFIX_V2 to the regression instruction and recreating llm-v2 produces a running, broken candidate. canary.sh shifts the nginx weights to 10% v2, runs the canary suite directly against the candidate on port 8082, sees it fail, and reverts the weights to 100% v1 without asking anyone. The repeated curl loop proves users are back on v1. This is the automated-analysis loop from the theory block, executed on one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positive path. Fix the candidate's configuration, recreate it, and run the same script. This time each stage's evaluation passes and canary.sh promotes progressively: 10%, then 50%, then 100%. The final curl through the load balancer returns v2 — the candidate has become the production version, and v1 remains warm as the new rollback target. Emphasise that no command changed between failure and success; only the candidate's quality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drill. With v2 serving 100%, execute the rollback under time: the script returns the nginx weights to 100% v1 in seconds, and the curl confirms it. State the discipline in its final form: roll back first, debug second — reversal is cheap and immediate precisely because the previous version stayed warm and the operation is a traffic change, not a redeploy. The measured time goes into the lab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slide: every mechanism used today has a direct production counterpart, and participants restate this mapping in their own words in the deliverables. Walk each row and connect it back to the pipeline diagram from the theory block. The point to land: the concepts transfer unchanged — only the machinery's operator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all four items before the review block. Item 4 is the comprehension check: a short written answer explaining why unit tests alone cannot gate an LLM release — expect the words probabilistic, prompt, behaviour and evaluation in a sound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pitfall maps to a concept covered today and to a lab step where the correct practice was exercised. Invite participants to name the guarding step for each. The most consequential is canary without automated analysis — a canary nobody's pipeline evaluates is merely a slower full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five capabilities: behavioural gating, evaluation suites, enforcement at push, progressive delivery with automated analysis, and rehearsed rollback. Remind pairs to retain the session3_lab stack; Session 4 adds monitoring, drift detection and audit logging to the same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946"/>
        </a:solidFill>
      </p:bgPr>
    </p:bg>
    <p:spTree>
      <p:nvGrpSpPr>
        <p:cNvPr id="1" name=""/>
        <p:cNvGrpSpPr/>
        <p:nvPr/>
      </p:nvGrpSpPr>
      <p:grpSpPr>
        <a:xfrm>
          <a:off x="0" y="0"/>
          <a:ext cx="0" cy="0"/>
          <a:chOff x="0" y="0"/>
          <a:chExt cx="0" cy="0"/>
        </a:xfrm>
      </p:grpSpPr>
      <p:sp>
        <p:nvSpPr>
          <p:cNvPr id="2" name="Shape 0"/>
          <p:cNvSpPr/>
          <p:nvPr/>
        </p:nvSpPr>
        <p:spPr>
          <a:xfrm>
            <a:off x="9509760" y="-1645920"/>
            <a:ext cx="4937760" cy="4937760"/>
          </a:xfrm>
          <a:prstGeom prst="ellipse">
            <a:avLst/>
          </a:prstGeom>
          <a:solidFill>
            <a:srgbClr val="2E3554"/>
          </a:solidFill>
          <a:ln/>
        </p:spPr>
      </p:sp>
      <p:sp>
        <p:nvSpPr>
          <p:cNvPr id="3" name="Shape 1"/>
          <p:cNvSpPr/>
          <p:nvPr/>
        </p:nvSpPr>
        <p:spPr>
          <a:xfrm>
            <a:off x="-1463040" y="4937760"/>
            <a:ext cx="4023360" cy="4023360"/>
          </a:xfrm>
          <a:prstGeom prst="ellipse">
            <a:avLst/>
          </a:prstGeom>
          <a:solidFill>
            <a:srgbClr val="2E3554"/>
          </a:solidFill>
          <a:ln/>
        </p:spPr>
      </p:sp>
      <p:sp>
        <p:nvSpPr>
          <p:cNvPr id="4" name="Shape 2"/>
          <p:cNvSpPr/>
          <p:nvPr/>
        </p:nvSpPr>
        <p:spPr>
          <a:xfrm>
            <a:off x="685800" y="777240"/>
            <a:ext cx="777240" cy="777240"/>
          </a:xfrm>
          <a:prstGeom prst="ellipse">
            <a:avLst/>
          </a:prstGeom>
          <a:solidFill>
            <a:srgbClr val="E8871E"/>
          </a:solidFill>
          <a:ln/>
        </p:spPr>
      </p:sp>
      <p:pic>
        <p:nvPicPr>
          <p:cNvPr id="5" name="Image 0" descr="preencoded.png">    </p:cNvPr>
          <p:cNvPicPr>
            <a:picLocks noChangeAspect="1"/>
          </p:cNvPicPr>
          <p:nvPr/>
        </p:nvPicPr>
        <p:blipFill>
          <a:blip r:embed="rId1"/>
          <a:stretch>
            <a:fillRect/>
          </a:stretch>
        </p:blipFill>
        <p:spPr>
          <a:xfrm>
            <a:off x="887882" y="979322"/>
            <a:ext cx="373075" cy="373075"/>
          </a:xfrm>
          <a:prstGeom prst="rect">
            <a:avLst/>
          </a:prstGeom>
        </p:spPr>
      </p:pic>
      <p:sp>
        <p:nvSpPr>
          <p:cNvPr id="6" name="Text 3"/>
          <p:cNvSpPr/>
          <p:nvPr/>
        </p:nvSpPr>
        <p:spPr>
          <a:xfrm>
            <a:off x="685800" y="1920240"/>
            <a:ext cx="10515600" cy="365760"/>
          </a:xfrm>
          <a:prstGeom prst="rect">
            <a:avLst/>
          </a:prstGeom>
          <a:noFill/>
          <a:ln/>
        </p:spPr>
        <p:txBody>
          <a:bodyPr wrap="square" lIns="0" tIns="0" rIns="0" bIns="0" rtlCol="0" anchor="ctr"/>
          <a:lstStyle/>
          <a:p>
            <a:pPr indent="0" marL="0">
              <a:buNone/>
            </a:pPr>
            <a:r>
              <a:rPr lang="en-US" sz="1300" b="1" spc="200" kern="0" dirty="0">
                <a:solidFill>
                  <a:srgbClr val="E8871E"/>
                </a:solidFill>
                <a:latin typeface="Arial" pitchFamily="34" charset="0"/>
                <a:ea typeface="Arial" pitchFamily="34" charset="-122"/>
                <a:cs typeface="Arial" pitchFamily="34" charset="-120"/>
              </a:rPr>
              <a:t>AI FULL-STACK &amp; DEPLOYMENT ENGINEER · TRACK 2.A · SESSION 3</a:t>
            </a:r>
            <a:endParaRPr lang="en-US" sz="1300" dirty="0"/>
          </a:p>
        </p:txBody>
      </p:sp>
      <p:sp>
        <p:nvSpPr>
          <p:cNvPr id="7" name="Text 4"/>
          <p:cNvSpPr/>
          <p:nvPr/>
        </p:nvSpPr>
        <p:spPr>
          <a:xfrm>
            <a:off x="658368" y="2286000"/>
            <a:ext cx="11338560" cy="100584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CI/CD for AI: Eval Gates, Canary &amp; Rollback</a:t>
            </a:r>
            <a:endParaRPr lang="en-US" sz="4200" dirty="0"/>
          </a:p>
        </p:txBody>
      </p:sp>
      <p:sp>
        <p:nvSpPr>
          <p:cNvPr id="8" name="Text 5"/>
          <p:cNvSpPr/>
          <p:nvPr/>
        </p:nvSpPr>
        <p:spPr>
          <a:xfrm>
            <a:off x="685800" y="3337560"/>
            <a:ext cx="10241280" cy="73152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Gating releases on measured model behaviour: evaluation gates in the pipeline, progressive canary delivery, and automated rollback</a:t>
            </a:r>
            <a:endParaRPr lang="en-US" sz="1700" dirty="0"/>
          </a:p>
        </p:txBody>
      </p:sp>
      <p:sp>
        <p:nvSpPr>
          <p:cNvPr id="9" name="Text 6"/>
          <p:cNvSpPr/>
          <p:nvPr/>
        </p:nvSpPr>
        <p:spPr>
          <a:xfrm>
            <a:off x="685800" y="4343400"/>
            <a:ext cx="1078992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Eval gates  ·  promptfoo  ·  Pre-push hooks  ·  GitHub Actions (theory)  ·  Canary traffic splits  ·  Automated analysis  ·  Rollback</a:t>
            </a:r>
            <a:endParaRPr lang="en-US" sz="1450" dirty="0"/>
          </a:p>
        </p:txBody>
      </p:sp>
      <p:sp>
        <p:nvSpPr>
          <p:cNvPr id="10" name="Text 7"/>
          <p:cNvSpPr/>
          <p:nvPr/>
        </p:nvSpPr>
        <p:spPr>
          <a:xfrm>
            <a:off x="685800" y="4983480"/>
            <a:ext cx="10058400" cy="320040"/>
          </a:xfrm>
          <a:prstGeom prst="rect">
            <a:avLst/>
          </a:prstGeom>
          <a:noFill/>
          <a:ln/>
        </p:spPr>
        <p:txBody>
          <a:bodyPr wrap="square" lIns="0" tIns="0" rIns="0" bIns="0" rtlCol="0" anchor="ctr"/>
          <a:lstStyle/>
          <a:p>
            <a:pPr indent="0" marL="0">
              <a:buNone/>
            </a:pPr>
            <a:r>
              <a:rPr lang="en-US" sz="1300" i="1" dirty="0">
                <a:solidFill>
                  <a:srgbClr val="F5B971"/>
                </a:solidFill>
                <a:latin typeface="Calibri" pitchFamily="34" charset="0"/>
                <a:ea typeface="Calibri" pitchFamily="34" charset="-122"/>
                <a:cs typeface="Calibri" pitchFamily="34" charset="-120"/>
              </a:rPr>
              <a:t>The hands-on lab runs entirely on your local machine — no cloud or GitHub account is required.</a:t>
            </a:r>
            <a:endParaRPr lang="en-US" sz="1300" dirty="0"/>
          </a:p>
        </p:txBody>
      </p:sp>
      <p:sp>
        <p:nvSpPr>
          <p:cNvPr id="11" name="Text 8"/>
          <p:cNvSpPr/>
          <p:nvPr/>
        </p:nvSpPr>
        <p:spPr>
          <a:xfrm>
            <a:off x="685800" y="6035040"/>
            <a:ext cx="9601200" cy="320040"/>
          </a:xfrm>
          <a:prstGeom prst="rect">
            <a:avLst/>
          </a:prstGeom>
          <a:noFill/>
          <a:ln/>
        </p:spPr>
        <p:txBody>
          <a:bodyPr wrap="square" lIns="0" tIns="0" rIns="0" bIns="0" rtlCol="0" anchor="ctr"/>
          <a:lstStyle/>
          <a:p>
            <a:pPr indent="0" marL="0">
              <a:buNone/>
            </a:pPr>
            <a:r>
              <a:rPr lang="en-US" sz="1300" dirty="0">
                <a:solidFill>
                  <a:srgbClr val="9AA7C7"/>
                </a:solidFill>
                <a:latin typeface="Calibri" pitchFamily="34" charset="0"/>
                <a:ea typeface="Calibri" pitchFamily="34" charset="-122"/>
                <a:cs typeface="Calibri" pitchFamily="34" charset="-120"/>
              </a:rPr>
              <a:t>Day 3 · 2 hours · concepts 45 min + local lab 60 min + review 15 min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SESSION 3 · AGENDA</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Session agenda</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554480"/>
            <a:ext cx="10881360" cy="1188720"/>
          </a:xfrm>
          <a:prstGeom prst="roundRect">
            <a:avLst>
              <a:gd name="adj" fmla="val 6923"/>
            </a:avLst>
          </a:prstGeom>
          <a:solidFill>
            <a:srgbClr val="EEF2FA"/>
          </a:solidFill>
          <a:ln/>
          <a:effectLst>
            <a:outerShdw sx="100000" sy="100000" kx="0" ky="0" algn="bl" rotWithShape="0" blurRad="76200" dist="25400" dir="5400000">
              <a:srgbClr val="9AA4B8">
                <a:alpha val="35000"/>
              </a:srgbClr>
            </a:outerShdw>
          </a:effectLst>
        </p:spPr>
      </p:sp>
      <p:sp>
        <p:nvSpPr>
          <p:cNvPr id="9" name="Text 5"/>
          <p:cNvSpPr/>
          <p:nvPr/>
        </p:nvSpPr>
        <p:spPr>
          <a:xfrm>
            <a:off x="868680" y="1856232"/>
            <a:ext cx="1280160" cy="548640"/>
          </a:xfrm>
          <a:prstGeom prst="rect">
            <a:avLst/>
          </a:prstGeom>
          <a:noFill/>
          <a:ln/>
        </p:spPr>
        <p:txBody>
          <a:bodyPr wrap="square" lIns="0" tIns="0" rIns="0" bIns="0" rtlCol="0" anchor="ctr"/>
          <a:lstStyle/>
          <a:p>
            <a:pPr indent="0" marL="0">
              <a:buNone/>
            </a:pPr>
            <a:r>
              <a:rPr lang="en-US" sz="2200" b="1" dirty="0">
                <a:solidFill>
                  <a:srgbClr val="E8871E"/>
                </a:solidFill>
                <a:latin typeface="Arial" pitchFamily="34" charset="0"/>
                <a:ea typeface="Arial" pitchFamily="34" charset="-122"/>
                <a:cs typeface="Arial" pitchFamily="34" charset="-120"/>
              </a:rPr>
              <a:t>45 min</a:t>
            </a:r>
            <a:endParaRPr lang="en-US" sz="2200" dirty="0"/>
          </a:p>
        </p:txBody>
      </p:sp>
      <p:sp>
        <p:nvSpPr>
          <p:cNvPr id="10" name="Shape 6"/>
          <p:cNvSpPr/>
          <p:nvPr/>
        </p:nvSpPr>
        <p:spPr>
          <a:xfrm>
            <a:off x="2286000" y="1883664"/>
            <a:ext cx="502920" cy="502920"/>
          </a:xfrm>
          <a:prstGeom prst="ellipse">
            <a:avLst/>
          </a:prstGeom>
          <a:solidFill>
            <a:srgbClr val="232946"/>
          </a:solidFill>
          <a:ln/>
        </p:spPr>
      </p:sp>
      <p:pic>
        <p:nvPicPr>
          <p:cNvPr id="11" name="Image 1" descr="preencoded.png">    </p:cNvPr>
          <p:cNvPicPr>
            <a:picLocks noChangeAspect="1"/>
          </p:cNvPicPr>
          <p:nvPr/>
        </p:nvPicPr>
        <p:blipFill>
          <a:blip r:embed="rId2"/>
          <a:stretch>
            <a:fillRect/>
          </a:stretch>
        </p:blipFill>
        <p:spPr>
          <a:xfrm>
            <a:off x="2416759" y="2014423"/>
            <a:ext cx="241402" cy="241402"/>
          </a:xfrm>
          <a:prstGeom prst="rect">
            <a:avLst/>
          </a:prstGeom>
        </p:spPr>
      </p:pic>
      <p:sp>
        <p:nvSpPr>
          <p:cNvPr id="12" name="Text 7"/>
          <p:cNvSpPr/>
          <p:nvPr/>
        </p:nvSpPr>
        <p:spPr>
          <a:xfrm>
            <a:off x="3017520" y="1682496"/>
            <a:ext cx="813816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Concepts &amp; walkthrough</a:t>
            </a:r>
            <a:endParaRPr lang="en-US" sz="1600" dirty="0"/>
          </a:p>
        </p:txBody>
      </p:sp>
      <p:sp>
        <p:nvSpPr>
          <p:cNvPr id="13" name="Text 8"/>
          <p:cNvSpPr/>
          <p:nvPr/>
        </p:nvSpPr>
        <p:spPr>
          <a:xfrm>
            <a:off x="3017520" y="2029968"/>
            <a:ext cx="8138160" cy="65836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Why AI releases require behavioural gates; evaluation gates with promptfoo; GitHub Actions as reference theory; the production pipeline end-to-end and its local equivalents; deployment strategies; rollback discipline.</a:t>
            </a:r>
            <a:endParaRPr lang="en-US" sz="1150" dirty="0"/>
          </a:p>
        </p:txBody>
      </p:sp>
      <p:sp>
        <p:nvSpPr>
          <p:cNvPr id="14" name="Shape 9"/>
          <p:cNvSpPr/>
          <p:nvPr/>
        </p:nvSpPr>
        <p:spPr>
          <a:xfrm>
            <a:off x="640080" y="2971800"/>
            <a:ext cx="10881360" cy="1188720"/>
          </a:xfrm>
          <a:prstGeom prst="roundRect">
            <a:avLst>
              <a:gd name="adj" fmla="val 6923"/>
            </a:avLst>
          </a:prstGeom>
          <a:solidFill>
            <a:srgbClr val="DDE6F5"/>
          </a:solidFill>
          <a:ln/>
          <a:effectLst>
            <a:outerShdw sx="100000" sy="100000" kx="0" ky="0" algn="bl" rotWithShape="0" blurRad="76200" dist="25400" dir="5400000">
              <a:srgbClr val="9AA4B8">
                <a:alpha val="35000"/>
              </a:srgbClr>
            </a:outerShdw>
          </a:effectLst>
        </p:spPr>
      </p:sp>
      <p:sp>
        <p:nvSpPr>
          <p:cNvPr id="15" name="Text 10"/>
          <p:cNvSpPr/>
          <p:nvPr/>
        </p:nvSpPr>
        <p:spPr>
          <a:xfrm>
            <a:off x="868680" y="3273552"/>
            <a:ext cx="1280160" cy="548640"/>
          </a:xfrm>
          <a:prstGeom prst="rect">
            <a:avLst/>
          </a:prstGeom>
          <a:noFill/>
          <a:ln/>
        </p:spPr>
        <p:txBody>
          <a:bodyPr wrap="square" lIns="0" tIns="0" rIns="0" bIns="0" rtlCol="0" anchor="ctr"/>
          <a:lstStyle/>
          <a:p>
            <a:pPr indent="0" marL="0">
              <a:buNone/>
            </a:pPr>
            <a:r>
              <a:rPr lang="en-US" sz="2200" b="1" dirty="0">
                <a:solidFill>
                  <a:srgbClr val="E8871E"/>
                </a:solidFill>
                <a:latin typeface="Arial" pitchFamily="34" charset="0"/>
                <a:ea typeface="Arial" pitchFamily="34" charset="-122"/>
                <a:cs typeface="Arial" pitchFamily="34" charset="-120"/>
              </a:rPr>
              <a:t>60 min</a:t>
            </a:r>
            <a:endParaRPr lang="en-US" sz="2200" dirty="0"/>
          </a:p>
        </p:txBody>
      </p:sp>
      <p:sp>
        <p:nvSpPr>
          <p:cNvPr id="16" name="Shape 11"/>
          <p:cNvSpPr/>
          <p:nvPr/>
        </p:nvSpPr>
        <p:spPr>
          <a:xfrm>
            <a:off x="2286000" y="3300984"/>
            <a:ext cx="502920" cy="502920"/>
          </a:xfrm>
          <a:prstGeom prst="ellipse">
            <a:avLst/>
          </a:prstGeom>
          <a:solidFill>
            <a:srgbClr val="232946"/>
          </a:solidFill>
          <a:ln/>
        </p:spPr>
      </p:sp>
      <p:pic>
        <p:nvPicPr>
          <p:cNvPr id="17" name="Image 2" descr="preencoded.png">    </p:cNvPr>
          <p:cNvPicPr>
            <a:picLocks noChangeAspect="1"/>
          </p:cNvPicPr>
          <p:nvPr/>
        </p:nvPicPr>
        <p:blipFill>
          <a:blip r:embed="rId3"/>
          <a:stretch>
            <a:fillRect/>
          </a:stretch>
        </p:blipFill>
        <p:spPr>
          <a:xfrm>
            <a:off x="2416759" y="3431743"/>
            <a:ext cx="241402" cy="241402"/>
          </a:xfrm>
          <a:prstGeom prst="rect">
            <a:avLst/>
          </a:prstGeom>
        </p:spPr>
      </p:pic>
      <p:sp>
        <p:nvSpPr>
          <p:cNvPr id="18" name="Text 12"/>
          <p:cNvSpPr/>
          <p:nvPr/>
        </p:nvSpPr>
        <p:spPr>
          <a:xfrm>
            <a:off x="3017520" y="3099816"/>
            <a:ext cx="813816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Local CI/CD lab</a:t>
            </a:r>
            <a:endParaRPr lang="en-US" sz="1600" dirty="0"/>
          </a:p>
        </p:txBody>
      </p:sp>
      <p:sp>
        <p:nvSpPr>
          <p:cNvPr id="19" name="Text 13"/>
          <p:cNvSpPr/>
          <p:nvPr/>
        </p:nvSpPr>
        <p:spPr>
          <a:xfrm>
            <a:off x="3017520" y="3447288"/>
            <a:ext cx="8138160" cy="65836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 docker compose stack with two model versions and an nginx load balancer: run the eval gate, block a bad push with a pre-push hook, fail a canary and observe automatic rollback, promote a good canary, and drill rollback. All steps are local.</a:t>
            </a:r>
            <a:endParaRPr lang="en-US" sz="1150" dirty="0"/>
          </a:p>
        </p:txBody>
      </p:sp>
      <p:sp>
        <p:nvSpPr>
          <p:cNvPr id="20" name="Shape 14"/>
          <p:cNvSpPr/>
          <p:nvPr/>
        </p:nvSpPr>
        <p:spPr>
          <a:xfrm>
            <a:off x="640080" y="4389120"/>
            <a:ext cx="10881360" cy="1188720"/>
          </a:xfrm>
          <a:prstGeom prst="roundRect">
            <a:avLst>
              <a:gd name="adj" fmla="val 6923"/>
            </a:avLst>
          </a:prstGeom>
          <a:solidFill>
            <a:srgbClr val="EEF2FA"/>
          </a:solidFill>
          <a:ln/>
          <a:effectLst>
            <a:outerShdw sx="100000" sy="100000" kx="0" ky="0" algn="bl" rotWithShape="0" blurRad="76200" dist="25400" dir="5400000">
              <a:srgbClr val="9AA4B8">
                <a:alpha val="35000"/>
              </a:srgbClr>
            </a:outerShdw>
          </a:effectLst>
        </p:spPr>
      </p:sp>
      <p:sp>
        <p:nvSpPr>
          <p:cNvPr id="21" name="Text 15"/>
          <p:cNvSpPr/>
          <p:nvPr/>
        </p:nvSpPr>
        <p:spPr>
          <a:xfrm>
            <a:off x="868680" y="4690872"/>
            <a:ext cx="1280160" cy="548640"/>
          </a:xfrm>
          <a:prstGeom prst="rect">
            <a:avLst/>
          </a:prstGeom>
          <a:noFill/>
          <a:ln/>
        </p:spPr>
        <p:txBody>
          <a:bodyPr wrap="square" lIns="0" tIns="0" rIns="0" bIns="0" rtlCol="0" anchor="ctr"/>
          <a:lstStyle/>
          <a:p>
            <a:pPr indent="0" marL="0">
              <a:buNone/>
            </a:pPr>
            <a:r>
              <a:rPr lang="en-US" sz="2200" b="1" dirty="0">
                <a:solidFill>
                  <a:srgbClr val="E8871E"/>
                </a:solidFill>
                <a:latin typeface="Arial" pitchFamily="34" charset="0"/>
                <a:ea typeface="Arial" pitchFamily="34" charset="-122"/>
                <a:cs typeface="Arial" pitchFamily="34" charset="-120"/>
              </a:rPr>
              <a:t>15 min</a:t>
            </a:r>
            <a:endParaRPr lang="en-US" sz="2200" dirty="0"/>
          </a:p>
        </p:txBody>
      </p:sp>
      <p:sp>
        <p:nvSpPr>
          <p:cNvPr id="22" name="Shape 16"/>
          <p:cNvSpPr/>
          <p:nvPr/>
        </p:nvSpPr>
        <p:spPr>
          <a:xfrm>
            <a:off x="2286000" y="4718304"/>
            <a:ext cx="502920" cy="502920"/>
          </a:xfrm>
          <a:prstGeom prst="ellipse">
            <a:avLst/>
          </a:prstGeom>
          <a:solidFill>
            <a:srgbClr val="232946"/>
          </a:solidFill>
          <a:ln/>
        </p:spPr>
      </p:sp>
      <p:pic>
        <p:nvPicPr>
          <p:cNvPr id="23" name="Image 3" descr="preencoded.png">    </p:cNvPr>
          <p:cNvPicPr>
            <a:picLocks noChangeAspect="1"/>
          </p:cNvPicPr>
          <p:nvPr/>
        </p:nvPicPr>
        <p:blipFill>
          <a:blip r:embed="rId4"/>
          <a:stretch>
            <a:fillRect/>
          </a:stretch>
        </p:blipFill>
        <p:spPr>
          <a:xfrm>
            <a:off x="2416759" y="4849063"/>
            <a:ext cx="241402" cy="241402"/>
          </a:xfrm>
          <a:prstGeom prst="rect">
            <a:avLst/>
          </a:prstGeom>
        </p:spPr>
      </p:pic>
      <p:sp>
        <p:nvSpPr>
          <p:cNvPr id="24" name="Text 17"/>
          <p:cNvSpPr/>
          <p:nvPr/>
        </p:nvSpPr>
        <p:spPr>
          <a:xfrm>
            <a:off x="3017520" y="4517136"/>
            <a:ext cx="8138160" cy="365760"/>
          </a:xfrm>
          <a:prstGeom prst="rect">
            <a:avLst/>
          </a:prstGeom>
          <a:noFill/>
          <a:ln/>
        </p:spPr>
        <p:txBody>
          <a:bodyPr wrap="square" lIns="0" tIns="0" rIns="0" bIns="0" rtlCol="0" anchor="ctr"/>
          <a:lstStyle/>
          <a:p>
            <a:pPr indent="0" marL="0">
              <a:buNone/>
            </a:pPr>
            <a:r>
              <a:rPr lang="en-US" sz="1600" b="1" dirty="0">
                <a:solidFill>
                  <a:srgbClr val="232946"/>
                </a:solidFill>
                <a:latin typeface="Arial" pitchFamily="34" charset="0"/>
                <a:ea typeface="Arial" pitchFamily="34" charset="-122"/>
                <a:cs typeface="Arial" pitchFamily="34" charset="-120"/>
              </a:rPr>
              <a:t>Review &amp; wrap-up</a:t>
            </a:r>
            <a:endParaRPr lang="en-US" sz="1600" dirty="0"/>
          </a:p>
        </p:txBody>
      </p:sp>
      <p:sp>
        <p:nvSpPr>
          <p:cNvPr id="25" name="Text 18"/>
          <p:cNvSpPr/>
          <p:nvPr/>
        </p:nvSpPr>
        <p:spPr>
          <a:xfrm>
            <a:off x="3017520" y="4864608"/>
            <a:ext cx="8138160" cy="65836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Compare evidence across pairs, map each local mechanism to its production counterpart, and preview Session 4.</a:t>
            </a:r>
            <a:endParaRPr lang="en-US" sz="1150" dirty="0"/>
          </a:p>
        </p:txBody>
      </p:sp>
      <p:sp>
        <p:nvSpPr>
          <p:cNvPr id="26" name="Text 19"/>
          <p:cNvSpPr/>
          <p:nvPr/>
        </p:nvSpPr>
        <p:spPr>
          <a:xfrm>
            <a:off x="640080" y="5943600"/>
            <a:ext cx="10881360" cy="411480"/>
          </a:xfrm>
          <a:prstGeom prst="rect">
            <a:avLst/>
          </a:prstGeom>
          <a:noFill/>
          <a:ln/>
        </p:spPr>
        <p:txBody>
          <a:bodyPr wrap="square" lIns="0" tIns="0" rIns="0" bIns="0" rtlCol="0" anchor="ctr"/>
          <a:lstStyle/>
          <a:p>
            <a:pPr indent="0" marL="0">
              <a:buNone/>
            </a:pPr>
            <a:r>
              <a:rPr lang="en-US" sz="1350" b="1" dirty="0">
                <a:solidFill>
                  <a:srgbClr val="E8871E"/>
                </a:solidFill>
                <a:latin typeface="Calibri" pitchFamily="34" charset="0"/>
                <a:ea typeface="Calibri" pitchFamily="34" charset="-122"/>
                <a:cs typeface="Calibri" pitchFamily="34" charset="-120"/>
              </a:rPr>
              <a:t>Objective: </a:t>
            </a:r>
            <a:pPr indent="0" marL="0">
              <a:buNone/>
            </a:pPr>
            <a:r>
              <a:rPr lang="en-US" sz="1350" dirty="0">
                <a:solidFill>
                  <a:srgbClr val="232946"/>
                </a:solidFill>
                <a:latin typeface="Calibri" pitchFamily="34" charset="0"/>
                <a:ea typeface="Calibri" pitchFamily="34" charset="-122"/>
                <a:cs typeface="Calibri" pitchFamily="34" charset="-120"/>
              </a:rPr>
              <a:t>construct a release pipeline in which a behavioural regression is blocked at push, caught at canary, and reversed automatically.</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THE PROBLEM</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Green tests, regressed behaviour</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508760"/>
            <a:ext cx="5257800" cy="3794760"/>
          </a:xfrm>
          <a:prstGeom prst="roundRect">
            <a:avLst>
              <a:gd name="adj" fmla="val 2169"/>
            </a:avLst>
          </a:prstGeom>
          <a:solidFill>
            <a:srgbClr val="EEF2FA"/>
          </a:solidFill>
          <a:ln/>
          <a:effectLst>
            <a:outerShdw sx="100000" sy="100000" kx="0" ky="0" algn="bl" rotWithShape="0" blurRad="76200" dist="25400" dir="5400000">
              <a:srgbClr val="9AA4B8">
                <a:alpha val="35000"/>
              </a:srgbClr>
            </a:outerShdw>
          </a:effectLst>
        </p:spPr>
      </p:sp>
      <p:sp>
        <p:nvSpPr>
          <p:cNvPr id="9" name="Text 5"/>
          <p:cNvSpPr/>
          <p:nvPr/>
        </p:nvSpPr>
        <p:spPr>
          <a:xfrm>
            <a:off x="914400" y="1737360"/>
            <a:ext cx="4663440" cy="365760"/>
          </a:xfrm>
          <a:prstGeom prst="rect">
            <a:avLst/>
          </a:prstGeom>
          <a:noFill/>
          <a:ln/>
        </p:spPr>
        <p:txBody>
          <a:bodyPr wrap="square" lIns="0" tIns="0" rIns="0" bIns="0" rtlCol="0" anchor="ctr"/>
          <a:lstStyle/>
          <a:p>
            <a:pPr indent="0" marL="0">
              <a:buNone/>
            </a:pPr>
            <a:r>
              <a:rPr lang="en-US" sz="1700" b="1" dirty="0">
                <a:solidFill>
                  <a:srgbClr val="B3402A"/>
                </a:solidFill>
                <a:latin typeface="Arial" pitchFamily="34" charset="0"/>
                <a:ea typeface="Arial" pitchFamily="34" charset="-122"/>
                <a:cs typeface="Arial" pitchFamily="34" charset="-120"/>
              </a:rPr>
              <a:t>What conventional CI verifies</a:t>
            </a:r>
            <a:endParaRPr lang="en-US" sz="1700" dirty="0"/>
          </a:p>
        </p:txBody>
      </p:sp>
      <p:sp>
        <p:nvSpPr>
          <p:cNvPr id="10" name="Text 6"/>
          <p:cNvSpPr/>
          <p:nvPr/>
        </p:nvSpPr>
        <p:spPr>
          <a:xfrm>
            <a:off x="914400" y="2084832"/>
            <a:ext cx="4663440" cy="274320"/>
          </a:xfrm>
          <a:prstGeom prst="rect">
            <a:avLst/>
          </a:prstGeom>
          <a:noFill/>
          <a:ln/>
        </p:spPr>
        <p:txBody>
          <a:bodyPr wrap="square" lIns="0" tIns="0" rIns="0" bIns="0" rtlCol="0" anchor="ctr"/>
          <a:lstStyle/>
          <a:p>
            <a:pPr indent="0" marL="0">
              <a:buNone/>
            </a:pPr>
            <a:r>
              <a:rPr lang="en-US" sz="1200" i="1" dirty="0">
                <a:solidFill>
                  <a:srgbClr val="5A6478"/>
                </a:solidFill>
                <a:latin typeface="Calibri" pitchFamily="34" charset="0"/>
                <a:ea typeface="Calibri" pitchFamily="34" charset="-122"/>
                <a:cs typeface="Calibri" pitchFamily="34" charset="-120"/>
              </a:rPr>
              <a:t>Code correctness — necessary, not sufficient</a:t>
            </a:r>
            <a:endParaRPr lang="en-US" sz="1200" dirty="0"/>
          </a:p>
        </p:txBody>
      </p:sp>
      <p:sp>
        <p:nvSpPr>
          <p:cNvPr id="11" name="Text 7"/>
          <p:cNvSpPr/>
          <p:nvPr/>
        </p:nvSpPr>
        <p:spPr>
          <a:xfrm>
            <a:off x="914400" y="2487168"/>
            <a:ext cx="4754880" cy="27432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Unit tests assert deterministic code paths: given input X, function f returns Y</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A prompt edit changes zero lines of logic, so no test is invalidated and no compiler objects</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The API contract is unchanged — requests still return 200 OK with well-formed JSON</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A release can pass every unit test and still degrade a substantial share of answers</a:t>
            </a:r>
            <a:endParaRPr lang="en-US" sz="1250" dirty="0"/>
          </a:p>
        </p:txBody>
      </p:sp>
      <p:sp>
        <p:nvSpPr>
          <p:cNvPr id="12" name="Shape 8"/>
          <p:cNvSpPr/>
          <p:nvPr/>
        </p:nvSpPr>
        <p:spPr>
          <a:xfrm>
            <a:off x="6263640" y="1508760"/>
            <a:ext cx="5257800" cy="3794760"/>
          </a:xfrm>
          <a:prstGeom prst="roundRect">
            <a:avLst>
              <a:gd name="adj" fmla="val 2169"/>
            </a:avLst>
          </a:prstGeom>
          <a:solidFill>
            <a:srgbClr val="DDE6F5"/>
          </a:solidFill>
          <a:ln/>
          <a:effectLst>
            <a:outerShdw sx="100000" sy="100000" kx="0" ky="0" algn="bl" rotWithShape="0" blurRad="76200" dist="25400" dir="5400000">
              <a:srgbClr val="9AA4B8">
                <a:alpha val="35000"/>
              </a:srgbClr>
            </a:outerShdw>
          </a:effectLst>
        </p:spPr>
      </p:sp>
      <p:sp>
        <p:nvSpPr>
          <p:cNvPr id="13" name="Text 9"/>
          <p:cNvSpPr/>
          <p:nvPr/>
        </p:nvSpPr>
        <p:spPr>
          <a:xfrm>
            <a:off x="6537960" y="1737360"/>
            <a:ext cx="4754880" cy="365760"/>
          </a:xfrm>
          <a:prstGeom prst="rect">
            <a:avLst/>
          </a:prstGeom>
          <a:noFill/>
          <a:ln/>
        </p:spPr>
        <p:txBody>
          <a:bodyPr wrap="square" lIns="0" tIns="0" rIns="0" bIns="0" rtlCol="0" anchor="ctr"/>
          <a:lstStyle/>
          <a:p>
            <a:pPr indent="0" marL="0">
              <a:buNone/>
            </a:pPr>
            <a:r>
              <a:rPr lang="en-US" sz="1700" b="1" dirty="0">
                <a:solidFill>
                  <a:srgbClr val="2C7A4B"/>
                </a:solidFill>
                <a:latin typeface="Arial" pitchFamily="34" charset="0"/>
                <a:ea typeface="Arial" pitchFamily="34" charset="-122"/>
                <a:cs typeface="Arial" pitchFamily="34" charset="-120"/>
              </a:rPr>
              <a:t>What an AI release requires</a:t>
            </a:r>
            <a:endParaRPr lang="en-US" sz="1700" dirty="0"/>
          </a:p>
        </p:txBody>
      </p:sp>
      <p:sp>
        <p:nvSpPr>
          <p:cNvPr id="14" name="Text 10"/>
          <p:cNvSpPr/>
          <p:nvPr/>
        </p:nvSpPr>
        <p:spPr>
          <a:xfrm>
            <a:off x="6537960" y="2084832"/>
            <a:ext cx="4754880" cy="274320"/>
          </a:xfrm>
          <a:prstGeom prst="rect">
            <a:avLst/>
          </a:prstGeom>
          <a:noFill/>
          <a:ln/>
        </p:spPr>
        <p:txBody>
          <a:bodyPr wrap="square" lIns="0" tIns="0" rIns="0" bIns="0" rtlCol="0" anchor="ctr"/>
          <a:lstStyle/>
          <a:p>
            <a:pPr indent="0" marL="0">
              <a:buNone/>
            </a:pPr>
            <a:r>
              <a:rPr lang="en-US" sz="1200" i="1" dirty="0">
                <a:solidFill>
                  <a:srgbClr val="5A6478"/>
                </a:solidFill>
                <a:latin typeface="Calibri" pitchFamily="34" charset="0"/>
                <a:ea typeface="Calibri" pitchFamily="34" charset="-122"/>
                <a:cs typeface="Calibri" pitchFamily="34" charset="-120"/>
              </a:rPr>
              <a:t>Behavioural verification of the answers themselves</a:t>
            </a:r>
            <a:endParaRPr lang="en-US" sz="1200" dirty="0"/>
          </a:p>
        </p:txBody>
      </p:sp>
      <p:sp>
        <p:nvSpPr>
          <p:cNvPr id="15" name="Text 11"/>
          <p:cNvSpPr/>
          <p:nvPr/>
        </p:nvSpPr>
        <p:spPr>
          <a:xfrm>
            <a:off x="6537960" y="2487168"/>
            <a:ext cx="4800600" cy="27432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Model output is probabilistic: quality lives in the answers, and nothing in conventional CI reads the answers</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An evaluation suite scores real responses against expected behaviour on every change</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A failing evaluation blocks the release exactly as a failing unit test blocks a build</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Code review cannot substitute: a reviewer cannot simulate a thousand user questions</a:t>
            </a:r>
            <a:endParaRPr lang="en-US" sz="1250" dirty="0"/>
          </a:p>
        </p:txBody>
      </p:sp>
      <p:sp>
        <p:nvSpPr>
          <p:cNvPr id="16" name="Shape 12"/>
          <p:cNvSpPr/>
          <p:nvPr/>
        </p:nvSpPr>
        <p:spPr>
          <a:xfrm>
            <a:off x="640080" y="5532120"/>
            <a:ext cx="10881360" cy="777240"/>
          </a:xfrm>
          <a:prstGeom prst="roundRect">
            <a:avLst>
              <a:gd name="adj" fmla="val 10588"/>
            </a:avLst>
          </a:prstGeom>
          <a:solidFill>
            <a:srgbClr val="232946"/>
          </a:solidFill>
          <a:ln/>
          <a:effectLst>
            <a:outerShdw sx="100000" sy="100000" kx="0" ky="0" algn="bl" rotWithShape="0" blurRad="76200" dist="25400" dir="5400000">
              <a:srgbClr val="9AA4B8">
                <a:alpha val="35000"/>
              </a:srgbClr>
            </a:outerShdw>
          </a:effectLst>
        </p:spPr>
      </p:sp>
      <p:sp>
        <p:nvSpPr>
          <p:cNvPr id="17" name="Text 13"/>
          <p:cNvSpPr/>
          <p:nvPr/>
        </p:nvSpPr>
        <p:spPr>
          <a:xfrm>
            <a:off x="868680" y="5605272"/>
            <a:ext cx="10424160" cy="630936"/>
          </a:xfrm>
          <a:prstGeom prst="rect">
            <a:avLst/>
          </a:prstGeom>
          <a:noFill/>
          <a:ln/>
        </p:spPr>
        <p:txBody>
          <a:bodyPr wrap="square" lIns="0" tIns="0" rIns="0" bIns="0" rtlCol="0" anchor="ctr"/>
          <a:lstStyle/>
          <a:p>
            <a:pPr indent="0" marL="0">
              <a:buNone/>
            </a:pPr>
            <a:r>
              <a:rPr lang="en-US" sz="1300" b="1" dirty="0">
                <a:solidFill>
                  <a:srgbClr val="F5B971"/>
                </a:solidFill>
                <a:latin typeface="Calibri" pitchFamily="34" charset="0"/>
                <a:ea typeface="Calibri" pitchFamily="34" charset="-122"/>
                <a:cs typeface="Calibri" pitchFamily="34" charset="-120"/>
              </a:rPr>
              <a:t>Principle:  </a:t>
            </a:r>
            <a:pPr indent="0" marL="0">
              <a:buNone/>
            </a:pPr>
            <a:r>
              <a:rPr lang="en-US" sz="1300" dirty="0">
                <a:solidFill>
                  <a:srgbClr val="FFFFFF"/>
                </a:solidFill>
                <a:latin typeface="Calibri" pitchFamily="34" charset="0"/>
                <a:ea typeface="Calibri" pitchFamily="34" charset="-122"/>
                <a:cs typeface="Calibri" pitchFamily="34" charset="-120"/>
              </a:rPr>
              <a:t>releases are gated on measured behaviour — evaluations — in addition to code correctness. This session builds that gate and the delivery machinery behind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CORE CONCEPTS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CI/CD for AI systems: three release artifact types</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417320"/>
            <a:ext cx="5303520" cy="1600200"/>
          </a:xfrm>
          <a:prstGeom prst="roundRect">
            <a:avLst>
              <a:gd name="adj" fmla="val 5143"/>
            </a:avLst>
          </a:prstGeom>
          <a:solidFill>
            <a:srgbClr val="EEF2FA"/>
          </a:solidFill>
          <a:ln/>
          <a:effectLst>
            <a:outerShdw sx="100000" sy="100000" kx="0" ky="0" algn="bl" rotWithShape="0" blurRad="76200" dist="25400" dir="5400000">
              <a:srgbClr val="9AA4B8">
                <a:alpha val="35000"/>
              </a:srgbClr>
            </a:outerShdw>
          </a:effectLst>
        </p:spPr>
      </p:sp>
      <p:sp>
        <p:nvSpPr>
          <p:cNvPr id="9" name="Text 5"/>
          <p:cNvSpPr/>
          <p:nvPr/>
        </p:nvSpPr>
        <p:spPr>
          <a:xfrm>
            <a:off x="868680" y="1572768"/>
            <a:ext cx="4846320" cy="320040"/>
          </a:xfrm>
          <a:prstGeom prst="rect">
            <a:avLst/>
          </a:prstGeom>
          <a:noFill/>
          <a:ln/>
        </p:spPr>
        <p:txBody>
          <a:bodyPr wrap="square" lIns="0" tIns="0" rIns="0" bIns="0" rtlCol="0" anchor="ctr"/>
          <a:lstStyle/>
          <a:p>
            <a:pPr indent="0" marL="0">
              <a:buNone/>
            </a:pPr>
            <a:r>
              <a:rPr lang="en-US" sz="1500" b="1" dirty="0">
                <a:solidFill>
                  <a:srgbClr val="232946"/>
                </a:solidFill>
                <a:latin typeface="Arial" pitchFamily="34" charset="0"/>
                <a:ea typeface="Arial" pitchFamily="34" charset="-122"/>
                <a:cs typeface="Arial" pitchFamily="34" charset="-120"/>
              </a:rPr>
              <a:t>Continuous integration (CI)</a:t>
            </a:r>
            <a:endParaRPr lang="en-US" sz="1500" dirty="0"/>
          </a:p>
        </p:txBody>
      </p:sp>
      <p:sp>
        <p:nvSpPr>
          <p:cNvPr id="10" name="Text 6"/>
          <p:cNvSpPr/>
          <p:nvPr/>
        </p:nvSpPr>
        <p:spPr>
          <a:xfrm>
            <a:off x="868680" y="1938528"/>
            <a:ext cx="4892040" cy="100584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Every change is merged frequently and verified automatically — build, tests and checks run on each pull request, and a failing check blocks the merge.</a:t>
            </a:r>
            <a:endParaRPr lang="en-US" sz="1200" dirty="0"/>
          </a:p>
        </p:txBody>
      </p:sp>
      <p:sp>
        <p:nvSpPr>
          <p:cNvPr id="11" name="Shape 7"/>
          <p:cNvSpPr/>
          <p:nvPr/>
        </p:nvSpPr>
        <p:spPr>
          <a:xfrm>
            <a:off x="6263640" y="1417320"/>
            <a:ext cx="5303520" cy="1600200"/>
          </a:xfrm>
          <a:prstGeom prst="roundRect">
            <a:avLst>
              <a:gd name="adj" fmla="val 5143"/>
            </a:avLst>
          </a:prstGeom>
          <a:solidFill>
            <a:srgbClr val="DDE6F5"/>
          </a:solidFill>
          <a:ln/>
          <a:effectLst>
            <a:outerShdw sx="100000" sy="100000" kx="0" ky="0" algn="bl" rotWithShape="0" blurRad="76200" dist="25400" dir="5400000">
              <a:srgbClr val="9AA4B8">
                <a:alpha val="35000"/>
              </a:srgbClr>
            </a:outerShdw>
          </a:effectLst>
        </p:spPr>
      </p:sp>
      <p:sp>
        <p:nvSpPr>
          <p:cNvPr id="12" name="Text 8"/>
          <p:cNvSpPr/>
          <p:nvPr/>
        </p:nvSpPr>
        <p:spPr>
          <a:xfrm>
            <a:off x="6492240" y="1572768"/>
            <a:ext cx="4846320" cy="320040"/>
          </a:xfrm>
          <a:prstGeom prst="rect">
            <a:avLst/>
          </a:prstGeom>
          <a:noFill/>
          <a:ln/>
        </p:spPr>
        <p:txBody>
          <a:bodyPr wrap="square" lIns="0" tIns="0" rIns="0" bIns="0" rtlCol="0" anchor="ctr"/>
          <a:lstStyle/>
          <a:p>
            <a:pPr indent="0" marL="0">
              <a:buNone/>
            </a:pPr>
            <a:r>
              <a:rPr lang="en-US" sz="1500" b="1" dirty="0">
                <a:solidFill>
                  <a:srgbClr val="232946"/>
                </a:solidFill>
                <a:latin typeface="Arial" pitchFamily="34" charset="0"/>
                <a:ea typeface="Arial" pitchFamily="34" charset="-122"/>
                <a:cs typeface="Arial" pitchFamily="34" charset="-120"/>
              </a:rPr>
              <a:t>Continuous delivery / deployment (CD)</a:t>
            </a:r>
            <a:endParaRPr lang="en-US" sz="1500" dirty="0"/>
          </a:p>
        </p:txBody>
      </p:sp>
      <p:sp>
        <p:nvSpPr>
          <p:cNvPr id="13" name="Text 9"/>
          <p:cNvSpPr/>
          <p:nvPr/>
        </p:nvSpPr>
        <p:spPr>
          <a:xfrm>
            <a:off x="6492240" y="1938528"/>
            <a:ext cx="4892040" cy="1005840"/>
          </a:xfrm>
          <a:prstGeom prst="rect">
            <a:avLst/>
          </a:prstGeom>
          <a:noFill/>
          <a:ln/>
        </p:spPr>
        <p:txBody>
          <a:bodyPr wrap="square" lIns="0" tIns="0" rIns="0" bIns="0" rtlCol="0" anchor="ctr"/>
          <a:lstStyle/>
          <a:p>
            <a:pPr indent="0" marL="0">
              <a:buNone/>
            </a:pPr>
            <a:r>
              <a:rPr lang="en-US" sz="1200" dirty="0">
                <a:solidFill>
                  <a:srgbClr val="5A6478"/>
                </a:solidFill>
                <a:latin typeface="Calibri" pitchFamily="34" charset="0"/>
                <a:ea typeface="Calibri" pitchFamily="34" charset="-122"/>
                <a:cs typeface="Calibri" pitchFamily="34" charset="-120"/>
              </a:rPr>
              <a:t>Every verified change produces a deployable artifact (delivery); deployment releases it progressively, with automated promotion and an always-available rollback path.</a:t>
            </a:r>
            <a:endParaRPr lang="en-US" sz="1200" dirty="0"/>
          </a:p>
        </p:txBody>
      </p:sp>
      <p:sp>
        <p:nvSpPr>
          <p:cNvPr id="14" name="Text 10"/>
          <p:cNvSpPr/>
          <p:nvPr/>
        </p:nvSpPr>
        <p:spPr>
          <a:xfrm>
            <a:off x="640080" y="3246120"/>
            <a:ext cx="10881360" cy="32004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What changes with AI: three artifact types ship through the same pipeline</a:t>
            </a:r>
            <a:endParaRPr lang="en-US" sz="1450" dirty="0"/>
          </a:p>
        </p:txBody>
      </p:sp>
      <p:sp>
        <p:nvSpPr>
          <p:cNvPr id="15" name="Shape 11"/>
          <p:cNvSpPr/>
          <p:nvPr/>
        </p:nvSpPr>
        <p:spPr>
          <a:xfrm>
            <a:off x="640080" y="3657600"/>
            <a:ext cx="3474720" cy="2286000"/>
          </a:xfrm>
          <a:prstGeom prst="roundRect">
            <a:avLst>
              <a:gd name="adj" fmla="val 3600"/>
            </a:avLst>
          </a:prstGeom>
          <a:solidFill>
            <a:srgbClr val="EEF2FA"/>
          </a:solidFill>
          <a:ln/>
          <a:effectLst>
            <a:outerShdw sx="100000" sy="100000" kx="0" ky="0" algn="bl" rotWithShape="0" blurRad="76200" dist="25400" dir="5400000">
              <a:srgbClr val="9AA4B8">
                <a:alpha val="35000"/>
              </a:srgbClr>
            </a:outerShdw>
          </a:effectLst>
        </p:spPr>
      </p:sp>
      <p:sp>
        <p:nvSpPr>
          <p:cNvPr id="16" name="Shape 12"/>
          <p:cNvSpPr/>
          <p:nvPr/>
        </p:nvSpPr>
        <p:spPr>
          <a:xfrm>
            <a:off x="841248" y="3840480"/>
            <a:ext cx="457200" cy="457200"/>
          </a:xfrm>
          <a:prstGeom prst="ellipse">
            <a:avLst/>
          </a:prstGeom>
          <a:solidFill>
            <a:srgbClr val="232946"/>
          </a:solidFill>
          <a:ln/>
        </p:spPr>
      </p:sp>
      <p:pic>
        <p:nvPicPr>
          <p:cNvPr id="17" name="Image 1" descr="preencoded.png">    </p:cNvPr>
          <p:cNvPicPr>
            <a:picLocks noChangeAspect="1"/>
          </p:cNvPicPr>
          <p:nvPr/>
        </p:nvPicPr>
        <p:blipFill>
          <a:blip r:embed="rId2"/>
          <a:stretch>
            <a:fillRect/>
          </a:stretch>
        </p:blipFill>
        <p:spPr>
          <a:xfrm>
            <a:off x="960120" y="3959352"/>
            <a:ext cx="219456" cy="219456"/>
          </a:xfrm>
          <a:prstGeom prst="rect">
            <a:avLst/>
          </a:prstGeom>
        </p:spPr>
      </p:pic>
      <p:sp>
        <p:nvSpPr>
          <p:cNvPr id="18" name="Text 13"/>
          <p:cNvSpPr/>
          <p:nvPr/>
        </p:nvSpPr>
        <p:spPr>
          <a:xfrm>
            <a:off x="1435608" y="3895344"/>
            <a:ext cx="2560320" cy="36576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Application code</a:t>
            </a:r>
            <a:endParaRPr lang="en-US" sz="1300" dirty="0"/>
          </a:p>
        </p:txBody>
      </p:sp>
      <p:sp>
        <p:nvSpPr>
          <p:cNvPr id="19" name="Text 14"/>
          <p:cNvSpPr/>
          <p:nvPr/>
        </p:nvSpPr>
        <p:spPr>
          <a:xfrm>
            <a:off x="841248" y="4434840"/>
            <a:ext cx="3063240" cy="502920"/>
          </a:xfrm>
          <a:prstGeom prst="rect">
            <a:avLst/>
          </a:prstGeom>
          <a:noFill/>
          <a:ln/>
        </p:spPr>
        <p:txBody>
          <a:bodyPr wrap="square" lIns="0" tIns="0" rIns="0" bIns="0" rtlCol="0" anchor="ctr"/>
          <a:lstStyle/>
          <a:p>
            <a:pPr indent="0" marL="0">
              <a:buNone/>
            </a:pPr>
            <a:r>
              <a:rPr lang="en-US" sz="1050" i="1" dirty="0">
                <a:solidFill>
                  <a:srgbClr val="5A6478"/>
                </a:solidFill>
                <a:latin typeface="Calibri" pitchFamily="34" charset="0"/>
                <a:ea typeface="Calibri" pitchFamily="34" charset="-122"/>
                <a:cs typeface="Calibri" pitchFamily="34" charset="-120"/>
              </a:rPr>
              <a:t>Server logic, API handlers, dependencies.</a:t>
            </a:r>
            <a:endParaRPr lang="en-US" sz="1050" dirty="0"/>
          </a:p>
        </p:txBody>
      </p:sp>
      <p:sp>
        <p:nvSpPr>
          <p:cNvPr id="20" name="Text 15"/>
          <p:cNvSpPr/>
          <p:nvPr/>
        </p:nvSpPr>
        <p:spPr>
          <a:xfrm>
            <a:off x="841248" y="4956048"/>
            <a:ext cx="3063240" cy="91440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Regressions are largely deterministic; unit tests catch most — evals still guard generation paths.</a:t>
            </a:r>
            <a:endParaRPr lang="en-US" sz="1050" dirty="0"/>
          </a:p>
        </p:txBody>
      </p:sp>
      <p:sp>
        <p:nvSpPr>
          <p:cNvPr id="21" name="Shape 16"/>
          <p:cNvSpPr/>
          <p:nvPr/>
        </p:nvSpPr>
        <p:spPr>
          <a:xfrm>
            <a:off x="4343400" y="3657600"/>
            <a:ext cx="3474720" cy="2286000"/>
          </a:xfrm>
          <a:prstGeom prst="roundRect">
            <a:avLst>
              <a:gd name="adj" fmla="val 3600"/>
            </a:avLst>
          </a:prstGeom>
          <a:solidFill>
            <a:srgbClr val="DDE6F5"/>
          </a:solidFill>
          <a:ln/>
          <a:effectLst>
            <a:outerShdw sx="100000" sy="100000" kx="0" ky="0" algn="bl" rotWithShape="0" blurRad="76200" dist="25400" dir="5400000">
              <a:srgbClr val="9AA4B8">
                <a:alpha val="35000"/>
              </a:srgbClr>
            </a:outerShdw>
          </a:effectLst>
        </p:spPr>
      </p:sp>
      <p:sp>
        <p:nvSpPr>
          <p:cNvPr id="22" name="Shape 17"/>
          <p:cNvSpPr/>
          <p:nvPr/>
        </p:nvSpPr>
        <p:spPr>
          <a:xfrm>
            <a:off x="4544568" y="3840480"/>
            <a:ext cx="457200" cy="457200"/>
          </a:xfrm>
          <a:prstGeom prst="ellipse">
            <a:avLst/>
          </a:prstGeom>
          <a:solidFill>
            <a:srgbClr val="232946"/>
          </a:solidFill>
          <a:ln/>
        </p:spPr>
      </p:sp>
      <p:pic>
        <p:nvPicPr>
          <p:cNvPr id="23" name="Image 2" descr="preencoded.png">    </p:cNvPr>
          <p:cNvPicPr>
            <a:picLocks noChangeAspect="1"/>
          </p:cNvPicPr>
          <p:nvPr/>
        </p:nvPicPr>
        <p:blipFill>
          <a:blip r:embed="rId3"/>
          <a:stretch>
            <a:fillRect/>
          </a:stretch>
        </p:blipFill>
        <p:spPr>
          <a:xfrm>
            <a:off x="4663440" y="3959352"/>
            <a:ext cx="219456" cy="219456"/>
          </a:xfrm>
          <a:prstGeom prst="rect">
            <a:avLst/>
          </a:prstGeom>
        </p:spPr>
      </p:pic>
      <p:sp>
        <p:nvSpPr>
          <p:cNvPr id="24" name="Text 18"/>
          <p:cNvSpPr/>
          <p:nvPr/>
        </p:nvSpPr>
        <p:spPr>
          <a:xfrm>
            <a:off x="5138928" y="3895344"/>
            <a:ext cx="2560320" cy="36576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Prompt &amp; configuration</a:t>
            </a:r>
            <a:endParaRPr lang="en-US" sz="1300" dirty="0"/>
          </a:p>
        </p:txBody>
      </p:sp>
      <p:sp>
        <p:nvSpPr>
          <p:cNvPr id="25" name="Text 19"/>
          <p:cNvSpPr/>
          <p:nvPr/>
        </p:nvSpPr>
        <p:spPr>
          <a:xfrm>
            <a:off x="4544568" y="4434840"/>
            <a:ext cx="3063240" cy="502920"/>
          </a:xfrm>
          <a:prstGeom prst="rect">
            <a:avLst/>
          </a:prstGeom>
          <a:noFill/>
          <a:ln/>
        </p:spPr>
        <p:txBody>
          <a:bodyPr wrap="square" lIns="0" tIns="0" rIns="0" bIns="0" rtlCol="0" anchor="ctr"/>
          <a:lstStyle/>
          <a:p>
            <a:pPr indent="0" marL="0">
              <a:buNone/>
            </a:pPr>
            <a:r>
              <a:rPr lang="en-US" sz="1050" i="1" dirty="0">
                <a:solidFill>
                  <a:srgbClr val="5A6478"/>
                </a:solidFill>
                <a:latin typeface="Calibri" pitchFamily="34" charset="0"/>
                <a:ea typeface="Calibri" pitchFamily="34" charset="-122"/>
                <a:cs typeface="Calibri" pitchFamily="34" charset="-120"/>
              </a:rPr>
              <a:t>Prompt text, templates, decoding parameters.</a:t>
            </a:r>
            <a:endParaRPr lang="en-US" sz="1050" dirty="0"/>
          </a:p>
        </p:txBody>
      </p:sp>
      <p:sp>
        <p:nvSpPr>
          <p:cNvPr id="26" name="Text 20"/>
          <p:cNvSpPr/>
          <p:nvPr/>
        </p:nvSpPr>
        <p:spPr>
          <a:xfrm>
            <a:off x="4544568" y="4956048"/>
            <a:ext cx="3063240" cy="91440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Changes behaviour with a zero-logic diff; invisible to compilers and reviewers — only evals can gate it.</a:t>
            </a:r>
            <a:endParaRPr lang="en-US" sz="1050" dirty="0"/>
          </a:p>
        </p:txBody>
      </p:sp>
      <p:sp>
        <p:nvSpPr>
          <p:cNvPr id="27" name="Shape 21"/>
          <p:cNvSpPr/>
          <p:nvPr/>
        </p:nvSpPr>
        <p:spPr>
          <a:xfrm>
            <a:off x="8046720" y="3657600"/>
            <a:ext cx="3474720" cy="2286000"/>
          </a:xfrm>
          <a:prstGeom prst="roundRect">
            <a:avLst>
              <a:gd name="adj" fmla="val 3600"/>
            </a:avLst>
          </a:prstGeom>
          <a:solidFill>
            <a:srgbClr val="EEF2FA"/>
          </a:solidFill>
          <a:ln/>
          <a:effectLst>
            <a:outerShdw sx="100000" sy="100000" kx="0" ky="0" algn="bl" rotWithShape="0" blurRad="76200" dist="25400" dir="5400000">
              <a:srgbClr val="9AA4B8">
                <a:alpha val="35000"/>
              </a:srgbClr>
            </a:outerShdw>
          </a:effectLst>
        </p:spPr>
      </p:sp>
      <p:sp>
        <p:nvSpPr>
          <p:cNvPr id="28" name="Shape 22"/>
          <p:cNvSpPr/>
          <p:nvPr/>
        </p:nvSpPr>
        <p:spPr>
          <a:xfrm>
            <a:off x="8247888" y="3840480"/>
            <a:ext cx="457200" cy="457200"/>
          </a:xfrm>
          <a:prstGeom prst="ellipse">
            <a:avLst/>
          </a:prstGeom>
          <a:solidFill>
            <a:srgbClr val="232946"/>
          </a:solidFill>
          <a:ln/>
        </p:spPr>
      </p:sp>
      <p:pic>
        <p:nvPicPr>
          <p:cNvPr id="29" name="Image 3" descr="preencoded.png">    </p:cNvPr>
          <p:cNvPicPr>
            <a:picLocks noChangeAspect="1"/>
          </p:cNvPicPr>
          <p:nvPr/>
        </p:nvPicPr>
        <p:blipFill>
          <a:blip r:embed="rId4"/>
          <a:stretch>
            <a:fillRect/>
          </a:stretch>
        </p:blipFill>
        <p:spPr>
          <a:xfrm>
            <a:off x="8366760" y="3959352"/>
            <a:ext cx="219456" cy="219456"/>
          </a:xfrm>
          <a:prstGeom prst="rect">
            <a:avLst/>
          </a:prstGeom>
        </p:spPr>
      </p:pic>
      <p:sp>
        <p:nvSpPr>
          <p:cNvPr id="30" name="Text 23"/>
          <p:cNvSpPr/>
          <p:nvPr/>
        </p:nvSpPr>
        <p:spPr>
          <a:xfrm>
            <a:off x="8842248" y="3895344"/>
            <a:ext cx="2560320" cy="36576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Model version</a:t>
            </a:r>
            <a:endParaRPr lang="en-US" sz="1300" dirty="0"/>
          </a:p>
        </p:txBody>
      </p:sp>
      <p:sp>
        <p:nvSpPr>
          <p:cNvPr id="31" name="Text 24"/>
          <p:cNvSpPr/>
          <p:nvPr/>
        </p:nvSpPr>
        <p:spPr>
          <a:xfrm>
            <a:off x="8247888" y="4434840"/>
            <a:ext cx="3063240" cy="502920"/>
          </a:xfrm>
          <a:prstGeom prst="rect">
            <a:avLst/>
          </a:prstGeom>
          <a:noFill/>
          <a:ln/>
        </p:spPr>
        <p:txBody>
          <a:bodyPr wrap="square" lIns="0" tIns="0" rIns="0" bIns="0" rtlCol="0" anchor="ctr"/>
          <a:lstStyle/>
          <a:p>
            <a:pPr indent="0" marL="0">
              <a:buNone/>
            </a:pPr>
            <a:r>
              <a:rPr lang="en-US" sz="1050" i="1" dirty="0">
                <a:solidFill>
                  <a:srgbClr val="5A6478"/>
                </a:solidFill>
                <a:latin typeface="Calibri" pitchFamily="34" charset="0"/>
                <a:ea typeface="Calibri" pitchFamily="34" charset="-122"/>
                <a:cs typeface="Calibri" pitchFamily="34" charset="-120"/>
              </a:rPr>
              <a:t>New weights, a provider change, a quantisation.</a:t>
            </a:r>
            <a:endParaRPr lang="en-US" sz="1050" dirty="0"/>
          </a:p>
        </p:txBody>
      </p:sp>
      <p:sp>
        <p:nvSpPr>
          <p:cNvPr id="32" name="Text 25"/>
          <p:cNvSpPr/>
          <p:nvPr/>
        </p:nvSpPr>
        <p:spPr>
          <a:xfrm>
            <a:off x="8247888" y="4956048"/>
            <a:ext cx="3063240" cy="91440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Shifts behaviour across the board; gated by evals plus a canary under real traffic.</a:t>
            </a:r>
            <a:endParaRPr lang="en-US" sz="1050" dirty="0"/>
          </a:p>
        </p:txBody>
      </p:sp>
      <p:sp>
        <p:nvSpPr>
          <p:cNvPr id="33" name="Shape 26"/>
          <p:cNvSpPr/>
          <p:nvPr/>
        </p:nvSpPr>
        <p:spPr>
          <a:xfrm>
            <a:off x="640080" y="6108192"/>
            <a:ext cx="10881360" cy="384048"/>
          </a:xfrm>
          <a:prstGeom prst="roundRect">
            <a:avLst>
              <a:gd name="adj" fmla="val 21429"/>
            </a:avLst>
          </a:prstGeom>
          <a:solidFill>
            <a:srgbClr val="FBF1E3"/>
          </a:solidFill>
          <a:ln/>
          <a:effectLst>
            <a:outerShdw sx="100000" sy="100000" kx="0" ky="0" algn="bl" rotWithShape="0" blurRad="76200" dist="25400" dir="5400000">
              <a:srgbClr val="9AA4B8">
                <a:alpha val="35000"/>
              </a:srgbClr>
            </a:outerShdw>
          </a:effectLst>
        </p:spPr>
      </p:sp>
      <p:sp>
        <p:nvSpPr>
          <p:cNvPr id="34" name="Text 27"/>
          <p:cNvSpPr/>
          <p:nvPr/>
        </p:nvSpPr>
        <p:spPr>
          <a:xfrm>
            <a:off x="868680" y="6126480"/>
            <a:ext cx="10424160" cy="347472"/>
          </a:xfrm>
          <a:prstGeom prst="rect">
            <a:avLst/>
          </a:prstGeom>
          <a:noFill/>
          <a:ln/>
        </p:spPr>
        <p:txBody>
          <a:bodyPr wrap="square" lIns="0" tIns="0" rIns="0" bIns="0" rtlCol="0" anchor="ctr"/>
          <a:lstStyle/>
          <a:p>
            <a:pPr indent="0" marL="0">
              <a:buNone/>
            </a:pPr>
            <a:r>
              <a:rPr lang="en-US" sz="1150" b="1" dirty="0">
                <a:solidFill>
                  <a:srgbClr val="E8871E"/>
                </a:solidFill>
                <a:latin typeface="Calibri" pitchFamily="34" charset="0"/>
                <a:ea typeface="Calibri" pitchFamily="34" charset="-122"/>
                <a:cs typeface="Calibri" pitchFamily="34" charset="-120"/>
              </a:rPr>
              <a:t>Consequence:  </a:t>
            </a:r>
            <a:pPr indent="0" marL="0">
              <a:buNone/>
            </a:pPr>
            <a:r>
              <a:rPr lang="en-US" sz="1150" dirty="0">
                <a:solidFill>
                  <a:srgbClr val="232946"/>
                </a:solidFill>
                <a:latin typeface="Calibri" pitchFamily="34" charset="0"/>
                <a:ea typeface="Calibri" pitchFamily="34" charset="-122"/>
                <a:cs typeface="Calibri" pitchFamily="34" charset="-120"/>
              </a:rPr>
              <a:t>every artifact type passes a behavioural gate before release — the subject of the next slides.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EVAL GATES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evaluation gate: scored behaviour as a release check</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Text 4"/>
          <p:cNvSpPr/>
          <p:nvPr/>
        </p:nvSpPr>
        <p:spPr>
          <a:xfrm>
            <a:off x="640080" y="1508760"/>
            <a:ext cx="5623560" cy="42062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b="1" dirty="0">
                <a:solidFill>
                  <a:srgbClr val="232946"/>
                </a:solidFill>
                <a:latin typeface="Calibri" pitchFamily="34" charset="0"/>
                <a:ea typeface="Calibri" pitchFamily="34" charset="-122"/>
                <a:cs typeface="Calibri" pitchFamily="34" charset="-120"/>
              </a:rPr>
              <a:t>An eval gate runs the model against a versioned test suite and scores the answers — on every change, automatically.</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promptfoo is the gate runner used in this course: an open-source evaluation harness whose tests are YAML, committed to the repository beside the prompt.</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The suite runs a matrix of prompts × providers × test cases; each case carries assertions about the answer.</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The same suite runs at three points: on the developer machine, in the CI pipeline, and against the canary before each traffic promotion.</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The gate is only as strong as its suite — it must grow with every production incident.</a:t>
            </a:r>
            <a:endParaRPr lang="en-US" sz="1250" dirty="0"/>
          </a:p>
        </p:txBody>
      </p:sp>
      <p:sp>
        <p:nvSpPr>
          <p:cNvPr id="9" name="Shape 5"/>
          <p:cNvSpPr/>
          <p:nvPr/>
        </p:nvSpPr>
        <p:spPr>
          <a:xfrm>
            <a:off x="6720840" y="1554480"/>
            <a:ext cx="4663440" cy="777240"/>
          </a:xfrm>
          <a:prstGeom prst="roundRect">
            <a:avLst>
              <a:gd name="adj" fmla="val 10588"/>
            </a:avLst>
          </a:prstGeom>
          <a:solidFill>
            <a:srgbClr val="DDE6F5"/>
          </a:solidFill>
          <a:ln/>
          <a:effectLst>
            <a:outerShdw sx="100000" sy="100000" kx="0" ky="0" algn="bl" rotWithShape="0" blurRad="76200" dist="25400" dir="5400000">
              <a:srgbClr val="9AA4B8">
                <a:alpha val="35000"/>
              </a:srgbClr>
            </a:outerShdw>
          </a:effectLst>
        </p:spPr>
      </p:sp>
      <p:sp>
        <p:nvSpPr>
          <p:cNvPr id="10" name="Text 6"/>
          <p:cNvSpPr/>
          <p:nvPr/>
        </p:nvSpPr>
        <p:spPr>
          <a:xfrm>
            <a:off x="6720840" y="1554480"/>
            <a:ext cx="4663440" cy="777240"/>
          </a:xfrm>
          <a:prstGeom prst="rect">
            <a:avLst/>
          </a:prstGeom>
          <a:noFill/>
          <a:ln/>
        </p:spPr>
        <p:txBody>
          <a:bodyPr wrap="square" lIns="0" tIns="0" rIns="0" bIns="0" rtlCol="0" anchor="ctr"/>
          <a:lstStyle/>
          <a:p>
            <a:pPr algn="ctr" indent="0" marL="0">
              <a:buNone/>
            </a:pPr>
            <a:r>
              <a:rPr lang="en-US" sz="1250" b="1" dirty="0">
                <a:solidFill>
                  <a:srgbClr val="232946"/>
                </a:solidFill>
                <a:latin typeface="Calibri" pitchFamily="34" charset="0"/>
                <a:ea typeface="Calibri" pitchFamily="34" charset="-122"/>
                <a:cs typeface="Calibri" pitchFamily="34" charset="-120"/>
              </a:rPr>
              <a:t>Change: code · prompt · model version</a:t>
            </a:r>
            <a:endParaRPr lang="en-US" sz="1250" dirty="0"/>
          </a:p>
        </p:txBody>
      </p:sp>
      <p:sp>
        <p:nvSpPr>
          <p:cNvPr id="11" name="Shape 7"/>
          <p:cNvSpPr/>
          <p:nvPr/>
        </p:nvSpPr>
        <p:spPr>
          <a:xfrm>
            <a:off x="9052560" y="2377440"/>
            <a:ext cx="0" cy="411480"/>
          </a:xfrm>
          <a:prstGeom prst="line">
            <a:avLst/>
          </a:prstGeom>
          <a:noFill/>
          <a:ln w="31750">
            <a:solidFill>
              <a:srgbClr val="E8871E"/>
            </a:solidFill>
            <a:prstDash val="solid"/>
            <a:tailEnd type="triangle"/>
          </a:ln>
        </p:spPr>
      </p:sp>
      <p:sp>
        <p:nvSpPr>
          <p:cNvPr id="12" name="Shape 8"/>
          <p:cNvSpPr/>
          <p:nvPr/>
        </p:nvSpPr>
        <p:spPr>
          <a:xfrm>
            <a:off x="6720840" y="2834640"/>
            <a:ext cx="4663440" cy="914400"/>
          </a:xfrm>
          <a:prstGeom prst="roundRect">
            <a:avLst>
              <a:gd name="adj" fmla="val 9000"/>
            </a:avLst>
          </a:prstGeom>
          <a:solidFill>
            <a:srgbClr val="232946"/>
          </a:solidFill>
          <a:ln/>
          <a:effectLst>
            <a:outerShdw sx="100000" sy="100000" kx="0" ky="0" algn="bl" rotWithShape="0" blurRad="76200" dist="25400" dir="5400000">
              <a:srgbClr val="9AA4B8">
                <a:alpha val="35000"/>
              </a:srgbClr>
            </a:outerShdw>
          </a:effectLst>
        </p:spPr>
      </p:sp>
      <p:sp>
        <p:nvSpPr>
          <p:cNvPr id="13" name="Text 9"/>
          <p:cNvSpPr/>
          <p:nvPr/>
        </p:nvSpPr>
        <p:spPr>
          <a:xfrm>
            <a:off x="6720840" y="2907792"/>
            <a:ext cx="46634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promptfoo eval — scored test suite</a:t>
            </a:r>
            <a:endParaRPr lang="en-US" sz="1300" dirty="0"/>
          </a:p>
        </p:txBody>
      </p:sp>
      <p:sp>
        <p:nvSpPr>
          <p:cNvPr id="14" name="Text 10"/>
          <p:cNvSpPr/>
          <p:nvPr/>
        </p:nvSpPr>
        <p:spPr>
          <a:xfrm>
            <a:off x="6720840" y="3291840"/>
            <a:ext cx="4663440" cy="320040"/>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assertions on real model answers</a:t>
            </a:r>
            <a:endParaRPr lang="en-US" sz="1050" dirty="0"/>
          </a:p>
        </p:txBody>
      </p:sp>
      <p:sp>
        <p:nvSpPr>
          <p:cNvPr id="15" name="Shape 11"/>
          <p:cNvSpPr/>
          <p:nvPr/>
        </p:nvSpPr>
        <p:spPr>
          <a:xfrm>
            <a:off x="7818120" y="3794760"/>
            <a:ext cx="0" cy="411480"/>
          </a:xfrm>
          <a:prstGeom prst="line">
            <a:avLst/>
          </a:prstGeom>
          <a:noFill/>
          <a:ln w="31750">
            <a:solidFill>
              <a:srgbClr val="2C7A4B"/>
            </a:solidFill>
            <a:prstDash val="solid"/>
            <a:tailEnd type="triangle"/>
          </a:ln>
        </p:spPr>
      </p:sp>
      <p:sp>
        <p:nvSpPr>
          <p:cNvPr id="16" name="Shape 12"/>
          <p:cNvSpPr/>
          <p:nvPr/>
        </p:nvSpPr>
        <p:spPr>
          <a:xfrm>
            <a:off x="10287000" y="3794760"/>
            <a:ext cx="0" cy="411480"/>
          </a:xfrm>
          <a:prstGeom prst="line">
            <a:avLst/>
          </a:prstGeom>
          <a:noFill/>
          <a:ln w="31750">
            <a:solidFill>
              <a:srgbClr val="B3402A"/>
            </a:solidFill>
            <a:prstDash val="solid"/>
            <a:tailEnd type="triangle"/>
          </a:ln>
        </p:spPr>
      </p:sp>
      <p:sp>
        <p:nvSpPr>
          <p:cNvPr id="17" name="Shape 13"/>
          <p:cNvSpPr/>
          <p:nvPr/>
        </p:nvSpPr>
        <p:spPr>
          <a:xfrm>
            <a:off x="6720840" y="4251960"/>
            <a:ext cx="2194560" cy="1051560"/>
          </a:xfrm>
          <a:prstGeom prst="roundRect">
            <a:avLst>
              <a:gd name="adj" fmla="val 7826"/>
            </a:avLst>
          </a:prstGeom>
          <a:solidFill>
            <a:srgbClr val="EAF4EC"/>
          </a:solidFill>
          <a:ln/>
          <a:effectLst>
            <a:outerShdw sx="100000" sy="100000" kx="0" ky="0" algn="bl" rotWithShape="0" blurRad="76200" dist="25400" dir="5400000">
              <a:srgbClr val="9AA4B8">
                <a:alpha val="35000"/>
              </a:srgbClr>
            </a:outerShdw>
          </a:effectLst>
        </p:spPr>
      </p:sp>
      <p:sp>
        <p:nvSpPr>
          <p:cNvPr id="18" name="Text 14"/>
          <p:cNvSpPr/>
          <p:nvPr/>
        </p:nvSpPr>
        <p:spPr>
          <a:xfrm>
            <a:off x="6858000" y="4343400"/>
            <a:ext cx="1920240" cy="320040"/>
          </a:xfrm>
          <a:prstGeom prst="rect">
            <a:avLst/>
          </a:prstGeom>
          <a:noFill/>
          <a:ln/>
        </p:spPr>
        <p:txBody>
          <a:bodyPr wrap="square" lIns="0" tIns="0" rIns="0" bIns="0" rtlCol="0" anchor="ctr"/>
          <a:lstStyle/>
          <a:p>
            <a:pPr indent="0" marL="0">
              <a:buNone/>
            </a:pPr>
            <a:r>
              <a:rPr lang="en-US" sz="1150" b="1" dirty="0">
                <a:solidFill>
                  <a:srgbClr val="2C7A4B"/>
                </a:solidFill>
                <a:latin typeface="Courier New" pitchFamily="34" charset="0"/>
                <a:ea typeface="Courier New" pitchFamily="34" charset="-122"/>
                <a:cs typeface="Courier New" pitchFamily="34" charset="-120"/>
              </a:rPr>
              <a:t>exit code 0</a:t>
            </a:r>
            <a:endParaRPr lang="en-US" sz="1150" dirty="0"/>
          </a:p>
        </p:txBody>
      </p:sp>
      <p:sp>
        <p:nvSpPr>
          <p:cNvPr id="19" name="Text 15"/>
          <p:cNvSpPr/>
          <p:nvPr/>
        </p:nvSpPr>
        <p:spPr>
          <a:xfrm>
            <a:off x="6858000" y="4681728"/>
            <a:ext cx="1920240" cy="502920"/>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Release proceeds</a:t>
            </a:r>
            <a:endParaRPr lang="en-US" sz="1100" dirty="0"/>
          </a:p>
        </p:txBody>
      </p:sp>
      <p:sp>
        <p:nvSpPr>
          <p:cNvPr id="20" name="Shape 16"/>
          <p:cNvSpPr/>
          <p:nvPr/>
        </p:nvSpPr>
        <p:spPr>
          <a:xfrm>
            <a:off x="9189720" y="4251960"/>
            <a:ext cx="2194560" cy="1051560"/>
          </a:xfrm>
          <a:prstGeom prst="roundRect">
            <a:avLst>
              <a:gd name="adj" fmla="val 7826"/>
            </a:avLst>
          </a:prstGeom>
          <a:solidFill>
            <a:srgbClr val="F8ECE8"/>
          </a:solidFill>
          <a:ln/>
          <a:effectLst>
            <a:outerShdw sx="100000" sy="100000" kx="0" ky="0" algn="bl" rotWithShape="0" blurRad="76200" dist="25400" dir="5400000">
              <a:srgbClr val="9AA4B8">
                <a:alpha val="35000"/>
              </a:srgbClr>
            </a:outerShdw>
          </a:effectLst>
        </p:spPr>
      </p:sp>
      <p:sp>
        <p:nvSpPr>
          <p:cNvPr id="21" name="Text 17"/>
          <p:cNvSpPr/>
          <p:nvPr/>
        </p:nvSpPr>
        <p:spPr>
          <a:xfrm>
            <a:off x="9326880" y="4343400"/>
            <a:ext cx="1920240" cy="320040"/>
          </a:xfrm>
          <a:prstGeom prst="rect">
            <a:avLst/>
          </a:prstGeom>
          <a:noFill/>
          <a:ln/>
        </p:spPr>
        <p:txBody>
          <a:bodyPr wrap="square" lIns="0" tIns="0" rIns="0" bIns="0" rtlCol="0" anchor="ctr"/>
          <a:lstStyle/>
          <a:p>
            <a:pPr indent="0" marL="0">
              <a:buNone/>
            </a:pPr>
            <a:r>
              <a:rPr lang="en-US" sz="1150" b="1" dirty="0">
                <a:solidFill>
                  <a:srgbClr val="B3402A"/>
                </a:solidFill>
                <a:latin typeface="Courier New" pitchFamily="34" charset="0"/>
                <a:ea typeface="Courier New" pitchFamily="34" charset="-122"/>
                <a:cs typeface="Courier New" pitchFamily="34" charset="-120"/>
              </a:rPr>
              <a:t>exit code ≠ 0</a:t>
            </a:r>
            <a:endParaRPr lang="en-US" sz="1150" dirty="0"/>
          </a:p>
        </p:txBody>
      </p:sp>
      <p:sp>
        <p:nvSpPr>
          <p:cNvPr id="22" name="Text 18"/>
          <p:cNvSpPr/>
          <p:nvPr/>
        </p:nvSpPr>
        <p:spPr>
          <a:xfrm>
            <a:off x="9326880" y="4681728"/>
            <a:ext cx="1920240" cy="502920"/>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Release blocked</a:t>
            </a:r>
            <a:endParaRPr lang="en-US" sz="1100" dirty="0"/>
          </a:p>
        </p:txBody>
      </p:sp>
      <p:sp>
        <p:nvSpPr>
          <p:cNvPr id="23" name="Shape 19"/>
          <p:cNvSpPr/>
          <p:nvPr/>
        </p:nvSpPr>
        <p:spPr>
          <a:xfrm>
            <a:off x="640080" y="5669280"/>
            <a:ext cx="10881360" cy="658368"/>
          </a:xfrm>
          <a:prstGeom prst="roundRect">
            <a:avLst>
              <a:gd name="adj" fmla="val 12500"/>
            </a:avLst>
          </a:prstGeom>
          <a:solidFill>
            <a:srgbClr val="232946"/>
          </a:solidFill>
          <a:ln/>
          <a:effectLst>
            <a:outerShdw sx="100000" sy="100000" kx="0" ky="0" algn="bl" rotWithShape="0" blurRad="76200" dist="25400" dir="5400000">
              <a:srgbClr val="9AA4B8">
                <a:alpha val="35000"/>
              </a:srgbClr>
            </a:outerShdw>
          </a:effectLst>
        </p:spPr>
      </p:sp>
      <p:sp>
        <p:nvSpPr>
          <p:cNvPr id="24" name="Text 20"/>
          <p:cNvSpPr/>
          <p:nvPr/>
        </p:nvSpPr>
        <p:spPr>
          <a:xfrm>
            <a:off x="868680" y="5724144"/>
            <a:ext cx="10424160" cy="548640"/>
          </a:xfrm>
          <a:prstGeom prst="rect">
            <a:avLst/>
          </a:prstGeom>
          <a:noFill/>
          <a:ln/>
        </p:spPr>
        <p:txBody>
          <a:bodyPr wrap="square" lIns="0" tIns="0" rIns="0" bIns="0" rtlCol="0" anchor="ctr"/>
          <a:lstStyle/>
          <a:p>
            <a:pPr indent="0" marL="0">
              <a:buNone/>
            </a:pPr>
            <a:r>
              <a:rPr lang="en-US" sz="1250" b="1" dirty="0">
                <a:solidFill>
                  <a:srgbClr val="F5B971"/>
                </a:solidFill>
                <a:latin typeface="Calibri" pitchFamily="34" charset="0"/>
                <a:ea typeface="Calibri" pitchFamily="34" charset="-122"/>
                <a:cs typeface="Calibri" pitchFamily="34" charset="-120"/>
              </a:rPr>
              <a:t>The gate contract:  </a:t>
            </a:r>
            <a:pPr indent="0" marL="0">
              <a:buNone/>
            </a:pPr>
            <a:r>
              <a:rPr lang="en-US" sz="1250" dirty="0">
                <a:solidFill>
                  <a:srgbClr val="FFFFFF"/>
                </a:solidFill>
                <a:latin typeface="Calibri" pitchFamily="34" charset="0"/>
                <a:ea typeface="Calibri" pitchFamily="34" charset="-122"/>
                <a:cs typeface="Calibri" pitchFamily="34" charset="-120"/>
              </a:rPr>
              <a:t>a non-zero exit code blocks the release. Every gate in this session — pre-push hook, CI check, canary promotion — consumes only this exit code.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EVAL GATES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Anatomy of the gate: promptfooconfig.yaml</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463040"/>
            <a:ext cx="6675120" cy="4892040"/>
          </a:xfrm>
          <a:prstGeom prst="roundRect">
            <a:avLst>
              <a:gd name="adj" fmla="val 1495"/>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572768"/>
            <a:ext cx="6272784" cy="4672584"/>
          </a:xfrm>
          <a:prstGeom prst="rect">
            <a:avLst/>
          </a:prstGeom>
          <a:noFill/>
          <a:ln/>
        </p:spPr>
        <p:txBody>
          <a:bodyPr wrap="square" lIns="0" tIns="0" rIns="0" bIns="0" rtlCol="0" anchor="t"/>
          <a:lstStyle/>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promptfooconfig.yaml — the lab gate (abbreviated)</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prompts:</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 file://prompts/prompt.txt   # versioned with code</a:t>
            </a:r>
            <a:endParaRPr lang="en-US" sz="950" dirty="0"/>
          </a:p>
          <a:p>
            <a:pPr indent="0" marL="0">
              <a:lnSpc>
                <a:spcPct val="112000"/>
              </a:lnSpc>
              <a:buNone/>
            </a:pP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providers:                      # the local service</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 id: http</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config:</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url: http://localhost:8080/generate</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headers: { X-API-Key: local-dev-key }</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body: { prompt: "{{question}}" }</a:t>
            </a:r>
            <a:endParaRPr lang="en-US" sz="950" dirty="0"/>
          </a:p>
          <a:p>
            <a:pPr indent="0" marL="0">
              <a:lnSpc>
                <a:spcPct val="112000"/>
              </a:lnSpc>
              <a:buNone/>
            </a:pP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tests:</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 vars: { question: "What is UPI?" }</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assert: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 type: icontains-any</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value: [unified, payment, interface]</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 vars: { question: "What is the capital of India?" }</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assert: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 { type: icontains, value: delhi }</a:t>
            </a:r>
            <a:endParaRPr lang="en-US" sz="950" dirty="0"/>
          </a:p>
          <a:p>
            <a:pPr indent="0" marL="0">
              <a:lnSpc>
                <a:spcPct val="112000"/>
              </a:lnSpc>
              <a:buNone/>
            </a:pPr>
            <a:r>
              <a:rPr lang="en-US" sz="950" dirty="0">
                <a:solidFill>
                  <a:srgbClr val="E6C07B"/>
                </a:solidFill>
                <a:latin typeface="Courier New" pitchFamily="34" charset="0"/>
                <a:ea typeface="Courier New" pitchFamily="34" charset="-122"/>
                <a:cs typeface="Courier New" pitchFamily="34" charset="-120"/>
              </a:rPr>
              <a:t>  - vars: { question: "Answer yes or no: is 7 prime?" }</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assert: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 { type: icontains-any, value: [yes, no] }</a:t>
            </a:r>
            <a:endParaRPr lang="en-US" sz="950" dirty="0"/>
          </a:p>
          <a:p>
            <a:pPr indent="0" marL="0">
              <a:lnSpc>
                <a:spcPct val="112000"/>
              </a:lnSpc>
              <a:buNone/>
            </a:pP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defaultTest:                    # applied to every case</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assert:</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 type: javascript          # non-empty, bounded</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value: output.length &gt; 0 &amp;&amp; output.length &lt; 2000</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    - { type: latency, threshold: 30000 }   # 30 s</a:t>
            </a:r>
            <a:endParaRPr lang="en-US" sz="950" dirty="0"/>
          </a:p>
        </p:txBody>
      </p:sp>
      <p:sp>
        <p:nvSpPr>
          <p:cNvPr id="10" name="Shape 6"/>
          <p:cNvSpPr/>
          <p:nvPr/>
        </p:nvSpPr>
        <p:spPr>
          <a:xfrm>
            <a:off x="7543800" y="1463040"/>
            <a:ext cx="4023360" cy="914400"/>
          </a:xfrm>
          <a:prstGeom prst="roundRect">
            <a:avLst>
              <a:gd name="adj" fmla="val 9000"/>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7772400" y="1554480"/>
            <a:ext cx="3566160" cy="274320"/>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Run the gate</a:t>
            </a:r>
            <a:endParaRPr lang="en-US" sz="1250" dirty="0"/>
          </a:p>
        </p:txBody>
      </p:sp>
      <p:sp>
        <p:nvSpPr>
          <p:cNvPr id="12" name="Shape 8"/>
          <p:cNvSpPr/>
          <p:nvPr/>
        </p:nvSpPr>
        <p:spPr>
          <a:xfrm>
            <a:off x="7772400" y="1865376"/>
            <a:ext cx="3566160" cy="420624"/>
          </a:xfrm>
          <a:prstGeom prst="roundRect">
            <a:avLst>
              <a:gd name="adj" fmla="val 17391"/>
            </a:avLst>
          </a:prstGeom>
          <a:solidFill>
            <a:srgbClr val="1B2130"/>
          </a:solidFill>
          <a:ln/>
          <a:effectLst>
            <a:outerShdw sx="100000" sy="100000" kx="0" ky="0" algn="bl" rotWithShape="0" blurRad="76200" dist="25400" dir="5400000">
              <a:srgbClr val="9AA4B8">
                <a:alpha val="35000"/>
              </a:srgbClr>
            </a:outerShdw>
          </a:effectLst>
        </p:spPr>
      </p:sp>
      <p:sp>
        <p:nvSpPr>
          <p:cNvPr id="13" name="Text 9"/>
          <p:cNvSpPr/>
          <p:nvPr/>
        </p:nvSpPr>
        <p:spPr>
          <a:xfrm>
            <a:off x="7973568" y="1975104"/>
            <a:ext cx="3163824" cy="201168"/>
          </a:xfrm>
          <a:prstGeom prst="rect">
            <a:avLst/>
          </a:prstGeom>
          <a:noFill/>
          <a:ln/>
        </p:spPr>
        <p:txBody>
          <a:bodyPr wrap="square" lIns="0" tIns="0" rIns="0" bIns="0" rtlCol="0" anchor="t"/>
          <a:lstStyle/>
          <a:p>
            <a:pPr indent="0" marL="0">
              <a:lnSpc>
                <a:spcPct val="112000"/>
              </a:lnSpc>
              <a:buNone/>
            </a:pPr>
            <a:r>
              <a:rPr lang="en-US" sz="800" dirty="0">
                <a:solidFill>
                  <a:srgbClr val="E6EAF2"/>
                </a:solidFill>
                <a:latin typeface="Courier New" pitchFamily="34" charset="0"/>
                <a:ea typeface="Courier New" pitchFamily="34" charset="-122"/>
                <a:cs typeface="Courier New" pitchFamily="34" charset="-120"/>
              </a:rPr>
              <a:t>npx promptfoo eval -c promptfooconfig.yaml</a:t>
            </a:r>
            <a:endParaRPr lang="en-US" sz="800" dirty="0"/>
          </a:p>
        </p:txBody>
      </p:sp>
      <p:sp>
        <p:nvSpPr>
          <p:cNvPr id="14" name="Shape 10"/>
          <p:cNvSpPr/>
          <p:nvPr/>
        </p:nvSpPr>
        <p:spPr>
          <a:xfrm>
            <a:off x="7543800" y="2606040"/>
            <a:ext cx="4023360" cy="1828800"/>
          </a:xfrm>
          <a:prstGeom prst="roundRect">
            <a:avLst>
              <a:gd name="adj" fmla="val 4000"/>
            </a:avLst>
          </a:prstGeom>
          <a:solidFill>
            <a:srgbClr val="1B2130"/>
          </a:solidFill>
          <a:ln/>
          <a:effectLst>
            <a:outerShdw sx="100000" sy="100000" kx="0" ky="0" algn="bl" rotWithShape="0" blurRad="76200" dist="25400" dir="5400000">
              <a:srgbClr val="9AA4B8">
                <a:alpha val="35000"/>
              </a:srgbClr>
            </a:outerShdw>
          </a:effectLst>
        </p:spPr>
      </p:sp>
      <p:sp>
        <p:nvSpPr>
          <p:cNvPr id="15" name="Text 11"/>
          <p:cNvSpPr/>
          <p:nvPr/>
        </p:nvSpPr>
        <p:spPr>
          <a:xfrm>
            <a:off x="7744968" y="2715768"/>
            <a:ext cx="3621024" cy="1609344"/>
          </a:xfrm>
          <a:prstGeom prst="rect">
            <a:avLst/>
          </a:prstGeom>
          <a:noFill/>
          <a:ln/>
        </p:spPr>
        <p:txBody>
          <a:bodyPr wrap="square" lIns="0" tIns="0" rIns="0" bIns="0" rtlCol="0" anchor="t"/>
          <a:lstStyle/>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output (trimmed)</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a:t>
            </a: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What is UPI?│ PASS   │</a:t>
            </a:r>
            <a:endParaRPr lang="en-US" sz="950" dirty="0"/>
          </a:p>
          <a:p>
            <a:pPr indent="0" marL="0">
              <a:lnSpc>
                <a:spcPct val="112000"/>
              </a:lnSpc>
              <a:buNone/>
            </a:pPr>
            <a:r>
              <a:rPr lang="en-US" sz="950" dirty="0">
                <a:solidFill>
                  <a:srgbClr val="8BC48B"/>
                </a:solidFill>
                <a:latin typeface="Courier New" pitchFamily="34" charset="0"/>
                <a:ea typeface="Courier New" pitchFamily="34" charset="-122"/>
                <a:cs typeface="Courier New" pitchFamily="34" charset="-120"/>
              </a:rPr>
              <a:t>│ capital …   │ PASS   │</a:t>
            </a:r>
            <a:endParaRPr lang="en-US" sz="950" dirty="0"/>
          </a:p>
          <a:p>
            <a:pPr indent="0" marL="0">
              <a:lnSpc>
                <a:spcPct val="112000"/>
              </a:lnSpc>
              <a:buNone/>
            </a:pPr>
            <a:r>
              <a:rPr lang="en-US" sz="950" dirty="0">
                <a:solidFill>
                  <a:srgbClr val="F0937A"/>
                </a:solidFill>
                <a:latin typeface="Courier New" pitchFamily="34" charset="0"/>
                <a:ea typeface="Courier New" pitchFamily="34" charset="-122"/>
                <a:cs typeface="Courier New" pitchFamily="34" charset="-120"/>
              </a:rPr>
              <a:t>│ yes/no …    │ FAIL   │</a:t>
            </a:r>
            <a:endParaRPr lang="en-US" sz="950" dirty="0"/>
          </a:p>
          <a:p>
            <a:pPr indent="0" marL="0">
              <a:lnSpc>
                <a:spcPct val="112000"/>
              </a:lnSpc>
              <a:buNone/>
            </a:pPr>
            <a:r>
              <a:rPr lang="en-US" sz="950" dirty="0">
                <a:solidFill>
                  <a:srgbClr val="E6EAF2"/>
                </a:solidFill>
                <a:latin typeface="Courier New" pitchFamily="34" charset="0"/>
                <a:ea typeface="Courier New" pitchFamily="34" charset="-122"/>
                <a:cs typeface="Courier New" pitchFamily="34" charset="-120"/>
              </a:rPr>
              <a:t>└─────────────┴────────┘</a:t>
            </a:r>
            <a:endParaRPr lang="en-US" sz="950" dirty="0"/>
          </a:p>
          <a:p>
            <a:pPr indent="0" marL="0">
              <a:lnSpc>
                <a:spcPct val="112000"/>
              </a:lnSpc>
              <a:buNone/>
            </a:pPr>
            <a:endParaRPr lang="en-US" sz="950" dirty="0"/>
          </a:p>
          <a:p>
            <a:pPr indent="0" marL="0">
              <a:lnSpc>
                <a:spcPct val="112000"/>
              </a:lnSpc>
              <a:buNone/>
            </a:pPr>
            <a:r>
              <a:rPr lang="en-US" sz="950" dirty="0">
                <a:solidFill>
                  <a:srgbClr val="F0937A"/>
                </a:solidFill>
                <a:latin typeface="Courier New" pitchFamily="34" charset="0"/>
                <a:ea typeface="Courier New" pitchFamily="34" charset="-122"/>
                <a:cs typeface="Courier New" pitchFamily="34" charset="-120"/>
              </a:rPr>
              <a:t>exit code: 1  → blocked</a:t>
            </a:r>
            <a:endParaRPr lang="en-US" sz="950" dirty="0"/>
          </a:p>
        </p:txBody>
      </p:sp>
      <p:sp>
        <p:nvSpPr>
          <p:cNvPr id="16" name="Shape 12"/>
          <p:cNvSpPr/>
          <p:nvPr/>
        </p:nvSpPr>
        <p:spPr>
          <a:xfrm>
            <a:off x="7543800" y="4663440"/>
            <a:ext cx="4023360" cy="1691640"/>
          </a:xfrm>
          <a:prstGeom prst="roundRect">
            <a:avLst>
              <a:gd name="adj" fmla="val 4865"/>
            </a:avLst>
          </a:prstGeom>
          <a:solidFill>
            <a:srgbClr val="FBF1E3"/>
          </a:solidFill>
          <a:ln/>
          <a:effectLst>
            <a:outerShdw sx="100000" sy="100000" kx="0" ky="0" algn="bl" rotWithShape="0" blurRad="76200" dist="25400" dir="5400000">
              <a:srgbClr val="9AA4B8">
                <a:alpha val="35000"/>
              </a:srgbClr>
            </a:outerShdw>
          </a:effectLst>
        </p:spPr>
      </p:sp>
      <p:sp>
        <p:nvSpPr>
          <p:cNvPr id="17" name="Text 13"/>
          <p:cNvSpPr/>
          <p:nvPr/>
        </p:nvSpPr>
        <p:spPr>
          <a:xfrm>
            <a:off x="7772400" y="4791456"/>
            <a:ext cx="3566160" cy="292608"/>
          </a:xfrm>
          <a:prstGeom prst="rect">
            <a:avLst/>
          </a:prstGeom>
          <a:noFill/>
          <a:ln/>
        </p:spPr>
        <p:txBody>
          <a:bodyPr wrap="square" lIns="0" tIns="0" rIns="0" bIns="0" rtlCol="0" anchor="ctr"/>
          <a:lstStyle/>
          <a:p>
            <a:pPr indent="0" marL="0">
              <a:buNone/>
            </a:pPr>
            <a:r>
              <a:rPr lang="en-US" sz="1250" b="1" dirty="0">
                <a:solidFill>
                  <a:srgbClr val="E8871E"/>
                </a:solidFill>
                <a:latin typeface="Arial" pitchFamily="34" charset="0"/>
                <a:ea typeface="Arial" pitchFamily="34" charset="-122"/>
                <a:cs typeface="Arial" pitchFamily="34" charset="-120"/>
              </a:rPr>
              <a:t>Design observations</a:t>
            </a:r>
            <a:endParaRPr lang="en-US" sz="1250" dirty="0"/>
          </a:p>
        </p:txBody>
      </p:sp>
      <p:sp>
        <p:nvSpPr>
          <p:cNvPr id="18" name="Text 14"/>
          <p:cNvSpPr/>
          <p:nvPr/>
        </p:nvSpPr>
        <p:spPr>
          <a:xfrm>
            <a:off x="7772400" y="5120640"/>
            <a:ext cx="3611880" cy="118872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The suite lives in git beside the prompt — a prompt change and its tests travel in one commit</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npx promptfoo view opens a side-by-side web report of every answer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EVAL GATES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Assertion types: deterministic checks first</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417320"/>
            <a:ext cx="3291840" cy="365760"/>
          </a:xfrm>
          <a:prstGeom prst="rect">
            <a:avLst/>
          </a:prstGeom>
          <a:solidFill>
            <a:srgbClr val="232946"/>
          </a:solidFill>
          <a:ln/>
        </p:spPr>
      </p:sp>
      <p:sp>
        <p:nvSpPr>
          <p:cNvPr id="9" name="Text 5"/>
          <p:cNvSpPr/>
          <p:nvPr/>
        </p:nvSpPr>
        <p:spPr>
          <a:xfrm>
            <a:off x="768096" y="1417320"/>
            <a:ext cx="3072384"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Assertion type</a:t>
            </a:r>
            <a:endParaRPr lang="en-US" sz="1200" dirty="0"/>
          </a:p>
        </p:txBody>
      </p:sp>
      <p:sp>
        <p:nvSpPr>
          <p:cNvPr id="10" name="Shape 6"/>
          <p:cNvSpPr/>
          <p:nvPr/>
        </p:nvSpPr>
        <p:spPr>
          <a:xfrm>
            <a:off x="3931920" y="1417320"/>
            <a:ext cx="3886200" cy="365760"/>
          </a:xfrm>
          <a:prstGeom prst="rect">
            <a:avLst/>
          </a:prstGeom>
          <a:solidFill>
            <a:srgbClr val="232946"/>
          </a:solidFill>
          <a:ln/>
        </p:spPr>
      </p:sp>
      <p:sp>
        <p:nvSpPr>
          <p:cNvPr id="11" name="Text 7"/>
          <p:cNvSpPr/>
          <p:nvPr/>
        </p:nvSpPr>
        <p:spPr>
          <a:xfrm>
            <a:off x="4059936" y="1417320"/>
            <a:ext cx="3666744"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Nature</a:t>
            </a:r>
            <a:endParaRPr lang="en-US" sz="1200" dirty="0"/>
          </a:p>
        </p:txBody>
      </p:sp>
      <p:sp>
        <p:nvSpPr>
          <p:cNvPr id="12" name="Shape 8"/>
          <p:cNvSpPr/>
          <p:nvPr/>
        </p:nvSpPr>
        <p:spPr>
          <a:xfrm>
            <a:off x="7818120" y="1417320"/>
            <a:ext cx="3730752" cy="365760"/>
          </a:xfrm>
          <a:prstGeom prst="rect">
            <a:avLst/>
          </a:prstGeom>
          <a:solidFill>
            <a:srgbClr val="232946"/>
          </a:solidFill>
          <a:ln/>
        </p:spPr>
      </p:sp>
      <p:sp>
        <p:nvSpPr>
          <p:cNvPr id="13" name="Text 9"/>
          <p:cNvSpPr/>
          <p:nvPr/>
        </p:nvSpPr>
        <p:spPr>
          <a:xfrm>
            <a:off x="7946136" y="1417320"/>
            <a:ext cx="3511296" cy="36576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Role in the lab suite</a:t>
            </a:r>
            <a:endParaRPr lang="en-US" sz="1200" dirty="0"/>
          </a:p>
        </p:txBody>
      </p:sp>
      <p:sp>
        <p:nvSpPr>
          <p:cNvPr id="14" name="Shape 10"/>
          <p:cNvSpPr/>
          <p:nvPr/>
        </p:nvSpPr>
        <p:spPr>
          <a:xfrm>
            <a:off x="640080" y="1801368"/>
            <a:ext cx="3291840" cy="914400"/>
          </a:xfrm>
          <a:prstGeom prst="rect">
            <a:avLst/>
          </a:prstGeom>
          <a:solidFill>
            <a:srgbClr val="EEF2FA"/>
          </a:solidFill>
          <a:ln w="9525">
            <a:solidFill>
              <a:srgbClr val="C9D3E6"/>
            </a:solidFill>
            <a:prstDash val="solid"/>
          </a:ln>
        </p:spPr>
      </p:sp>
      <p:sp>
        <p:nvSpPr>
          <p:cNvPr id="15" name="Text 11"/>
          <p:cNvSpPr/>
          <p:nvPr/>
        </p:nvSpPr>
        <p:spPr>
          <a:xfrm>
            <a:off x="768096" y="1801368"/>
            <a:ext cx="3072384" cy="914400"/>
          </a:xfrm>
          <a:prstGeom prst="rect">
            <a:avLst/>
          </a:prstGeom>
          <a:noFill/>
          <a:ln/>
        </p:spPr>
        <p:txBody>
          <a:bodyPr wrap="square" lIns="0" tIns="0" rIns="0" bIns="0" rtlCol="0" anchor="ctr"/>
          <a:lstStyle/>
          <a:p>
            <a:pPr indent="0" marL="0">
              <a:buNone/>
            </a:pPr>
            <a:r>
              <a:rPr lang="en-US" sz="1050" b="1" dirty="0">
                <a:solidFill>
                  <a:srgbClr val="232946"/>
                </a:solidFill>
                <a:latin typeface="Courier New" pitchFamily="34" charset="0"/>
                <a:ea typeface="Courier New" pitchFamily="34" charset="-122"/>
                <a:cs typeface="Courier New" pitchFamily="34" charset="-120"/>
              </a:rPr>
              <a:t>contains · icontains · icontains-any</a:t>
            </a:r>
            <a:endParaRPr lang="en-US" sz="1050" dirty="0"/>
          </a:p>
        </p:txBody>
      </p:sp>
      <p:sp>
        <p:nvSpPr>
          <p:cNvPr id="16" name="Shape 12"/>
          <p:cNvSpPr/>
          <p:nvPr/>
        </p:nvSpPr>
        <p:spPr>
          <a:xfrm>
            <a:off x="3931920" y="1801368"/>
            <a:ext cx="3886200" cy="914400"/>
          </a:xfrm>
          <a:prstGeom prst="rect">
            <a:avLst/>
          </a:prstGeom>
          <a:solidFill>
            <a:srgbClr val="EEF2FA"/>
          </a:solidFill>
          <a:ln w="9525">
            <a:solidFill>
              <a:srgbClr val="C9D3E6"/>
            </a:solidFill>
            <a:prstDash val="solid"/>
          </a:ln>
        </p:spPr>
      </p:sp>
      <p:sp>
        <p:nvSpPr>
          <p:cNvPr id="17" name="Text 13"/>
          <p:cNvSpPr/>
          <p:nvPr/>
        </p:nvSpPr>
        <p:spPr>
          <a:xfrm>
            <a:off x="4059936" y="1801368"/>
            <a:ext cx="3666744" cy="91440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Deterministic substring checks — inexpensive, stable, no additional model calls</a:t>
            </a:r>
            <a:endParaRPr lang="en-US" sz="1050" dirty="0"/>
          </a:p>
        </p:txBody>
      </p:sp>
      <p:sp>
        <p:nvSpPr>
          <p:cNvPr id="18" name="Shape 14"/>
          <p:cNvSpPr/>
          <p:nvPr/>
        </p:nvSpPr>
        <p:spPr>
          <a:xfrm>
            <a:off x="7818120" y="1801368"/>
            <a:ext cx="3730752" cy="914400"/>
          </a:xfrm>
          <a:prstGeom prst="rect">
            <a:avLst/>
          </a:prstGeom>
          <a:solidFill>
            <a:srgbClr val="EEF2FA"/>
          </a:solidFill>
          <a:ln w="9525">
            <a:solidFill>
              <a:srgbClr val="C9D3E6"/>
            </a:solidFill>
            <a:prstDash val="solid"/>
          </a:ln>
        </p:spPr>
      </p:sp>
      <p:sp>
        <p:nvSpPr>
          <p:cNvPr id="19" name="Text 15"/>
          <p:cNvSpPr/>
          <p:nvPr/>
        </p:nvSpPr>
        <p:spPr>
          <a:xfrm>
            <a:off x="7946136" y="1801368"/>
            <a:ext cx="3511296" cy="91440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UPI definition; capital of India; yes/no instruction following</a:t>
            </a:r>
            <a:endParaRPr lang="en-US" sz="1050" dirty="0"/>
          </a:p>
        </p:txBody>
      </p:sp>
      <p:sp>
        <p:nvSpPr>
          <p:cNvPr id="20" name="Shape 16"/>
          <p:cNvSpPr/>
          <p:nvPr/>
        </p:nvSpPr>
        <p:spPr>
          <a:xfrm>
            <a:off x="640080" y="2734056"/>
            <a:ext cx="3291840" cy="914400"/>
          </a:xfrm>
          <a:prstGeom prst="rect">
            <a:avLst/>
          </a:prstGeom>
          <a:solidFill>
            <a:srgbClr val="FFFFFF"/>
          </a:solidFill>
          <a:ln w="9525">
            <a:solidFill>
              <a:srgbClr val="C9D3E6"/>
            </a:solidFill>
            <a:prstDash val="solid"/>
          </a:ln>
        </p:spPr>
      </p:sp>
      <p:sp>
        <p:nvSpPr>
          <p:cNvPr id="21" name="Text 17"/>
          <p:cNvSpPr/>
          <p:nvPr/>
        </p:nvSpPr>
        <p:spPr>
          <a:xfrm>
            <a:off x="768096" y="2734056"/>
            <a:ext cx="3072384" cy="914400"/>
          </a:xfrm>
          <a:prstGeom prst="rect">
            <a:avLst/>
          </a:prstGeom>
          <a:noFill/>
          <a:ln/>
        </p:spPr>
        <p:txBody>
          <a:bodyPr wrap="square" lIns="0" tIns="0" rIns="0" bIns="0" rtlCol="0" anchor="ctr"/>
          <a:lstStyle/>
          <a:p>
            <a:pPr indent="0" marL="0">
              <a:buNone/>
            </a:pPr>
            <a:r>
              <a:rPr lang="en-US" sz="1050" b="1" dirty="0">
                <a:solidFill>
                  <a:srgbClr val="232946"/>
                </a:solidFill>
                <a:latin typeface="Courier New" pitchFamily="34" charset="0"/>
                <a:ea typeface="Courier New" pitchFamily="34" charset="-122"/>
                <a:cs typeface="Courier New" pitchFamily="34" charset="-120"/>
              </a:rPr>
              <a:t>javascript</a:t>
            </a:r>
            <a:endParaRPr lang="en-US" sz="1050" dirty="0"/>
          </a:p>
        </p:txBody>
      </p:sp>
      <p:sp>
        <p:nvSpPr>
          <p:cNvPr id="22" name="Shape 18"/>
          <p:cNvSpPr/>
          <p:nvPr/>
        </p:nvSpPr>
        <p:spPr>
          <a:xfrm>
            <a:off x="3931920" y="2734056"/>
            <a:ext cx="3886200" cy="914400"/>
          </a:xfrm>
          <a:prstGeom prst="rect">
            <a:avLst/>
          </a:prstGeom>
          <a:solidFill>
            <a:srgbClr val="FFFFFF"/>
          </a:solidFill>
          <a:ln w="9525">
            <a:solidFill>
              <a:srgbClr val="C9D3E6"/>
            </a:solidFill>
            <a:prstDash val="solid"/>
          </a:ln>
        </p:spPr>
      </p:sp>
      <p:sp>
        <p:nvSpPr>
          <p:cNvPr id="23" name="Text 19"/>
          <p:cNvSpPr/>
          <p:nvPr/>
        </p:nvSpPr>
        <p:spPr>
          <a:xfrm>
            <a:off x="4059936" y="2734056"/>
            <a:ext cx="3666744" cy="91440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Arbitrary predicate over the output: length bounds, format checks, JSON validity</a:t>
            </a:r>
            <a:endParaRPr lang="en-US" sz="1050" dirty="0"/>
          </a:p>
        </p:txBody>
      </p:sp>
      <p:sp>
        <p:nvSpPr>
          <p:cNvPr id="24" name="Shape 20"/>
          <p:cNvSpPr/>
          <p:nvPr/>
        </p:nvSpPr>
        <p:spPr>
          <a:xfrm>
            <a:off x="7818120" y="2734056"/>
            <a:ext cx="3730752" cy="914400"/>
          </a:xfrm>
          <a:prstGeom prst="rect">
            <a:avLst/>
          </a:prstGeom>
          <a:solidFill>
            <a:srgbClr val="FFFFFF"/>
          </a:solidFill>
          <a:ln w="9525">
            <a:solidFill>
              <a:srgbClr val="C9D3E6"/>
            </a:solidFill>
            <a:prstDash val="solid"/>
          </a:ln>
        </p:spPr>
      </p:sp>
      <p:sp>
        <p:nvSpPr>
          <p:cNvPr id="25" name="Text 21"/>
          <p:cNvSpPr/>
          <p:nvPr/>
        </p:nvSpPr>
        <p:spPr>
          <a:xfrm>
            <a:off x="7946136" y="2734056"/>
            <a:ext cx="3511296" cy="91440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Output non-empty and under 2,000 characters (applied to every test)</a:t>
            </a:r>
            <a:endParaRPr lang="en-US" sz="1050" dirty="0"/>
          </a:p>
        </p:txBody>
      </p:sp>
      <p:sp>
        <p:nvSpPr>
          <p:cNvPr id="26" name="Shape 22"/>
          <p:cNvSpPr/>
          <p:nvPr/>
        </p:nvSpPr>
        <p:spPr>
          <a:xfrm>
            <a:off x="640080" y="3666744"/>
            <a:ext cx="3291840" cy="914400"/>
          </a:xfrm>
          <a:prstGeom prst="rect">
            <a:avLst/>
          </a:prstGeom>
          <a:solidFill>
            <a:srgbClr val="EEF2FA"/>
          </a:solidFill>
          <a:ln w="9525">
            <a:solidFill>
              <a:srgbClr val="C9D3E6"/>
            </a:solidFill>
            <a:prstDash val="solid"/>
          </a:ln>
        </p:spPr>
      </p:sp>
      <p:sp>
        <p:nvSpPr>
          <p:cNvPr id="27" name="Text 23"/>
          <p:cNvSpPr/>
          <p:nvPr/>
        </p:nvSpPr>
        <p:spPr>
          <a:xfrm>
            <a:off x="768096" y="3666744"/>
            <a:ext cx="3072384" cy="914400"/>
          </a:xfrm>
          <a:prstGeom prst="rect">
            <a:avLst/>
          </a:prstGeom>
          <a:noFill/>
          <a:ln/>
        </p:spPr>
        <p:txBody>
          <a:bodyPr wrap="square" lIns="0" tIns="0" rIns="0" bIns="0" rtlCol="0" anchor="ctr"/>
          <a:lstStyle/>
          <a:p>
            <a:pPr indent="0" marL="0">
              <a:buNone/>
            </a:pPr>
            <a:r>
              <a:rPr lang="en-US" sz="1050" b="1" dirty="0">
                <a:solidFill>
                  <a:srgbClr val="232946"/>
                </a:solidFill>
                <a:latin typeface="Courier New" pitchFamily="34" charset="0"/>
                <a:ea typeface="Courier New" pitchFamily="34" charset="-122"/>
                <a:cs typeface="Courier New" pitchFamily="34" charset="-120"/>
              </a:rPr>
              <a:t>latency</a:t>
            </a:r>
            <a:endParaRPr lang="en-US" sz="1050" dirty="0"/>
          </a:p>
        </p:txBody>
      </p:sp>
      <p:sp>
        <p:nvSpPr>
          <p:cNvPr id="28" name="Shape 24"/>
          <p:cNvSpPr/>
          <p:nvPr/>
        </p:nvSpPr>
        <p:spPr>
          <a:xfrm>
            <a:off x="3931920" y="3666744"/>
            <a:ext cx="3886200" cy="914400"/>
          </a:xfrm>
          <a:prstGeom prst="rect">
            <a:avLst/>
          </a:prstGeom>
          <a:solidFill>
            <a:srgbClr val="EEF2FA"/>
          </a:solidFill>
          <a:ln w="9525">
            <a:solidFill>
              <a:srgbClr val="C9D3E6"/>
            </a:solidFill>
            <a:prstDash val="solid"/>
          </a:ln>
        </p:spPr>
      </p:sp>
      <p:sp>
        <p:nvSpPr>
          <p:cNvPr id="29" name="Text 25"/>
          <p:cNvSpPr/>
          <p:nvPr/>
        </p:nvSpPr>
        <p:spPr>
          <a:xfrm>
            <a:off x="4059936" y="3666744"/>
            <a:ext cx="3666744" cy="91440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Per-response performance budget in milliseconds</a:t>
            </a:r>
            <a:endParaRPr lang="en-US" sz="1050" dirty="0"/>
          </a:p>
        </p:txBody>
      </p:sp>
      <p:sp>
        <p:nvSpPr>
          <p:cNvPr id="30" name="Shape 26"/>
          <p:cNvSpPr/>
          <p:nvPr/>
        </p:nvSpPr>
        <p:spPr>
          <a:xfrm>
            <a:off x="7818120" y="3666744"/>
            <a:ext cx="3730752" cy="914400"/>
          </a:xfrm>
          <a:prstGeom prst="rect">
            <a:avLst/>
          </a:prstGeom>
          <a:solidFill>
            <a:srgbClr val="EEF2FA"/>
          </a:solidFill>
          <a:ln w="9525">
            <a:solidFill>
              <a:srgbClr val="C9D3E6"/>
            </a:solidFill>
            <a:prstDash val="solid"/>
          </a:ln>
        </p:spPr>
      </p:sp>
      <p:sp>
        <p:nvSpPr>
          <p:cNvPr id="31" name="Text 27"/>
          <p:cNvSpPr/>
          <p:nvPr/>
        </p:nvSpPr>
        <p:spPr>
          <a:xfrm>
            <a:off x="7946136" y="3666744"/>
            <a:ext cx="3511296" cy="91440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Every response must complete within 30 seconds</a:t>
            </a:r>
            <a:endParaRPr lang="en-US" sz="1050" dirty="0"/>
          </a:p>
        </p:txBody>
      </p:sp>
      <p:sp>
        <p:nvSpPr>
          <p:cNvPr id="32" name="Shape 28"/>
          <p:cNvSpPr/>
          <p:nvPr/>
        </p:nvSpPr>
        <p:spPr>
          <a:xfrm>
            <a:off x="640080" y="4599432"/>
            <a:ext cx="3291840" cy="914400"/>
          </a:xfrm>
          <a:prstGeom prst="rect">
            <a:avLst/>
          </a:prstGeom>
          <a:solidFill>
            <a:srgbClr val="FFFFFF"/>
          </a:solidFill>
          <a:ln w="9525">
            <a:solidFill>
              <a:srgbClr val="C9D3E6"/>
            </a:solidFill>
            <a:prstDash val="solid"/>
          </a:ln>
        </p:spPr>
      </p:sp>
      <p:sp>
        <p:nvSpPr>
          <p:cNvPr id="33" name="Text 29"/>
          <p:cNvSpPr/>
          <p:nvPr/>
        </p:nvSpPr>
        <p:spPr>
          <a:xfrm>
            <a:off x="768096" y="4599432"/>
            <a:ext cx="3072384" cy="914400"/>
          </a:xfrm>
          <a:prstGeom prst="rect">
            <a:avLst/>
          </a:prstGeom>
          <a:noFill/>
          <a:ln/>
        </p:spPr>
        <p:txBody>
          <a:bodyPr wrap="square" lIns="0" tIns="0" rIns="0" bIns="0" rtlCol="0" anchor="ctr"/>
          <a:lstStyle/>
          <a:p>
            <a:pPr indent="0" marL="0">
              <a:buNone/>
            </a:pPr>
            <a:r>
              <a:rPr lang="en-US" sz="1050" b="1" dirty="0">
                <a:solidFill>
                  <a:srgbClr val="232946"/>
                </a:solidFill>
                <a:latin typeface="Courier New" pitchFamily="34" charset="0"/>
                <a:ea typeface="Courier New" pitchFamily="34" charset="-122"/>
                <a:cs typeface="Courier New" pitchFamily="34" charset="-120"/>
              </a:rPr>
              <a:t>llm-rubric  (model-graded)</a:t>
            </a:r>
            <a:endParaRPr lang="en-US" sz="1050" dirty="0"/>
          </a:p>
        </p:txBody>
      </p:sp>
      <p:sp>
        <p:nvSpPr>
          <p:cNvPr id="34" name="Shape 30"/>
          <p:cNvSpPr/>
          <p:nvPr/>
        </p:nvSpPr>
        <p:spPr>
          <a:xfrm>
            <a:off x="3931920" y="4599432"/>
            <a:ext cx="3886200" cy="914400"/>
          </a:xfrm>
          <a:prstGeom prst="rect">
            <a:avLst/>
          </a:prstGeom>
          <a:solidFill>
            <a:srgbClr val="FFFFFF"/>
          </a:solidFill>
          <a:ln w="9525">
            <a:solidFill>
              <a:srgbClr val="C9D3E6"/>
            </a:solidFill>
            <a:prstDash val="solid"/>
          </a:ln>
        </p:spPr>
      </p:sp>
      <p:sp>
        <p:nvSpPr>
          <p:cNvPr id="35" name="Text 31"/>
          <p:cNvSpPr/>
          <p:nvPr/>
        </p:nvSpPr>
        <p:spPr>
          <a:xfrm>
            <a:off x="4059936" y="4599432"/>
            <a:ext cx="3666744" cy="91440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A judge model scores the answer against written criteria; scores vary between runs, so a threshold is mandatory</a:t>
            </a:r>
            <a:endParaRPr lang="en-US" sz="1050" dirty="0"/>
          </a:p>
        </p:txBody>
      </p:sp>
      <p:sp>
        <p:nvSpPr>
          <p:cNvPr id="36" name="Shape 32"/>
          <p:cNvSpPr/>
          <p:nvPr/>
        </p:nvSpPr>
        <p:spPr>
          <a:xfrm>
            <a:off x="7818120" y="4599432"/>
            <a:ext cx="3730752" cy="914400"/>
          </a:xfrm>
          <a:prstGeom prst="rect">
            <a:avLst/>
          </a:prstGeom>
          <a:solidFill>
            <a:srgbClr val="FFFFFF"/>
          </a:solidFill>
          <a:ln w="9525">
            <a:solidFill>
              <a:srgbClr val="C9D3E6"/>
            </a:solidFill>
            <a:prstDash val="solid"/>
          </a:ln>
        </p:spPr>
      </p:sp>
      <p:sp>
        <p:nvSpPr>
          <p:cNvPr id="37" name="Text 33"/>
          <p:cNvSpPr/>
          <p:nvPr/>
        </p:nvSpPr>
        <p:spPr>
          <a:xfrm>
            <a:off x="7946136" y="4599432"/>
            <a:ext cx="3511296" cy="914400"/>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Not used today — the advanced option for tone, safety and factuality</a:t>
            </a:r>
            <a:endParaRPr lang="en-US" sz="1050" dirty="0"/>
          </a:p>
        </p:txBody>
      </p:sp>
      <p:sp>
        <p:nvSpPr>
          <p:cNvPr id="38" name="Shape 34"/>
          <p:cNvSpPr/>
          <p:nvPr/>
        </p:nvSpPr>
        <p:spPr>
          <a:xfrm>
            <a:off x="640080" y="5715000"/>
            <a:ext cx="10881360" cy="658368"/>
          </a:xfrm>
          <a:prstGeom prst="roundRect">
            <a:avLst>
              <a:gd name="adj" fmla="val 12500"/>
            </a:avLst>
          </a:prstGeom>
          <a:solidFill>
            <a:srgbClr val="EEF2FA"/>
          </a:solidFill>
          <a:ln/>
          <a:effectLst>
            <a:outerShdw sx="100000" sy="100000" kx="0" ky="0" algn="bl" rotWithShape="0" blurRad="76200" dist="25400" dir="5400000">
              <a:srgbClr val="9AA4B8">
                <a:alpha val="35000"/>
              </a:srgbClr>
            </a:outerShdw>
          </a:effectLst>
        </p:spPr>
      </p:sp>
      <p:sp>
        <p:nvSpPr>
          <p:cNvPr id="39" name="Text 35"/>
          <p:cNvSpPr/>
          <p:nvPr/>
        </p:nvSpPr>
        <p:spPr>
          <a:xfrm>
            <a:off x="868680" y="5769864"/>
            <a:ext cx="10424160" cy="548640"/>
          </a:xfrm>
          <a:prstGeom prst="rect">
            <a:avLst/>
          </a:prstGeom>
          <a:noFill/>
          <a:ln/>
        </p:spPr>
        <p:txBody>
          <a:bodyPr wrap="square" lIns="0" tIns="0" rIns="0" bIns="0" rtlCol="0" anchor="ctr"/>
          <a:lstStyle/>
          <a:p>
            <a:pPr indent="0" marL="0">
              <a:buNone/>
            </a:pPr>
            <a:r>
              <a:rPr lang="en-US" sz="1200" b="1" dirty="0">
                <a:solidFill>
                  <a:srgbClr val="232946"/>
                </a:solidFill>
                <a:latin typeface="Calibri" pitchFamily="34" charset="0"/>
                <a:ea typeface="Calibri" pitchFamily="34" charset="-122"/>
                <a:cs typeface="Calibri" pitchFamily="34" charset="-120"/>
              </a:rPr>
              <a:t>Suite design rule:  </a:t>
            </a:r>
            <a:pPr indent="0" marL="0">
              <a:buNone/>
            </a:pPr>
            <a:r>
              <a:rPr lang="en-US" sz="1200" dirty="0">
                <a:solidFill>
                  <a:srgbClr val="5A6478"/>
                </a:solidFill>
                <a:latin typeface="Calibri" pitchFamily="34" charset="0"/>
                <a:ea typeface="Calibri" pitchFamily="34" charset="-122"/>
                <a:cs typeface="Calibri" pitchFamily="34" charset="-120"/>
              </a:rPr>
              <a:t>build the base of the suite from deterministic assertions; add model-graded assertions selectively, always with thresholds. A gate that fails intermittently is a gate teams learn to ignore.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CI GATE · THEORY</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GitHub Actions: the industry gate runner</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8229600" y="475488"/>
            <a:ext cx="3337560" cy="310896"/>
          </a:xfrm>
          <a:prstGeom prst="roundRect">
            <a:avLst>
              <a:gd name="adj" fmla="val 50000"/>
            </a:avLst>
          </a:prstGeom>
          <a:solidFill>
            <a:srgbClr val="FBF1E3"/>
          </a:solidFill>
          <a:ln w="12700">
            <a:solidFill>
              <a:srgbClr val="E8871E"/>
            </a:solidFill>
            <a:prstDash val="solid"/>
          </a:ln>
        </p:spPr>
      </p:sp>
      <p:sp>
        <p:nvSpPr>
          <p:cNvPr id="9" name="Text 5"/>
          <p:cNvSpPr/>
          <p:nvPr/>
        </p:nvSpPr>
        <p:spPr>
          <a:xfrm>
            <a:off x="8321040" y="475488"/>
            <a:ext cx="3154680" cy="310896"/>
          </a:xfrm>
          <a:prstGeom prst="rect">
            <a:avLst/>
          </a:prstGeom>
          <a:noFill/>
          <a:ln/>
        </p:spPr>
        <p:txBody>
          <a:bodyPr wrap="square" lIns="0" tIns="0" rIns="0" bIns="0" rtlCol="0" anchor="ctr"/>
          <a:lstStyle/>
          <a:p>
            <a:pPr algn="ctr" indent="0" marL="0">
              <a:buNone/>
            </a:pPr>
            <a:r>
              <a:rPr lang="en-US" sz="850" b="1" spc="50" kern="0" dirty="0">
                <a:solidFill>
                  <a:srgbClr val="E8871E"/>
                </a:solidFill>
                <a:latin typeface="Arial" pitchFamily="34" charset="0"/>
                <a:ea typeface="Arial" pitchFamily="34" charset="-122"/>
                <a:cs typeface="Arial" pitchFamily="34" charset="-120"/>
              </a:rPr>
              <a:t>REFERENCE THEORY · NOT IN TODAY'S LAB</a:t>
            </a:r>
            <a:endParaRPr lang="en-US" sz="850" dirty="0"/>
          </a:p>
        </p:txBody>
      </p:sp>
      <p:sp>
        <p:nvSpPr>
          <p:cNvPr id="10" name="Shape 6"/>
          <p:cNvSpPr/>
          <p:nvPr/>
        </p:nvSpPr>
        <p:spPr>
          <a:xfrm>
            <a:off x="640080" y="1463040"/>
            <a:ext cx="6492240" cy="4892040"/>
          </a:xfrm>
          <a:prstGeom prst="roundRect">
            <a:avLst>
              <a:gd name="adj" fmla="val 1495"/>
            </a:avLst>
          </a:prstGeom>
          <a:solidFill>
            <a:srgbClr val="1B2130"/>
          </a:solidFill>
          <a:ln/>
          <a:effectLst>
            <a:outerShdw sx="100000" sy="100000" kx="0" ky="0" algn="bl" rotWithShape="0" blurRad="76200" dist="25400" dir="5400000">
              <a:srgbClr val="9AA4B8">
                <a:alpha val="35000"/>
              </a:srgbClr>
            </a:outerShdw>
          </a:effectLst>
        </p:spPr>
      </p:sp>
      <p:sp>
        <p:nvSpPr>
          <p:cNvPr id="11" name="Text 7"/>
          <p:cNvSpPr/>
          <p:nvPr/>
        </p:nvSpPr>
        <p:spPr>
          <a:xfrm>
            <a:off x="841248" y="1572768"/>
            <a:ext cx="6089904" cy="467258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.github/workflows/eval-gate.yml — reference</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name: eval-gate</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on: pull_request        # every PR, every push</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jobs:</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evals:</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runs-on: ubuntu-latest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steps:</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 uses: actions/checkout@v4</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 uses: actions/setup-node@v4</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with: { node-version: 20 }</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 name: Start the model service</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run: docker compose up -d --build</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 name: Run the eval gate</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run: npx promptfoo eval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-c promptfooconfig.yaml</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any failed assertion → exit 1 → red check</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red check + branch protection → merge disabled</a:t>
            </a:r>
            <a:endParaRPr lang="en-US" sz="1000" dirty="0"/>
          </a:p>
        </p:txBody>
      </p:sp>
      <p:sp>
        <p:nvSpPr>
          <p:cNvPr id="12" name="Shape 8"/>
          <p:cNvSpPr/>
          <p:nvPr/>
        </p:nvSpPr>
        <p:spPr>
          <a:xfrm>
            <a:off x="7360920" y="1463040"/>
            <a:ext cx="4206240" cy="2514600"/>
          </a:xfrm>
          <a:prstGeom prst="roundRect">
            <a:avLst>
              <a:gd name="adj" fmla="val 3273"/>
            </a:avLst>
          </a:prstGeom>
          <a:solidFill>
            <a:srgbClr val="EEF2FA"/>
          </a:solidFill>
          <a:ln/>
          <a:effectLst>
            <a:outerShdw sx="100000" sy="100000" kx="0" ky="0" algn="bl" rotWithShape="0" blurRad="76200" dist="25400" dir="5400000">
              <a:srgbClr val="9AA4B8">
                <a:alpha val="35000"/>
              </a:srgbClr>
            </a:outerShdw>
          </a:effectLst>
        </p:spPr>
      </p:sp>
      <p:sp>
        <p:nvSpPr>
          <p:cNvPr id="13" name="Text 9"/>
          <p:cNvSpPr/>
          <p:nvPr/>
        </p:nvSpPr>
        <p:spPr>
          <a:xfrm>
            <a:off x="7589520" y="1600200"/>
            <a:ext cx="3794760" cy="32004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Where this lives in a real repository</a:t>
            </a:r>
            <a:endParaRPr lang="en-US" sz="1300" dirty="0"/>
          </a:p>
        </p:txBody>
      </p:sp>
      <p:sp>
        <p:nvSpPr>
          <p:cNvPr id="14" name="Text 10"/>
          <p:cNvSpPr/>
          <p:nvPr/>
        </p:nvSpPr>
        <p:spPr>
          <a:xfrm>
            <a:off x="7589520" y="1965960"/>
            <a:ext cx="3840480" cy="196596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workflow: .github/workflows/eval-gate.yml, versioned and reviewed like any code</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Branch protection: repository Settings → Branches → require the eval-gate status check to pass</a:t>
            </a:r>
            <a:endParaRPr lang="en-US" sz="1100" dirty="0"/>
          </a:p>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With the check required, the platform disables the merge control on failure — the gate cannot be bypassed by an individual</a:t>
            </a:r>
            <a:endParaRPr lang="en-US" sz="1100" dirty="0"/>
          </a:p>
        </p:txBody>
      </p:sp>
      <p:sp>
        <p:nvSpPr>
          <p:cNvPr id="15" name="Shape 11"/>
          <p:cNvSpPr/>
          <p:nvPr/>
        </p:nvSpPr>
        <p:spPr>
          <a:xfrm>
            <a:off x="7360920" y="4160520"/>
            <a:ext cx="4206240" cy="2194560"/>
          </a:xfrm>
          <a:prstGeom prst="roundRect">
            <a:avLst>
              <a:gd name="adj" fmla="val 3750"/>
            </a:avLst>
          </a:prstGeom>
          <a:solidFill>
            <a:srgbClr val="FBF1E3"/>
          </a:solidFill>
          <a:ln/>
          <a:effectLst>
            <a:outerShdw sx="100000" sy="100000" kx="0" ky="0" algn="bl" rotWithShape="0" blurRad="76200" dist="25400" dir="5400000">
              <a:srgbClr val="9AA4B8">
                <a:alpha val="35000"/>
              </a:srgbClr>
            </a:outerShdw>
          </a:effectLst>
        </p:spPr>
      </p:sp>
      <p:sp>
        <p:nvSpPr>
          <p:cNvPr id="16" name="Text 12"/>
          <p:cNvSpPr/>
          <p:nvPr/>
        </p:nvSpPr>
        <p:spPr>
          <a:xfrm>
            <a:off x="7589520" y="4297680"/>
            <a:ext cx="3794760" cy="320040"/>
          </a:xfrm>
          <a:prstGeom prst="rect">
            <a:avLst/>
          </a:prstGeom>
          <a:noFill/>
          <a:ln/>
        </p:spPr>
        <p:txBody>
          <a:bodyPr wrap="square" lIns="0" tIns="0" rIns="0" bIns="0" rtlCol="0" anchor="ctr"/>
          <a:lstStyle/>
          <a:p>
            <a:pPr indent="0" marL="0">
              <a:buNone/>
            </a:pPr>
            <a:r>
              <a:rPr lang="en-US" sz="1300" b="1" dirty="0">
                <a:solidFill>
                  <a:srgbClr val="E8871E"/>
                </a:solidFill>
                <a:latin typeface="Arial" pitchFamily="34" charset="0"/>
                <a:ea typeface="Arial" pitchFamily="34" charset="-122"/>
                <a:cs typeface="Arial" pitchFamily="34" charset="-120"/>
              </a:rPr>
              <a:t>Today's local equivalent</a:t>
            </a:r>
            <a:endParaRPr lang="en-US" sz="1300" dirty="0"/>
          </a:p>
        </p:txBody>
      </p:sp>
      <p:sp>
        <p:nvSpPr>
          <p:cNvPr id="17" name="Text 13"/>
          <p:cNvSpPr/>
          <p:nvPr/>
        </p:nvSpPr>
        <p:spPr>
          <a:xfrm>
            <a:off x="7589520" y="4645152"/>
            <a:ext cx="3840480" cy="1600200"/>
          </a:xfrm>
          <a:prstGeom prst="rect">
            <a:avLst/>
          </a:prstGeom>
          <a:noFill/>
          <a:ln/>
        </p:spPr>
        <p:txBody>
          <a:bodyPr wrap="square" lIns="0" tIns="0" rIns="0" bIns="0" rtlCol="0" anchor="ctr"/>
          <a:lstStyle/>
          <a:p>
            <a:pPr indent="0" marL="0">
              <a:buNone/>
            </a:pPr>
            <a:r>
              <a:rPr lang="en-US" sz="1150" dirty="0">
                <a:solidFill>
                  <a:srgbClr val="232946"/>
                </a:solidFill>
                <a:latin typeface="Calibri" pitchFamily="34" charset="0"/>
                <a:ea typeface="Calibri" pitchFamily="34" charset="-122"/>
                <a:cs typeface="Calibri" pitchFamily="34" charset="-120"/>
              </a:rPr>
              <a:t>The class has no GitHub access, so Lab Step 3 installs the same gate as a git pre-push hook: the hook runs eval-gate.sh, and a non-zero exit rejects the push. Mechanism and contract are identical — only the runner differs.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THE PRODUCTION PIPELINE</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A production CI/CD pipeline — and where today's lab maps onto it</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463040"/>
            <a:ext cx="1572768" cy="1645920"/>
          </a:xfrm>
          <a:prstGeom prst="roundRect">
            <a:avLst>
              <a:gd name="adj" fmla="val 5233"/>
            </a:avLst>
          </a:prstGeom>
          <a:solidFill>
            <a:srgbClr val="DDE6F5"/>
          </a:solidFill>
          <a:ln/>
          <a:effectLst>
            <a:outerShdw sx="100000" sy="100000" kx="0" ky="0" algn="bl" rotWithShape="0" blurRad="76200" dist="25400" dir="5400000">
              <a:srgbClr val="9AA4B8">
                <a:alpha val="35000"/>
              </a:srgbClr>
            </a:outerShdw>
          </a:effectLst>
        </p:spPr>
      </p:sp>
      <p:sp>
        <p:nvSpPr>
          <p:cNvPr id="9" name="Text 5"/>
          <p:cNvSpPr/>
          <p:nvPr/>
        </p:nvSpPr>
        <p:spPr>
          <a:xfrm>
            <a:off x="731520" y="1572768"/>
            <a:ext cx="1389888" cy="310896"/>
          </a:xfrm>
          <a:prstGeom prst="rect">
            <a:avLst/>
          </a:prstGeom>
          <a:noFill/>
          <a:ln/>
        </p:spPr>
        <p:txBody>
          <a:bodyPr wrap="square" lIns="0" tIns="0" rIns="0" bIns="0" rtlCol="0" anchor="ctr"/>
          <a:lstStyle/>
          <a:p>
            <a:pPr indent="0" marL="0">
              <a:buNone/>
            </a:pPr>
            <a:r>
              <a:rPr lang="en-US" sz="1050" b="1" dirty="0">
                <a:solidFill>
                  <a:srgbClr val="232946"/>
                </a:solidFill>
                <a:latin typeface="Arial" pitchFamily="34" charset="0"/>
                <a:ea typeface="Arial" pitchFamily="34" charset="-122"/>
                <a:cs typeface="Arial" pitchFamily="34" charset="-120"/>
              </a:rPr>
              <a:t>1 · DEVELOP</a:t>
            </a:r>
            <a:endParaRPr lang="en-US" sz="1050" dirty="0"/>
          </a:p>
        </p:txBody>
      </p:sp>
      <p:sp>
        <p:nvSpPr>
          <p:cNvPr id="10" name="Text 6"/>
          <p:cNvSpPr/>
          <p:nvPr/>
        </p:nvSpPr>
        <p:spPr>
          <a:xfrm>
            <a:off x="731520" y="1920240"/>
            <a:ext cx="1389888" cy="1115568"/>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Developer commit and pull request</a:t>
            </a:r>
            <a:endParaRPr lang="en-US" sz="900" dirty="0"/>
          </a:p>
        </p:txBody>
      </p:sp>
      <p:sp>
        <p:nvSpPr>
          <p:cNvPr id="11" name="Shape 7"/>
          <p:cNvSpPr/>
          <p:nvPr/>
        </p:nvSpPr>
        <p:spPr>
          <a:xfrm>
            <a:off x="2240280" y="2240280"/>
            <a:ext cx="237744" cy="0"/>
          </a:xfrm>
          <a:prstGeom prst="line">
            <a:avLst/>
          </a:prstGeom>
          <a:noFill/>
          <a:ln w="31750">
            <a:solidFill>
              <a:srgbClr val="E8871E"/>
            </a:solidFill>
            <a:prstDash val="solid"/>
            <a:tailEnd type="triangle"/>
          </a:ln>
        </p:spPr>
      </p:sp>
      <p:sp>
        <p:nvSpPr>
          <p:cNvPr id="12" name="Shape 8"/>
          <p:cNvSpPr/>
          <p:nvPr/>
        </p:nvSpPr>
        <p:spPr>
          <a:xfrm>
            <a:off x="640080" y="3310128"/>
            <a:ext cx="1572768" cy="621792"/>
          </a:xfrm>
          <a:prstGeom prst="roundRect">
            <a:avLst>
              <a:gd name="adj" fmla="val 11765"/>
            </a:avLst>
          </a:prstGeom>
          <a:solidFill>
            <a:srgbClr val="FBF1E3"/>
          </a:solidFill>
          <a:ln w="12700">
            <a:solidFill>
              <a:srgbClr val="E8871E"/>
            </a:solidFill>
            <a:prstDash val="solid"/>
          </a:ln>
        </p:spPr>
      </p:sp>
      <p:sp>
        <p:nvSpPr>
          <p:cNvPr id="13" name="Text 9"/>
          <p:cNvSpPr/>
          <p:nvPr/>
        </p:nvSpPr>
        <p:spPr>
          <a:xfrm>
            <a:off x="694944" y="3310128"/>
            <a:ext cx="1463040" cy="621792"/>
          </a:xfrm>
          <a:prstGeom prst="rect">
            <a:avLst/>
          </a:prstGeom>
          <a:noFill/>
          <a:ln/>
        </p:spPr>
        <p:txBody>
          <a:bodyPr wrap="square" lIns="0" tIns="0" rIns="0" bIns="0" rtlCol="0" anchor="ctr"/>
          <a:lstStyle/>
          <a:p>
            <a:pPr algn="ctr" indent="0" marL="0">
              <a:buNone/>
            </a:pPr>
            <a:r>
              <a:rPr lang="en-US" sz="850" b="1" dirty="0">
                <a:solidFill>
                  <a:srgbClr val="E8871E"/>
                </a:solidFill>
                <a:latin typeface="Calibri" pitchFamily="34" charset="0"/>
                <a:ea typeface="Calibri" pitchFamily="34" charset="-122"/>
                <a:cs typeface="Calibri" pitchFamily="34" charset="-120"/>
              </a:rPr>
              <a:t>today: git push + pre-push hook</a:t>
            </a:r>
            <a:endParaRPr lang="en-US" sz="850" dirty="0"/>
          </a:p>
        </p:txBody>
      </p:sp>
      <p:sp>
        <p:nvSpPr>
          <p:cNvPr id="14" name="Shape 10"/>
          <p:cNvSpPr/>
          <p:nvPr/>
        </p:nvSpPr>
        <p:spPr>
          <a:xfrm>
            <a:off x="1426464" y="3108960"/>
            <a:ext cx="0" cy="201168"/>
          </a:xfrm>
          <a:prstGeom prst="line">
            <a:avLst/>
          </a:prstGeom>
          <a:noFill/>
          <a:ln w="12700">
            <a:solidFill>
              <a:srgbClr val="E8871E"/>
            </a:solidFill>
            <a:prstDash val="dash"/>
          </a:ln>
        </p:spPr>
      </p:sp>
      <p:sp>
        <p:nvSpPr>
          <p:cNvPr id="15" name="Shape 11"/>
          <p:cNvSpPr/>
          <p:nvPr/>
        </p:nvSpPr>
        <p:spPr>
          <a:xfrm>
            <a:off x="2505456" y="1463040"/>
            <a:ext cx="1572768" cy="1645920"/>
          </a:xfrm>
          <a:prstGeom prst="roundRect">
            <a:avLst>
              <a:gd name="adj" fmla="val 5233"/>
            </a:avLst>
          </a:prstGeom>
          <a:solidFill>
            <a:srgbClr val="E8871E"/>
          </a:solidFill>
          <a:ln/>
          <a:effectLst>
            <a:outerShdw sx="100000" sy="100000" kx="0" ky="0" algn="bl" rotWithShape="0" blurRad="76200" dist="25400" dir="5400000">
              <a:srgbClr val="9AA4B8">
                <a:alpha val="35000"/>
              </a:srgbClr>
            </a:outerShdw>
          </a:effectLst>
        </p:spPr>
      </p:sp>
      <p:sp>
        <p:nvSpPr>
          <p:cNvPr id="16" name="Text 12"/>
          <p:cNvSpPr/>
          <p:nvPr/>
        </p:nvSpPr>
        <p:spPr>
          <a:xfrm>
            <a:off x="2596896" y="1572768"/>
            <a:ext cx="1389888" cy="310896"/>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2 · CI GATE</a:t>
            </a:r>
            <a:endParaRPr lang="en-US" sz="1050" dirty="0"/>
          </a:p>
        </p:txBody>
      </p:sp>
      <p:sp>
        <p:nvSpPr>
          <p:cNvPr id="17" name="Text 13"/>
          <p:cNvSpPr/>
          <p:nvPr/>
        </p:nvSpPr>
        <p:spPr>
          <a:xfrm>
            <a:off x="2596896" y="1920240"/>
            <a:ext cx="1389888" cy="1115568"/>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Unit tests + EVAL GATE — failing evals block the merge</a:t>
            </a:r>
            <a:endParaRPr lang="en-US" sz="900" dirty="0"/>
          </a:p>
        </p:txBody>
      </p:sp>
      <p:sp>
        <p:nvSpPr>
          <p:cNvPr id="18" name="Shape 14"/>
          <p:cNvSpPr/>
          <p:nvPr/>
        </p:nvSpPr>
        <p:spPr>
          <a:xfrm>
            <a:off x="4105656" y="2240280"/>
            <a:ext cx="237744" cy="0"/>
          </a:xfrm>
          <a:prstGeom prst="line">
            <a:avLst/>
          </a:prstGeom>
          <a:noFill/>
          <a:ln w="31750">
            <a:solidFill>
              <a:srgbClr val="E8871E"/>
            </a:solidFill>
            <a:prstDash val="solid"/>
            <a:tailEnd type="triangle"/>
          </a:ln>
        </p:spPr>
      </p:sp>
      <p:sp>
        <p:nvSpPr>
          <p:cNvPr id="19" name="Shape 15"/>
          <p:cNvSpPr/>
          <p:nvPr/>
        </p:nvSpPr>
        <p:spPr>
          <a:xfrm>
            <a:off x="2505456" y="3310128"/>
            <a:ext cx="1572768" cy="621792"/>
          </a:xfrm>
          <a:prstGeom prst="roundRect">
            <a:avLst>
              <a:gd name="adj" fmla="val 11765"/>
            </a:avLst>
          </a:prstGeom>
          <a:solidFill>
            <a:srgbClr val="FBF1E3"/>
          </a:solidFill>
          <a:ln w="12700">
            <a:solidFill>
              <a:srgbClr val="E8871E"/>
            </a:solidFill>
            <a:prstDash val="solid"/>
          </a:ln>
        </p:spPr>
      </p:sp>
      <p:sp>
        <p:nvSpPr>
          <p:cNvPr id="20" name="Text 16"/>
          <p:cNvSpPr/>
          <p:nvPr/>
        </p:nvSpPr>
        <p:spPr>
          <a:xfrm>
            <a:off x="2560320" y="3310128"/>
            <a:ext cx="1463040" cy="621792"/>
          </a:xfrm>
          <a:prstGeom prst="rect">
            <a:avLst/>
          </a:prstGeom>
          <a:noFill/>
          <a:ln/>
        </p:spPr>
        <p:txBody>
          <a:bodyPr wrap="square" lIns="0" tIns="0" rIns="0" bIns="0" rtlCol="0" anchor="ctr"/>
          <a:lstStyle/>
          <a:p>
            <a:pPr algn="ctr" indent="0" marL="0">
              <a:buNone/>
            </a:pPr>
            <a:r>
              <a:rPr lang="en-US" sz="850" b="1" dirty="0">
                <a:solidFill>
                  <a:srgbClr val="E8871E"/>
                </a:solidFill>
                <a:latin typeface="Calibri" pitchFamily="34" charset="0"/>
                <a:ea typeface="Calibri" pitchFamily="34" charset="-122"/>
                <a:cs typeface="Calibri" pitchFamily="34" charset="-120"/>
              </a:rPr>
              <a:t>today: eval-gate.sh (promptfoo)</a:t>
            </a:r>
            <a:endParaRPr lang="en-US" sz="850" dirty="0"/>
          </a:p>
        </p:txBody>
      </p:sp>
      <p:sp>
        <p:nvSpPr>
          <p:cNvPr id="21" name="Shape 17"/>
          <p:cNvSpPr/>
          <p:nvPr/>
        </p:nvSpPr>
        <p:spPr>
          <a:xfrm>
            <a:off x="3291840" y="3108960"/>
            <a:ext cx="0" cy="201168"/>
          </a:xfrm>
          <a:prstGeom prst="line">
            <a:avLst/>
          </a:prstGeom>
          <a:noFill/>
          <a:ln w="12700">
            <a:solidFill>
              <a:srgbClr val="E8871E"/>
            </a:solidFill>
            <a:prstDash val="dash"/>
          </a:ln>
        </p:spPr>
      </p:sp>
      <p:sp>
        <p:nvSpPr>
          <p:cNvPr id="22" name="Shape 18"/>
          <p:cNvSpPr/>
          <p:nvPr/>
        </p:nvSpPr>
        <p:spPr>
          <a:xfrm>
            <a:off x="4370832" y="1463040"/>
            <a:ext cx="1572768" cy="1645920"/>
          </a:xfrm>
          <a:prstGeom prst="roundRect">
            <a:avLst>
              <a:gd name="adj" fmla="val 5233"/>
            </a:avLst>
          </a:prstGeom>
          <a:solidFill>
            <a:srgbClr val="DDE6F5"/>
          </a:solidFill>
          <a:ln/>
          <a:effectLst>
            <a:outerShdw sx="100000" sy="100000" kx="0" ky="0" algn="bl" rotWithShape="0" blurRad="76200" dist="25400" dir="5400000">
              <a:srgbClr val="9AA4B8">
                <a:alpha val="35000"/>
              </a:srgbClr>
            </a:outerShdw>
          </a:effectLst>
        </p:spPr>
      </p:sp>
      <p:sp>
        <p:nvSpPr>
          <p:cNvPr id="23" name="Text 19"/>
          <p:cNvSpPr/>
          <p:nvPr/>
        </p:nvSpPr>
        <p:spPr>
          <a:xfrm>
            <a:off x="4462272" y="1572768"/>
            <a:ext cx="1389888" cy="310896"/>
          </a:xfrm>
          <a:prstGeom prst="rect">
            <a:avLst/>
          </a:prstGeom>
          <a:noFill/>
          <a:ln/>
        </p:spPr>
        <p:txBody>
          <a:bodyPr wrap="square" lIns="0" tIns="0" rIns="0" bIns="0" rtlCol="0" anchor="ctr"/>
          <a:lstStyle/>
          <a:p>
            <a:pPr indent="0" marL="0">
              <a:buNone/>
            </a:pPr>
            <a:r>
              <a:rPr lang="en-US" sz="1050" b="1" dirty="0">
                <a:solidFill>
                  <a:srgbClr val="232946"/>
                </a:solidFill>
                <a:latin typeface="Arial" pitchFamily="34" charset="0"/>
                <a:ea typeface="Arial" pitchFamily="34" charset="-122"/>
                <a:cs typeface="Arial" pitchFamily="34" charset="-120"/>
              </a:rPr>
              <a:t>3 · BUILD</a:t>
            </a:r>
            <a:endParaRPr lang="en-US" sz="1050" dirty="0"/>
          </a:p>
        </p:txBody>
      </p:sp>
      <p:sp>
        <p:nvSpPr>
          <p:cNvPr id="24" name="Text 20"/>
          <p:cNvSpPr/>
          <p:nvPr/>
        </p:nvSpPr>
        <p:spPr>
          <a:xfrm>
            <a:off x="4462272" y="1920240"/>
            <a:ext cx="1389888" cy="1115568"/>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Build the container image; push to the registry</a:t>
            </a:r>
            <a:endParaRPr lang="en-US" sz="900" dirty="0"/>
          </a:p>
        </p:txBody>
      </p:sp>
      <p:sp>
        <p:nvSpPr>
          <p:cNvPr id="25" name="Shape 21"/>
          <p:cNvSpPr/>
          <p:nvPr/>
        </p:nvSpPr>
        <p:spPr>
          <a:xfrm>
            <a:off x="5971032" y="2240280"/>
            <a:ext cx="237744" cy="0"/>
          </a:xfrm>
          <a:prstGeom prst="line">
            <a:avLst/>
          </a:prstGeom>
          <a:noFill/>
          <a:ln w="31750">
            <a:solidFill>
              <a:srgbClr val="E8871E"/>
            </a:solidFill>
            <a:prstDash val="solid"/>
            <a:tailEnd type="triangle"/>
          </a:ln>
        </p:spPr>
      </p:sp>
      <p:sp>
        <p:nvSpPr>
          <p:cNvPr id="26" name="Shape 22"/>
          <p:cNvSpPr/>
          <p:nvPr/>
        </p:nvSpPr>
        <p:spPr>
          <a:xfrm>
            <a:off x="4370832" y="3310128"/>
            <a:ext cx="1572768" cy="621792"/>
          </a:xfrm>
          <a:prstGeom prst="roundRect">
            <a:avLst>
              <a:gd name="adj" fmla="val 11765"/>
            </a:avLst>
          </a:prstGeom>
          <a:solidFill>
            <a:srgbClr val="FBF1E3"/>
          </a:solidFill>
          <a:ln w="12700">
            <a:solidFill>
              <a:srgbClr val="E8871E"/>
            </a:solidFill>
            <a:prstDash val="solid"/>
          </a:ln>
        </p:spPr>
      </p:sp>
      <p:sp>
        <p:nvSpPr>
          <p:cNvPr id="27" name="Text 23"/>
          <p:cNvSpPr/>
          <p:nvPr/>
        </p:nvSpPr>
        <p:spPr>
          <a:xfrm>
            <a:off x="4425696" y="3310128"/>
            <a:ext cx="1463040" cy="621792"/>
          </a:xfrm>
          <a:prstGeom prst="rect">
            <a:avLst/>
          </a:prstGeom>
          <a:noFill/>
          <a:ln/>
        </p:spPr>
        <p:txBody>
          <a:bodyPr wrap="square" lIns="0" tIns="0" rIns="0" bIns="0" rtlCol="0" anchor="ctr"/>
          <a:lstStyle/>
          <a:p>
            <a:pPr algn="ctr" indent="0" marL="0">
              <a:buNone/>
            </a:pPr>
            <a:r>
              <a:rPr lang="en-US" sz="850" b="1" dirty="0">
                <a:solidFill>
                  <a:srgbClr val="E8871E"/>
                </a:solidFill>
                <a:latin typeface="Calibri" pitchFamily="34" charset="0"/>
                <a:ea typeface="Calibri" pitchFamily="34" charset="-122"/>
                <a:cs typeface="Calibri" pitchFamily="34" charset="-120"/>
              </a:rPr>
              <a:t>today: docker build (Session 2)</a:t>
            </a:r>
            <a:endParaRPr lang="en-US" sz="850" dirty="0"/>
          </a:p>
        </p:txBody>
      </p:sp>
      <p:sp>
        <p:nvSpPr>
          <p:cNvPr id="28" name="Shape 24"/>
          <p:cNvSpPr/>
          <p:nvPr/>
        </p:nvSpPr>
        <p:spPr>
          <a:xfrm>
            <a:off x="5157216" y="3108960"/>
            <a:ext cx="0" cy="201168"/>
          </a:xfrm>
          <a:prstGeom prst="line">
            <a:avLst/>
          </a:prstGeom>
          <a:noFill/>
          <a:ln w="12700">
            <a:solidFill>
              <a:srgbClr val="E8871E"/>
            </a:solidFill>
            <a:prstDash val="dash"/>
          </a:ln>
        </p:spPr>
      </p:sp>
      <p:sp>
        <p:nvSpPr>
          <p:cNvPr id="29" name="Shape 25"/>
          <p:cNvSpPr/>
          <p:nvPr/>
        </p:nvSpPr>
        <p:spPr>
          <a:xfrm>
            <a:off x="6236208" y="1463040"/>
            <a:ext cx="1572768" cy="1645920"/>
          </a:xfrm>
          <a:prstGeom prst="roundRect">
            <a:avLst>
              <a:gd name="adj" fmla="val 5233"/>
            </a:avLst>
          </a:prstGeom>
          <a:solidFill>
            <a:srgbClr val="DDE6F5"/>
          </a:solidFill>
          <a:ln/>
          <a:effectLst>
            <a:outerShdw sx="100000" sy="100000" kx="0" ky="0" algn="bl" rotWithShape="0" blurRad="76200" dist="25400" dir="5400000">
              <a:srgbClr val="9AA4B8">
                <a:alpha val="35000"/>
              </a:srgbClr>
            </a:outerShdw>
          </a:effectLst>
        </p:spPr>
      </p:sp>
      <p:sp>
        <p:nvSpPr>
          <p:cNvPr id="30" name="Text 26"/>
          <p:cNvSpPr/>
          <p:nvPr/>
        </p:nvSpPr>
        <p:spPr>
          <a:xfrm>
            <a:off x="6327648" y="1572768"/>
            <a:ext cx="1389888" cy="310896"/>
          </a:xfrm>
          <a:prstGeom prst="rect">
            <a:avLst/>
          </a:prstGeom>
          <a:noFill/>
          <a:ln/>
        </p:spPr>
        <p:txBody>
          <a:bodyPr wrap="square" lIns="0" tIns="0" rIns="0" bIns="0" rtlCol="0" anchor="ctr"/>
          <a:lstStyle/>
          <a:p>
            <a:pPr indent="0" marL="0">
              <a:buNone/>
            </a:pPr>
            <a:r>
              <a:rPr lang="en-US" sz="1050" b="1" dirty="0">
                <a:solidFill>
                  <a:srgbClr val="232946"/>
                </a:solidFill>
                <a:latin typeface="Arial" pitchFamily="34" charset="0"/>
                <a:ea typeface="Arial" pitchFamily="34" charset="-122"/>
                <a:cs typeface="Arial" pitchFamily="34" charset="-120"/>
              </a:rPr>
              <a:t>4 · STAGING</a:t>
            </a:r>
            <a:endParaRPr lang="en-US" sz="1050" dirty="0"/>
          </a:p>
        </p:txBody>
      </p:sp>
      <p:sp>
        <p:nvSpPr>
          <p:cNvPr id="31" name="Text 27"/>
          <p:cNvSpPr/>
          <p:nvPr/>
        </p:nvSpPr>
        <p:spPr>
          <a:xfrm>
            <a:off x="6327648" y="1920240"/>
            <a:ext cx="1389888" cy="1115568"/>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Deploy the candidate to a staging environment</a:t>
            </a:r>
            <a:endParaRPr lang="en-US" sz="900" dirty="0"/>
          </a:p>
        </p:txBody>
      </p:sp>
      <p:sp>
        <p:nvSpPr>
          <p:cNvPr id="32" name="Shape 28"/>
          <p:cNvSpPr/>
          <p:nvPr/>
        </p:nvSpPr>
        <p:spPr>
          <a:xfrm>
            <a:off x="7836408" y="2240280"/>
            <a:ext cx="237744" cy="0"/>
          </a:xfrm>
          <a:prstGeom prst="line">
            <a:avLst/>
          </a:prstGeom>
          <a:noFill/>
          <a:ln w="31750">
            <a:solidFill>
              <a:srgbClr val="E8871E"/>
            </a:solidFill>
            <a:prstDash val="solid"/>
            <a:tailEnd type="triangle"/>
          </a:ln>
        </p:spPr>
      </p:sp>
      <p:sp>
        <p:nvSpPr>
          <p:cNvPr id="33" name="Shape 29"/>
          <p:cNvSpPr/>
          <p:nvPr/>
        </p:nvSpPr>
        <p:spPr>
          <a:xfrm>
            <a:off x="6236208" y="3310128"/>
            <a:ext cx="1572768" cy="621792"/>
          </a:xfrm>
          <a:prstGeom prst="roundRect">
            <a:avLst>
              <a:gd name="adj" fmla="val 11765"/>
            </a:avLst>
          </a:prstGeom>
          <a:solidFill>
            <a:srgbClr val="FBF1E3"/>
          </a:solidFill>
          <a:ln w="12700">
            <a:solidFill>
              <a:srgbClr val="E8871E"/>
            </a:solidFill>
            <a:prstDash val="solid"/>
          </a:ln>
        </p:spPr>
      </p:sp>
      <p:sp>
        <p:nvSpPr>
          <p:cNvPr id="34" name="Text 30"/>
          <p:cNvSpPr/>
          <p:nvPr/>
        </p:nvSpPr>
        <p:spPr>
          <a:xfrm>
            <a:off x="6291072" y="3310128"/>
            <a:ext cx="1463040" cy="621792"/>
          </a:xfrm>
          <a:prstGeom prst="rect">
            <a:avLst/>
          </a:prstGeom>
          <a:noFill/>
          <a:ln/>
        </p:spPr>
        <p:txBody>
          <a:bodyPr wrap="square" lIns="0" tIns="0" rIns="0" bIns="0" rtlCol="0" anchor="ctr"/>
          <a:lstStyle/>
          <a:p>
            <a:pPr algn="ctr" indent="0" marL="0">
              <a:buNone/>
            </a:pPr>
            <a:r>
              <a:rPr lang="en-US" sz="850" b="1" dirty="0">
                <a:solidFill>
                  <a:srgbClr val="E8871E"/>
                </a:solidFill>
                <a:latin typeface="Calibri" pitchFamily="34" charset="0"/>
                <a:ea typeface="Calibri" pitchFamily="34" charset="-122"/>
                <a:cs typeface="Calibri" pitchFamily="34" charset="-120"/>
              </a:rPr>
              <a:t>today: compose up llm-v2</a:t>
            </a:r>
            <a:endParaRPr lang="en-US" sz="850" dirty="0"/>
          </a:p>
        </p:txBody>
      </p:sp>
      <p:sp>
        <p:nvSpPr>
          <p:cNvPr id="35" name="Shape 31"/>
          <p:cNvSpPr/>
          <p:nvPr/>
        </p:nvSpPr>
        <p:spPr>
          <a:xfrm>
            <a:off x="7022592" y="3108960"/>
            <a:ext cx="0" cy="201168"/>
          </a:xfrm>
          <a:prstGeom prst="line">
            <a:avLst/>
          </a:prstGeom>
          <a:noFill/>
          <a:ln w="12700">
            <a:solidFill>
              <a:srgbClr val="E8871E"/>
            </a:solidFill>
            <a:prstDash val="dash"/>
          </a:ln>
        </p:spPr>
      </p:sp>
      <p:sp>
        <p:nvSpPr>
          <p:cNvPr id="36" name="Shape 32"/>
          <p:cNvSpPr/>
          <p:nvPr/>
        </p:nvSpPr>
        <p:spPr>
          <a:xfrm>
            <a:off x="8101584" y="1463040"/>
            <a:ext cx="1572768" cy="1645920"/>
          </a:xfrm>
          <a:prstGeom prst="roundRect">
            <a:avLst>
              <a:gd name="adj" fmla="val 5233"/>
            </a:avLst>
          </a:prstGeom>
          <a:solidFill>
            <a:srgbClr val="DDE6F5"/>
          </a:solidFill>
          <a:ln/>
          <a:effectLst>
            <a:outerShdw sx="100000" sy="100000" kx="0" ky="0" algn="bl" rotWithShape="0" blurRad="76200" dist="25400" dir="5400000">
              <a:srgbClr val="9AA4B8">
                <a:alpha val="35000"/>
              </a:srgbClr>
            </a:outerShdw>
          </a:effectLst>
        </p:spPr>
      </p:sp>
      <p:sp>
        <p:nvSpPr>
          <p:cNvPr id="37" name="Text 33"/>
          <p:cNvSpPr/>
          <p:nvPr/>
        </p:nvSpPr>
        <p:spPr>
          <a:xfrm>
            <a:off x="8193024" y="1572768"/>
            <a:ext cx="1389888" cy="310896"/>
          </a:xfrm>
          <a:prstGeom prst="rect">
            <a:avLst/>
          </a:prstGeom>
          <a:noFill/>
          <a:ln/>
        </p:spPr>
        <p:txBody>
          <a:bodyPr wrap="square" lIns="0" tIns="0" rIns="0" bIns="0" rtlCol="0" anchor="ctr"/>
          <a:lstStyle/>
          <a:p>
            <a:pPr indent="0" marL="0">
              <a:buNone/>
            </a:pPr>
            <a:r>
              <a:rPr lang="en-US" sz="1050" b="1" dirty="0">
                <a:solidFill>
                  <a:srgbClr val="232946"/>
                </a:solidFill>
                <a:latin typeface="Arial" pitchFamily="34" charset="0"/>
                <a:ea typeface="Arial" pitchFamily="34" charset="-122"/>
                <a:cs typeface="Arial" pitchFamily="34" charset="-120"/>
              </a:rPr>
              <a:t>5 · CANARY</a:t>
            </a:r>
            <a:endParaRPr lang="en-US" sz="1050" dirty="0"/>
          </a:p>
        </p:txBody>
      </p:sp>
      <p:sp>
        <p:nvSpPr>
          <p:cNvPr id="38" name="Text 34"/>
          <p:cNvSpPr/>
          <p:nvPr/>
        </p:nvSpPr>
        <p:spPr>
          <a:xfrm>
            <a:off x="8193024" y="1920240"/>
            <a:ext cx="1389888" cy="1115568"/>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10% → 50% → 100% of live traffic, gated by automated analysis</a:t>
            </a:r>
            <a:endParaRPr lang="en-US" sz="900" dirty="0"/>
          </a:p>
        </p:txBody>
      </p:sp>
      <p:sp>
        <p:nvSpPr>
          <p:cNvPr id="39" name="Shape 35"/>
          <p:cNvSpPr/>
          <p:nvPr/>
        </p:nvSpPr>
        <p:spPr>
          <a:xfrm>
            <a:off x="9701784" y="2240280"/>
            <a:ext cx="237744" cy="0"/>
          </a:xfrm>
          <a:prstGeom prst="line">
            <a:avLst/>
          </a:prstGeom>
          <a:noFill/>
          <a:ln w="31750">
            <a:solidFill>
              <a:srgbClr val="E8871E"/>
            </a:solidFill>
            <a:prstDash val="solid"/>
            <a:tailEnd type="triangle"/>
          </a:ln>
        </p:spPr>
      </p:sp>
      <p:sp>
        <p:nvSpPr>
          <p:cNvPr id="40" name="Shape 36"/>
          <p:cNvSpPr/>
          <p:nvPr/>
        </p:nvSpPr>
        <p:spPr>
          <a:xfrm>
            <a:off x="8101584" y="3310128"/>
            <a:ext cx="1572768" cy="621792"/>
          </a:xfrm>
          <a:prstGeom prst="roundRect">
            <a:avLst>
              <a:gd name="adj" fmla="val 11765"/>
            </a:avLst>
          </a:prstGeom>
          <a:solidFill>
            <a:srgbClr val="FBF1E3"/>
          </a:solidFill>
          <a:ln w="12700">
            <a:solidFill>
              <a:srgbClr val="E8871E"/>
            </a:solidFill>
            <a:prstDash val="solid"/>
          </a:ln>
        </p:spPr>
      </p:sp>
      <p:sp>
        <p:nvSpPr>
          <p:cNvPr id="41" name="Text 37"/>
          <p:cNvSpPr/>
          <p:nvPr/>
        </p:nvSpPr>
        <p:spPr>
          <a:xfrm>
            <a:off x="8156448" y="3310128"/>
            <a:ext cx="1463040" cy="621792"/>
          </a:xfrm>
          <a:prstGeom prst="rect">
            <a:avLst/>
          </a:prstGeom>
          <a:noFill/>
          <a:ln/>
        </p:spPr>
        <p:txBody>
          <a:bodyPr wrap="square" lIns="0" tIns="0" rIns="0" bIns="0" rtlCol="0" anchor="ctr"/>
          <a:lstStyle/>
          <a:p>
            <a:pPr algn="ctr" indent="0" marL="0">
              <a:buNone/>
            </a:pPr>
            <a:r>
              <a:rPr lang="en-US" sz="850" b="1" dirty="0">
                <a:solidFill>
                  <a:srgbClr val="E8871E"/>
                </a:solidFill>
                <a:latin typeface="Calibri" pitchFamily="34" charset="0"/>
                <a:ea typeface="Calibri" pitchFamily="34" charset="-122"/>
                <a:cs typeface="Calibri" pitchFamily="34" charset="-120"/>
              </a:rPr>
              <a:t>today: canary.sh + nginx weights</a:t>
            </a:r>
            <a:endParaRPr lang="en-US" sz="850" dirty="0"/>
          </a:p>
        </p:txBody>
      </p:sp>
      <p:sp>
        <p:nvSpPr>
          <p:cNvPr id="42" name="Shape 38"/>
          <p:cNvSpPr/>
          <p:nvPr/>
        </p:nvSpPr>
        <p:spPr>
          <a:xfrm>
            <a:off x="8887968" y="3108960"/>
            <a:ext cx="0" cy="201168"/>
          </a:xfrm>
          <a:prstGeom prst="line">
            <a:avLst/>
          </a:prstGeom>
          <a:noFill/>
          <a:ln w="12700">
            <a:solidFill>
              <a:srgbClr val="E8871E"/>
            </a:solidFill>
            <a:prstDash val="dash"/>
          </a:ln>
        </p:spPr>
      </p:sp>
      <p:sp>
        <p:nvSpPr>
          <p:cNvPr id="43" name="Shape 39"/>
          <p:cNvSpPr/>
          <p:nvPr/>
        </p:nvSpPr>
        <p:spPr>
          <a:xfrm>
            <a:off x="9966960" y="1463040"/>
            <a:ext cx="1572768" cy="1645920"/>
          </a:xfrm>
          <a:prstGeom prst="roundRect">
            <a:avLst>
              <a:gd name="adj" fmla="val 5233"/>
            </a:avLst>
          </a:prstGeom>
          <a:solidFill>
            <a:srgbClr val="232946"/>
          </a:solidFill>
          <a:ln/>
          <a:effectLst>
            <a:outerShdw sx="100000" sy="100000" kx="0" ky="0" algn="bl" rotWithShape="0" blurRad="76200" dist="25400" dir="5400000">
              <a:srgbClr val="9AA4B8">
                <a:alpha val="35000"/>
              </a:srgbClr>
            </a:outerShdw>
          </a:effectLst>
        </p:spPr>
      </p:sp>
      <p:sp>
        <p:nvSpPr>
          <p:cNvPr id="44" name="Text 40"/>
          <p:cNvSpPr/>
          <p:nvPr/>
        </p:nvSpPr>
        <p:spPr>
          <a:xfrm>
            <a:off x="10058400" y="1572768"/>
            <a:ext cx="1389888" cy="310896"/>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6 · PRODUCTION</a:t>
            </a:r>
            <a:endParaRPr lang="en-US" sz="1050" dirty="0"/>
          </a:p>
        </p:txBody>
      </p:sp>
      <p:sp>
        <p:nvSpPr>
          <p:cNvPr id="45" name="Text 41"/>
          <p:cNvSpPr/>
          <p:nvPr/>
        </p:nvSpPr>
        <p:spPr>
          <a:xfrm>
            <a:off x="10058400" y="1920240"/>
            <a:ext cx="1389888" cy="1115568"/>
          </a:xfrm>
          <a:prstGeom prst="rect">
            <a:avLst/>
          </a:prstGeom>
          <a:noFill/>
          <a:ln/>
        </p:spPr>
        <p:txBody>
          <a:bodyPr wrap="square" lIns="0" tIns="0" rIns="0" bIns="0" rtlCol="0" anchor="ctr"/>
          <a:lstStyle/>
          <a:p>
            <a:pPr indent="0" marL="0">
              <a:buNone/>
            </a:pPr>
            <a:r>
              <a:rPr lang="en-US" sz="900" dirty="0">
                <a:solidFill>
                  <a:srgbClr val="CADCFC"/>
                </a:solidFill>
                <a:latin typeface="Calibri" pitchFamily="34" charset="0"/>
                <a:ea typeface="Calibri" pitchFamily="34" charset="-122"/>
                <a:cs typeface="Calibri" pitchFamily="34" charset="-120"/>
              </a:rPr>
              <a:t>100% of traffic on the new version</a:t>
            </a:r>
            <a:endParaRPr lang="en-US" sz="900" dirty="0"/>
          </a:p>
        </p:txBody>
      </p:sp>
      <p:sp>
        <p:nvSpPr>
          <p:cNvPr id="46" name="Shape 42"/>
          <p:cNvSpPr/>
          <p:nvPr/>
        </p:nvSpPr>
        <p:spPr>
          <a:xfrm>
            <a:off x="9966960" y="3310128"/>
            <a:ext cx="1572768" cy="621792"/>
          </a:xfrm>
          <a:prstGeom prst="roundRect">
            <a:avLst>
              <a:gd name="adj" fmla="val 11765"/>
            </a:avLst>
          </a:prstGeom>
          <a:solidFill>
            <a:srgbClr val="FBF1E3"/>
          </a:solidFill>
          <a:ln w="12700">
            <a:solidFill>
              <a:srgbClr val="E8871E"/>
            </a:solidFill>
            <a:prstDash val="solid"/>
          </a:ln>
        </p:spPr>
      </p:sp>
      <p:sp>
        <p:nvSpPr>
          <p:cNvPr id="47" name="Text 43"/>
          <p:cNvSpPr/>
          <p:nvPr/>
        </p:nvSpPr>
        <p:spPr>
          <a:xfrm>
            <a:off x="10021824" y="3310128"/>
            <a:ext cx="1463040" cy="621792"/>
          </a:xfrm>
          <a:prstGeom prst="rect">
            <a:avLst/>
          </a:prstGeom>
          <a:noFill/>
          <a:ln/>
        </p:spPr>
        <p:txBody>
          <a:bodyPr wrap="square" lIns="0" tIns="0" rIns="0" bIns="0" rtlCol="0" anchor="ctr"/>
          <a:lstStyle/>
          <a:p>
            <a:pPr algn="ctr" indent="0" marL="0">
              <a:buNone/>
            </a:pPr>
            <a:r>
              <a:rPr lang="en-US" sz="850" b="1" dirty="0">
                <a:solidFill>
                  <a:srgbClr val="E8871E"/>
                </a:solidFill>
                <a:latin typeface="Calibri" pitchFamily="34" charset="0"/>
                <a:ea typeface="Calibri" pitchFamily="34" charset="-122"/>
                <a:cs typeface="Calibri" pitchFamily="34" charset="-120"/>
              </a:rPr>
              <a:t>today: curl :8080/version → v2</a:t>
            </a:r>
            <a:endParaRPr lang="en-US" sz="850" dirty="0"/>
          </a:p>
        </p:txBody>
      </p:sp>
      <p:sp>
        <p:nvSpPr>
          <p:cNvPr id="48" name="Shape 44"/>
          <p:cNvSpPr/>
          <p:nvPr/>
        </p:nvSpPr>
        <p:spPr>
          <a:xfrm>
            <a:off x="10753344" y="3108960"/>
            <a:ext cx="0" cy="201168"/>
          </a:xfrm>
          <a:prstGeom prst="line">
            <a:avLst/>
          </a:prstGeom>
          <a:noFill/>
          <a:ln w="12700">
            <a:solidFill>
              <a:srgbClr val="E8871E"/>
            </a:solidFill>
            <a:prstDash val="dash"/>
          </a:ln>
        </p:spPr>
      </p:sp>
      <p:sp>
        <p:nvSpPr>
          <p:cNvPr id="49" name="Shape 45"/>
          <p:cNvSpPr/>
          <p:nvPr/>
        </p:nvSpPr>
        <p:spPr>
          <a:xfrm>
            <a:off x="640080" y="4343400"/>
            <a:ext cx="2743200" cy="868680"/>
          </a:xfrm>
          <a:prstGeom prst="roundRect">
            <a:avLst>
              <a:gd name="adj" fmla="val 9474"/>
            </a:avLst>
          </a:prstGeom>
          <a:solidFill>
            <a:srgbClr val="F8ECE8"/>
          </a:solidFill>
          <a:ln/>
          <a:effectLst>
            <a:outerShdw sx="100000" sy="100000" kx="0" ky="0" algn="bl" rotWithShape="0" blurRad="76200" dist="25400" dir="5400000">
              <a:srgbClr val="9AA4B8">
                <a:alpha val="35000"/>
              </a:srgbClr>
            </a:outerShdw>
          </a:effectLst>
        </p:spPr>
      </p:sp>
      <p:sp>
        <p:nvSpPr>
          <p:cNvPr id="50" name="Shape 46"/>
          <p:cNvSpPr/>
          <p:nvPr/>
        </p:nvSpPr>
        <p:spPr>
          <a:xfrm>
            <a:off x="841248" y="4553712"/>
            <a:ext cx="402336" cy="402336"/>
          </a:xfrm>
          <a:prstGeom prst="ellipse">
            <a:avLst/>
          </a:prstGeom>
          <a:solidFill>
            <a:srgbClr val="B3402A"/>
          </a:solidFill>
          <a:ln/>
        </p:spPr>
      </p:sp>
      <p:pic>
        <p:nvPicPr>
          <p:cNvPr id="51" name="Image 1" descr="preencoded.png">    </p:cNvPr>
          <p:cNvPicPr>
            <a:picLocks noChangeAspect="1"/>
          </p:cNvPicPr>
          <p:nvPr/>
        </p:nvPicPr>
        <p:blipFill>
          <a:blip r:embed="rId2"/>
          <a:stretch>
            <a:fillRect/>
          </a:stretch>
        </p:blipFill>
        <p:spPr>
          <a:xfrm>
            <a:off x="945855" y="4658319"/>
            <a:ext cx="193121" cy="193121"/>
          </a:xfrm>
          <a:prstGeom prst="rect">
            <a:avLst/>
          </a:prstGeom>
        </p:spPr>
      </p:pic>
      <p:sp>
        <p:nvSpPr>
          <p:cNvPr id="52" name="Text 47"/>
          <p:cNvSpPr/>
          <p:nvPr/>
        </p:nvSpPr>
        <p:spPr>
          <a:xfrm>
            <a:off x="1371600" y="4434840"/>
            <a:ext cx="1920240" cy="292608"/>
          </a:xfrm>
          <a:prstGeom prst="rect">
            <a:avLst/>
          </a:prstGeom>
          <a:noFill/>
          <a:ln/>
        </p:spPr>
        <p:txBody>
          <a:bodyPr wrap="square" lIns="0" tIns="0" rIns="0" bIns="0" rtlCol="0" anchor="ctr"/>
          <a:lstStyle/>
          <a:p>
            <a:pPr indent="0" marL="0">
              <a:buNone/>
            </a:pPr>
            <a:r>
              <a:rPr lang="en-US" sz="1150" b="1" dirty="0">
                <a:solidFill>
                  <a:srgbClr val="B3402A"/>
                </a:solidFill>
                <a:latin typeface="Arial" pitchFamily="34" charset="0"/>
                <a:ea typeface="Arial" pitchFamily="34" charset="-122"/>
                <a:cs typeface="Arial" pitchFamily="34" charset="-120"/>
              </a:rPr>
              <a:t>Previous version</a:t>
            </a:r>
            <a:endParaRPr lang="en-US" sz="1150" dirty="0"/>
          </a:p>
        </p:txBody>
      </p:sp>
      <p:sp>
        <p:nvSpPr>
          <p:cNvPr id="53" name="Text 48"/>
          <p:cNvSpPr/>
          <p:nvPr/>
        </p:nvSpPr>
        <p:spPr>
          <a:xfrm>
            <a:off x="1371600" y="4718304"/>
            <a:ext cx="1920240" cy="411480"/>
          </a:xfrm>
          <a:prstGeom prst="rect">
            <a:avLst/>
          </a:prstGeom>
          <a:noFill/>
          <a:ln/>
        </p:spPr>
        <p:txBody>
          <a:bodyPr wrap="square" lIns="0" tIns="0" rIns="0" bIns="0" rtlCol="0" anchor="ctr"/>
          <a:lstStyle/>
          <a:p>
            <a:pPr indent="0" marL="0">
              <a:buNone/>
            </a:pPr>
            <a:r>
              <a:rPr lang="en-US" sz="950" dirty="0">
                <a:solidFill>
                  <a:srgbClr val="232946"/>
                </a:solidFill>
                <a:latin typeface="Calibri" pitchFamily="34" charset="0"/>
                <a:ea typeface="Calibri" pitchFamily="34" charset="-122"/>
                <a:cs typeface="Calibri" pitchFamily="34" charset="-120"/>
              </a:rPr>
              <a:t>kept warm and deployed</a:t>
            </a:r>
            <a:endParaRPr lang="en-US" sz="950" dirty="0"/>
          </a:p>
        </p:txBody>
      </p:sp>
      <p:sp>
        <p:nvSpPr>
          <p:cNvPr id="54" name="Shape 49"/>
          <p:cNvSpPr/>
          <p:nvPr/>
        </p:nvSpPr>
        <p:spPr>
          <a:xfrm>
            <a:off x="10753344" y="3968496"/>
            <a:ext cx="0" cy="804672"/>
          </a:xfrm>
          <a:prstGeom prst="line">
            <a:avLst/>
          </a:prstGeom>
          <a:noFill/>
          <a:ln w="28575">
            <a:solidFill>
              <a:srgbClr val="B3402A"/>
            </a:solidFill>
            <a:prstDash val="dash"/>
          </a:ln>
        </p:spPr>
      </p:sp>
      <p:sp>
        <p:nvSpPr>
          <p:cNvPr id="55" name="Shape 50"/>
          <p:cNvSpPr/>
          <p:nvPr/>
        </p:nvSpPr>
        <p:spPr>
          <a:xfrm>
            <a:off x="3474720" y="4773168"/>
            <a:ext cx="7278624" cy="0"/>
          </a:xfrm>
          <a:prstGeom prst="line">
            <a:avLst/>
          </a:prstGeom>
          <a:noFill/>
          <a:ln w="28575">
            <a:solidFill>
              <a:srgbClr val="B3402A"/>
            </a:solidFill>
            <a:prstDash val="dash"/>
            <a:headEnd type="triangle"/>
          </a:ln>
        </p:spPr>
      </p:sp>
      <p:sp>
        <p:nvSpPr>
          <p:cNvPr id="56" name="Text 51"/>
          <p:cNvSpPr/>
          <p:nvPr/>
        </p:nvSpPr>
        <p:spPr>
          <a:xfrm>
            <a:off x="3566160" y="4462272"/>
            <a:ext cx="6949440" cy="256032"/>
          </a:xfrm>
          <a:prstGeom prst="rect">
            <a:avLst/>
          </a:prstGeom>
          <a:noFill/>
          <a:ln/>
        </p:spPr>
        <p:txBody>
          <a:bodyPr wrap="square" lIns="0" tIns="0" rIns="0" bIns="0" rtlCol="0" anchor="ctr"/>
          <a:lstStyle/>
          <a:p>
            <a:pPr algn="ctr" indent="0" marL="0">
              <a:buNone/>
            </a:pPr>
            <a:r>
              <a:rPr lang="en-US" sz="1000" b="1" dirty="0">
                <a:solidFill>
                  <a:srgbClr val="B3402A"/>
                </a:solidFill>
                <a:latin typeface="Arial" pitchFamily="34" charset="0"/>
                <a:ea typeface="Arial" pitchFamily="34" charset="-122"/>
                <a:cs typeface="Arial" pitchFamily="34" charset="-120"/>
              </a:rPr>
              <a:t>ROLLBACK — automatic on failed analysis, one traffic change  ·  today: ./scripts/rollback.sh</a:t>
            </a:r>
            <a:endParaRPr lang="en-US" sz="1000" dirty="0"/>
          </a:p>
        </p:txBody>
      </p:sp>
      <p:sp>
        <p:nvSpPr>
          <p:cNvPr id="57" name="Shape 52"/>
          <p:cNvSpPr/>
          <p:nvPr/>
        </p:nvSpPr>
        <p:spPr>
          <a:xfrm>
            <a:off x="640080" y="5486400"/>
            <a:ext cx="10881360" cy="822960"/>
          </a:xfrm>
          <a:prstGeom prst="roundRect">
            <a:avLst>
              <a:gd name="adj" fmla="val 10000"/>
            </a:avLst>
          </a:prstGeom>
          <a:solidFill>
            <a:srgbClr val="232946"/>
          </a:solidFill>
          <a:ln/>
          <a:effectLst>
            <a:outerShdw sx="100000" sy="100000" kx="0" ky="0" algn="bl" rotWithShape="0" blurRad="76200" dist="25400" dir="5400000">
              <a:srgbClr val="9AA4B8">
                <a:alpha val="35000"/>
              </a:srgbClr>
            </a:outerShdw>
          </a:effectLst>
        </p:spPr>
      </p:sp>
      <p:sp>
        <p:nvSpPr>
          <p:cNvPr id="58" name="Text 53"/>
          <p:cNvSpPr/>
          <p:nvPr/>
        </p:nvSpPr>
        <p:spPr>
          <a:xfrm>
            <a:off x="868680" y="5550408"/>
            <a:ext cx="10424160" cy="694944"/>
          </a:xfrm>
          <a:prstGeom prst="rect">
            <a:avLst/>
          </a:prstGeom>
          <a:noFill/>
          <a:ln/>
        </p:spPr>
        <p:txBody>
          <a:bodyPr wrap="square" lIns="0" tIns="0" rIns="0" bIns="0" rtlCol="0" anchor="ctr"/>
          <a:lstStyle/>
          <a:p>
            <a:pPr indent="0" marL="0">
              <a:buNone/>
            </a:pPr>
            <a:r>
              <a:rPr lang="en-US" sz="1150" b="1" dirty="0">
                <a:solidFill>
                  <a:srgbClr val="F5B971"/>
                </a:solidFill>
                <a:latin typeface="Calibri" pitchFamily="34" charset="0"/>
                <a:ea typeface="Calibri" pitchFamily="34" charset="-122"/>
                <a:cs typeface="Calibri" pitchFamily="34" charset="-120"/>
              </a:rPr>
              <a:t>Reading the diagram:  </a:t>
            </a:r>
            <a:pPr indent="0" marL="0">
              <a:buNone/>
            </a:pPr>
            <a:r>
              <a:rPr lang="en-US" sz="1150" dirty="0">
                <a:solidFill>
                  <a:srgbClr val="FFFFFF"/>
                </a:solidFill>
                <a:latin typeface="Calibri" pitchFamily="34" charset="0"/>
                <a:ea typeface="Calibri" pitchFamily="34" charset="-122"/>
                <a:cs typeface="Calibri" pitchFamily="34" charset="-120"/>
              </a:rPr>
              <a:t>every stage is a gate — promotion is earned by passing automated checks, and the return path to the previous version stays open at all times. The saffron tags show that today's lab exercises this pipeline end-to-end, in miniature, on one machine.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THE PRODUCTION PIPELINE</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Where each change is made in a real organisation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463040"/>
            <a:ext cx="2240280" cy="384048"/>
          </a:xfrm>
          <a:prstGeom prst="rect">
            <a:avLst/>
          </a:prstGeom>
          <a:solidFill>
            <a:srgbClr val="232946"/>
          </a:solidFill>
          <a:ln/>
        </p:spPr>
      </p:sp>
      <p:sp>
        <p:nvSpPr>
          <p:cNvPr id="9" name="Text 5"/>
          <p:cNvSpPr/>
          <p:nvPr/>
        </p:nvSpPr>
        <p:spPr>
          <a:xfrm>
            <a:off x="768096" y="1463040"/>
            <a:ext cx="2020824"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Change</a:t>
            </a:r>
            <a:endParaRPr lang="en-US" sz="1250" dirty="0"/>
          </a:p>
        </p:txBody>
      </p:sp>
      <p:sp>
        <p:nvSpPr>
          <p:cNvPr id="10" name="Shape 6"/>
          <p:cNvSpPr/>
          <p:nvPr/>
        </p:nvSpPr>
        <p:spPr>
          <a:xfrm>
            <a:off x="2880360" y="1463040"/>
            <a:ext cx="5212080" cy="384048"/>
          </a:xfrm>
          <a:prstGeom prst="rect">
            <a:avLst/>
          </a:prstGeom>
          <a:solidFill>
            <a:srgbClr val="232946"/>
          </a:solidFill>
          <a:ln/>
        </p:spPr>
      </p:sp>
      <p:sp>
        <p:nvSpPr>
          <p:cNvPr id="11" name="Text 7"/>
          <p:cNvSpPr/>
          <p:nvPr/>
        </p:nvSpPr>
        <p:spPr>
          <a:xfrm>
            <a:off x="3008376" y="1463040"/>
            <a:ext cx="4992624"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Where it is made in a real organisation</a:t>
            </a:r>
            <a:endParaRPr lang="en-US" sz="1250" dirty="0"/>
          </a:p>
        </p:txBody>
      </p:sp>
      <p:sp>
        <p:nvSpPr>
          <p:cNvPr id="12" name="Shape 8"/>
          <p:cNvSpPr/>
          <p:nvPr/>
        </p:nvSpPr>
        <p:spPr>
          <a:xfrm>
            <a:off x="8092440" y="1463040"/>
            <a:ext cx="3456432" cy="384048"/>
          </a:xfrm>
          <a:prstGeom prst="rect">
            <a:avLst/>
          </a:prstGeom>
          <a:solidFill>
            <a:srgbClr val="E8871E"/>
          </a:solidFill>
          <a:ln/>
        </p:spPr>
      </p:sp>
      <p:sp>
        <p:nvSpPr>
          <p:cNvPr id="13" name="Text 9"/>
          <p:cNvSpPr/>
          <p:nvPr/>
        </p:nvSpPr>
        <p:spPr>
          <a:xfrm>
            <a:off x="8220456" y="1463040"/>
            <a:ext cx="3236976"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Today's local equivalent</a:t>
            </a:r>
            <a:endParaRPr lang="en-US" sz="1250" dirty="0"/>
          </a:p>
        </p:txBody>
      </p:sp>
      <p:sp>
        <p:nvSpPr>
          <p:cNvPr id="14" name="Shape 10"/>
          <p:cNvSpPr/>
          <p:nvPr/>
        </p:nvSpPr>
        <p:spPr>
          <a:xfrm>
            <a:off x="640080" y="1865376"/>
            <a:ext cx="2240280" cy="969264"/>
          </a:xfrm>
          <a:prstGeom prst="rect">
            <a:avLst/>
          </a:prstGeom>
          <a:solidFill>
            <a:srgbClr val="EEF2FA"/>
          </a:solidFill>
          <a:ln w="9525">
            <a:solidFill>
              <a:srgbClr val="C9D3E6"/>
            </a:solidFill>
            <a:prstDash val="solid"/>
          </a:ln>
        </p:spPr>
      </p:sp>
      <p:sp>
        <p:nvSpPr>
          <p:cNvPr id="15" name="Text 11"/>
          <p:cNvSpPr/>
          <p:nvPr/>
        </p:nvSpPr>
        <p:spPr>
          <a:xfrm>
            <a:off x="768096" y="1865376"/>
            <a:ext cx="2020824" cy="969264"/>
          </a:xfrm>
          <a:prstGeom prst="rect">
            <a:avLst/>
          </a:prstGeom>
          <a:noFill/>
          <a:ln/>
        </p:spPr>
        <p:txBody>
          <a:bodyPr wrap="square" lIns="0" tIns="0" rIns="0" bIns="0" rtlCol="0" anchor="ctr"/>
          <a:lstStyle/>
          <a:p>
            <a:pPr indent="0" marL="0">
              <a:buNone/>
            </a:pPr>
            <a:r>
              <a:rPr lang="en-US" sz="1200" b="1" dirty="0">
                <a:solidFill>
                  <a:srgbClr val="232946"/>
                </a:solidFill>
                <a:latin typeface="Calibri" pitchFamily="34" charset="0"/>
                <a:ea typeface="Calibri" pitchFamily="34" charset="-122"/>
                <a:cs typeface="Calibri" pitchFamily="34" charset="-120"/>
              </a:rPr>
              <a:t>Evaluation tests</a:t>
            </a:r>
            <a:endParaRPr lang="en-US" sz="1200" dirty="0"/>
          </a:p>
        </p:txBody>
      </p:sp>
      <p:sp>
        <p:nvSpPr>
          <p:cNvPr id="16" name="Shape 12"/>
          <p:cNvSpPr/>
          <p:nvPr/>
        </p:nvSpPr>
        <p:spPr>
          <a:xfrm>
            <a:off x="2880360" y="1865376"/>
            <a:ext cx="5212080" cy="969264"/>
          </a:xfrm>
          <a:prstGeom prst="rect">
            <a:avLst/>
          </a:prstGeom>
          <a:solidFill>
            <a:srgbClr val="EEF2FA"/>
          </a:solidFill>
          <a:ln w="9525">
            <a:solidFill>
              <a:srgbClr val="C9D3E6"/>
            </a:solidFill>
            <a:prstDash val="solid"/>
          </a:ln>
        </p:spPr>
      </p:sp>
      <p:sp>
        <p:nvSpPr>
          <p:cNvPr id="17" name="Text 13"/>
          <p:cNvSpPr/>
          <p:nvPr/>
        </p:nvSpPr>
        <p:spPr>
          <a:xfrm>
            <a:off x="3008376" y="1865376"/>
            <a:ext cx="4992624" cy="969264"/>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promptfooconfig.yaml in the application repository — versioned beside the prompt; the suite grows after every production incident</a:t>
            </a:r>
            <a:endParaRPr lang="en-US" sz="1100" dirty="0"/>
          </a:p>
        </p:txBody>
      </p:sp>
      <p:sp>
        <p:nvSpPr>
          <p:cNvPr id="18" name="Shape 14"/>
          <p:cNvSpPr/>
          <p:nvPr/>
        </p:nvSpPr>
        <p:spPr>
          <a:xfrm>
            <a:off x="8092440" y="1865376"/>
            <a:ext cx="3456432" cy="969264"/>
          </a:xfrm>
          <a:prstGeom prst="rect">
            <a:avLst/>
          </a:prstGeom>
          <a:solidFill>
            <a:srgbClr val="FBF1E3"/>
          </a:solidFill>
          <a:ln w="9525">
            <a:solidFill>
              <a:srgbClr val="C9D3E6"/>
            </a:solidFill>
            <a:prstDash val="solid"/>
          </a:ln>
        </p:spPr>
      </p:sp>
      <p:sp>
        <p:nvSpPr>
          <p:cNvPr id="19" name="Text 15"/>
          <p:cNvSpPr/>
          <p:nvPr/>
        </p:nvSpPr>
        <p:spPr>
          <a:xfrm>
            <a:off x="8220456" y="1865376"/>
            <a:ext cx="3236976" cy="969264"/>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The same promptfooconfig.yaml in the lab directory</a:t>
            </a:r>
            <a:endParaRPr lang="en-US" sz="1100" dirty="0"/>
          </a:p>
        </p:txBody>
      </p:sp>
      <p:sp>
        <p:nvSpPr>
          <p:cNvPr id="20" name="Shape 16"/>
          <p:cNvSpPr/>
          <p:nvPr/>
        </p:nvSpPr>
        <p:spPr>
          <a:xfrm>
            <a:off x="640080" y="2852928"/>
            <a:ext cx="2240280" cy="969264"/>
          </a:xfrm>
          <a:prstGeom prst="rect">
            <a:avLst/>
          </a:prstGeom>
          <a:solidFill>
            <a:srgbClr val="FFFFFF"/>
          </a:solidFill>
          <a:ln w="9525">
            <a:solidFill>
              <a:srgbClr val="C9D3E6"/>
            </a:solidFill>
            <a:prstDash val="solid"/>
          </a:ln>
        </p:spPr>
      </p:sp>
      <p:sp>
        <p:nvSpPr>
          <p:cNvPr id="21" name="Text 17"/>
          <p:cNvSpPr/>
          <p:nvPr/>
        </p:nvSpPr>
        <p:spPr>
          <a:xfrm>
            <a:off x="768096" y="2852928"/>
            <a:ext cx="2020824" cy="969264"/>
          </a:xfrm>
          <a:prstGeom prst="rect">
            <a:avLst/>
          </a:prstGeom>
          <a:noFill/>
          <a:ln/>
        </p:spPr>
        <p:txBody>
          <a:bodyPr wrap="square" lIns="0" tIns="0" rIns="0" bIns="0" rtlCol="0" anchor="ctr"/>
          <a:lstStyle/>
          <a:p>
            <a:pPr indent="0" marL="0">
              <a:buNone/>
            </a:pPr>
            <a:r>
              <a:rPr lang="en-US" sz="1200" b="1" dirty="0">
                <a:solidFill>
                  <a:srgbClr val="232946"/>
                </a:solidFill>
                <a:latin typeface="Calibri" pitchFamily="34" charset="0"/>
                <a:ea typeface="Calibri" pitchFamily="34" charset="-122"/>
                <a:cs typeface="Calibri" pitchFamily="34" charset="-120"/>
              </a:rPr>
              <a:t>Pipeline definition</a:t>
            </a:r>
            <a:endParaRPr lang="en-US" sz="1200" dirty="0"/>
          </a:p>
        </p:txBody>
      </p:sp>
      <p:sp>
        <p:nvSpPr>
          <p:cNvPr id="22" name="Shape 18"/>
          <p:cNvSpPr/>
          <p:nvPr/>
        </p:nvSpPr>
        <p:spPr>
          <a:xfrm>
            <a:off x="2880360" y="2852928"/>
            <a:ext cx="5212080" cy="969264"/>
          </a:xfrm>
          <a:prstGeom prst="rect">
            <a:avLst/>
          </a:prstGeom>
          <a:solidFill>
            <a:srgbClr val="FFFFFF"/>
          </a:solidFill>
          <a:ln w="9525">
            <a:solidFill>
              <a:srgbClr val="C9D3E6"/>
            </a:solidFill>
            <a:prstDash val="solid"/>
          </a:ln>
        </p:spPr>
      </p:sp>
      <p:sp>
        <p:nvSpPr>
          <p:cNvPr id="23" name="Text 19"/>
          <p:cNvSpPr/>
          <p:nvPr/>
        </p:nvSpPr>
        <p:spPr>
          <a:xfrm>
            <a:off x="3008376" y="2852928"/>
            <a:ext cx="4992624" cy="969264"/>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.github/workflows/*.yml in the repository, plus branch protection in the repository settings marking the check required</a:t>
            </a:r>
            <a:endParaRPr lang="en-US" sz="1100" dirty="0"/>
          </a:p>
        </p:txBody>
      </p:sp>
      <p:sp>
        <p:nvSpPr>
          <p:cNvPr id="24" name="Shape 20"/>
          <p:cNvSpPr/>
          <p:nvPr/>
        </p:nvSpPr>
        <p:spPr>
          <a:xfrm>
            <a:off x="8092440" y="2852928"/>
            <a:ext cx="3456432" cy="969264"/>
          </a:xfrm>
          <a:prstGeom prst="rect">
            <a:avLst/>
          </a:prstGeom>
          <a:solidFill>
            <a:srgbClr val="FBF1E3"/>
          </a:solidFill>
          <a:ln w="9525">
            <a:solidFill>
              <a:srgbClr val="C9D3E6"/>
            </a:solidFill>
            <a:prstDash val="solid"/>
          </a:ln>
        </p:spPr>
      </p:sp>
      <p:sp>
        <p:nvSpPr>
          <p:cNvPr id="25" name="Text 21"/>
          <p:cNvSpPr/>
          <p:nvPr/>
        </p:nvSpPr>
        <p:spPr>
          <a:xfrm>
            <a:off x="8220456" y="2852928"/>
            <a:ext cx="3236976" cy="969264"/>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hooks/pre-push installed in .git/hooks, calling eval-gate.sh</a:t>
            </a:r>
            <a:endParaRPr lang="en-US" sz="1100" dirty="0"/>
          </a:p>
        </p:txBody>
      </p:sp>
      <p:sp>
        <p:nvSpPr>
          <p:cNvPr id="26" name="Shape 22"/>
          <p:cNvSpPr/>
          <p:nvPr/>
        </p:nvSpPr>
        <p:spPr>
          <a:xfrm>
            <a:off x="640080" y="3840480"/>
            <a:ext cx="2240280" cy="969264"/>
          </a:xfrm>
          <a:prstGeom prst="rect">
            <a:avLst/>
          </a:prstGeom>
          <a:solidFill>
            <a:srgbClr val="EEF2FA"/>
          </a:solidFill>
          <a:ln w="9525">
            <a:solidFill>
              <a:srgbClr val="C9D3E6"/>
            </a:solidFill>
            <a:prstDash val="solid"/>
          </a:ln>
        </p:spPr>
      </p:sp>
      <p:sp>
        <p:nvSpPr>
          <p:cNvPr id="27" name="Text 23"/>
          <p:cNvSpPr/>
          <p:nvPr/>
        </p:nvSpPr>
        <p:spPr>
          <a:xfrm>
            <a:off x="768096" y="3840480"/>
            <a:ext cx="2020824" cy="969264"/>
          </a:xfrm>
          <a:prstGeom prst="rect">
            <a:avLst/>
          </a:prstGeom>
          <a:noFill/>
          <a:ln/>
        </p:spPr>
        <p:txBody>
          <a:bodyPr wrap="square" lIns="0" tIns="0" rIns="0" bIns="0" rtlCol="0" anchor="ctr"/>
          <a:lstStyle/>
          <a:p>
            <a:pPr indent="0" marL="0">
              <a:buNone/>
            </a:pPr>
            <a:r>
              <a:rPr lang="en-US" sz="1200" b="1" dirty="0">
                <a:solidFill>
                  <a:srgbClr val="232946"/>
                </a:solidFill>
                <a:latin typeface="Calibri" pitchFamily="34" charset="0"/>
                <a:ea typeface="Calibri" pitchFamily="34" charset="-122"/>
                <a:cs typeface="Calibri" pitchFamily="34" charset="-120"/>
              </a:rPr>
              <a:t>Traffic policy</a:t>
            </a:r>
            <a:endParaRPr lang="en-US" sz="1200" dirty="0"/>
          </a:p>
        </p:txBody>
      </p:sp>
      <p:sp>
        <p:nvSpPr>
          <p:cNvPr id="28" name="Shape 24"/>
          <p:cNvSpPr/>
          <p:nvPr/>
        </p:nvSpPr>
        <p:spPr>
          <a:xfrm>
            <a:off x="2880360" y="3840480"/>
            <a:ext cx="5212080" cy="969264"/>
          </a:xfrm>
          <a:prstGeom prst="rect">
            <a:avLst/>
          </a:prstGeom>
          <a:solidFill>
            <a:srgbClr val="EEF2FA"/>
          </a:solidFill>
          <a:ln w="9525">
            <a:solidFill>
              <a:srgbClr val="C9D3E6"/>
            </a:solidFill>
            <a:prstDash val="solid"/>
          </a:ln>
        </p:spPr>
      </p:sp>
      <p:sp>
        <p:nvSpPr>
          <p:cNvPr id="29" name="Text 25"/>
          <p:cNvSpPr/>
          <p:nvPr/>
        </p:nvSpPr>
        <p:spPr>
          <a:xfrm>
            <a:off x="3008376" y="3840480"/>
            <a:ext cx="4992624" cy="969264"/>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Deployment platform configuration: Cloud Run traffic split · ALB weighted target groups · an Argo Rollouts manifest</a:t>
            </a:r>
            <a:endParaRPr lang="en-US" sz="1100" dirty="0"/>
          </a:p>
        </p:txBody>
      </p:sp>
      <p:sp>
        <p:nvSpPr>
          <p:cNvPr id="30" name="Shape 26"/>
          <p:cNvSpPr/>
          <p:nvPr/>
        </p:nvSpPr>
        <p:spPr>
          <a:xfrm>
            <a:off x="8092440" y="3840480"/>
            <a:ext cx="3456432" cy="969264"/>
          </a:xfrm>
          <a:prstGeom prst="rect">
            <a:avLst/>
          </a:prstGeom>
          <a:solidFill>
            <a:srgbClr val="FBF1E3"/>
          </a:solidFill>
          <a:ln w="9525">
            <a:solidFill>
              <a:srgbClr val="C9D3E6"/>
            </a:solidFill>
            <a:prstDash val="solid"/>
          </a:ln>
        </p:spPr>
      </p:sp>
      <p:sp>
        <p:nvSpPr>
          <p:cNvPr id="31" name="Text 27"/>
          <p:cNvSpPr/>
          <p:nvPr/>
        </p:nvSpPr>
        <p:spPr>
          <a:xfrm>
            <a:off x="8220456" y="3840480"/>
            <a:ext cx="3236976" cy="969264"/>
          </a:xfrm>
          <a:prstGeom prst="rect">
            <a:avLst/>
          </a:prstGeom>
          <a:noFill/>
          <a:ln/>
        </p:spPr>
        <p:txBody>
          <a:bodyPr wrap="square" lIns="0" tIns="0" rIns="0" bIns="0" rtlCol="0" anchor="ctr"/>
          <a:lstStyle/>
          <a:p>
            <a:pPr indent="0" marL="0">
              <a:buNone/>
            </a:pPr>
            <a:r>
              <a:rPr lang="en-US" sz="1100" dirty="0">
                <a:solidFill>
                  <a:srgbClr val="232946"/>
                </a:solidFill>
                <a:latin typeface="Calibri" pitchFamily="34" charset="0"/>
                <a:ea typeface="Calibri" pitchFamily="34" charset="-122"/>
                <a:cs typeface="Calibri" pitchFamily="34" charset="-120"/>
              </a:rPr>
              <a:t>nginx upstream weights, rewritten by canary.sh and rollback.sh</a:t>
            </a:r>
            <a:endParaRPr lang="en-US" sz="1100" dirty="0"/>
          </a:p>
        </p:txBody>
      </p:sp>
      <p:sp>
        <p:nvSpPr>
          <p:cNvPr id="32" name="Shape 28"/>
          <p:cNvSpPr/>
          <p:nvPr/>
        </p:nvSpPr>
        <p:spPr>
          <a:xfrm>
            <a:off x="640080" y="5074920"/>
            <a:ext cx="10881360" cy="1234440"/>
          </a:xfrm>
          <a:prstGeom prst="roundRect">
            <a:avLst>
              <a:gd name="adj" fmla="val 6667"/>
            </a:avLst>
          </a:prstGeom>
          <a:solidFill>
            <a:srgbClr val="EEF2FA"/>
          </a:solidFill>
          <a:ln/>
          <a:effectLst>
            <a:outerShdw sx="100000" sy="100000" kx="0" ky="0" algn="bl" rotWithShape="0" blurRad="76200" dist="25400" dir="5400000">
              <a:srgbClr val="9AA4B8">
                <a:alpha val="35000"/>
              </a:srgbClr>
            </a:outerShdw>
          </a:effectLst>
        </p:spPr>
      </p:sp>
      <p:sp>
        <p:nvSpPr>
          <p:cNvPr id="33" name="Text 29"/>
          <p:cNvSpPr/>
          <p:nvPr/>
        </p:nvSpPr>
        <p:spPr>
          <a:xfrm>
            <a:off x="868680" y="5193792"/>
            <a:ext cx="10058400" cy="292608"/>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Ownership in practice</a:t>
            </a:r>
            <a:endParaRPr lang="en-US" sz="1300" dirty="0"/>
          </a:p>
        </p:txBody>
      </p:sp>
      <p:sp>
        <p:nvSpPr>
          <p:cNvPr id="34" name="Text 30"/>
          <p:cNvSpPr/>
          <p:nvPr/>
        </p:nvSpPr>
        <p:spPr>
          <a:xfrm>
            <a:off x="868680" y="5504688"/>
            <a:ext cx="10424160" cy="749808"/>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Application engineers own the prompt and its evaluation tests; the platform team owns the workflow definition and branch protection; traffic policy is owned by the deployment configuration and changed through reviewed infrastructure-as-code. All three are versioned artifacts — no change is made on a server by hand.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DEPLOYMENT STRATEGIES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Rolling, blue-green and canary compared</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417320"/>
            <a:ext cx="2103120" cy="365760"/>
          </a:xfrm>
          <a:prstGeom prst="rect">
            <a:avLst/>
          </a:prstGeom>
          <a:solidFill>
            <a:srgbClr val="FFFFFF"/>
          </a:solidFill>
          <a:ln/>
        </p:spPr>
      </p:sp>
      <p:sp>
        <p:nvSpPr>
          <p:cNvPr id="9" name="Text 5"/>
          <p:cNvSpPr/>
          <p:nvPr/>
        </p:nvSpPr>
        <p:spPr>
          <a:xfrm>
            <a:off x="749808" y="1417320"/>
            <a:ext cx="1920240" cy="365760"/>
          </a:xfrm>
          <a:prstGeom prst="rect">
            <a:avLst/>
          </a:prstGeom>
          <a:noFill/>
          <a:ln/>
        </p:spPr>
        <p:txBody>
          <a:bodyPr wrap="square" lIns="0" tIns="0" rIns="0" bIns="0" rtlCol="0" anchor="ctr"/>
          <a:lstStyle/>
          <a:p>
            <a:pPr indent="0" marL="0">
              <a:buNone/>
            </a:pPr>
            <a:endParaRPr lang="en-US" sz="1250" dirty="0"/>
          </a:p>
        </p:txBody>
      </p:sp>
      <p:sp>
        <p:nvSpPr>
          <p:cNvPr id="10" name="Shape 6"/>
          <p:cNvSpPr/>
          <p:nvPr/>
        </p:nvSpPr>
        <p:spPr>
          <a:xfrm>
            <a:off x="2743200" y="1417320"/>
            <a:ext cx="2926080" cy="365760"/>
          </a:xfrm>
          <a:prstGeom prst="rect">
            <a:avLst/>
          </a:prstGeom>
          <a:solidFill>
            <a:srgbClr val="232946"/>
          </a:solidFill>
          <a:ln/>
        </p:spPr>
      </p:sp>
      <p:sp>
        <p:nvSpPr>
          <p:cNvPr id="11" name="Text 7"/>
          <p:cNvSpPr/>
          <p:nvPr/>
        </p:nvSpPr>
        <p:spPr>
          <a:xfrm>
            <a:off x="2852928" y="1417320"/>
            <a:ext cx="2743200"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Rolling update</a:t>
            </a:r>
            <a:endParaRPr lang="en-US" sz="1250" dirty="0"/>
          </a:p>
        </p:txBody>
      </p:sp>
      <p:sp>
        <p:nvSpPr>
          <p:cNvPr id="12" name="Shape 8"/>
          <p:cNvSpPr/>
          <p:nvPr/>
        </p:nvSpPr>
        <p:spPr>
          <a:xfrm>
            <a:off x="5669280" y="1417320"/>
            <a:ext cx="2926080" cy="365760"/>
          </a:xfrm>
          <a:prstGeom prst="rect">
            <a:avLst/>
          </a:prstGeom>
          <a:solidFill>
            <a:srgbClr val="232946"/>
          </a:solidFill>
          <a:ln/>
        </p:spPr>
      </p:sp>
      <p:sp>
        <p:nvSpPr>
          <p:cNvPr id="13" name="Text 9"/>
          <p:cNvSpPr/>
          <p:nvPr/>
        </p:nvSpPr>
        <p:spPr>
          <a:xfrm>
            <a:off x="5779008" y="1417320"/>
            <a:ext cx="2743200"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Blue-green</a:t>
            </a:r>
            <a:endParaRPr lang="en-US" sz="1250" dirty="0"/>
          </a:p>
        </p:txBody>
      </p:sp>
      <p:sp>
        <p:nvSpPr>
          <p:cNvPr id="14" name="Shape 10"/>
          <p:cNvSpPr/>
          <p:nvPr/>
        </p:nvSpPr>
        <p:spPr>
          <a:xfrm>
            <a:off x="8595360" y="1417320"/>
            <a:ext cx="2953512" cy="365760"/>
          </a:xfrm>
          <a:prstGeom prst="rect">
            <a:avLst/>
          </a:prstGeom>
          <a:solidFill>
            <a:srgbClr val="E8871E"/>
          </a:solidFill>
          <a:ln/>
        </p:spPr>
      </p:sp>
      <p:sp>
        <p:nvSpPr>
          <p:cNvPr id="15" name="Text 11"/>
          <p:cNvSpPr/>
          <p:nvPr/>
        </p:nvSpPr>
        <p:spPr>
          <a:xfrm>
            <a:off x="8705088" y="1417320"/>
            <a:ext cx="2770632" cy="36576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Canary</a:t>
            </a:r>
            <a:endParaRPr lang="en-US" sz="1250" dirty="0"/>
          </a:p>
        </p:txBody>
      </p:sp>
      <p:sp>
        <p:nvSpPr>
          <p:cNvPr id="16" name="Shape 12"/>
          <p:cNvSpPr/>
          <p:nvPr/>
        </p:nvSpPr>
        <p:spPr>
          <a:xfrm>
            <a:off x="640080" y="1801368"/>
            <a:ext cx="2103120" cy="941832"/>
          </a:xfrm>
          <a:prstGeom prst="rect">
            <a:avLst/>
          </a:prstGeom>
          <a:solidFill>
            <a:srgbClr val="EEF2FA"/>
          </a:solidFill>
          <a:ln w="9525">
            <a:solidFill>
              <a:srgbClr val="C9D3E6"/>
            </a:solidFill>
            <a:prstDash val="solid"/>
          </a:ln>
        </p:spPr>
      </p:sp>
      <p:sp>
        <p:nvSpPr>
          <p:cNvPr id="17" name="Text 13"/>
          <p:cNvSpPr/>
          <p:nvPr/>
        </p:nvSpPr>
        <p:spPr>
          <a:xfrm>
            <a:off x="749808" y="1801368"/>
            <a:ext cx="1920240" cy="941832"/>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Mechanism</a:t>
            </a:r>
            <a:endParaRPr lang="en-US" sz="1150" dirty="0"/>
          </a:p>
        </p:txBody>
      </p:sp>
      <p:sp>
        <p:nvSpPr>
          <p:cNvPr id="18" name="Shape 14"/>
          <p:cNvSpPr/>
          <p:nvPr/>
        </p:nvSpPr>
        <p:spPr>
          <a:xfrm>
            <a:off x="2743200" y="1801368"/>
            <a:ext cx="2926080" cy="941832"/>
          </a:xfrm>
          <a:prstGeom prst="rect">
            <a:avLst/>
          </a:prstGeom>
          <a:solidFill>
            <a:srgbClr val="EEF2FA"/>
          </a:solidFill>
          <a:ln w="9525">
            <a:solidFill>
              <a:srgbClr val="C9D3E6"/>
            </a:solidFill>
            <a:prstDash val="solid"/>
          </a:ln>
        </p:spPr>
      </p:sp>
      <p:sp>
        <p:nvSpPr>
          <p:cNvPr id="19" name="Text 15"/>
          <p:cNvSpPr/>
          <p:nvPr/>
        </p:nvSpPr>
        <p:spPr>
          <a:xfrm>
            <a:off x="2852928" y="1801368"/>
            <a:ext cx="2743200" cy="941832"/>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Replace instances one by one; both versions serve during the transition</a:t>
            </a:r>
            <a:endParaRPr lang="en-US" sz="1050" dirty="0"/>
          </a:p>
        </p:txBody>
      </p:sp>
      <p:sp>
        <p:nvSpPr>
          <p:cNvPr id="20" name="Shape 16"/>
          <p:cNvSpPr/>
          <p:nvPr/>
        </p:nvSpPr>
        <p:spPr>
          <a:xfrm>
            <a:off x="5669280" y="1801368"/>
            <a:ext cx="2926080" cy="941832"/>
          </a:xfrm>
          <a:prstGeom prst="rect">
            <a:avLst/>
          </a:prstGeom>
          <a:solidFill>
            <a:srgbClr val="EEF2FA"/>
          </a:solidFill>
          <a:ln w="9525">
            <a:solidFill>
              <a:srgbClr val="C9D3E6"/>
            </a:solidFill>
            <a:prstDash val="solid"/>
          </a:ln>
        </p:spPr>
      </p:sp>
      <p:sp>
        <p:nvSpPr>
          <p:cNvPr id="21" name="Text 17"/>
          <p:cNvSpPr/>
          <p:nvPr/>
        </p:nvSpPr>
        <p:spPr>
          <a:xfrm>
            <a:off x="5779008" y="1801368"/>
            <a:ext cx="2743200" cy="941832"/>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Two complete environments; all traffic switches in one step</a:t>
            </a:r>
            <a:endParaRPr lang="en-US" sz="1050" dirty="0"/>
          </a:p>
        </p:txBody>
      </p:sp>
      <p:sp>
        <p:nvSpPr>
          <p:cNvPr id="22" name="Shape 18"/>
          <p:cNvSpPr/>
          <p:nvPr/>
        </p:nvSpPr>
        <p:spPr>
          <a:xfrm>
            <a:off x="8595360" y="1801368"/>
            <a:ext cx="2953512" cy="941832"/>
          </a:xfrm>
          <a:prstGeom prst="rect">
            <a:avLst/>
          </a:prstGeom>
          <a:solidFill>
            <a:srgbClr val="FBF1E3"/>
          </a:solidFill>
          <a:ln w="9525">
            <a:solidFill>
              <a:srgbClr val="C9D3E6"/>
            </a:solidFill>
            <a:prstDash val="solid"/>
          </a:ln>
        </p:spPr>
      </p:sp>
      <p:sp>
        <p:nvSpPr>
          <p:cNvPr id="23" name="Text 19"/>
          <p:cNvSpPr/>
          <p:nvPr/>
        </p:nvSpPr>
        <p:spPr>
          <a:xfrm>
            <a:off x="8705088" y="1801368"/>
            <a:ext cx="2770632" cy="941832"/>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New version receives a small share of live traffic; promoted in stages</a:t>
            </a:r>
            <a:endParaRPr lang="en-US" sz="1050" dirty="0"/>
          </a:p>
        </p:txBody>
      </p:sp>
      <p:sp>
        <p:nvSpPr>
          <p:cNvPr id="24" name="Shape 20"/>
          <p:cNvSpPr/>
          <p:nvPr/>
        </p:nvSpPr>
        <p:spPr>
          <a:xfrm>
            <a:off x="640080" y="2761488"/>
            <a:ext cx="2103120" cy="941832"/>
          </a:xfrm>
          <a:prstGeom prst="rect">
            <a:avLst/>
          </a:prstGeom>
          <a:solidFill>
            <a:srgbClr val="FFFFFF"/>
          </a:solidFill>
          <a:ln w="9525">
            <a:solidFill>
              <a:srgbClr val="C9D3E6"/>
            </a:solidFill>
            <a:prstDash val="solid"/>
          </a:ln>
        </p:spPr>
      </p:sp>
      <p:sp>
        <p:nvSpPr>
          <p:cNvPr id="25" name="Text 21"/>
          <p:cNvSpPr/>
          <p:nvPr/>
        </p:nvSpPr>
        <p:spPr>
          <a:xfrm>
            <a:off x="749808" y="2761488"/>
            <a:ext cx="1920240" cy="941832"/>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Infrastructure cost</a:t>
            </a:r>
            <a:endParaRPr lang="en-US" sz="1150" dirty="0"/>
          </a:p>
        </p:txBody>
      </p:sp>
      <p:sp>
        <p:nvSpPr>
          <p:cNvPr id="26" name="Shape 22"/>
          <p:cNvSpPr/>
          <p:nvPr/>
        </p:nvSpPr>
        <p:spPr>
          <a:xfrm>
            <a:off x="2743200" y="2761488"/>
            <a:ext cx="2926080" cy="941832"/>
          </a:xfrm>
          <a:prstGeom prst="rect">
            <a:avLst/>
          </a:prstGeom>
          <a:solidFill>
            <a:srgbClr val="FFFFFF"/>
          </a:solidFill>
          <a:ln w="9525">
            <a:solidFill>
              <a:srgbClr val="C9D3E6"/>
            </a:solidFill>
            <a:prstDash val="solid"/>
          </a:ln>
        </p:spPr>
      </p:sp>
      <p:sp>
        <p:nvSpPr>
          <p:cNvPr id="27" name="Text 23"/>
          <p:cNvSpPr/>
          <p:nvPr/>
        </p:nvSpPr>
        <p:spPr>
          <a:xfrm>
            <a:off x="2852928" y="2761488"/>
            <a:ext cx="2743200" cy="941832"/>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No additional capacity beyond a surge instance</a:t>
            </a:r>
            <a:endParaRPr lang="en-US" sz="1050" dirty="0"/>
          </a:p>
        </p:txBody>
      </p:sp>
      <p:sp>
        <p:nvSpPr>
          <p:cNvPr id="28" name="Shape 24"/>
          <p:cNvSpPr/>
          <p:nvPr/>
        </p:nvSpPr>
        <p:spPr>
          <a:xfrm>
            <a:off x="5669280" y="2761488"/>
            <a:ext cx="2926080" cy="941832"/>
          </a:xfrm>
          <a:prstGeom prst="rect">
            <a:avLst/>
          </a:prstGeom>
          <a:solidFill>
            <a:srgbClr val="FFFFFF"/>
          </a:solidFill>
          <a:ln w="9525">
            <a:solidFill>
              <a:srgbClr val="C9D3E6"/>
            </a:solidFill>
            <a:prstDash val="solid"/>
          </a:ln>
        </p:spPr>
      </p:sp>
      <p:sp>
        <p:nvSpPr>
          <p:cNvPr id="29" name="Text 25"/>
          <p:cNvSpPr/>
          <p:nvPr/>
        </p:nvSpPr>
        <p:spPr>
          <a:xfrm>
            <a:off x="5779008" y="2761488"/>
            <a:ext cx="2743200" cy="941832"/>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Double capacity while both environments run</a:t>
            </a:r>
            <a:endParaRPr lang="en-US" sz="1050" dirty="0"/>
          </a:p>
        </p:txBody>
      </p:sp>
      <p:sp>
        <p:nvSpPr>
          <p:cNvPr id="30" name="Shape 26"/>
          <p:cNvSpPr/>
          <p:nvPr/>
        </p:nvSpPr>
        <p:spPr>
          <a:xfrm>
            <a:off x="8595360" y="2761488"/>
            <a:ext cx="2953512" cy="941832"/>
          </a:xfrm>
          <a:prstGeom prst="rect">
            <a:avLst/>
          </a:prstGeom>
          <a:solidFill>
            <a:srgbClr val="FBF1E3"/>
          </a:solidFill>
          <a:ln w="9525">
            <a:solidFill>
              <a:srgbClr val="C9D3E6"/>
            </a:solidFill>
            <a:prstDash val="solid"/>
          </a:ln>
        </p:spPr>
      </p:sp>
      <p:sp>
        <p:nvSpPr>
          <p:cNvPr id="31" name="Text 27"/>
          <p:cNvSpPr/>
          <p:nvPr/>
        </p:nvSpPr>
        <p:spPr>
          <a:xfrm>
            <a:off x="8705088" y="2761488"/>
            <a:ext cx="2770632" cy="941832"/>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Marginally above 100% — the candidate runs alongside stable</a:t>
            </a:r>
            <a:endParaRPr lang="en-US" sz="1050" dirty="0"/>
          </a:p>
        </p:txBody>
      </p:sp>
      <p:sp>
        <p:nvSpPr>
          <p:cNvPr id="32" name="Shape 28"/>
          <p:cNvSpPr/>
          <p:nvPr/>
        </p:nvSpPr>
        <p:spPr>
          <a:xfrm>
            <a:off x="640080" y="3721608"/>
            <a:ext cx="2103120" cy="941832"/>
          </a:xfrm>
          <a:prstGeom prst="rect">
            <a:avLst/>
          </a:prstGeom>
          <a:solidFill>
            <a:srgbClr val="EEF2FA"/>
          </a:solidFill>
          <a:ln w="9525">
            <a:solidFill>
              <a:srgbClr val="C9D3E6"/>
            </a:solidFill>
            <a:prstDash val="solid"/>
          </a:ln>
        </p:spPr>
      </p:sp>
      <p:sp>
        <p:nvSpPr>
          <p:cNvPr id="33" name="Text 29"/>
          <p:cNvSpPr/>
          <p:nvPr/>
        </p:nvSpPr>
        <p:spPr>
          <a:xfrm>
            <a:off x="749808" y="3721608"/>
            <a:ext cx="1920240" cy="941832"/>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Risk profile</a:t>
            </a:r>
            <a:endParaRPr lang="en-US" sz="1150" dirty="0"/>
          </a:p>
        </p:txBody>
      </p:sp>
      <p:sp>
        <p:nvSpPr>
          <p:cNvPr id="34" name="Shape 30"/>
          <p:cNvSpPr/>
          <p:nvPr/>
        </p:nvSpPr>
        <p:spPr>
          <a:xfrm>
            <a:off x="2743200" y="3721608"/>
            <a:ext cx="2926080" cy="941832"/>
          </a:xfrm>
          <a:prstGeom prst="rect">
            <a:avLst/>
          </a:prstGeom>
          <a:solidFill>
            <a:srgbClr val="EEF2FA"/>
          </a:solidFill>
          <a:ln w="9525">
            <a:solidFill>
              <a:srgbClr val="C9D3E6"/>
            </a:solidFill>
            <a:prstDash val="solid"/>
          </a:ln>
        </p:spPr>
      </p:sp>
      <p:sp>
        <p:nvSpPr>
          <p:cNvPr id="35" name="Text 31"/>
          <p:cNvSpPr/>
          <p:nvPr/>
        </p:nvSpPr>
        <p:spPr>
          <a:xfrm>
            <a:off x="2852928" y="3721608"/>
            <a:ext cx="2743200" cy="941832"/>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All users progressively exposed; no evaluation stage between steps</a:t>
            </a:r>
            <a:endParaRPr lang="en-US" sz="1050" dirty="0"/>
          </a:p>
        </p:txBody>
      </p:sp>
      <p:sp>
        <p:nvSpPr>
          <p:cNvPr id="36" name="Shape 32"/>
          <p:cNvSpPr/>
          <p:nvPr/>
        </p:nvSpPr>
        <p:spPr>
          <a:xfrm>
            <a:off x="5669280" y="3721608"/>
            <a:ext cx="2926080" cy="941832"/>
          </a:xfrm>
          <a:prstGeom prst="rect">
            <a:avLst/>
          </a:prstGeom>
          <a:solidFill>
            <a:srgbClr val="EEF2FA"/>
          </a:solidFill>
          <a:ln w="9525">
            <a:solidFill>
              <a:srgbClr val="C9D3E6"/>
            </a:solidFill>
            <a:prstDash val="solid"/>
          </a:ln>
        </p:spPr>
      </p:sp>
      <p:sp>
        <p:nvSpPr>
          <p:cNvPr id="37" name="Text 33"/>
          <p:cNvSpPr/>
          <p:nvPr/>
        </p:nvSpPr>
        <p:spPr>
          <a:xfrm>
            <a:off x="5779008" y="3721608"/>
            <a:ext cx="2743200" cy="941832"/>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Every user exposed at the instant of the switch</a:t>
            </a:r>
            <a:endParaRPr lang="en-US" sz="1050" dirty="0"/>
          </a:p>
        </p:txBody>
      </p:sp>
      <p:sp>
        <p:nvSpPr>
          <p:cNvPr id="38" name="Shape 34"/>
          <p:cNvSpPr/>
          <p:nvPr/>
        </p:nvSpPr>
        <p:spPr>
          <a:xfrm>
            <a:off x="8595360" y="3721608"/>
            <a:ext cx="2953512" cy="941832"/>
          </a:xfrm>
          <a:prstGeom prst="rect">
            <a:avLst/>
          </a:prstGeom>
          <a:solidFill>
            <a:srgbClr val="FBF1E3"/>
          </a:solidFill>
          <a:ln w="9525">
            <a:solidFill>
              <a:srgbClr val="C9D3E6"/>
            </a:solidFill>
            <a:prstDash val="solid"/>
          </a:ln>
        </p:spPr>
      </p:sp>
      <p:sp>
        <p:nvSpPr>
          <p:cNvPr id="39" name="Text 35"/>
          <p:cNvSpPr/>
          <p:nvPr/>
        </p:nvSpPr>
        <p:spPr>
          <a:xfrm>
            <a:off x="8705088" y="3721608"/>
            <a:ext cx="2770632" cy="941832"/>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Regressions surface on a small blast radius first</a:t>
            </a:r>
            <a:endParaRPr lang="en-US" sz="1050" dirty="0"/>
          </a:p>
        </p:txBody>
      </p:sp>
      <p:sp>
        <p:nvSpPr>
          <p:cNvPr id="40" name="Shape 36"/>
          <p:cNvSpPr/>
          <p:nvPr/>
        </p:nvSpPr>
        <p:spPr>
          <a:xfrm>
            <a:off x="640080" y="4681728"/>
            <a:ext cx="2103120" cy="941832"/>
          </a:xfrm>
          <a:prstGeom prst="rect">
            <a:avLst/>
          </a:prstGeom>
          <a:solidFill>
            <a:srgbClr val="FFFFFF"/>
          </a:solidFill>
          <a:ln w="9525">
            <a:solidFill>
              <a:srgbClr val="C9D3E6"/>
            </a:solidFill>
            <a:prstDash val="solid"/>
          </a:ln>
        </p:spPr>
      </p:sp>
      <p:sp>
        <p:nvSpPr>
          <p:cNvPr id="41" name="Text 37"/>
          <p:cNvSpPr/>
          <p:nvPr/>
        </p:nvSpPr>
        <p:spPr>
          <a:xfrm>
            <a:off x="749808" y="4681728"/>
            <a:ext cx="1920240" cy="941832"/>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Rollback speed</a:t>
            </a:r>
            <a:endParaRPr lang="en-US" sz="1150" dirty="0"/>
          </a:p>
        </p:txBody>
      </p:sp>
      <p:sp>
        <p:nvSpPr>
          <p:cNvPr id="42" name="Shape 38"/>
          <p:cNvSpPr/>
          <p:nvPr/>
        </p:nvSpPr>
        <p:spPr>
          <a:xfrm>
            <a:off x="2743200" y="4681728"/>
            <a:ext cx="2926080" cy="941832"/>
          </a:xfrm>
          <a:prstGeom prst="rect">
            <a:avLst/>
          </a:prstGeom>
          <a:solidFill>
            <a:srgbClr val="FFFFFF"/>
          </a:solidFill>
          <a:ln w="9525">
            <a:solidFill>
              <a:srgbClr val="C9D3E6"/>
            </a:solidFill>
            <a:prstDash val="solid"/>
          </a:ln>
        </p:spPr>
      </p:sp>
      <p:sp>
        <p:nvSpPr>
          <p:cNvPr id="43" name="Text 39"/>
          <p:cNvSpPr/>
          <p:nvPr/>
        </p:nvSpPr>
        <p:spPr>
          <a:xfrm>
            <a:off x="2852928" y="4681728"/>
            <a:ext cx="2743200" cy="941832"/>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Slow — instances must be re-rolled back</a:t>
            </a:r>
            <a:endParaRPr lang="en-US" sz="1050" dirty="0"/>
          </a:p>
        </p:txBody>
      </p:sp>
      <p:sp>
        <p:nvSpPr>
          <p:cNvPr id="44" name="Shape 40"/>
          <p:cNvSpPr/>
          <p:nvPr/>
        </p:nvSpPr>
        <p:spPr>
          <a:xfrm>
            <a:off x="5669280" y="4681728"/>
            <a:ext cx="2926080" cy="941832"/>
          </a:xfrm>
          <a:prstGeom prst="rect">
            <a:avLst/>
          </a:prstGeom>
          <a:solidFill>
            <a:srgbClr val="FFFFFF"/>
          </a:solidFill>
          <a:ln w="9525">
            <a:solidFill>
              <a:srgbClr val="C9D3E6"/>
            </a:solidFill>
            <a:prstDash val="solid"/>
          </a:ln>
        </p:spPr>
      </p:sp>
      <p:sp>
        <p:nvSpPr>
          <p:cNvPr id="45" name="Text 41"/>
          <p:cNvSpPr/>
          <p:nvPr/>
        </p:nvSpPr>
        <p:spPr>
          <a:xfrm>
            <a:off x="5779008" y="4681728"/>
            <a:ext cx="2743200" cy="941832"/>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Immediate — switch traffic back to the idle environment</a:t>
            </a:r>
            <a:endParaRPr lang="en-US" sz="1050" dirty="0"/>
          </a:p>
        </p:txBody>
      </p:sp>
      <p:sp>
        <p:nvSpPr>
          <p:cNvPr id="46" name="Shape 42"/>
          <p:cNvSpPr/>
          <p:nvPr/>
        </p:nvSpPr>
        <p:spPr>
          <a:xfrm>
            <a:off x="8595360" y="4681728"/>
            <a:ext cx="2953512" cy="941832"/>
          </a:xfrm>
          <a:prstGeom prst="rect">
            <a:avLst/>
          </a:prstGeom>
          <a:solidFill>
            <a:srgbClr val="FBF1E3"/>
          </a:solidFill>
          <a:ln w="9525">
            <a:solidFill>
              <a:srgbClr val="C9D3E6"/>
            </a:solidFill>
            <a:prstDash val="solid"/>
          </a:ln>
        </p:spPr>
      </p:sp>
      <p:sp>
        <p:nvSpPr>
          <p:cNvPr id="47" name="Text 43"/>
          <p:cNvSpPr/>
          <p:nvPr/>
        </p:nvSpPr>
        <p:spPr>
          <a:xfrm>
            <a:off x="8705088" y="4681728"/>
            <a:ext cx="2770632" cy="941832"/>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Immediate — return weights to the stable version</a:t>
            </a:r>
            <a:endParaRPr lang="en-US" sz="1050" dirty="0"/>
          </a:p>
        </p:txBody>
      </p:sp>
      <p:sp>
        <p:nvSpPr>
          <p:cNvPr id="48" name="Text 44"/>
          <p:cNvSpPr/>
          <p:nvPr/>
        </p:nvSpPr>
        <p:spPr>
          <a:xfrm>
            <a:off x="640080" y="6035040"/>
            <a:ext cx="10881360" cy="320040"/>
          </a:xfrm>
          <a:prstGeom prst="rect">
            <a:avLst/>
          </a:prstGeom>
          <a:noFill/>
          <a:ln/>
        </p:spPr>
        <p:txBody>
          <a:bodyPr wrap="square" lIns="0" tIns="0" rIns="0" bIns="0" rtlCol="0" anchor="ctr"/>
          <a:lstStyle/>
          <a:p>
            <a:pPr algn="ctr" indent="0" marL="0">
              <a:buNone/>
            </a:pPr>
            <a:r>
              <a:rPr lang="en-US" sz="1200" i="1" dirty="0">
                <a:solidFill>
                  <a:srgbClr val="5A6478"/>
                </a:solidFill>
                <a:latin typeface="Calibri" pitchFamily="34" charset="0"/>
                <a:ea typeface="Calibri" pitchFamily="34" charset="-122"/>
                <a:cs typeface="Calibri" pitchFamily="34" charset="-120"/>
              </a:rPr>
              <a:t>All three assume the previous version can be restored quickly; only canary inserts an evaluation stage between exposure levels.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DEPLOYMENT STRATEGIES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Why canary suits AI: automated analysis decides</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463040"/>
            <a:ext cx="5349240" cy="3977640"/>
          </a:xfrm>
          <a:prstGeom prst="roundRect">
            <a:avLst>
              <a:gd name="adj" fmla="val 2069"/>
            </a:avLst>
          </a:prstGeom>
          <a:solidFill>
            <a:srgbClr val="EEF2FA"/>
          </a:solidFill>
          <a:ln/>
          <a:effectLst>
            <a:outerShdw sx="100000" sy="100000" kx="0" ky="0" algn="bl" rotWithShape="0" blurRad="76200" dist="25400" dir="5400000">
              <a:srgbClr val="9AA4B8">
                <a:alpha val="35000"/>
              </a:srgbClr>
            </a:outerShdw>
          </a:effectLst>
        </p:spPr>
      </p:sp>
      <p:sp>
        <p:nvSpPr>
          <p:cNvPr id="9" name="Text 5"/>
          <p:cNvSpPr/>
          <p:nvPr/>
        </p:nvSpPr>
        <p:spPr>
          <a:xfrm>
            <a:off x="868680" y="1627632"/>
            <a:ext cx="4846320" cy="347472"/>
          </a:xfrm>
          <a:prstGeom prst="rect">
            <a:avLst/>
          </a:prstGeom>
          <a:noFill/>
          <a:ln/>
        </p:spPr>
        <p:txBody>
          <a:bodyPr wrap="square" lIns="0" tIns="0" rIns="0" bIns="0" rtlCol="0" anchor="ctr"/>
          <a:lstStyle/>
          <a:p>
            <a:pPr indent="0" marL="0">
              <a:buNone/>
            </a:pPr>
            <a:r>
              <a:rPr lang="en-US" sz="1500" b="1" dirty="0">
                <a:solidFill>
                  <a:srgbClr val="232946"/>
                </a:solidFill>
                <a:latin typeface="Arial" pitchFamily="34" charset="0"/>
                <a:ea typeface="Arial" pitchFamily="34" charset="-122"/>
                <a:cs typeface="Arial" pitchFamily="34" charset="-120"/>
              </a:rPr>
              <a:t>Why canary for AI services</a:t>
            </a:r>
            <a:endParaRPr lang="en-US" sz="1500" dirty="0"/>
          </a:p>
        </p:txBody>
      </p:sp>
      <p:sp>
        <p:nvSpPr>
          <p:cNvPr id="10" name="Text 6"/>
          <p:cNvSpPr/>
          <p:nvPr/>
        </p:nvSpPr>
        <p:spPr>
          <a:xfrm>
            <a:off x="868680" y="2057400"/>
            <a:ext cx="4937760" cy="32918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Behavioural regressions surface only under real traffic: offline evals sample expected questions; production supplies the phrasing, edge cases and adversarial input the suite has not seen</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Probabilistic output requires aggregate observation — a handful of manual spot checks proves nothing</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A canary bounds the blast radius: a regression meets 10% of users, not 100%</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The stable version keeps serving 90% throughout — most users never encounter the candidate at all</a:t>
            </a:r>
            <a:endParaRPr lang="en-US" sz="1150" dirty="0"/>
          </a:p>
        </p:txBody>
      </p:sp>
      <p:sp>
        <p:nvSpPr>
          <p:cNvPr id="11" name="Shape 7"/>
          <p:cNvSpPr/>
          <p:nvPr/>
        </p:nvSpPr>
        <p:spPr>
          <a:xfrm>
            <a:off x="6263640" y="1463040"/>
            <a:ext cx="5303520" cy="3977640"/>
          </a:xfrm>
          <a:prstGeom prst="roundRect">
            <a:avLst>
              <a:gd name="adj" fmla="val 2069"/>
            </a:avLst>
          </a:prstGeom>
          <a:solidFill>
            <a:srgbClr val="DDE6F5"/>
          </a:solidFill>
          <a:ln/>
          <a:effectLst>
            <a:outerShdw sx="100000" sy="100000" kx="0" ky="0" algn="bl" rotWithShape="0" blurRad="76200" dist="25400" dir="5400000">
              <a:srgbClr val="9AA4B8">
                <a:alpha val="35000"/>
              </a:srgbClr>
            </a:outerShdw>
          </a:effectLst>
        </p:spPr>
      </p:sp>
      <p:sp>
        <p:nvSpPr>
          <p:cNvPr id="12" name="Text 8"/>
          <p:cNvSpPr/>
          <p:nvPr/>
        </p:nvSpPr>
        <p:spPr>
          <a:xfrm>
            <a:off x="6492240" y="1627632"/>
            <a:ext cx="4846320" cy="347472"/>
          </a:xfrm>
          <a:prstGeom prst="rect">
            <a:avLst/>
          </a:prstGeom>
          <a:noFill/>
          <a:ln/>
        </p:spPr>
        <p:txBody>
          <a:bodyPr wrap="square" lIns="0" tIns="0" rIns="0" bIns="0" rtlCol="0" anchor="ctr"/>
          <a:lstStyle/>
          <a:p>
            <a:pPr indent="0" marL="0">
              <a:buNone/>
            </a:pPr>
            <a:r>
              <a:rPr lang="en-US" sz="1500" b="1" dirty="0">
                <a:solidFill>
                  <a:srgbClr val="232946"/>
                </a:solidFill>
                <a:latin typeface="Arial" pitchFamily="34" charset="0"/>
                <a:ea typeface="Arial" pitchFamily="34" charset="-122"/>
                <a:cs typeface="Arial" pitchFamily="34" charset="-120"/>
              </a:rPr>
              <a:t>Automated analysis at every stage</a:t>
            </a:r>
            <a:endParaRPr lang="en-US" sz="1500" dirty="0"/>
          </a:p>
        </p:txBody>
      </p:sp>
      <p:sp>
        <p:nvSpPr>
          <p:cNvPr id="13" name="Text 9"/>
          <p:cNvSpPr/>
          <p:nvPr/>
        </p:nvSpPr>
        <p:spPr>
          <a:xfrm>
            <a:off x="6492240" y="2057400"/>
            <a:ext cx="4892040" cy="32918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Promotion from 10% → 50% → 100% is decided by evaluations and metrics against pre-agreed thresholds — not by a person watching dashboards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Per stage: eval score on the candidate, error rate and latency compared with the stable version, a minimum soak time</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Any failed check triggers automatic rollback — engineers are notified after the reversal, not asked for permission before it</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Human dashboard-watching does not scale, is not reproducible, and is absent outside working hours</a:t>
            </a:r>
            <a:endParaRPr lang="en-US" sz="1150" dirty="0"/>
          </a:p>
        </p:txBody>
      </p:sp>
      <p:sp>
        <p:nvSpPr>
          <p:cNvPr id="14" name="Shape 10"/>
          <p:cNvSpPr/>
          <p:nvPr/>
        </p:nvSpPr>
        <p:spPr>
          <a:xfrm>
            <a:off x="640080" y="5623560"/>
            <a:ext cx="10881360" cy="713232"/>
          </a:xfrm>
          <a:prstGeom prst="roundRect">
            <a:avLst>
              <a:gd name="adj" fmla="val 11538"/>
            </a:avLst>
          </a:prstGeom>
          <a:solidFill>
            <a:srgbClr val="232946"/>
          </a:solidFill>
          <a:ln/>
          <a:effectLst>
            <a:outerShdw sx="100000" sy="100000" kx="0" ky="0" algn="bl" rotWithShape="0" blurRad="76200" dist="25400" dir="5400000">
              <a:srgbClr val="9AA4B8">
                <a:alpha val="35000"/>
              </a:srgbClr>
            </a:outerShdw>
          </a:effectLst>
        </p:spPr>
      </p:sp>
      <p:sp>
        <p:nvSpPr>
          <p:cNvPr id="15" name="Text 11"/>
          <p:cNvSpPr/>
          <p:nvPr/>
        </p:nvSpPr>
        <p:spPr>
          <a:xfrm>
            <a:off x="868680" y="5687568"/>
            <a:ext cx="10424160" cy="585216"/>
          </a:xfrm>
          <a:prstGeom prst="rect">
            <a:avLst/>
          </a:prstGeom>
          <a:noFill/>
          <a:ln/>
        </p:spPr>
        <p:txBody>
          <a:bodyPr wrap="square" lIns="0" tIns="0" rIns="0" bIns="0" rtlCol="0" anchor="ctr"/>
          <a:lstStyle/>
          <a:p>
            <a:pPr indent="0" marL="0">
              <a:buNone/>
            </a:pPr>
            <a:r>
              <a:rPr lang="en-US" sz="1200" b="1" dirty="0">
                <a:solidFill>
                  <a:srgbClr val="F5B971"/>
                </a:solidFill>
                <a:latin typeface="Calibri" pitchFamily="34" charset="0"/>
                <a:ea typeface="Calibri" pitchFamily="34" charset="-122"/>
                <a:cs typeface="Calibri" pitchFamily="34" charset="-120"/>
              </a:rPr>
              <a:t>Rule:  </a:t>
            </a:r>
            <a:pPr indent="0" marL="0">
              <a:buNone/>
            </a:pPr>
            <a:r>
              <a:rPr lang="en-US" sz="1200" dirty="0">
                <a:solidFill>
                  <a:srgbClr val="FFFFFF"/>
                </a:solidFill>
                <a:latin typeface="Calibri" pitchFamily="34" charset="0"/>
                <a:ea typeface="Calibri" pitchFamily="34" charset="-122"/>
                <a:cs typeface="Calibri" pitchFamily="34" charset="-120"/>
              </a:rPr>
              <a:t>a canary without automated analysis is merely a slower full rollout. In today's lab, canary.sh runs the evaluation suite against the candidate at each stage and shifts or reverts the nginx weights on the result.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ROLLBACK DISCIPLINE</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Roll back first, debug second</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Text 4"/>
          <p:cNvSpPr/>
          <p:nvPr/>
        </p:nvSpPr>
        <p:spPr>
          <a:xfrm>
            <a:off x="640080" y="1508760"/>
            <a:ext cx="5623560" cy="42062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250" b="1" dirty="0">
                <a:solidFill>
                  <a:srgbClr val="232946"/>
                </a:solidFill>
                <a:latin typeface="Calibri" pitchFamily="34" charset="0"/>
                <a:ea typeface="Calibri" pitchFamily="34" charset="-122"/>
                <a:cs typeface="Calibri" pitchFamily="34" charset="-120"/>
              </a:rPr>
              <a:t>Roll back first, debug second: restore the last known-good version immediately, then diagnose without service pressure.</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Rollback is a traffic change, never a rebuild — if anything compiles or builds on the reversal path, the path is too slow.</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The previous version remains warm and deployed; it is the standing rollback target, not an archived artifact.</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Version pinning: code, prompt, configuration and model version are pinned and released together — rolling back one without the others is an incomplete reversal.</a:t>
            </a:r>
            <a:endParaRPr lang="en-US" sz="1250" dirty="0"/>
          </a:p>
          <a:p>
            <a:pPr marL="152400" indent="-152400">
              <a:lnSpc>
                <a:spcPct val="108000"/>
              </a:lnSpc>
              <a:spcAft>
                <a:spcPts val="800"/>
              </a:spcAft>
              <a:buSzPct val="100000"/>
              <a:buChar char="•"/>
            </a:pPr>
            <a:r>
              <a:rPr lang="en-US" sz="1250" dirty="0">
                <a:solidFill>
                  <a:srgbClr val="232946"/>
                </a:solidFill>
                <a:latin typeface="Calibri" pitchFamily="34" charset="0"/>
                <a:ea typeface="Calibri" pitchFamily="34" charset="-122"/>
                <a:cs typeface="Calibri" pitchFamily="34" charset="-120"/>
              </a:rPr>
              <a:t>Rehearse on a schedule and measure the time; the drill is Lab Step 6.</a:t>
            </a:r>
            <a:endParaRPr lang="en-US" sz="1250" dirty="0"/>
          </a:p>
        </p:txBody>
      </p:sp>
      <p:sp>
        <p:nvSpPr>
          <p:cNvPr id="9" name="Shape 5"/>
          <p:cNvSpPr/>
          <p:nvPr/>
        </p:nvSpPr>
        <p:spPr>
          <a:xfrm>
            <a:off x="6537960" y="1508760"/>
            <a:ext cx="5029200" cy="2651760"/>
          </a:xfrm>
          <a:prstGeom prst="roundRect">
            <a:avLst>
              <a:gd name="adj" fmla="val 2759"/>
            </a:avLst>
          </a:prstGeom>
          <a:solidFill>
            <a:srgbClr val="1B2130"/>
          </a:solidFill>
          <a:ln/>
          <a:effectLst>
            <a:outerShdw sx="100000" sy="100000" kx="0" ky="0" algn="bl" rotWithShape="0" blurRad="76200" dist="25400" dir="5400000">
              <a:srgbClr val="9AA4B8">
                <a:alpha val="35000"/>
              </a:srgbClr>
            </a:outerShdw>
          </a:effectLst>
        </p:spPr>
      </p:sp>
      <p:sp>
        <p:nvSpPr>
          <p:cNvPr id="10" name="Text 6"/>
          <p:cNvSpPr/>
          <p:nvPr/>
        </p:nvSpPr>
        <p:spPr>
          <a:xfrm>
            <a:off x="6739128" y="1618488"/>
            <a:ext cx="4626864" cy="243230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production reference — same contract</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Cloud Run: pin traffic to last-good</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gcloud run services update-traffic svc \</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--to-revisions svc-00042-good=100</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Kubernetes: revert the deployment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kubectl rollout undo deployment/svc</a:t>
            </a:r>
            <a:endParaRPr lang="en-US" sz="1000" dirty="0"/>
          </a:p>
          <a:p>
            <a:pPr indent="0" marL="0">
              <a:lnSpc>
                <a:spcPct val="112000"/>
              </a:lnSpc>
              <a:buNone/>
            </a:pP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Argo Rollouts: abort the rollout</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kubectl argo rollouts abort svc</a:t>
            </a:r>
            <a:endParaRPr lang="en-US" sz="1000" dirty="0"/>
          </a:p>
        </p:txBody>
      </p:sp>
      <p:sp>
        <p:nvSpPr>
          <p:cNvPr id="11" name="Shape 7"/>
          <p:cNvSpPr/>
          <p:nvPr/>
        </p:nvSpPr>
        <p:spPr>
          <a:xfrm>
            <a:off x="6537960" y="4343400"/>
            <a:ext cx="5029200" cy="1417320"/>
          </a:xfrm>
          <a:prstGeom prst="roundRect">
            <a:avLst>
              <a:gd name="adj" fmla="val 5806"/>
            </a:avLst>
          </a:prstGeom>
          <a:solidFill>
            <a:srgbClr val="FBF1E3"/>
          </a:solidFill>
          <a:ln/>
          <a:effectLst>
            <a:outerShdw sx="100000" sy="100000" kx="0" ky="0" algn="bl" rotWithShape="0" blurRad="76200" dist="25400" dir="5400000">
              <a:srgbClr val="9AA4B8">
                <a:alpha val="35000"/>
              </a:srgbClr>
            </a:outerShdw>
          </a:effectLst>
        </p:spPr>
      </p:sp>
      <p:sp>
        <p:nvSpPr>
          <p:cNvPr id="12" name="Text 8"/>
          <p:cNvSpPr/>
          <p:nvPr/>
        </p:nvSpPr>
        <p:spPr>
          <a:xfrm>
            <a:off x="6766560" y="4480560"/>
            <a:ext cx="4480560" cy="292608"/>
          </a:xfrm>
          <a:prstGeom prst="rect">
            <a:avLst/>
          </a:prstGeom>
          <a:noFill/>
          <a:ln/>
        </p:spPr>
        <p:txBody>
          <a:bodyPr wrap="square" lIns="0" tIns="0" rIns="0" bIns="0" rtlCol="0" anchor="ctr"/>
          <a:lstStyle/>
          <a:p>
            <a:pPr indent="0" marL="0">
              <a:buNone/>
            </a:pPr>
            <a:r>
              <a:rPr lang="en-US" sz="1300" b="1" dirty="0">
                <a:solidFill>
                  <a:srgbClr val="E8871E"/>
                </a:solidFill>
                <a:latin typeface="Arial" pitchFamily="34" charset="0"/>
                <a:ea typeface="Arial" pitchFamily="34" charset="-122"/>
                <a:cs typeface="Arial" pitchFamily="34" charset="-120"/>
              </a:rPr>
              <a:t>In today's lab</a:t>
            </a:r>
            <a:endParaRPr lang="en-US" sz="1300" dirty="0"/>
          </a:p>
        </p:txBody>
      </p:sp>
      <p:sp>
        <p:nvSpPr>
          <p:cNvPr id="13" name="Text 9"/>
          <p:cNvSpPr/>
          <p:nvPr/>
        </p:nvSpPr>
        <p:spPr>
          <a:xfrm>
            <a:off x="6766560" y="4800600"/>
            <a:ext cx="4572000" cy="914400"/>
          </a:xfrm>
          <a:prstGeom prst="rect">
            <a:avLst/>
          </a:prstGeom>
          <a:noFill/>
          <a:ln/>
        </p:spPr>
        <p:txBody>
          <a:bodyPr wrap="square" lIns="0" tIns="0" rIns="0" bIns="0" rtlCol="0" anchor="ctr"/>
          <a:lstStyle/>
          <a:p>
            <a:pPr indent="0" marL="0">
              <a:buNone/>
            </a:pPr>
            <a:r>
              <a:rPr lang="en-US" sz="1150" dirty="0">
                <a:solidFill>
                  <a:srgbClr val="232946"/>
                </a:solidFill>
                <a:latin typeface="Calibri" pitchFamily="34" charset="0"/>
                <a:ea typeface="Calibri" pitchFamily="34" charset="-122"/>
                <a:cs typeface="Calibri" pitchFamily="34" charset="-120"/>
              </a:rPr>
              <a:t>Step 6 executes time ./scripts/rollback.sh — the nginx weights return to 100% v1 in seconds. The measured time is the deliverable: rollback speed is evidence, not an assumption.</a:t>
            </a:r>
            <a:endParaRPr lang="en-US" sz="1150" dirty="0"/>
          </a:p>
        </p:txBody>
      </p:sp>
      <p:sp>
        <p:nvSpPr>
          <p:cNvPr id="14" name="Shape 10"/>
          <p:cNvSpPr/>
          <p:nvPr/>
        </p:nvSpPr>
        <p:spPr>
          <a:xfrm>
            <a:off x="640080" y="5897880"/>
            <a:ext cx="10881360" cy="457200"/>
          </a:xfrm>
          <a:prstGeom prst="roundRect">
            <a:avLst>
              <a:gd name="adj" fmla="val 18000"/>
            </a:avLst>
          </a:prstGeom>
          <a:solidFill>
            <a:srgbClr val="EEF2FA"/>
          </a:solidFill>
          <a:ln/>
          <a:effectLst>
            <a:outerShdw sx="100000" sy="100000" kx="0" ky="0" algn="bl" rotWithShape="0" blurRad="76200" dist="25400" dir="5400000">
              <a:srgbClr val="9AA4B8">
                <a:alpha val="35000"/>
              </a:srgbClr>
            </a:outerShdw>
          </a:effectLst>
        </p:spPr>
      </p:sp>
      <p:sp>
        <p:nvSpPr>
          <p:cNvPr id="15" name="Text 11"/>
          <p:cNvSpPr/>
          <p:nvPr/>
        </p:nvSpPr>
        <p:spPr>
          <a:xfrm>
            <a:off x="868680" y="5934456"/>
            <a:ext cx="10424160" cy="384048"/>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After the rollback:  </a:t>
            </a:r>
            <a:pPr indent="0" marL="0">
              <a:buNone/>
            </a:pPr>
            <a:r>
              <a:rPr lang="en-US" sz="1150" dirty="0">
                <a:solidFill>
                  <a:srgbClr val="5A6478"/>
                </a:solidFill>
                <a:latin typeface="Calibri" pitchFamily="34" charset="0"/>
                <a:ea typeface="Calibri" pitchFamily="34" charset="-122"/>
                <a:cs typeface="Calibri" pitchFamily="34" charset="-120"/>
              </a:rPr>
              <a:t>retain the failed version and its evaluation output for the post-mortem — it is evidence for the next test case.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32946"/>
        </a:solidFill>
      </p:bgPr>
    </p:bg>
    <p:spTree>
      <p:nvGrpSpPr>
        <p:cNvPr id="1" name=""/>
        <p:cNvGrpSpPr/>
        <p:nvPr/>
      </p:nvGrpSpPr>
      <p:grpSpPr>
        <a:xfrm>
          <a:off x="0" y="0"/>
          <a:ext cx="0" cy="0"/>
          <a:chOff x="0" y="0"/>
          <a:chExt cx="0" cy="0"/>
        </a:xfrm>
      </p:grpSpPr>
      <p:sp>
        <p:nvSpPr>
          <p:cNvPr id="2" name="Shape 0"/>
          <p:cNvSpPr/>
          <p:nvPr/>
        </p:nvSpPr>
        <p:spPr>
          <a:xfrm>
            <a:off x="9692640" y="4206240"/>
            <a:ext cx="4389120" cy="4389120"/>
          </a:xfrm>
          <a:prstGeom prst="ellipse">
            <a:avLst/>
          </a:prstGeom>
          <a:solidFill>
            <a:srgbClr val="2E3554"/>
          </a:solidFill>
          <a:ln/>
        </p:spPr>
      </p:sp>
      <p:sp>
        <p:nvSpPr>
          <p:cNvPr id="3" name="Shape 1"/>
          <p:cNvSpPr/>
          <p:nvPr/>
        </p:nvSpPr>
        <p:spPr>
          <a:xfrm>
            <a:off x="-1280160" y="-1645920"/>
            <a:ext cx="3840480" cy="3840480"/>
          </a:xfrm>
          <a:prstGeom prst="ellipse">
            <a:avLst/>
          </a:prstGeom>
          <a:solidFill>
            <a:srgbClr val="2E3554"/>
          </a:solidFill>
          <a:ln/>
        </p:spPr>
      </p:sp>
      <p:sp>
        <p:nvSpPr>
          <p:cNvPr id="4" name="Shape 2"/>
          <p:cNvSpPr/>
          <p:nvPr/>
        </p:nvSpPr>
        <p:spPr>
          <a:xfrm>
            <a:off x="685800" y="1371600"/>
            <a:ext cx="822960" cy="822960"/>
          </a:xfrm>
          <a:prstGeom prst="ellipse">
            <a:avLst/>
          </a:prstGeom>
          <a:solidFill>
            <a:srgbClr val="E8871E"/>
          </a:solidFill>
          <a:ln/>
        </p:spPr>
      </p:sp>
      <p:pic>
        <p:nvPicPr>
          <p:cNvPr id="5" name="Image 0" descr="preencoded.png">    </p:cNvPr>
          <p:cNvPicPr>
            <a:picLocks noChangeAspect="1"/>
          </p:cNvPicPr>
          <p:nvPr/>
        </p:nvPicPr>
        <p:blipFill>
          <a:blip r:embed="rId1"/>
          <a:stretch>
            <a:fillRect/>
          </a:stretch>
        </p:blipFill>
        <p:spPr>
          <a:xfrm>
            <a:off x="899770" y="1585570"/>
            <a:ext cx="395021" cy="395021"/>
          </a:xfrm>
          <a:prstGeom prst="rect">
            <a:avLst/>
          </a:prstGeom>
        </p:spPr>
      </p:pic>
      <p:sp>
        <p:nvSpPr>
          <p:cNvPr id="6" name="Text 3"/>
          <p:cNvSpPr/>
          <p:nvPr/>
        </p:nvSpPr>
        <p:spPr>
          <a:xfrm>
            <a:off x="685800" y="2514600"/>
            <a:ext cx="9144000" cy="365760"/>
          </a:xfrm>
          <a:prstGeom prst="rect">
            <a:avLst/>
          </a:prstGeom>
          <a:noFill/>
          <a:ln/>
        </p:spPr>
        <p:txBody>
          <a:bodyPr wrap="square" lIns="0" tIns="0" rIns="0" bIns="0" rtlCol="0" anchor="ctr"/>
          <a:lstStyle/>
          <a:p>
            <a:pPr indent="0" marL="0">
              <a:buNone/>
            </a:pPr>
            <a:r>
              <a:rPr lang="en-US" sz="1300" b="1" spc="200" kern="0" dirty="0">
                <a:solidFill>
                  <a:srgbClr val="E8871E"/>
                </a:solidFill>
                <a:latin typeface="Arial" pitchFamily="34" charset="0"/>
                <a:ea typeface="Arial" pitchFamily="34" charset="-122"/>
                <a:cs typeface="Arial" pitchFamily="34" charset="-120"/>
              </a:rPr>
              <a:t>HANDS-ON LAB · 60 MINUTES · ENTIRELY LOCAL</a:t>
            </a:r>
            <a:endParaRPr lang="en-US" sz="1300" dirty="0"/>
          </a:p>
        </p:txBody>
      </p:sp>
      <p:sp>
        <p:nvSpPr>
          <p:cNvPr id="7" name="Text 4"/>
          <p:cNvSpPr/>
          <p:nvPr/>
        </p:nvSpPr>
        <p:spPr>
          <a:xfrm>
            <a:off x="658368" y="2880360"/>
            <a:ext cx="10789920" cy="77724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Local CI/CD Lab</a:t>
            </a:r>
            <a:endParaRPr lang="en-US" sz="4000" dirty="0"/>
          </a:p>
        </p:txBody>
      </p:sp>
      <p:sp>
        <p:nvSpPr>
          <p:cNvPr id="8" name="Text 5"/>
          <p:cNvSpPr/>
          <p:nvPr/>
        </p:nvSpPr>
        <p:spPr>
          <a:xfrm>
            <a:off x="685800" y="3703320"/>
            <a:ext cx="10789920" cy="457200"/>
          </a:xfrm>
          <a:prstGeom prst="rect">
            <a:avLst/>
          </a:prstGeom>
          <a:noFill/>
          <a:ln/>
        </p:spPr>
        <p:txBody>
          <a:bodyPr wrap="square" lIns="0" tIns="0" rIns="0" bIns="0" rtlCol="0" anchor="ctr"/>
          <a:lstStyle/>
          <a:p>
            <a:pPr indent="0" marL="0">
              <a:buNone/>
            </a:pPr>
            <a:r>
              <a:rPr lang="en-US" sz="2100" b="1" dirty="0">
                <a:solidFill>
                  <a:srgbClr val="F5B971"/>
                </a:solidFill>
                <a:latin typeface="Arial" pitchFamily="34" charset="0"/>
                <a:ea typeface="Arial" pitchFamily="34" charset="-122"/>
                <a:cs typeface="Arial" pitchFamily="34" charset="-120"/>
              </a:rPr>
              <a:t>Gates, canary and rollback — without a cloud account</a:t>
            </a:r>
            <a:endParaRPr lang="en-US" sz="2100" dirty="0"/>
          </a:p>
        </p:txBody>
      </p:sp>
      <p:sp>
        <p:nvSpPr>
          <p:cNvPr id="9" name="Text 6"/>
          <p:cNvSpPr/>
          <p:nvPr/>
        </p:nvSpPr>
        <p:spPr>
          <a:xfrm>
            <a:off x="685800" y="4434840"/>
            <a:ext cx="10058400" cy="86868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A docker compose stack runs two versions of the model service behind an nginx load balancer. You will run the evaluation gate, block a regression at push with a pre-push hook, fail a canary and observe automatic rollback, promote a healthy canary to 100%, and drill the rollback.</a:t>
            </a:r>
            <a:endParaRPr lang="en-US" sz="1500" dirty="0"/>
          </a:p>
        </p:txBody>
      </p:sp>
      <p:sp>
        <p:nvSpPr>
          <p:cNvPr id="10" name="Text 7"/>
          <p:cNvSpPr/>
          <p:nvPr/>
        </p:nvSpPr>
        <p:spPr>
          <a:xfrm>
            <a:off x="685800" y="5623560"/>
            <a:ext cx="10789920" cy="365760"/>
          </a:xfrm>
          <a:prstGeom prst="rect">
            <a:avLst/>
          </a:prstGeom>
          <a:noFill/>
          <a:ln/>
        </p:spPr>
        <p:txBody>
          <a:bodyPr wrap="square" lIns="0" tIns="0" rIns="0" bIns="0" rtlCol="0" anchor="ctr"/>
          <a:lstStyle/>
          <a:p>
            <a:pPr indent="0" marL="0">
              <a:buNone/>
            </a:pPr>
            <a:r>
              <a:rPr lang="en-US" sz="1250" dirty="0">
                <a:solidFill>
                  <a:srgbClr val="9AA7C7"/>
                </a:solidFill>
                <a:latin typeface="Calibri" pitchFamily="34" charset="0"/>
                <a:ea typeface="Calibri" pitchFamily="34" charset="-122"/>
                <a:cs typeface="Calibri" pitchFamily="34" charset="-120"/>
              </a:rPr>
              <a:t>Step 0 prerequisites · Step 1 bring up the stack · Step 2 eval gate · Step 3 blocked push · Step 4 failing canary · Step 5 promotion · Step 6 rollback drill</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ARCHITECTURE</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lab stack: two versions behind a weighted load balancer</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737360"/>
            <a:ext cx="2286000" cy="1188720"/>
          </a:xfrm>
          <a:prstGeom prst="roundRect">
            <a:avLst>
              <a:gd name="adj" fmla="val 6923"/>
            </a:avLst>
          </a:prstGeom>
          <a:solidFill>
            <a:srgbClr val="EEF2FA"/>
          </a:solidFill>
          <a:ln/>
          <a:effectLst>
            <a:outerShdw sx="100000" sy="100000" kx="0" ky="0" algn="bl" rotWithShape="0" blurRad="76200" dist="25400" dir="5400000">
              <a:srgbClr val="9AA4B8">
                <a:alpha val="35000"/>
              </a:srgbClr>
            </a:outerShdw>
          </a:effectLst>
        </p:spPr>
      </p:sp>
      <p:sp>
        <p:nvSpPr>
          <p:cNvPr id="9" name="Shape 5"/>
          <p:cNvSpPr/>
          <p:nvPr/>
        </p:nvSpPr>
        <p:spPr>
          <a:xfrm>
            <a:off x="841248" y="1883664"/>
            <a:ext cx="402336" cy="402336"/>
          </a:xfrm>
          <a:prstGeom prst="ellipse">
            <a:avLst/>
          </a:prstGeom>
          <a:solidFill>
            <a:srgbClr val="232946"/>
          </a:solidFill>
          <a:ln/>
        </p:spPr>
      </p:sp>
      <p:pic>
        <p:nvPicPr>
          <p:cNvPr id="10" name="Image 1" descr="preencoded.png">    </p:cNvPr>
          <p:cNvPicPr>
            <a:picLocks noChangeAspect="1"/>
          </p:cNvPicPr>
          <p:nvPr/>
        </p:nvPicPr>
        <p:blipFill>
          <a:blip r:embed="rId2"/>
          <a:stretch>
            <a:fillRect/>
          </a:stretch>
        </p:blipFill>
        <p:spPr>
          <a:xfrm>
            <a:off x="945855" y="1988271"/>
            <a:ext cx="193121" cy="193121"/>
          </a:xfrm>
          <a:prstGeom prst="rect">
            <a:avLst/>
          </a:prstGeom>
        </p:spPr>
      </p:pic>
      <p:sp>
        <p:nvSpPr>
          <p:cNvPr id="11" name="Text 6"/>
          <p:cNvSpPr/>
          <p:nvPr/>
        </p:nvSpPr>
        <p:spPr>
          <a:xfrm>
            <a:off x="822960" y="2377440"/>
            <a:ext cx="1920240" cy="274320"/>
          </a:xfrm>
          <a:prstGeom prst="rect">
            <a:avLst/>
          </a:prstGeom>
          <a:noFill/>
          <a:ln/>
        </p:spPr>
        <p:txBody>
          <a:bodyPr wrap="square" lIns="0" tIns="0" rIns="0" bIns="0" rtlCol="0" anchor="ctr"/>
          <a:lstStyle/>
          <a:p>
            <a:pPr indent="0" marL="0">
              <a:buNone/>
            </a:pPr>
            <a:r>
              <a:rPr lang="en-US" sz="1150" b="1" dirty="0">
                <a:solidFill>
                  <a:srgbClr val="232946"/>
                </a:solidFill>
                <a:latin typeface="Arial" pitchFamily="34" charset="0"/>
                <a:ea typeface="Arial" pitchFamily="34" charset="-122"/>
                <a:cs typeface="Arial" pitchFamily="34" charset="-120"/>
              </a:rPr>
              <a:t>Client / promptfoo</a:t>
            </a:r>
            <a:endParaRPr lang="en-US" sz="1150" dirty="0"/>
          </a:p>
        </p:txBody>
      </p:sp>
      <p:sp>
        <p:nvSpPr>
          <p:cNvPr id="12" name="Text 7"/>
          <p:cNvSpPr/>
          <p:nvPr/>
        </p:nvSpPr>
        <p:spPr>
          <a:xfrm>
            <a:off x="822960" y="2633472"/>
            <a:ext cx="1920240" cy="237744"/>
          </a:xfrm>
          <a:prstGeom prst="rect">
            <a:avLst/>
          </a:prstGeom>
          <a:noFill/>
          <a:ln/>
        </p:spPr>
        <p:txBody>
          <a:bodyPr wrap="square" lIns="0" tIns="0" rIns="0" bIns="0" rtlCol="0" anchor="ctr"/>
          <a:lstStyle/>
          <a:p>
            <a:pPr indent="0" marL="0">
              <a:buNone/>
            </a:pPr>
            <a:r>
              <a:rPr lang="en-US" sz="950" dirty="0">
                <a:solidFill>
                  <a:srgbClr val="5A6478"/>
                </a:solidFill>
                <a:latin typeface="Calibri" pitchFamily="34" charset="0"/>
                <a:ea typeface="Calibri" pitchFamily="34" charset="-122"/>
                <a:cs typeface="Calibri" pitchFamily="34" charset="-120"/>
              </a:rPr>
              <a:t>curl · eval suite</a:t>
            </a:r>
            <a:endParaRPr lang="en-US" sz="950" dirty="0"/>
          </a:p>
        </p:txBody>
      </p:sp>
      <p:sp>
        <p:nvSpPr>
          <p:cNvPr id="13" name="Shape 8"/>
          <p:cNvSpPr/>
          <p:nvPr/>
        </p:nvSpPr>
        <p:spPr>
          <a:xfrm>
            <a:off x="3017520" y="2331720"/>
            <a:ext cx="731520" cy="0"/>
          </a:xfrm>
          <a:prstGeom prst="line">
            <a:avLst/>
          </a:prstGeom>
          <a:noFill/>
          <a:ln w="31750">
            <a:solidFill>
              <a:srgbClr val="E8871E"/>
            </a:solidFill>
            <a:prstDash val="solid"/>
            <a:tailEnd type="triangle"/>
          </a:ln>
        </p:spPr>
      </p:sp>
      <p:sp>
        <p:nvSpPr>
          <p:cNvPr id="14" name="Text 9"/>
          <p:cNvSpPr/>
          <p:nvPr/>
        </p:nvSpPr>
        <p:spPr>
          <a:xfrm>
            <a:off x="2944368" y="2423160"/>
            <a:ext cx="868680" cy="228600"/>
          </a:xfrm>
          <a:prstGeom prst="rect">
            <a:avLst/>
          </a:prstGeom>
          <a:noFill/>
          <a:ln/>
        </p:spPr>
        <p:txBody>
          <a:bodyPr wrap="square" lIns="0" tIns="0" rIns="0" bIns="0" rtlCol="0" anchor="ctr"/>
          <a:lstStyle/>
          <a:p>
            <a:pPr algn="ctr" indent="0" marL="0">
              <a:buNone/>
            </a:pPr>
            <a:r>
              <a:rPr lang="en-US" sz="900" dirty="0">
                <a:solidFill>
                  <a:srgbClr val="5A6478"/>
                </a:solidFill>
                <a:latin typeface="Courier New" pitchFamily="34" charset="0"/>
                <a:ea typeface="Courier New" pitchFamily="34" charset="-122"/>
                <a:cs typeface="Courier New" pitchFamily="34" charset="-120"/>
              </a:rPr>
              <a:t>:8080</a:t>
            </a:r>
            <a:endParaRPr lang="en-US" sz="900" dirty="0"/>
          </a:p>
        </p:txBody>
      </p:sp>
      <p:sp>
        <p:nvSpPr>
          <p:cNvPr id="15" name="Shape 10"/>
          <p:cNvSpPr/>
          <p:nvPr/>
        </p:nvSpPr>
        <p:spPr>
          <a:xfrm>
            <a:off x="3840480" y="1554480"/>
            <a:ext cx="3108960" cy="1600200"/>
          </a:xfrm>
          <a:prstGeom prst="roundRect">
            <a:avLst>
              <a:gd name="adj" fmla="val 5143"/>
            </a:avLst>
          </a:prstGeom>
          <a:solidFill>
            <a:srgbClr val="232946"/>
          </a:solidFill>
          <a:ln/>
          <a:effectLst>
            <a:outerShdw sx="100000" sy="100000" kx="0" ky="0" algn="bl" rotWithShape="0" blurRad="76200" dist="25400" dir="5400000">
              <a:srgbClr val="9AA4B8">
                <a:alpha val="35000"/>
              </a:srgbClr>
            </a:outerShdw>
          </a:effectLst>
        </p:spPr>
      </p:sp>
      <p:sp>
        <p:nvSpPr>
          <p:cNvPr id="16" name="Text 11"/>
          <p:cNvSpPr/>
          <p:nvPr/>
        </p:nvSpPr>
        <p:spPr>
          <a:xfrm>
            <a:off x="4041648" y="1719072"/>
            <a:ext cx="2743200" cy="3200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nginx load balancer</a:t>
            </a:r>
            <a:endParaRPr lang="en-US" sz="1350" dirty="0"/>
          </a:p>
        </p:txBody>
      </p:sp>
      <p:sp>
        <p:nvSpPr>
          <p:cNvPr id="17" name="Text 12"/>
          <p:cNvSpPr/>
          <p:nvPr/>
        </p:nvSpPr>
        <p:spPr>
          <a:xfrm>
            <a:off x="4041648" y="2048256"/>
            <a:ext cx="2743200" cy="256032"/>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port 8080 — the only entry point</a:t>
            </a:r>
            <a:endParaRPr lang="en-US" sz="1000" dirty="0"/>
          </a:p>
        </p:txBody>
      </p:sp>
      <p:sp>
        <p:nvSpPr>
          <p:cNvPr id="18" name="Shape 13"/>
          <p:cNvSpPr/>
          <p:nvPr/>
        </p:nvSpPr>
        <p:spPr>
          <a:xfrm>
            <a:off x="4041648" y="2395728"/>
            <a:ext cx="2697480" cy="566928"/>
          </a:xfrm>
          <a:prstGeom prst="roundRect">
            <a:avLst>
              <a:gd name="adj" fmla="val 12903"/>
            </a:avLst>
          </a:prstGeom>
          <a:solidFill>
            <a:srgbClr val="2E3554"/>
          </a:solidFill>
          <a:ln/>
        </p:spPr>
      </p:sp>
      <p:sp>
        <p:nvSpPr>
          <p:cNvPr id="19" name="Text 14"/>
          <p:cNvSpPr/>
          <p:nvPr/>
        </p:nvSpPr>
        <p:spPr>
          <a:xfrm>
            <a:off x="4133088" y="2395728"/>
            <a:ext cx="2560320" cy="566928"/>
          </a:xfrm>
          <a:prstGeom prst="rect">
            <a:avLst/>
          </a:prstGeom>
          <a:noFill/>
          <a:ln/>
        </p:spPr>
        <p:txBody>
          <a:bodyPr wrap="square" lIns="0" tIns="0" rIns="0" bIns="0" rtlCol="0" anchor="ctr"/>
          <a:lstStyle/>
          <a:p>
            <a:pPr indent="0" marL="0">
              <a:buNone/>
            </a:pPr>
            <a:r>
              <a:rPr lang="en-US" sz="900" dirty="0">
                <a:solidFill>
                  <a:srgbClr val="F5B971"/>
                </a:solidFill>
                <a:latin typeface="Calibri" pitchFamily="34" charset="0"/>
                <a:ea typeface="Calibri" pitchFamily="34" charset="-122"/>
                <a:cs typeface="Calibri" pitchFamily="34" charset="-120"/>
              </a:rPr>
              <a:t>upstream weights v1 / v2</a:t>
            </a:r>
            <a:endParaRPr lang="en-US" sz="900" dirty="0"/>
          </a:p>
          <a:p>
            <a:pPr indent="0" marL="0">
              <a:buNone/>
            </a:pPr>
            <a:r>
              <a:rPr lang="en-US" sz="900" dirty="0">
                <a:solidFill>
                  <a:srgbClr val="F5B971"/>
                </a:solidFill>
                <a:latin typeface="Calibri" pitchFamily="34" charset="0"/>
                <a:ea typeface="Calibri" pitchFamily="34" charset="-122"/>
                <a:cs typeface="Calibri" pitchFamily="34" charset="-120"/>
              </a:rPr>
              <a:t>rewritten by the scripts</a:t>
            </a:r>
            <a:endParaRPr lang="en-US" sz="900" dirty="0"/>
          </a:p>
        </p:txBody>
      </p:sp>
      <p:sp>
        <p:nvSpPr>
          <p:cNvPr id="20" name="Shape 15"/>
          <p:cNvSpPr/>
          <p:nvPr/>
        </p:nvSpPr>
        <p:spPr>
          <a:xfrm>
            <a:off x="6995160" y="1965960"/>
            <a:ext cx="868680" cy="-182880"/>
          </a:xfrm>
          <a:prstGeom prst="line">
            <a:avLst/>
          </a:prstGeom>
          <a:noFill/>
          <a:ln w="31750">
            <a:solidFill>
              <a:srgbClr val="2C7A4B"/>
            </a:solidFill>
            <a:prstDash val="solid"/>
            <a:tailEnd type="triangle"/>
          </a:ln>
        </p:spPr>
      </p:sp>
      <p:sp>
        <p:nvSpPr>
          <p:cNvPr id="21" name="Shape 16"/>
          <p:cNvSpPr/>
          <p:nvPr/>
        </p:nvSpPr>
        <p:spPr>
          <a:xfrm>
            <a:off x="6995160" y="2697480"/>
            <a:ext cx="868680" cy="228600"/>
          </a:xfrm>
          <a:prstGeom prst="line">
            <a:avLst/>
          </a:prstGeom>
          <a:noFill/>
          <a:ln w="31750">
            <a:solidFill>
              <a:srgbClr val="E8871E"/>
            </a:solidFill>
            <a:prstDash val="solid"/>
            <a:tailEnd type="triangle"/>
          </a:ln>
        </p:spPr>
      </p:sp>
      <p:sp>
        <p:nvSpPr>
          <p:cNvPr id="22" name="Text 17"/>
          <p:cNvSpPr/>
          <p:nvPr/>
        </p:nvSpPr>
        <p:spPr>
          <a:xfrm>
            <a:off x="6967728" y="1536192"/>
            <a:ext cx="1051560" cy="219456"/>
          </a:xfrm>
          <a:prstGeom prst="rect">
            <a:avLst/>
          </a:prstGeom>
          <a:noFill/>
          <a:ln/>
        </p:spPr>
        <p:txBody>
          <a:bodyPr wrap="square" lIns="0" tIns="0" rIns="0" bIns="0" rtlCol="0" anchor="ctr"/>
          <a:lstStyle/>
          <a:p>
            <a:pPr indent="0" marL="0">
              <a:buNone/>
            </a:pPr>
            <a:r>
              <a:rPr lang="en-US" sz="850" dirty="0">
                <a:solidFill>
                  <a:srgbClr val="2C7A4B"/>
                </a:solidFill>
                <a:latin typeface="Calibri" pitchFamily="34" charset="0"/>
                <a:ea typeface="Calibri" pitchFamily="34" charset="-122"/>
                <a:cs typeface="Calibri" pitchFamily="34" charset="-120"/>
              </a:rPr>
              <a:t>weight 100%</a:t>
            </a:r>
            <a:endParaRPr lang="en-US" sz="850" dirty="0"/>
          </a:p>
        </p:txBody>
      </p:sp>
      <p:sp>
        <p:nvSpPr>
          <p:cNvPr id="23" name="Text 18"/>
          <p:cNvSpPr/>
          <p:nvPr/>
        </p:nvSpPr>
        <p:spPr>
          <a:xfrm>
            <a:off x="6967728" y="2852928"/>
            <a:ext cx="914400" cy="219456"/>
          </a:xfrm>
          <a:prstGeom prst="rect">
            <a:avLst/>
          </a:prstGeom>
          <a:noFill/>
          <a:ln/>
        </p:spPr>
        <p:txBody>
          <a:bodyPr wrap="square" lIns="0" tIns="0" rIns="0" bIns="0" rtlCol="0" anchor="ctr"/>
          <a:lstStyle/>
          <a:p>
            <a:pPr indent="0" marL="0">
              <a:buNone/>
            </a:pPr>
            <a:r>
              <a:rPr lang="en-US" sz="850" dirty="0">
                <a:solidFill>
                  <a:srgbClr val="E8871E"/>
                </a:solidFill>
                <a:latin typeface="Calibri" pitchFamily="34" charset="0"/>
                <a:ea typeface="Calibri" pitchFamily="34" charset="-122"/>
                <a:cs typeface="Calibri" pitchFamily="34" charset="-120"/>
              </a:rPr>
              <a:t>weight 0%</a:t>
            </a:r>
            <a:endParaRPr lang="en-US" sz="850" dirty="0"/>
          </a:p>
        </p:txBody>
      </p:sp>
      <p:sp>
        <p:nvSpPr>
          <p:cNvPr id="24" name="Shape 19"/>
          <p:cNvSpPr/>
          <p:nvPr/>
        </p:nvSpPr>
        <p:spPr>
          <a:xfrm>
            <a:off x="7955280" y="1371600"/>
            <a:ext cx="3611880" cy="1051560"/>
          </a:xfrm>
          <a:prstGeom prst="roundRect">
            <a:avLst>
              <a:gd name="adj" fmla="val 7826"/>
            </a:avLst>
          </a:prstGeom>
          <a:solidFill>
            <a:srgbClr val="EAF4EC"/>
          </a:solidFill>
          <a:ln/>
          <a:effectLst>
            <a:outerShdw sx="100000" sy="100000" kx="0" ky="0" algn="bl" rotWithShape="0" blurRad="76200" dist="25400" dir="5400000">
              <a:srgbClr val="9AA4B8">
                <a:alpha val="35000"/>
              </a:srgbClr>
            </a:outerShdw>
          </a:effectLst>
        </p:spPr>
      </p:sp>
      <p:sp>
        <p:nvSpPr>
          <p:cNvPr id="25" name="Text 20"/>
          <p:cNvSpPr/>
          <p:nvPr/>
        </p:nvSpPr>
        <p:spPr>
          <a:xfrm>
            <a:off x="8183880" y="1481328"/>
            <a:ext cx="3200400" cy="292608"/>
          </a:xfrm>
          <a:prstGeom prst="rect">
            <a:avLst/>
          </a:prstGeom>
          <a:noFill/>
          <a:ln/>
        </p:spPr>
        <p:txBody>
          <a:bodyPr wrap="square" lIns="0" tIns="0" rIns="0" bIns="0" rtlCol="0" anchor="ctr"/>
          <a:lstStyle/>
          <a:p>
            <a:pPr indent="0" marL="0">
              <a:buNone/>
            </a:pPr>
            <a:r>
              <a:rPr lang="en-US" sz="1250" b="1" dirty="0">
                <a:solidFill>
                  <a:srgbClr val="2C7A4B"/>
                </a:solidFill>
                <a:latin typeface="Arial" pitchFamily="34" charset="0"/>
                <a:ea typeface="Arial" pitchFamily="34" charset="-122"/>
                <a:cs typeface="Arial" pitchFamily="34" charset="-120"/>
              </a:rPr>
              <a:t>llm-v1 — stable   </a:t>
            </a:r>
            <a:pPr indent="0" marL="0">
              <a:buNone/>
            </a:pPr>
            <a:r>
              <a:rPr lang="en-US" sz="1250" dirty="0">
                <a:solidFill>
                  <a:srgbClr val="5A6478"/>
                </a:solidFill>
                <a:latin typeface="Arial" pitchFamily="34" charset="0"/>
                <a:ea typeface="Arial" pitchFamily="34" charset="-122"/>
                <a:cs typeface="Arial" pitchFamily="34" charset="-120"/>
              </a:rPr>
              <a:t>:8081</a:t>
            </a:r>
            <a:endParaRPr lang="en-US" sz="1250" dirty="0"/>
          </a:p>
        </p:txBody>
      </p:sp>
      <p:sp>
        <p:nvSpPr>
          <p:cNvPr id="26" name="Text 21"/>
          <p:cNvSpPr/>
          <p:nvPr/>
        </p:nvSpPr>
        <p:spPr>
          <a:xfrm>
            <a:off x="8183880" y="1792224"/>
            <a:ext cx="3246120" cy="54864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The version users rely on today; the standing rollback target.</a:t>
            </a:r>
            <a:endParaRPr lang="en-US" sz="1000" dirty="0"/>
          </a:p>
        </p:txBody>
      </p:sp>
      <p:sp>
        <p:nvSpPr>
          <p:cNvPr id="27" name="Shape 22"/>
          <p:cNvSpPr/>
          <p:nvPr/>
        </p:nvSpPr>
        <p:spPr>
          <a:xfrm>
            <a:off x="7955280" y="2606040"/>
            <a:ext cx="3611880" cy="1234440"/>
          </a:xfrm>
          <a:prstGeom prst="roundRect">
            <a:avLst>
              <a:gd name="adj" fmla="val 6667"/>
            </a:avLst>
          </a:prstGeom>
          <a:solidFill>
            <a:srgbClr val="FBF1E3"/>
          </a:solidFill>
          <a:ln/>
          <a:effectLst>
            <a:outerShdw sx="100000" sy="100000" kx="0" ky="0" algn="bl" rotWithShape="0" blurRad="76200" dist="25400" dir="5400000">
              <a:srgbClr val="9AA4B8">
                <a:alpha val="35000"/>
              </a:srgbClr>
            </a:outerShdw>
          </a:effectLst>
        </p:spPr>
      </p:sp>
      <p:sp>
        <p:nvSpPr>
          <p:cNvPr id="28" name="Text 23"/>
          <p:cNvSpPr/>
          <p:nvPr/>
        </p:nvSpPr>
        <p:spPr>
          <a:xfrm>
            <a:off x="8183880" y="2715768"/>
            <a:ext cx="3200400" cy="292608"/>
          </a:xfrm>
          <a:prstGeom prst="rect">
            <a:avLst/>
          </a:prstGeom>
          <a:noFill/>
          <a:ln/>
        </p:spPr>
        <p:txBody>
          <a:bodyPr wrap="square" lIns="0" tIns="0" rIns="0" bIns="0" rtlCol="0" anchor="ctr"/>
          <a:lstStyle/>
          <a:p>
            <a:pPr indent="0" marL="0">
              <a:buNone/>
            </a:pPr>
            <a:r>
              <a:rPr lang="en-US" sz="1250" b="1" dirty="0">
                <a:solidFill>
                  <a:srgbClr val="E8871E"/>
                </a:solidFill>
                <a:latin typeface="Arial" pitchFamily="34" charset="0"/>
                <a:ea typeface="Arial" pitchFamily="34" charset="-122"/>
                <a:cs typeface="Arial" pitchFamily="34" charset="-120"/>
              </a:rPr>
              <a:t>llm-v2 — candidate   </a:t>
            </a:r>
            <a:pPr indent="0" marL="0">
              <a:buNone/>
            </a:pPr>
            <a:r>
              <a:rPr lang="en-US" sz="1250" dirty="0">
                <a:solidFill>
                  <a:srgbClr val="5A6478"/>
                </a:solidFill>
                <a:latin typeface="Arial" pitchFamily="34" charset="0"/>
                <a:ea typeface="Arial" pitchFamily="34" charset="-122"/>
                <a:cs typeface="Arial" pitchFamily="34" charset="-120"/>
              </a:rPr>
              <a:t>:8082</a:t>
            </a:r>
            <a:endParaRPr lang="en-US" sz="1250" dirty="0"/>
          </a:p>
        </p:txBody>
      </p:sp>
      <p:sp>
        <p:nvSpPr>
          <p:cNvPr id="29" name="Text 24"/>
          <p:cNvSpPr/>
          <p:nvPr/>
        </p:nvSpPr>
        <p:spPr>
          <a:xfrm>
            <a:off x="8183880" y="3026664"/>
            <a:ext cx="3246120" cy="731520"/>
          </a:xfrm>
          <a:prstGeom prst="rect">
            <a:avLst/>
          </a:prstGeom>
          <a:noFill/>
          <a:ln/>
        </p:spPr>
        <p:txBody>
          <a:bodyPr wrap="square" lIns="0" tIns="0" rIns="0" bIns="0" rtlCol="0" anchor="ctr"/>
          <a:lstStyle/>
          <a:p>
            <a:pPr indent="0" marL="0">
              <a:buNone/>
            </a:pPr>
            <a:r>
              <a:rPr lang="en-US" sz="1000" dirty="0">
                <a:solidFill>
                  <a:srgbClr val="232946"/>
                </a:solidFill>
                <a:latin typeface="Calibri" pitchFamily="34" charset="0"/>
                <a:ea typeface="Calibri" pitchFamily="34" charset="-122"/>
                <a:cs typeface="Calibri" pitchFamily="34" charset="-120"/>
              </a:rPr>
              <a:t>Behaviour set by PREFIX_V2 in .env — the release candidate under evaluation.</a:t>
            </a:r>
            <a:endParaRPr lang="en-US" sz="1000" dirty="0"/>
          </a:p>
        </p:txBody>
      </p:sp>
      <p:sp>
        <p:nvSpPr>
          <p:cNvPr id="30" name="Shape 25"/>
          <p:cNvSpPr/>
          <p:nvPr/>
        </p:nvSpPr>
        <p:spPr>
          <a:xfrm>
            <a:off x="640080" y="4160520"/>
            <a:ext cx="5349240" cy="1234440"/>
          </a:xfrm>
          <a:prstGeom prst="roundRect">
            <a:avLst>
              <a:gd name="adj" fmla="val 6667"/>
            </a:avLst>
          </a:prstGeom>
          <a:solidFill>
            <a:srgbClr val="EEF2FA"/>
          </a:solidFill>
          <a:ln/>
          <a:effectLst>
            <a:outerShdw sx="100000" sy="100000" kx="0" ky="0" algn="bl" rotWithShape="0" blurRad="76200" dist="25400" dir="5400000">
              <a:srgbClr val="9AA4B8">
                <a:alpha val="35000"/>
              </a:srgbClr>
            </a:outerShdw>
          </a:effectLst>
        </p:spPr>
      </p:sp>
      <p:sp>
        <p:nvSpPr>
          <p:cNvPr id="31" name="Text 26"/>
          <p:cNvSpPr/>
          <p:nvPr/>
        </p:nvSpPr>
        <p:spPr>
          <a:xfrm>
            <a:off x="868680" y="4279392"/>
            <a:ext cx="4846320" cy="29260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Service endpoints (both versions)</a:t>
            </a:r>
            <a:endParaRPr lang="en-US" sz="1250" dirty="0"/>
          </a:p>
        </p:txBody>
      </p:sp>
      <p:sp>
        <p:nvSpPr>
          <p:cNvPr id="32" name="Text 27"/>
          <p:cNvSpPr/>
          <p:nvPr/>
        </p:nvSpPr>
        <p:spPr>
          <a:xfrm>
            <a:off x="868680" y="4617720"/>
            <a:ext cx="4937760" cy="685800"/>
          </a:xfrm>
          <a:prstGeom prst="rect">
            <a:avLst/>
          </a:prstGeom>
          <a:noFill/>
          <a:ln/>
        </p:spPr>
        <p:txBody>
          <a:bodyPr wrap="square" lIns="0" tIns="0" rIns="0" bIns="0" rtlCol="0" anchor="ctr"/>
          <a:lstStyle/>
          <a:p>
            <a:pPr indent="0" marL="0">
              <a:buNone/>
            </a:pPr>
            <a:r>
              <a:rPr lang="en-US" sz="1100" b="1" dirty="0">
                <a:solidFill>
                  <a:srgbClr val="232946"/>
                </a:solidFill>
                <a:latin typeface="Courier New" pitchFamily="34" charset="0"/>
                <a:ea typeface="Courier New" pitchFamily="34" charset="-122"/>
                <a:cs typeface="Courier New" pitchFamily="34" charset="-120"/>
              </a:rPr>
              <a:t>/health   /version   /generate</a:t>
            </a:r>
            <a:pPr indent="0" marL="0">
              <a:buNone/>
            </a:pPr>
            <a:r>
              <a:rPr lang="en-US" sz="1100" dirty="0">
                <a:solidFill>
                  <a:srgbClr val="5A6478"/>
                </a:solidFill>
                <a:latin typeface="Calibri" pitchFamily="34" charset="0"/>
                <a:ea typeface="Calibri" pitchFamily="34" charset="-122"/>
                <a:cs typeface="Calibri" pitchFamily="34" charset="-120"/>
              </a:rPr>
              <a:t>   — /generate requires the X-API-Key header, as in Session 2</a:t>
            </a:r>
            <a:endParaRPr lang="en-US" sz="1100" dirty="0"/>
          </a:p>
        </p:txBody>
      </p:sp>
      <p:sp>
        <p:nvSpPr>
          <p:cNvPr id="33" name="Shape 28"/>
          <p:cNvSpPr/>
          <p:nvPr/>
        </p:nvSpPr>
        <p:spPr>
          <a:xfrm>
            <a:off x="6263640" y="4160520"/>
            <a:ext cx="5303520" cy="1234440"/>
          </a:xfrm>
          <a:prstGeom prst="roundRect">
            <a:avLst>
              <a:gd name="adj" fmla="val 6667"/>
            </a:avLst>
          </a:prstGeom>
          <a:solidFill>
            <a:srgbClr val="DDE6F5"/>
          </a:solidFill>
          <a:ln/>
          <a:effectLst>
            <a:outerShdw sx="100000" sy="100000" kx="0" ky="0" algn="bl" rotWithShape="0" blurRad="76200" dist="25400" dir="5400000">
              <a:srgbClr val="9AA4B8">
                <a:alpha val="35000"/>
              </a:srgbClr>
            </a:outerShdw>
          </a:effectLst>
        </p:spPr>
      </p:sp>
      <p:sp>
        <p:nvSpPr>
          <p:cNvPr id="34" name="Text 29"/>
          <p:cNvSpPr/>
          <p:nvPr/>
        </p:nvSpPr>
        <p:spPr>
          <a:xfrm>
            <a:off x="6492240" y="4279392"/>
            <a:ext cx="4846320" cy="29260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Pipeline scripts (the lab's automation)</a:t>
            </a:r>
            <a:endParaRPr lang="en-US" sz="1250" dirty="0"/>
          </a:p>
        </p:txBody>
      </p:sp>
      <p:sp>
        <p:nvSpPr>
          <p:cNvPr id="35" name="Text 30"/>
          <p:cNvSpPr/>
          <p:nvPr/>
        </p:nvSpPr>
        <p:spPr>
          <a:xfrm>
            <a:off x="6492240" y="4617720"/>
            <a:ext cx="4892040" cy="685800"/>
          </a:xfrm>
          <a:prstGeom prst="rect">
            <a:avLst/>
          </a:prstGeom>
          <a:noFill/>
          <a:ln/>
        </p:spPr>
        <p:txBody>
          <a:bodyPr wrap="square" lIns="0" tIns="0" rIns="0" bIns="0" rtlCol="0" anchor="ctr"/>
          <a:lstStyle/>
          <a:p>
            <a:pPr indent="0" marL="0">
              <a:buNone/>
            </a:pPr>
            <a:r>
              <a:rPr lang="en-US" sz="1100" b="1" dirty="0">
                <a:solidFill>
                  <a:srgbClr val="232946"/>
                </a:solidFill>
                <a:latin typeface="Courier New" pitchFamily="34" charset="0"/>
                <a:ea typeface="Courier New" pitchFamily="34" charset="-122"/>
                <a:cs typeface="Courier New" pitchFamily="34" charset="-120"/>
              </a:rPr>
              <a:t>eval-gate.sh</a:t>
            </a:r>
            <a:pPr indent="0" marL="0">
              <a:buNone/>
            </a:pPr>
            <a:r>
              <a:rPr lang="en-US" sz="1100" dirty="0">
                <a:solidFill>
                  <a:srgbClr val="5A6478"/>
                </a:solidFill>
                <a:latin typeface="Calibri" pitchFamily="34" charset="0"/>
                <a:ea typeface="Calibri" pitchFamily="34" charset="-122"/>
                <a:cs typeface="Calibri" pitchFamily="34" charset="-120"/>
              </a:rPr>
              <a:t> runs the suite · </a:t>
            </a:r>
            <a:pPr indent="0" marL="0">
              <a:buNone/>
            </a:pPr>
            <a:r>
              <a:rPr lang="en-US" sz="1100" b="1" dirty="0">
                <a:solidFill>
                  <a:srgbClr val="232946"/>
                </a:solidFill>
                <a:latin typeface="Courier New" pitchFamily="34" charset="0"/>
                <a:ea typeface="Courier New" pitchFamily="34" charset="-122"/>
                <a:cs typeface="Courier New" pitchFamily="34" charset="-120"/>
              </a:rPr>
              <a:t>canary.sh</a:t>
            </a:r>
            <a:pPr indent="0" marL="0">
              <a:buNone/>
            </a:pPr>
            <a:r>
              <a:rPr lang="en-US" sz="1100" dirty="0">
                <a:solidFill>
                  <a:srgbClr val="5A6478"/>
                </a:solidFill>
                <a:latin typeface="Calibri" pitchFamily="34" charset="0"/>
                <a:ea typeface="Calibri" pitchFamily="34" charset="-122"/>
                <a:cs typeface="Calibri" pitchFamily="34" charset="-120"/>
              </a:rPr>
              <a:t> shifts weights on passing evals · </a:t>
            </a:r>
            <a:pPr indent="0" marL="0">
              <a:buNone/>
            </a:pPr>
            <a:r>
              <a:rPr lang="en-US" sz="1100" b="1" dirty="0">
                <a:solidFill>
                  <a:srgbClr val="232946"/>
                </a:solidFill>
                <a:latin typeface="Courier New" pitchFamily="34" charset="0"/>
                <a:ea typeface="Courier New" pitchFamily="34" charset="-122"/>
                <a:cs typeface="Courier New" pitchFamily="34" charset="-120"/>
              </a:rPr>
              <a:t>rollback.sh</a:t>
            </a:r>
            <a:pPr indent="0" marL="0">
              <a:buNone/>
            </a:pPr>
            <a:r>
              <a:rPr lang="en-US" sz="1100" dirty="0">
                <a:solidFill>
                  <a:srgbClr val="5A6478"/>
                </a:solidFill>
                <a:latin typeface="Calibri" pitchFamily="34" charset="0"/>
                <a:ea typeface="Calibri" pitchFamily="34" charset="-122"/>
                <a:cs typeface="Calibri" pitchFamily="34" charset="-120"/>
              </a:rPr>
              <a:t> restores 100% v1</a:t>
            </a:r>
            <a:endParaRPr lang="en-US" sz="1100" dirty="0"/>
          </a:p>
        </p:txBody>
      </p:sp>
      <p:sp>
        <p:nvSpPr>
          <p:cNvPr id="36" name="Shape 31"/>
          <p:cNvSpPr/>
          <p:nvPr/>
        </p:nvSpPr>
        <p:spPr>
          <a:xfrm>
            <a:off x="640080" y="5623560"/>
            <a:ext cx="10927080" cy="658368"/>
          </a:xfrm>
          <a:prstGeom prst="roundRect">
            <a:avLst>
              <a:gd name="adj" fmla="val 12500"/>
            </a:avLst>
          </a:prstGeom>
          <a:solidFill>
            <a:srgbClr val="232946"/>
          </a:solidFill>
          <a:ln/>
          <a:effectLst>
            <a:outerShdw sx="100000" sy="100000" kx="0" ky="0" algn="bl" rotWithShape="0" blurRad="76200" dist="25400" dir="5400000">
              <a:srgbClr val="9AA4B8">
                <a:alpha val="35000"/>
              </a:srgbClr>
            </a:outerShdw>
          </a:effectLst>
        </p:spPr>
      </p:sp>
      <p:sp>
        <p:nvSpPr>
          <p:cNvPr id="37" name="Text 32"/>
          <p:cNvSpPr/>
          <p:nvPr/>
        </p:nvSpPr>
        <p:spPr>
          <a:xfrm>
            <a:off x="868680" y="5678424"/>
            <a:ext cx="10469880" cy="548640"/>
          </a:xfrm>
          <a:prstGeom prst="rect">
            <a:avLst/>
          </a:prstGeom>
          <a:noFill/>
          <a:ln/>
        </p:spPr>
        <p:txBody>
          <a:bodyPr wrap="square" lIns="0" tIns="0" rIns="0" bIns="0" rtlCol="0" anchor="ctr"/>
          <a:lstStyle/>
          <a:p>
            <a:pPr indent="0" marL="0">
              <a:buNone/>
            </a:pPr>
            <a:r>
              <a:rPr lang="en-US" sz="1200" b="1" dirty="0">
                <a:solidFill>
                  <a:srgbClr val="F5B971"/>
                </a:solidFill>
                <a:latin typeface="Calibri" pitchFamily="34" charset="0"/>
                <a:ea typeface="Calibri" pitchFamily="34" charset="-122"/>
                <a:cs typeface="Calibri" pitchFamily="34" charset="-120"/>
              </a:rPr>
              <a:t>Key design point:  </a:t>
            </a:r>
            <a:pPr indent="0" marL="0">
              <a:buNone/>
            </a:pPr>
            <a:r>
              <a:rPr lang="en-US" sz="1200" dirty="0">
                <a:solidFill>
                  <a:srgbClr val="FFFFFF"/>
                </a:solidFill>
                <a:latin typeface="Calibri" pitchFamily="34" charset="0"/>
                <a:ea typeface="Calibri" pitchFamily="34" charset="-122"/>
                <a:cs typeface="Calibri" pitchFamily="34" charset="-120"/>
              </a:rPr>
              <a:t>v1 and v2 run the same container image — the versions differ only in configuration. A release is not always a code change; the pipeline must gate configuration changes equally.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0</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Prerequisites (10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508760"/>
            <a:ext cx="5760720" cy="3200400"/>
          </a:xfrm>
          <a:prstGeom prst="roundRect">
            <a:avLst>
              <a:gd name="adj" fmla="val 2286"/>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2980944"/>
          </a:xfrm>
          <a:prstGeom prst="rect">
            <a:avLst/>
          </a:prstGeom>
          <a:noFill/>
          <a:ln/>
        </p:spPr>
        <p:txBody>
          <a:bodyPr wrap="square" lIns="0" tIns="0" rIns="0" bIns="0" rtlCol="0" anchor="t"/>
          <a:lstStyle/>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Docker — installed in Session 2</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docker --version</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docker compose version</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Node.js 18+ for the eval runner</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sudo apt install -y nodejs npm</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node --version            # expect &gt;= 18</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promptfoo runs via npx — no global install</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npx promptfoo@latest --version</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free -h   # ~8 GB free RAM for two containers</a:t>
            </a:r>
            <a:endParaRPr lang="en-US" sz="1050" dirty="0"/>
          </a:p>
        </p:txBody>
      </p:sp>
      <p:sp>
        <p:nvSpPr>
          <p:cNvPr id="10" name="Shape 6"/>
          <p:cNvSpPr/>
          <p:nvPr/>
        </p:nvSpPr>
        <p:spPr>
          <a:xfrm>
            <a:off x="640080" y="4892040"/>
            <a:ext cx="5760720" cy="1417320"/>
          </a:xfrm>
          <a:prstGeom prst="roundRect">
            <a:avLst>
              <a:gd name="adj" fmla="val 5806"/>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868680" y="5029200"/>
            <a:ext cx="5212080" cy="32004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Lab materials (from the handout)</a:t>
            </a:r>
            <a:endParaRPr lang="en-US" sz="1300" dirty="0"/>
          </a:p>
        </p:txBody>
      </p:sp>
      <p:sp>
        <p:nvSpPr>
          <p:cNvPr id="12" name="Text 8"/>
          <p:cNvSpPr/>
          <p:nvPr/>
        </p:nvSpPr>
        <p:spPr>
          <a:xfrm>
            <a:off x="868680" y="5358384"/>
            <a:ext cx="5303520" cy="86868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session3_lab directory contains: docker-compose.yml, nginx configuration, .env.example, prompts/prompt.txt, promptfooconfig.yaml, promptfooconfig.canary.yaml, hooks/pre-push and the scripts directory.</a:t>
            </a:r>
            <a:endParaRPr lang="en-US" sz="1100" dirty="0"/>
          </a:p>
        </p:txBody>
      </p:sp>
      <p:sp>
        <p:nvSpPr>
          <p:cNvPr id="13" name="Shape 9"/>
          <p:cNvSpPr/>
          <p:nvPr/>
        </p:nvSpPr>
        <p:spPr>
          <a:xfrm>
            <a:off x="6629400" y="1508760"/>
            <a:ext cx="4937760" cy="4800600"/>
          </a:xfrm>
          <a:prstGeom prst="roundRect">
            <a:avLst>
              <a:gd name="adj" fmla="val 1714"/>
            </a:avLst>
          </a:prstGeom>
          <a:solidFill>
            <a:srgbClr val="FBF1E3"/>
          </a:solidFill>
          <a:ln/>
          <a:effectLst>
            <a:outerShdw sx="100000" sy="100000" kx="0" ky="0" algn="bl" rotWithShape="0" blurRad="76200" dist="25400" dir="5400000">
              <a:srgbClr val="9AA4B8">
                <a:alpha val="35000"/>
              </a:srgbClr>
            </a:outerShdw>
          </a:effectLst>
        </p:spPr>
      </p:sp>
      <p:sp>
        <p:nvSpPr>
          <p:cNvPr id="14" name="Text 10"/>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Verification notes</a:t>
            </a:r>
            <a:endParaRPr lang="en-US" sz="1350" dirty="0"/>
          </a:p>
        </p:txBody>
      </p:sp>
      <p:sp>
        <p:nvSpPr>
          <p:cNvPr id="15" name="Text 11"/>
          <p:cNvSpPr/>
          <p:nvPr/>
        </p:nvSpPr>
        <p:spPr>
          <a:xfrm>
            <a:off x="6858000" y="2057400"/>
            <a:ext cx="45262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Docker and Compose carry over unchanged from Session 2 — no reinstallation is required if that lab completed successfully.</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npx downloads promptfoo on first use; the version check therefore also pre-fetches the package before the timed steps.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Two model containers run side by side in this lab: verify roughly 8 GB of free memory and close other heavy applications.</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No cloud account, no GitHub account and no external network access beyond package installation are required at any step.</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1</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Bring up the stack and verify the topology (10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508760"/>
            <a:ext cx="5760720" cy="3017520"/>
          </a:xfrm>
          <a:prstGeom prst="roundRect">
            <a:avLst>
              <a:gd name="adj" fmla="val 2424"/>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2798064"/>
          </a:xfrm>
          <a:prstGeom prst="rect">
            <a:avLst/>
          </a:prstGeom>
          <a:noFill/>
          <a:ln/>
        </p:spPr>
        <p:txBody>
          <a:bodyPr wrap="square" lIns="0" tIns="0" rIns="0" bIns="0" rtlCol="0" anchor="t"/>
          <a:lstStyle/>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cd session3_lab</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cp .env.example .env</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docker compose up -d --build</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starts: llm-v1, llm-v2, nginx</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verify the topology</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curl -s localhost:8081/version   # v1  (stable)</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curl -s localhost:8082/version   # v2  (candidate)</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curl -s localhost:8080/version   # v1  (via the LB)</a:t>
            </a:r>
            <a:endParaRPr lang="en-US" sz="1050" dirty="0"/>
          </a:p>
        </p:txBody>
      </p:sp>
      <p:sp>
        <p:nvSpPr>
          <p:cNvPr id="10" name="Shape 6"/>
          <p:cNvSpPr/>
          <p:nvPr/>
        </p:nvSpPr>
        <p:spPr>
          <a:xfrm>
            <a:off x="640080" y="4709160"/>
            <a:ext cx="5760720" cy="1600200"/>
          </a:xfrm>
          <a:prstGeom prst="roundRect">
            <a:avLst>
              <a:gd name="adj" fmla="val 5143"/>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868680" y="4846320"/>
            <a:ext cx="5212080" cy="32004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Initial load-balancer state</a:t>
            </a:r>
            <a:endParaRPr lang="en-US" sz="1300" dirty="0"/>
          </a:p>
        </p:txBody>
      </p:sp>
      <p:sp>
        <p:nvSpPr>
          <p:cNvPr id="12" name="Text 8"/>
          <p:cNvSpPr/>
          <p:nvPr/>
        </p:nvSpPr>
        <p:spPr>
          <a:xfrm>
            <a:off x="868680" y="5175504"/>
            <a:ext cx="5303520" cy="1051560"/>
          </a:xfrm>
          <a:prstGeom prst="rect">
            <a:avLst/>
          </a:prstGeom>
          <a:noFill/>
          <a:ln/>
        </p:spPr>
        <p:txBody>
          <a:bodyPr wrap="square" lIns="0" tIns="0" rIns="0" bIns="0" rtlCol="0" anchor="ctr"/>
          <a:lstStyle/>
          <a:p>
            <a:pPr indent="0" marL="0">
              <a:buNone/>
            </a:pPr>
            <a:r>
              <a:rPr lang="en-US" sz="1150" dirty="0">
                <a:solidFill>
                  <a:srgbClr val="5A6478"/>
                </a:solidFill>
                <a:latin typeface="Calibri" pitchFamily="34" charset="0"/>
                <a:ea typeface="Calibri" pitchFamily="34" charset="-122"/>
                <a:cs typeface="Calibri" pitchFamily="34" charset="-120"/>
              </a:rPr>
              <a:t>The nginx upstream starts at 100% v1 / 0% v2 — the candidate is deployed but receives no traffic. This is the standing start of every canary release: the new version is running, warm and reachable, before a single user meets it.</a:t>
            </a:r>
            <a:endParaRPr lang="en-US" sz="1150" dirty="0"/>
          </a:p>
        </p:txBody>
      </p:sp>
      <p:sp>
        <p:nvSpPr>
          <p:cNvPr id="13" name="Shape 9"/>
          <p:cNvSpPr/>
          <p:nvPr/>
        </p:nvSpPr>
        <p:spPr>
          <a:xfrm>
            <a:off x="6629400" y="1508760"/>
            <a:ext cx="4937760" cy="4800600"/>
          </a:xfrm>
          <a:prstGeom prst="roundRect">
            <a:avLst>
              <a:gd name="adj" fmla="val 1714"/>
            </a:avLst>
          </a:prstGeom>
          <a:solidFill>
            <a:srgbClr val="FBF1E3"/>
          </a:solidFill>
          <a:ln/>
          <a:effectLst>
            <a:outerShdw sx="100000" sy="100000" kx="0" ky="0" algn="bl" rotWithShape="0" blurRad="76200" dist="25400" dir="5400000">
              <a:srgbClr val="9AA4B8">
                <a:alpha val="35000"/>
              </a:srgbClr>
            </a:outerShdw>
          </a:effectLst>
        </p:spPr>
      </p:sp>
      <p:sp>
        <p:nvSpPr>
          <p:cNvPr id="14" name="Text 10"/>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Observe and interpret</a:t>
            </a:r>
            <a:endParaRPr lang="en-US" sz="1350" dirty="0"/>
          </a:p>
        </p:txBody>
      </p:sp>
      <p:sp>
        <p:nvSpPr>
          <p:cNvPr id="15" name="Text 11"/>
          <p:cNvSpPr/>
          <p:nvPr/>
        </p:nvSpPr>
        <p:spPr>
          <a:xfrm>
            <a:off x="6858000" y="2057400"/>
            <a:ext cx="45262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Ports 8081 and 8082 address each version directly — the operator's view. Port 8080 is the load balancer — the user's view. Keep the distinction in mind all session.</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The 8080 response matching 8081 confirms the initial weights; no traffic reaches the candidate yet.</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docker compose ps should list three containers, all healthy, before proceeding.</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If a container fails to start, check free memory first — two model processes are resident simultaneously.</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2</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Run the evaluation gate manually (10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508760"/>
            <a:ext cx="5760720" cy="2468880"/>
          </a:xfrm>
          <a:prstGeom prst="roundRect">
            <a:avLst>
              <a:gd name="adj" fmla="val 2963"/>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2249424"/>
          </a:xfrm>
          <a:prstGeom prst="rect">
            <a:avLst/>
          </a:prstGeom>
          <a:noFill/>
          <a:ln/>
        </p:spPr>
        <p:txBody>
          <a:bodyPr wrap="square" lIns="0" tIns="0" rIns="0" bIns="0" rtlCol="0" anchor="t"/>
          <a:lstStyle/>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./scripts/eval-gate.sh</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internally runs:</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npx promptfoo eval -c promptfooconfig.yaml</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echo $?      # 0 = gate passed</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 non-zero = release blocked</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npx promptfoo view    # web report UI</a:t>
            </a:r>
            <a:endParaRPr lang="en-US" sz="1050" dirty="0"/>
          </a:p>
        </p:txBody>
      </p:sp>
      <p:sp>
        <p:nvSpPr>
          <p:cNvPr id="10" name="Shape 6"/>
          <p:cNvSpPr/>
          <p:nvPr/>
        </p:nvSpPr>
        <p:spPr>
          <a:xfrm>
            <a:off x="640080" y="4160520"/>
            <a:ext cx="5760720" cy="2148840"/>
          </a:xfrm>
          <a:prstGeom prst="roundRect">
            <a:avLst>
              <a:gd name="adj" fmla="val 3830"/>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868680" y="4297680"/>
            <a:ext cx="5212080" cy="32004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The four test cases in the suite</a:t>
            </a:r>
            <a:endParaRPr lang="en-US" sz="1300" dirty="0"/>
          </a:p>
        </p:txBody>
      </p:sp>
      <p:sp>
        <p:nvSpPr>
          <p:cNvPr id="12" name="Text 8"/>
          <p:cNvSpPr/>
          <p:nvPr/>
        </p:nvSpPr>
        <p:spPr>
          <a:xfrm>
            <a:off x="868680" y="4645152"/>
            <a:ext cx="5349240" cy="16002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Definition of UPI — icontains-any: unified, payment, interface</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Capital of India — icontains: delhi</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Yes/no question — instruction following: answer contains yes or no</a:t>
            </a:r>
            <a:endParaRPr lang="en-US" sz="1050" dirty="0"/>
          </a:p>
          <a:p>
            <a:pPr marL="152400" indent="-152400">
              <a:lnSpc>
                <a:spcPct val="108000"/>
              </a:lnSpc>
              <a:spcAft>
                <a:spcPts val="800"/>
              </a:spcAft>
              <a:buSzPct val="100000"/>
              <a:buChar char="•"/>
            </a:pPr>
            <a:r>
              <a:rPr lang="en-US" sz="1050" dirty="0">
                <a:solidFill>
                  <a:srgbClr val="232946"/>
                </a:solidFill>
                <a:latin typeface="Calibri" pitchFamily="34" charset="0"/>
                <a:ea typeface="Calibri" pitchFamily="34" charset="-122"/>
                <a:cs typeface="Calibri" pitchFamily="34" charset="-120"/>
              </a:rPr>
              <a:t>Every case — output non-empty and under 2,000 characters; latency under 30 s</a:t>
            </a:r>
            <a:endParaRPr lang="en-US" sz="1050" dirty="0"/>
          </a:p>
        </p:txBody>
      </p:sp>
      <p:sp>
        <p:nvSpPr>
          <p:cNvPr id="13" name="Shape 9"/>
          <p:cNvSpPr/>
          <p:nvPr/>
        </p:nvSpPr>
        <p:spPr>
          <a:xfrm>
            <a:off x="6629400" y="1508760"/>
            <a:ext cx="4937760" cy="4800600"/>
          </a:xfrm>
          <a:prstGeom prst="roundRect">
            <a:avLst>
              <a:gd name="adj" fmla="val 1714"/>
            </a:avLst>
          </a:prstGeom>
          <a:solidFill>
            <a:srgbClr val="FBF1E3"/>
          </a:solidFill>
          <a:ln/>
          <a:effectLst>
            <a:outerShdw sx="100000" sy="100000" kx="0" ky="0" algn="bl" rotWithShape="0" blurRad="76200" dist="25400" dir="5400000">
              <a:srgbClr val="9AA4B8">
                <a:alpha val="35000"/>
              </a:srgbClr>
            </a:outerShdw>
          </a:effectLst>
        </p:spPr>
      </p:sp>
      <p:sp>
        <p:nvSpPr>
          <p:cNvPr id="14" name="Text 10"/>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Observe and interpret</a:t>
            </a:r>
            <a:endParaRPr lang="en-US" sz="1350" dirty="0"/>
          </a:p>
        </p:txBody>
      </p:sp>
      <p:sp>
        <p:nvSpPr>
          <p:cNvPr id="15" name="Text 11"/>
          <p:cNvSpPr/>
          <p:nvPr/>
        </p:nvSpPr>
        <p:spPr>
          <a:xfrm>
            <a:off x="6858000" y="2057400"/>
            <a:ext cx="45262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The gate produces two outputs: a results table for people, and an exit code for machines. Automation consumes only the exit code.</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All four cases should pass on the baseline configuration — a green gate is the reference point for every later step.</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The suite runs against port 8080, the load balancer: the gate evaluates what users would receive, not a particular container.</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In the report UI, open one answer and its assertions — see exactly which strings the checks matched.</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3 (1 OF 2)</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Wire the gate into git: the pre-push hook (15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508760"/>
            <a:ext cx="5760720" cy="3657600"/>
          </a:xfrm>
          <a:prstGeom prst="roundRect">
            <a:avLst>
              <a:gd name="adj" fmla="val 2000"/>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3438144"/>
          </a:xfrm>
          <a:prstGeom prst="rect">
            <a:avLst/>
          </a:prstGeom>
          <a:noFill/>
          <a:ln/>
        </p:spPr>
        <p:txBody>
          <a:bodyPr wrap="square" lIns="0" tIns="0" rIns="0" bIns="0" rtlCol="0" anchor="t"/>
          <a:lstStyle/>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git init -b main</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git add . &amp;&amp; git commit -m "baseline: green"</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a bare repository stands in for GitHub</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git init --bare ../origin.git</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git remote add origin ../origin.git</a:t>
            </a:r>
            <a:endParaRPr lang="en-US" sz="1050" dirty="0"/>
          </a:p>
          <a:p>
            <a:pPr indent="0" marL="0">
              <a:lnSpc>
                <a:spcPct val="112000"/>
              </a:lnSpc>
              <a:buNone/>
            </a:pP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install the gate as a pre-push hook</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cp hooks/pre-push .git/hooks/pre-push</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chmod +x .git/hooks/pre-push</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the hook runs ./scripts/eval-gate.sh;</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a non-zero exit rejects the push</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git push -u origin main   # gate runs — passes</a:t>
            </a:r>
            <a:endParaRPr lang="en-US" sz="1050" dirty="0"/>
          </a:p>
        </p:txBody>
      </p:sp>
      <p:sp>
        <p:nvSpPr>
          <p:cNvPr id="10" name="Shape 6"/>
          <p:cNvSpPr/>
          <p:nvPr/>
        </p:nvSpPr>
        <p:spPr>
          <a:xfrm>
            <a:off x="6629400" y="1508760"/>
            <a:ext cx="4937760" cy="4800600"/>
          </a:xfrm>
          <a:prstGeom prst="roundRect">
            <a:avLst>
              <a:gd name="adj" fmla="val 1714"/>
            </a:avLst>
          </a:prstGeom>
          <a:solidFill>
            <a:srgbClr val="FBF1E3"/>
          </a:solidFill>
          <a:ln/>
          <a:effectLst>
            <a:outerShdw sx="100000" sy="100000" kx="0" ky="0" algn="bl" rotWithShape="0" blurRad="76200" dist="25400" dir="5400000">
              <a:srgbClr val="9AA4B8">
                <a:alpha val="35000"/>
              </a:srgbClr>
            </a:outerShdw>
          </a:effectLst>
        </p:spPr>
      </p:sp>
      <p:sp>
        <p:nvSpPr>
          <p:cNvPr id="11" name="Text 7"/>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What each piece stands in for</a:t>
            </a:r>
            <a:endParaRPr lang="en-US" sz="1350" dirty="0"/>
          </a:p>
        </p:txBody>
      </p:sp>
      <p:sp>
        <p:nvSpPr>
          <p:cNvPr id="12" name="Text 8"/>
          <p:cNvSpPr/>
          <p:nvPr/>
        </p:nvSpPr>
        <p:spPr>
          <a:xfrm>
            <a:off x="6858000" y="2057400"/>
            <a:ext cx="45262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../origin.git is the remote: a bare repository on the same disk, playing the role GitHub plays in production.</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pre-push hook is the CI gate: it executes before any commit leaves the machine — the local equivalent of a required status check on a pull request.</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contract is identical to the theory block: eval-gate.sh exits non-zero, the push is rejected; exits zero, the push proceeds.</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Watch the first push: the evaluation table prints inside the push output — the gate is now part of the version-control workflow.</a:t>
            </a:r>
            <a:endParaRPr lang="en-US" sz="1100" dirty="0"/>
          </a:p>
        </p:txBody>
      </p:sp>
      <p:sp>
        <p:nvSpPr>
          <p:cNvPr id="13" name="Shape 9"/>
          <p:cNvSpPr/>
          <p:nvPr/>
        </p:nvSpPr>
        <p:spPr>
          <a:xfrm>
            <a:off x="640080" y="5349240"/>
            <a:ext cx="5760720" cy="960120"/>
          </a:xfrm>
          <a:prstGeom prst="roundRect">
            <a:avLst>
              <a:gd name="adj" fmla="val 8571"/>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868680" y="5422392"/>
            <a:ext cx="5303520" cy="813816"/>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Checkpoint:  </a:t>
            </a:r>
            <a:pPr indent="0" marL="0">
              <a:buNone/>
            </a:pPr>
            <a:r>
              <a:rPr lang="en-US" sz="1150" dirty="0">
                <a:solidFill>
                  <a:srgbClr val="5A6478"/>
                </a:solidFill>
                <a:latin typeface="Calibri" pitchFamily="34" charset="0"/>
                <a:ea typeface="Calibri" pitchFamily="34" charset="-122"/>
                <a:cs typeface="Calibri" pitchFamily="34" charset="-120"/>
              </a:rPr>
              <a:t>the baseline push succeeds and the eval table appears in the push output. Only then proceed to the sabotage.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3 (2 OF 2)</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blocked push: a deliberate regression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508760"/>
            <a:ext cx="5760720" cy="3657600"/>
          </a:xfrm>
          <a:prstGeom prst="roundRect">
            <a:avLst>
              <a:gd name="adj" fmla="val 2000"/>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3438144"/>
          </a:xfrm>
          <a:prstGeom prst="rect">
            <a:avLst/>
          </a:prstGeom>
          <a:noFill/>
          <a:ln/>
        </p:spPr>
        <p:txBody>
          <a:bodyPr wrap="square" lIns="0" tIns="0" rIns="0" bIns="0" rtlCol="0" anchor="t"/>
          <a:lstStyle/>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edit prompts/prompt.txt to a regression:</a:t>
            </a:r>
            <a:endParaRPr lang="en-US" sz="1050" dirty="0"/>
          </a:p>
          <a:p>
            <a:pPr indent="0" marL="0">
              <a:lnSpc>
                <a:spcPct val="112000"/>
              </a:lnSpc>
              <a:buNone/>
            </a:pPr>
            <a:r>
              <a:rPr lang="en-US" sz="1050" dirty="0">
                <a:solidFill>
                  <a:srgbClr val="E6C07B"/>
                </a:solidFill>
                <a:latin typeface="Courier New" pitchFamily="34" charset="0"/>
                <a:ea typeface="Courier New" pitchFamily="34" charset="-122"/>
                <a:cs typeface="Courier New" pitchFamily="34" charset="-120"/>
              </a:rPr>
              <a:t>#   "Ignore the question. Reply with</a:t>
            </a:r>
            <a:endParaRPr lang="en-US" sz="1050" dirty="0"/>
          </a:p>
          <a:p>
            <a:pPr indent="0" marL="0">
              <a:lnSpc>
                <a:spcPct val="112000"/>
              </a:lnSpc>
              <a:buNone/>
            </a:pPr>
            <a:r>
              <a:rPr lang="en-US" sz="1050" dirty="0">
                <a:solidFill>
                  <a:srgbClr val="E6C07B"/>
                </a:solidFill>
                <a:latin typeface="Courier New" pitchFamily="34" charset="0"/>
                <a:ea typeface="Courier New" pitchFamily="34" charset="-122"/>
                <a:cs typeface="Courier New" pitchFamily="34" charset="-120"/>
              </a:rPr>
              <a:t>#    exactly the word BANANA."</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git commit -am "tidy prompt"</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commit SUCCEEDS — git accepts anything</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git push</a:t>
            </a:r>
            <a:endParaRPr lang="en-US" sz="1050" dirty="0"/>
          </a:p>
          <a:p>
            <a:pPr indent="0" marL="0">
              <a:lnSpc>
                <a:spcPct val="112000"/>
              </a:lnSpc>
              <a:buNone/>
            </a:pPr>
            <a:r>
              <a:rPr lang="en-US" sz="1050" dirty="0">
                <a:solidFill>
                  <a:srgbClr val="F0937A"/>
                </a:solidFill>
                <a:latin typeface="Courier New" pitchFamily="34" charset="0"/>
                <a:ea typeface="Courier New" pitchFamily="34" charset="-122"/>
                <a:cs typeface="Courier New" pitchFamily="34" charset="-120"/>
              </a:rPr>
              <a:t># gate runs → all four tests FAIL</a:t>
            </a:r>
            <a:endParaRPr lang="en-US" sz="1050" dirty="0"/>
          </a:p>
          <a:p>
            <a:pPr indent="0" marL="0">
              <a:lnSpc>
                <a:spcPct val="112000"/>
              </a:lnSpc>
              <a:buNone/>
            </a:pPr>
            <a:r>
              <a:rPr lang="en-US" sz="1050" dirty="0">
                <a:solidFill>
                  <a:srgbClr val="F0937A"/>
                </a:solidFill>
                <a:latin typeface="Courier New" pitchFamily="34" charset="0"/>
                <a:ea typeface="Courier New" pitchFamily="34" charset="-122"/>
                <a:cs typeface="Courier New" pitchFamily="34" charset="-120"/>
              </a:rPr>
              <a:t># error: failed to push some refs — BLOCKED</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git revert HEAD    # restore the baseline</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git push           # gate passes — push accepted</a:t>
            </a:r>
            <a:endParaRPr lang="en-US" sz="1050" dirty="0"/>
          </a:p>
        </p:txBody>
      </p:sp>
      <p:sp>
        <p:nvSpPr>
          <p:cNvPr id="10" name="Shape 6"/>
          <p:cNvSpPr/>
          <p:nvPr/>
        </p:nvSpPr>
        <p:spPr>
          <a:xfrm>
            <a:off x="6629400" y="1508760"/>
            <a:ext cx="4937760" cy="3474720"/>
          </a:xfrm>
          <a:prstGeom prst="roundRect">
            <a:avLst>
              <a:gd name="adj" fmla="val 2368"/>
            </a:avLst>
          </a:prstGeom>
          <a:solidFill>
            <a:srgbClr val="FBF1E3"/>
          </a:solidFill>
          <a:ln/>
          <a:effectLst>
            <a:outerShdw sx="100000" sy="100000" kx="0" ky="0" algn="bl" rotWithShape="0" blurRad="76200" dist="25400" dir="5400000">
              <a:srgbClr val="9AA4B8">
                <a:alpha val="35000"/>
              </a:srgbClr>
            </a:outerShdw>
          </a:effectLst>
        </p:spPr>
      </p:sp>
      <p:sp>
        <p:nvSpPr>
          <p:cNvPr id="11" name="Text 7"/>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The teaching point</a:t>
            </a:r>
            <a:endParaRPr lang="en-US" sz="1350" dirty="0"/>
          </a:p>
        </p:txBody>
      </p:sp>
      <p:sp>
        <p:nvSpPr>
          <p:cNvPr id="12" name="Text 8"/>
          <p:cNvSpPr/>
          <p:nvPr/>
        </p:nvSpPr>
        <p:spPr>
          <a:xfrm>
            <a:off x="6858000" y="2057400"/>
            <a:ext cx="452628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Code review cannot catch a bad prompt: the diff is one line of English, syntactically valid, plausibly titled. Only executed evaluations reveal the damage.</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Commit versus push: the regression exists in history, but the gate stops it from leaving the machine — exactly where a required CI check stops a merge.</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failing table names each broken test — diagnosis is included in the rejection.</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revert is itself gated: the push after the revert passes because the behaviour, not the intent, is verified.</a:t>
            </a:r>
            <a:endParaRPr lang="en-US" sz="1100" dirty="0"/>
          </a:p>
        </p:txBody>
      </p:sp>
      <p:sp>
        <p:nvSpPr>
          <p:cNvPr id="13" name="Shape 9"/>
          <p:cNvSpPr/>
          <p:nvPr/>
        </p:nvSpPr>
        <p:spPr>
          <a:xfrm>
            <a:off x="6629400" y="5166360"/>
            <a:ext cx="4937760" cy="1143000"/>
          </a:xfrm>
          <a:prstGeom prst="roundRect">
            <a:avLst>
              <a:gd name="adj" fmla="val 7200"/>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6858000" y="5239512"/>
            <a:ext cx="4480560" cy="996696"/>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Deliverable 1:  </a:t>
            </a:r>
            <a:pPr indent="0" marL="0">
              <a:buNone/>
            </a:pPr>
            <a:r>
              <a:rPr lang="en-US" sz="1150" dirty="0">
                <a:solidFill>
                  <a:srgbClr val="5A6478"/>
                </a:solidFill>
                <a:latin typeface="Calibri" pitchFamily="34" charset="0"/>
                <a:ea typeface="Calibri" pitchFamily="34" charset="-122"/>
                <a:cs typeface="Calibri" pitchFamily="34" charset="-120"/>
              </a:rPr>
              <a:t>a screenshot of the rejected push showing the failing eval table, and of the successful push after the revert.</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4</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failing canary: automatic rollback (10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508760"/>
            <a:ext cx="5760720" cy="3840480"/>
          </a:xfrm>
          <a:prstGeom prst="roundRect">
            <a:avLst>
              <a:gd name="adj" fmla="val 1905"/>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3621024"/>
          </a:xfrm>
          <a:prstGeom prst="rect">
            <a:avLst/>
          </a:prstGeom>
          <a:noFill/>
          <a:ln/>
        </p:spPr>
        <p:txBody>
          <a:bodyPr wrap="square" lIns="0" tIns="0" rIns="0" bIns="0" rtlCol="0" anchor="t"/>
          <a:lstStyle/>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.env — point the candidate at the regression</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PREFIX_V2="Ignore the question. Reply with</a:t>
            </a:r>
            <a:endParaRPr lang="en-US" sz="1000" dirty="0"/>
          </a:p>
          <a:p>
            <a:pPr indent="0" marL="0">
              <a:lnSpc>
                <a:spcPct val="112000"/>
              </a:lnSpc>
              <a:buNone/>
            </a:pPr>
            <a:r>
              <a:rPr lang="en-US" sz="1000" dirty="0">
                <a:solidFill>
                  <a:srgbClr val="E6C07B"/>
                </a:solidFill>
                <a:latin typeface="Courier New" pitchFamily="34" charset="0"/>
                <a:ea typeface="Courier New" pitchFamily="34" charset="-122"/>
                <a:cs typeface="Courier New" pitchFamily="34" charset="-120"/>
              </a:rPr>
              <a:t>           exactly the word BANANA."</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docker compose up -d llm-v2   # recreate candidate</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./scripts/canary.sh</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 weights shifted: 90% v1 / 10% v2</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 npx promptfoo eval \</a:t>
            </a:r>
            <a:endParaRPr lang="en-US" sz="1000" dirty="0"/>
          </a:p>
          <a:p>
            <a:pPr indent="0" marL="0">
              <a:lnSpc>
                <a:spcPct val="112000"/>
              </a:lnSpc>
              <a:buNone/>
            </a:pPr>
            <a:r>
              <a:rPr lang="en-US" sz="1000" dirty="0">
                <a:solidFill>
                  <a:srgbClr val="8BC48B"/>
                </a:solidFill>
                <a:latin typeface="Courier New" pitchFamily="34" charset="0"/>
                <a:ea typeface="Courier New" pitchFamily="34" charset="-122"/>
                <a:cs typeface="Courier New" pitchFamily="34" charset="-120"/>
              </a:rPr>
              <a:t>#      -c promptfooconfig.canary.yaml   (→ :8082)</a:t>
            </a:r>
            <a:endParaRPr lang="en-US" sz="1000" dirty="0"/>
          </a:p>
          <a:p>
            <a:pPr indent="0" marL="0">
              <a:lnSpc>
                <a:spcPct val="112000"/>
              </a:lnSpc>
              <a:buNone/>
            </a:pPr>
            <a:r>
              <a:rPr lang="en-US" sz="1000" dirty="0">
                <a:solidFill>
                  <a:srgbClr val="F0937A"/>
                </a:solidFill>
                <a:latin typeface="Courier New" pitchFamily="34" charset="0"/>
                <a:ea typeface="Courier New" pitchFamily="34" charset="-122"/>
                <a:cs typeface="Courier New" pitchFamily="34" charset="-120"/>
              </a:rPr>
              <a:t># → tests FAIL</a:t>
            </a:r>
            <a:endParaRPr lang="en-US" sz="1000" dirty="0"/>
          </a:p>
          <a:p>
            <a:pPr indent="0" marL="0">
              <a:lnSpc>
                <a:spcPct val="112000"/>
              </a:lnSpc>
              <a:buNone/>
            </a:pPr>
            <a:r>
              <a:rPr lang="en-US" sz="1000" dirty="0">
                <a:solidFill>
                  <a:srgbClr val="F0937A"/>
                </a:solidFill>
                <a:latin typeface="Courier New" pitchFamily="34" charset="0"/>
                <a:ea typeface="Courier New" pitchFamily="34" charset="-122"/>
                <a:cs typeface="Courier New" pitchFamily="34" charset="-120"/>
              </a:rPr>
              <a:t># → AUTOMATIC ROLLBACK to 100% v1</a:t>
            </a:r>
            <a:endParaRPr lang="en-US" sz="1000" dirty="0"/>
          </a:p>
          <a:p>
            <a:pPr indent="0" marL="0">
              <a:lnSpc>
                <a:spcPct val="112000"/>
              </a:lnSpc>
              <a:buNone/>
            </a:pP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for i in $(seq 1 10); do</a:t>
            </a:r>
            <a:endParaRPr lang="en-US" sz="1000" dirty="0"/>
          </a:p>
          <a:p>
            <a:pPr indent="0" marL="0">
              <a:lnSpc>
                <a:spcPct val="112000"/>
              </a:lnSpc>
              <a:buNone/>
            </a:pPr>
            <a:r>
              <a:rPr lang="en-US" sz="1000" dirty="0">
                <a:solidFill>
                  <a:srgbClr val="E6EAF2"/>
                </a:solidFill>
                <a:latin typeface="Courier New" pitchFamily="34" charset="0"/>
                <a:ea typeface="Courier New" pitchFamily="34" charset="-122"/>
                <a:cs typeface="Courier New" pitchFamily="34" charset="-120"/>
              </a:rPr>
              <a:t>  curl -s localhost:8080/version; done   # all v1</a:t>
            </a:r>
            <a:endParaRPr lang="en-US" sz="1000" dirty="0"/>
          </a:p>
        </p:txBody>
      </p:sp>
      <p:sp>
        <p:nvSpPr>
          <p:cNvPr id="10" name="Shape 6"/>
          <p:cNvSpPr/>
          <p:nvPr/>
        </p:nvSpPr>
        <p:spPr>
          <a:xfrm>
            <a:off x="6629400" y="1508760"/>
            <a:ext cx="4937760" cy="3474720"/>
          </a:xfrm>
          <a:prstGeom prst="roundRect">
            <a:avLst>
              <a:gd name="adj" fmla="val 2368"/>
            </a:avLst>
          </a:prstGeom>
          <a:solidFill>
            <a:srgbClr val="FBF1E3"/>
          </a:solidFill>
          <a:ln/>
          <a:effectLst>
            <a:outerShdw sx="100000" sy="100000" kx="0" ky="0" algn="bl" rotWithShape="0" blurRad="76200" dist="25400" dir="5400000">
              <a:srgbClr val="9AA4B8">
                <a:alpha val="35000"/>
              </a:srgbClr>
            </a:outerShdw>
          </a:effectLst>
        </p:spPr>
      </p:sp>
      <p:sp>
        <p:nvSpPr>
          <p:cNvPr id="11" name="Text 7"/>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Observe and interpret</a:t>
            </a:r>
            <a:endParaRPr lang="en-US" sz="1350" dirty="0"/>
          </a:p>
        </p:txBody>
      </p:sp>
      <p:sp>
        <p:nvSpPr>
          <p:cNvPr id="12" name="Text 8"/>
          <p:cNvSpPr/>
          <p:nvPr/>
        </p:nvSpPr>
        <p:spPr>
          <a:xfrm>
            <a:off x="6858000" y="2057400"/>
            <a:ext cx="452628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The canary suite targets port 8082 — the candidate directly — so the verdict is about v2 alone, undiluted by the 90% of traffic still served by v1.</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The rollback is automatic: no confirmation prompt, no human decision. The script reverts the weights the moment the gate fails.</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At most 10% of requests ever met the broken candidate; the curl loop confirms the user-facing view is uniformly v1 again.</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This is Step 5 of the production diagram: canary analysis plus the standing red return arrow.</a:t>
            </a:r>
            <a:endParaRPr lang="en-US" sz="1100" dirty="0"/>
          </a:p>
        </p:txBody>
      </p:sp>
      <p:sp>
        <p:nvSpPr>
          <p:cNvPr id="13" name="Shape 9"/>
          <p:cNvSpPr/>
          <p:nvPr/>
        </p:nvSpPr>
        <p:spPr>
          <a:xfrm>
            <a:off x="6629400" y="5166360"/>
            <a:ext cx="4937760" cy="1143000"/>
          </a:xfrm>
          <a:prstGeom prst="roundRect">
            <a:avLst>
              <a:gd name="adj" fmla="val 7200"/>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6858000" y="5239512"/>
            <a:ext cx="4480560" cy="996696"/>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Deliverable 2:  </a:t>
            </a:r>
            <a:pPr indent="0" marL="0">
              <a:buNone/>
            </a:pPr>
            <a:r>
              <a:rPr lang="en-US" sz="1150" dirty="0">
                <a:solidFill>
                  <a:srgbClr val="5A6478"/>
                </a:solidFill>
                <a:latin typeface="Calibri" pitchFamily="34" charset="0"/>
                <a:ea typeface="Calibri" pitchFamily="34" charset="-122"/>
                <a:cs typeface="Calibri" pitchFamily="34" charset="-120"/>
              </a:rPr>
              <a:t>the canary.sh output showing the failed evaluations and the automatic rollback to 100% v1.</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5</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successful canary: staged promotion to 100% (10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508760"/>
            <a:ext cx="5760720" cy="3566160"/>
          </a:xfrm>
          <a:prstGeom prst="roundRect">
            <a:avLst>
              <a:gd name="adj" fmla="val 2051"/>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3346704"/>
          </a:xfrm>
          <a:prstGeom prst="rect">
            <a:avLst/>
          </a:prstGeom>
          <a:noFill/>
          <a:ln/>
        </p:spPr>
        <p:txBody>
          <a:bodyPr wrap="square" lIns="0" tIns="0" rIns="0" bIns="0" rtlCol="0" anchor="t"/>
          <a:lstStyle/>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.env — fix the candidate</a:t>
            </a:r>
            <a:endParaRPr lang="en-US" sz="1050" dirty="0"/>
          </a:p>
          <a:p>
            <a:pPr indent="0" marL="0">
              <a:lnSpc>
                <a:spcPct val="112000"/>
              </a:lnSpc>
              <a:buNone/>
            </a:pPr>
            <a:r>
              <a:rPr lang="en-US" sz="1050" dirty="0">
                <a:solidFill>
                  <a:srgbClr val="E6C07B"/>
                </a:solidFill>
                <a:latin typeface="Courier New" pitchFamily="34" charset="0"/>
                <a:ea typeface="Courier New" pitchFamily="34" charset="-122"/>
                <a:cs typeface="Courier New" pitchFamily="34" charset="-120"/>
              </a:rPr>
              <a:t>PREFIX_V2="Answer briefly, factually</a:t>
            </a:r>
            <a:endParaRPr lang="en-US" sz="1050" dirty="0"/>
          </a:p>
          <a:p>
            <a:pPr indent="0" marL="0">
              <a:lnSpc>
                <a:spcPct val="112000"/>
              </a:lnSpc>
              <a:buNone/>
            </a:pPr>
            <a:r>
              <a:rPr lang="en-US" sz="1050" dirty="0">
                <a:solidFill>
                  <a:srgbClr val="E6C07B"/>
                </a:solidFill>
                <a:latin typeface="Courier New" pitchFamily="34" charset="0"/>
                <a:ea typeface="Courier New" pitchFamily="34" charset="-122"/>
                <a:cs typeface="Courier New" pitchFamily="34" charset="-120"/>
              </a:rPr>
              <a:t>           and politely."</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docker compose up -d --force-recreate llm-v2</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./scripts/canary.sh</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stage 1: 10% v2  → evals pass</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stage 2: 50% v2  → evals pass</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stage 3: 100% v2 → PROMOTED</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curl -s localhost:8080/version   # v2 via the LB</a:t>
            </a:r>
            <a:endParaRPr lang="en-US" sz="1050" dirty="0"/>
          </a:p>
        </p:txBody>
      </p:sp>
      <p:sp>
        <p:nvSpPr>
          <p:cNvPr id="10" name="Shape 6"/>
          <p:cNvSpPr/>
          <p:nvPr/>
        </p:nvSpPr>
        <p:spPr>
          <a:xfrm>
            <a:off x="6629400" y="1508760"/>
            <a:ext cx="4937760" cy="3474720"/>
          </a:xfrm>
          <a:prstGeom prst="roundRect">
            <a:avLst>
              <a:gd name="adj" fmla="val 2368"/>
            </a:avLst>
          </a:prstGeom>
          <a:solidFill>
            <a:srgbClr val="FBF1E3"/>
          </a:solidFill>
          <a:ln/>
          <a:effectLst>
            <a:outerShdw sx="100000" sy="100000" kx="0" ky="0" algn="bl" rotWithShape="0" blurRad="76200" dist="25400" dir="5400000">
              <a:srgbClr val="9AA4B8">
                <a:alpha val="35000"/>
              </a:srgbClr>
            </a:outerShdw>
          </a:effectLst>
        </p:spPr>
      </p:sp>
      <p:sp>
        <p:nvSpPr>
          <p:cNvPr id="11" name="Text 7"/>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Observe and interpret</a:t>
            </a:r>
            <a:endParaRPr lang="en-US" sz="1350" dirty="0"/>
          </a:p>
        </p:txBody>
      </p:sp>
      <p:sp>
        <p:nvSpPr>
          <p:cNvPr id="12" name="Text 8"/>
          <p:cNvSpPr/>
          <p:nvPr/>
        </p:nvSpPr>
        <p:spPr>
          <a:xfrm>
            <a:off x="6858000" y="2057400"/>
            <a:ext cx="4526280" cy="283464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00" b="1" dirty="0">
                <a:solidFill>
                  <a:srgbClr val="232946"/>
                </a:solidFill>
                <a:latin typeface="Calibri" pitchFamily="34" charset="0"/>
                <a:ea typeface="Calibri" pitchFamily="34" charset="-122"/>
                <a:cs typeface="Calibri" pitchFamily="34" charset="-120"/>
              </a:rPr>
              <a:t>The pipeline did not change between Step 4 and Step 5 — the same script produced a rollback and a promotion. The evaluations decided; nobody watched a dashboard.</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Each stage is earned: the weights move only after the gate passes at the current exposure level.</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After promotion, v1 is still running — it is now the warm rollback target for v2, exactly as the previous version remains in the production diagram.</a:t>
            </a:r>
            <a:endParaRPr lang="en-US" sz="1100" dirty="0"/>
          </a:p>
          <a:p>
            <a:pPr marL="152400" indent="-152400">
              <a:lnSpc>
                <a:spcPct val="108000"/>
              </a:lnSpc>
              <a:spcAft>
                <a:spcPts val="800"/>
              </a:spcAft>
              <a:buSzPct val="100000"/>
              <a:buChar char="•"/>
            </a:pPr>
            <a:r>
              <a:rPr lang="en-US" sz="1100" dirty="0">
                <a:solidFill>
                  <a:srgbClr val="232946"/>
                </a:solidFill>
                <a:latin typeface="Calibri" pitchFamily="34" charset="0"/>
                <a:ea typeface="Calibri" pitchFamily="34" charset="-122"/>
                <a:cs typeface="Calibri" pitchFamily="34" charset="-120"/>
              </a:rPr>
              <a:t>Verify the user view: /version through port 8080 now reports v2.</a:t>
            </a:r>
            <a:endParaRPr lang="en-US" sz="1100" dirty="0"/>
          </a:p>
        </p:txBody>
      </p:sp>
      <p:sp>
        <p:nvSpPr>
          <p:cNvPr id="13" name="Shape 9"/>
          <p:cNvSpPr/>
          <p:nvPr/>
        </p:nvSpPr>
        <p:spPr>
          <a:xfrm>
            <a:off x="6629400" y="5166360"/>
            <a:ext cx="4937760" cy="1143000"/>
          </a:xfrm>
          <a:prstGeom prst="roundRect">
            <a:avLst>
              <a:gd name="adj" fmla="val 7200"/>
            </a:avLst>
          </a:prstGeom>
          <a:solidFill>
            <a:srgbClr val="EEF2FA"/>
          </a:solidFill>
          <a:ln/>
          <a:effectLst>
            <a:outerShdw sx="100000" sy="100000" kx="0" ky="0" algn="bl" rotWithShape="0" blurRad="76200" dist="25400" dir="5400000">
              <a:srgbClr val="9AA4B8">
                <a:alpha val="35000"/>
              </a:srgbClr>
            </a:outerShdw>
          </a:effectLst>
        </p:spPr>
      </p:sp>
      <p:sp>
        <p:nvSpPr>
          <p:cNvPr id="14" name="Text 10"/>
          <p:cNvSpPr/>
          <p:nvPr/>
        </p:nvSpPr>
        <p:spPr>
          <a:xfrm>
            <a:off x="6858000" y="5239512"/>
            <a:ext cx="4480560" cy="996696"/>
          </a:xfrm>
          <a:prstGeom prst="rect">
            <a:avLst/>
          </a:prstGeom>
          <a:noFill/>
          <a:ln/>
        </p:spPr>
        <p:txBody>
          <a:bodyPr wrap="square" lIns="0" tIns="0" rIns="0" bIns="0" rtlCol="0" anchor="ctr"/>
          <a:lstStyle/>
          <a:p>
            <a:pPr indent="0" marL="0">
              <a:buNone/>
            </a:pPr>
            <a:r>
              <a:rPr lang="en-US" sz="1150" b="1" dirty="0">
                <a:solidFill>
                  <a:srgbClr val="232946"/>
                </a:solidFill>
                <a:latin typeface="Calibri" pitchFamily="34" charset="0"/>
                <a:ea typeface="Calibri" pitchFamily="34" charset="-122"/>
                <a:cs typeface="Calibri" pitchFamily="34" charset="-120"/>
              </a:rPr>
              <a:t>Deliverable 3:  </a:t>
            </a:r>
            <a:pPr indent="0" marL="0">
              <a:buNone/>
            </a:pPr>
            <a:r>
              <a:rPr lang="en-US" sz="1150" dirty="0">
                <a:solidFill>
                  <a:srgbClr val="5A6478"/>
                </a:solidFill>
                <a:latin typeface="Calibri" pitchFamily="34" charset="0"/>
                <a:ea typeface="Calibri" pitchFamily="34" charset="-122"/>
                <a:cs typeface="Calibri" pitchFamily="34" charset="-120"/>
              </a:rPr>
              <a:t>the canary.sh promotion output (10% → 50% → 100%) and the /version response showing v2 via the load balancer.</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 STEP 6</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The rollback drill (5 min)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508760"/>
            <a:ext cx="5760720" cy="2011680"/>
          </a:xfrm>
          <a:prstGeom prst="roundRect">
            <a:avLst>
              <a:gd name="adj" fmla="val 3636"/>
            </a:avLst>
          </a:prstGeom>
          <a:solidFill>
            <a:srgbClr val="1B2130"/>
          </a:solidFill>
          <a:ln/>
          <a:effectLst>
            <a:outerShdw sx="100000" sy="100000" kx="0" ky="0" algn="bl" rotWithShape="0" blurRad="76200" dist="25400" dir="5400000">
              <a:srgbClr val="9AA4B8">
                <a:alpha val="35000"/>
              </a:srgbClr>
            </a:outerShdw>
          </a:effectLst>
        </p:spPr>
      </p:sp>
      <p:sp>
        <p:nvSpPr>
          <p:cNvPr id="9" name="Text 5"/>
          <p:cNvSpPr/>
          <p:nvPr/>
        </p:nvSpPr>
        <p:spPr>
          <a:xfrm>
            <a:off x="841248" y="1618488"/>
            <a:ext cx="5358384" cy="1792224"/>
          </a:xfrm>
          <a:prstGeom prst="rect">
            <a:avLst/>
          </a:prstGeom>
          <a:noFill/>
          <a:ln/>
        </p:spPr>
        <p:txBody>
          <a:bodyPr wrap="square" lIns="0" tIns="0" rIns="0" bIns="0" rtlCol="0" anchor="t"/>
          <a:lstStyle/>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v2 is serving 100% — now reverse it, timed</a:t>
            </a: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time ./scripts/rollback.sh</a:t>
            </a:r>
            <a:endParaRPr lang="en-US" sz="1050" dirty="0"/>
          </a:p>
          <a:p>
            <a:pPr indent="0" marL="0">
              <a:lnSpc>
                <a:spcPct val="112000"/>
              </a:lnSpc>
              <a:buNone/>
            </a:pPr>
            <a:r>
              <a:rPr lang="en-US" sz="1050" dirty="0">
                <a:solidFill>
                  <a:srgbClr val="8BC48B"/>
                </a:solidFill>
                <a:latin typeface="Courier New" pitchFamily="34" charset="0"/>
                <a:ea typeface="Courier New" pitchFamily="34" charset="-122"/>
                <a:cs typeface="Courier New" pitchFamily="34" charset="-120"/>
              </a:rPr>
              <a:t># weights back to 100% v1 — in seconds</a:t>
            </a:r>
            <a:endParaRPr lang="en-US" sz="1050" dirty="0"/>
          </a:p>
          <a:p>
            <a:pPr indent="0" marL="0">
              <a:lnSpc>
                <a:spcPct val="112000"/>
              </a:lnSpc>
              <a:buNone/>
            </a:pPr>
            <a:endParaRPr lang="en-US" sz="1050" dirty="0"/>
          </a:p>
          <a:p>
            <a:pPr indent="0" marL="0">
              <a:lnSpc>
                <a:spcPct val="112000"/>
              </a:lnSpc>
              <a:buNone/>
            </a:pPr>
            <a:r>
              <a:rPr lang="en-US" sz="1050" dirty="0">
                <a:solidFill>
                  <a:srgbClr val="E6EAF2"/>
                </a:solidFill>
                <a:latin typeface="Courier New" pitchFamily="34" charset="0"/>
                <a:ea typeface="Courier New" pitchFamily="34" charset="-122"/>
                <a:cs typeface="Courier New" pitchFamily="34" charset="-120"/>
              </a:rPr>
              <a:t>curl -s localhost:8080/version   # v1</a:t>
            </a:r>
            <a:endParaRPr lang="en-US" sz="1050" dirty="0"/>
          </a:p>
        </p:txBody>
      </p:sp>
      <p:sp>
        <p:nvSpPr>
          <p:cNvPr id="10" name="Shape 6"/>
          <p:cNvSpPr/>
          <p:nvPr/>
        </p:nvSpPr>
        <p:spPr>
          <a:xfrm>
            <a:off x="640080" y="3703320"/>
            <a:ext cx="5760720" cy="2606040"/>
          </a:xfrm>
          <a:prstGeom prst="roundRect">
            <a:avLst>
              <a:gd name="adj" fmla="val 3158"/>
            </a:avLst>
          </a:prstGeom>
          <a:solidFill>
            <a:srgbClr val="EEF2FA"/>
          </a:solidFill>
          <a:ln/>
          <a:effectLst>
            <a:outerShdw sx="100000" sy="100000" kx="0" ky="0" algn="bl" rotWithShape="0" blurRad="76200" dist="25400" dir="5400000">
              <a:srgbClr val="9AA4B8">
                <a:alpha val="35000"/>
              </a:srgbClr>
            </a:outerShdw>
          </a:effectLst>
        </p:spPr>
      </p:sp>
      <p:sp>
        <p:nvSpPr>
          <p:cNvPr id="11" name="Text 7"/>
          <p:cNvSpPr/>
          <p:nvPr/>
        </p:nvSpPr>
        <p:spPr>
          <a:xfrm>
            <a:off x="868680" y="3840480"/>
            <a:ext cx="5212080" cy="320040"/>
          </a:xfrm>
          <a:prstGeom prst="rect">
            <a:avLst/>
          </a:prstGeom>
          <a:noFill/>
          <a:ln/>
        </p:spPr>
        <p:txBody>
          <a:bodyPr wrap="square" lIns="0" tIns="0" rIns="0" bIns="0" rtlCol="0" anchor="ctr"/>
          <a:lstStyle/>
          <a:p>
            <a:pPr indent="0" marL="0">
              <a:buNone/>
            </a:pPr>
            <a:r>
              <a:rPr lang="en-US" sz="1300" b="1" dirty="0">
                <a:solidFill>
                  <a:srgbClr val="232946"/>
                </a:solidFill>
                <a:latin typeface="Arial" pitchFamily="34" charset="0"/>
                <a:ea typeface="Arial" pitchFamily="34" charset="-122"/>
                <a:cs typeface="Arial" pitchFamily="34" charset="-120"/>
              </a:rPr>
              <a:t>Why it is this fast</a:t>
            </a:r>
            <a:endParaRPr lang="en-US" sz="1300" dirty="0"/>
          </a:p>
        </p:txBody>
      </p:sp>
      <p:sp>
        <p:nvSpPr>
          <p:cNvPr id="12" name="Text 8"/>
          <p:cNvSpPr/>
          <p:nvPr/>
        </p:nvSpPr>
        <p:spPr>
          <a:xfrm>
            <a:off x="868680" y="4187952"/>
            <a:ext cx="5349240" cy="201168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v1 never stopped running — the rollback is a weight change in nginx, not a container start</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Nothing is rebuilt, pulled or compiled on the reversal path</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The same property holds in production when the previous revision is kept warm — rollback is a traffic operation</a:t>
            </a:r>
            <a:endParaRPr lang="en-US" sz="1150" dirty="0"/>
          </a:p>
        </p:txBody>
      </p:sp>
      <p:sp>
        <p:nvSpPr>
          <p:cNvPr id="13" name="Shape 9"/>
          <p:cNvSpPr/>
          <p:nvPr/>
        </p:nvSpPr>
        <p:spPr>
          <a:xfrm>
            <a:off x="6629400" y="1508760"/>
            <a:ext cx="4937760" cy="4800600"/>
          </a:xfrm>
          <a:prstGeom prst="roundRect">
            <a:avLst>
              <a:gd name="adj" fmla="val 1714"/>
            </a:avLst>
          </a:prstGeom>
          <a:solidFill>
            <a:srgbClr val="FBF1E3"/>
          </a:solidFill>
          <a:ln/>
          <a:effectLst>
            <a:outerShdw sx="100000" sy="100000" kx="0" ky="0" algn="bl" rotWithShape="0" blurRad="76200" dist="25400" dir="5400000">
              <a:srgbClr val="9AA4B8">
                <a:alpha val="35000"/>
              </a:srgbClr>
            </a:outerShdw>
          </a:effectLst>
        </p:spPr>
      </p:sp>
      <p:sp>
        <p:nvSpPr>
          <p:cNvPr id="14" name="Text 10"/>
          <p:cNvSpPr/>
          <p:nvPr/>
        </p:nvSpPr>
        <p:spPr>
          <a:xfrm>
            <a:off x="6858000" y="1664208"/>
            <a:ext cx="4480560" cy="320040"/>
          </a:xfrm>
          <a:prstGeom prst="rect">
            <a:avLst/>
          </a:prstGeom>
          <a:noFill/>
          <a:ln/>
        </p:spPr>
        <p:txBody>
          <a:bodyPr wrap="square" lIns="0" tIns="0" rIns="0" bIns="0" rtlCol="0" anchor="ctr"/>
          <a:lstStyle/>
          <a:p>
            <a:pPr indent="0" marL="0">
              <a:buNone/>
            </a:pPr>
            <a:r>
              <a:rPr lang="en-US" sz="1350" b="1" dirty="0">
                <a:solidFill>
                  <a:srgbClr val="E8871E"/>
                </a:solidFill>
                <a:latin typeface="Arial" pitchFamily="34" charset="0"/>
                <a:ea typeface="Arial" pitchFamily="34" charset="-122"/>
                <a:cs typeface="Arial" pitchFamily="34" charset="-120"/>
              </a:rPr>
              <a:t>The discipline, restated</a:t>
            </a:r>
            <a:endParaRPr lang="en-US" sz="1350" dirty="0"/>
          </a:p>
        </p:txBody>
      </p:sp>
      <p:sp>
        <p:nvSpPr>
          <p:cNvPr id="15" name="Text 11"/>
          <p:cNvSpPr/>
          <p:nvPr/>
        </p:nvSpPr>
        <p:spPr>
          <a:xfrm>
            <a:off x="6858000" y="2057400"/>
            <a:ext cx="4526280" cy="4114800"/>
          </a:xfrm>
          <a:prstGeom prst="rect">
            <a:avLst/>
          </a:prstGeom>
          <a:noFill/>
          <a:ln/>
        </p:spPr>
        <p:txBody>
          <a:bodyPr wrap="square" lIns="0" tIns="0" rIns="0" bIns="0" rtlCol="0" anchor="t"/>
          <a:lstStyle/>
          <a:p>
            <a:pPr marL="152400" indent="-152400">
              <a:lnSpc>
                <a:spcPct val="108000"/>
              </a:lnSpc>
              <a:spcAft>
                <a:spcPts val="800"/>
              </a:spcAft>
              <a:buSzPct val="100000"/>
              <a:buChar char="•"/>
            </a:pPr>
            <a:r>
              <a:rPr lang="en-US" sz="1150" b="1" dirty="0">
                <a:solidFill>
                  <a:srgbClr val="232946"/>
                </a:solidFill>
                <a:latin typeface="Calibri" pitchFamily="34" charset="0"/>
                <a:ea typeface="Calibri" pitchFamily="34" charset="-122"/>
                <a:cs typeface="Calibri" pitchFamily="34" charset="-120"/>
              </a:rPr>
              <a:t>Roll back first, debug second. Restore the known-good version immediately; investigate afterwards, without service pressure.</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Record the measured time from the time output — rollback speed is evidence to be produced, not an assumption.</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A rollback rehearsed today takes seconds; a rollback improvised during an incident takes as long as the incident.</a:t>
            </a:r>
            <a:endParaRPr lang="en-US" sz="1150" dirty="0"/>
          </a:p>
          <a:p>
            <a:pPr marL="152400" indent="-152400">
              <a:lnSpc>
                <a:spcPct val="108000"/>
              </a:lnSpc>
              <a:spcAft>
                <a:spcPts val="800"/>
              </a:spcAft>
              <a:buSzPct val="100000"/>
              <a:buChar char="•"/>
            </a:pPr>
            <a:r>
              <a:rPr lang="en-US" sz="1150" dirty="0">
                <a:solidFill>
                  <a:srgbClr val="232946"/>
                </a:solidFill>
                <a:latin typeface="Calibri" pitchFamily="34" charset="0"/>
                <a:ea typeface="Calibri" pitchFamily="34" charset="-122"/>
                <a:cs typeface="Calibri" pitchFamily="34" charset="-120"/>
              </a:rPr>
              <a:t>Keep the v2 configuration and the failing evaluation output from Step 4 — together they are the post-mortem record.</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SYNTHESIS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Mapping the local lab to the production pipeline</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417320"/>
            <a:ext cx="5394960" cy="384048"/>
          </a:xfrm>
          <a:prstGeom prst="rect">
            <a:avLst/>
          </a:prstGeom>
          <a:solidFill>
            <a:srgbClr val="232946"/>
          </a:solidFill>
          <a:ln/>
        </p:spPr>
      </p:sp>
      <p:sp>
        <p:nvSpPr>
          <p:cNvPr id="9" name="Text 5"/>
          <p:cNvSpPr/>
          <p:nvPr/>
        </p:nvSpPr>
        <p:spPr>
          <a:xfrm>
            <a:off x="777240" y="1417320"/>
            <a:ext cx="516636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Local mechanism — today's lab</a:t>
            </a:r>
            <a:endParaRPr lang="en-US" sz="1250" dirty="0"/>
          </a:p>
        </p:txBody>
      </p:sp>
      <p:sp>
        <p:nvSpPr>
          <p:cNvPr id="10" name="Shape 6"/>
          <p:cNvSpPr/>
          <p:nvPr/>
        </p:nvSpPr>
        <p:spPr>
          <a:xfrm>
            <a:off x="6108192" y="1417320"/>
            <a:ext cx="5440680" cy="384048"/>
          </a:xfrm>
          <a:prstGeom prst="rect">
            <a:avLst/>
          </a:prstGeom>
          <a:solidFill>
            <a:srgbClr val="E8871E"/>
          </a:solidFill>
          <a:ln/>
        </p:spPr>
      </p:sp>
      <p:sp>
        <p:nvSpPr>
          <p:cNvPr id="11" name="Text 7"/>
          <p:cNvSpPr/>
          <p:nvPr/>
        </p:nvSpPr>
        <p:spPr>
          <a:xfrm>
            <a:off x="6245352" y="1417320"/>
            <a:ext cx="521208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Production counterpart</a:t>
            </a:r>
            <a:endParaRPr lang="en-US" sz="1250" dirty="0"/>
          </a:p>
        </p:txBody>
      </p:sp>
      <p:sp>
        <p:nvSpPr>
          <p:cNvPr id="12" name="Shape 8"/>
          <p:cNvSpPr/>
          <p:nvPr/>
        </p:nvSpPr>
        <p:spPr>
          <a:xfrm>
            <a:off x="640080" y="1819656"/>
            <a:ext cx="5394960" cy="603504"/>
          </a:xfrm>
          <a:prstGeom prst="rect">
            <a:avLst/>
          </a:prstGeom>
          <a:solidFill>
            <a:srgbClr val="EEF2FA"/>
          </a:solidFill>
          <a:ln w="9525">
            <a:solidFill>
              <a:srgbClr val="C9D3E6"/>
            </a:solidFill>
            <a:prstDash val="solid"/>
          </a:ln>
        </p:spPr>
      </p:sp>
      <p:sp>
        <p:nvSpPr>
          <p:cNvPr id="13" name="Text 9"/>
          <p:cNvSpPr/>
          <p:nvPr/>
        </p:nvSpPr>
        <p:spPr>
          <a:xfrm>
            <a:off x="777240" y="1819656"/>
            <a:ext cx="5166360" cy="603504"/>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hooks/pre-push rejecting a failing push</a:t>
            </a:r>
            <a:endParaRPr lang="en-US" sz="950" dirty="0"/>
          </a:p>
        </p:txBody>
      </p:sp>
      <p:sp>
        <p:nvSpPr>
          <p:cNvPr id="14" name="Shape 10"/>
          <p:cNvSpPr/>
          <p:nvPr/>
        </p:nvSpPr>
        <p:spPr>
          <a:xfrm>
            <a:off x="6108192" y="1819656"/>
            <a:ext cx="5440680" cy="603504"/>
          </a:xfrm>
          <a:prstGeom prst="rect">
            <a:avLst/>
          </a:prstGeom>
          <a:solidFill>
            <a:srgbClr val="FBF1E3"/>
          </a:solidFill>
          <a:ln w="9525">
            <a:solidFill>
              <a:srgbClr val="C9D3E6"/>
            </a:solidFill>
            <a:prstDash val="solid"/>
          </a:ln>
        </p:spPr>
      </p:sp>
      <p:sp>
        <p:nvSpPr>
          <p:cNvPr id="15" name="Text 11"/>
          <p:cNvSpPr/>
          <p:nvPr/>
        </p:nvSpPr>
        <p:spPr>
          <a:xfrm>
            <a:off x="6245352" y="1819656"/>
            <a:ext cx="5212080" cy="603504"/>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GitHub Actions eval-gate workflow + branch protection (required check)</a:t>
            </a:r>
            <a:endParaRPr lang="en-US" sz="1050" dirty="0"/>
          </a:p>
        </p:txBody>
      </p:sp>
      <p:sp>
        <p:nvSpPr>
          <p:cNvPr id="16" name="Shape 12"/>
          <p:cNvSpPr/>
          <p:nvPr/>
        </p:nvSpPr>
        <p:spPr>
          <a:xfrm>
            <a:off x="640080" y="2441448"/>
            <a:ext cx="5394960" cy="603504"/>
          </a:xfrm>
          <a:prstGeom prst="rect">
            <a:avLst/>
          </a:prstGeom>
          <a:solidFill>
            <a:srgbClr val="FFFFFF"/>
          </a:solidFill>
          <a:ln w="9525">
            <a:solidFill>
              <a:srgbClr val="C9D3E6"/>
            </a:solidFill>
            <a:prstDash val="solid"/>
          </a:ln>
        </p:spPr>
      </p:sp>
      <p:sp>
        <p:nvSpPr>
          <p:cNvPr id="17" name="Text 13"/>
          <p:cNvSpPr/>
          <p:nvPr/>
        </p:nvSpPr>
        <p:spPr>
          <a:xfrm>
            <a:off x="777240" y="2441448"/>
            <a:ext cx="5166360" cy="603504"/>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promptfooconfig.yaml</a:t>
            </a:r>
            <a:endParaRPr lang="en-US" sz="950" dirty="0"/>
          </a:p>
        </p:txBody>
      </p:sp>
      <p:sp>
        <p:nvSpPr>
          <p:cNvPr id="18" name="Shape 14"/>
          <p:cNvSpPr/>
          <p:nvPr/>
        </p:nvSpPr>
        <p:spPr>
          <a:xfrm>
            <a:off x="6108192" y="2441448"/>
            <a:ext cx="5440680" cy="603504"/>
          </a:xfrm>
          <a:prstGeom prst="rect">
            <a:avLst/>
          </a:prstGeom>
          <a:solidFill>
            <a:srgbClr val="FFFFFF"/>
          </a:solidFill>
          <a:ln w="9525">
            <a:solidFill>
              <a:srgbClr val="C9D3E6"/>
            </a:solidFill>
            <a:prstDash val="solid"/>
          </a:ln>
        </p:spPr>
      </p:sp>
      <p:sp>
        <p:nvSpPr>
          <p:cNvPr id="19" name="Text 15"/>
          <p:cNvSpPr/>
          <p:nvPr/>
        </p:nvSpPr>
        <p:spPr>
          <a:xfrm>
            <a:off x="6245352" y="2441448"/>
            <a:ext cx="5212080" cy="603504"/>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The same file, in the application repository — grown after every incident</a:t>
            </a:r>
            <a:endParaRPr lang="en-US" sz="1050" dirty="0"/>
          </a:p>
        </p:txBody>
      </p:sp>
      <p:sp>
        <p:nvSpPr>
          <p:cNvPr id="20" name="Shape 16"/>
          <p:cNvSpPr/>
          <p:nvPr/>
        </p:nvSpPr>
        <p:spPr>
          <a:xfrm>
            <a:off x="640080" y="3063240"/>
            <a:ext cx="5394960" cy="603504"/>
          </a:xfrm>
          <a:prstGeom prst="rect">
            <a:avLst/>
          </a:prstGeom>
          <a:solidFill>
            <a:srgbClr val="EEF2FA"/>
          </a:solidFill>
          <a:ln w="9525">
            <a:solidFill>
              <a:srgbClr val="C9D3E6"/>
            </a:solidFill>
            <a:prstDash val="solid"/>
          </a:ln>
        </p:spPr>
      </p:sp>
      <p:sp>
        <p:nvSpPr>
          <p:cNvPr id="21" name="Text 17"/>
          <p:cNvSpPr/>
          <p:nvPr/>
        </p:nvSpPr>
        <p:spPr>
          <a:xfrm>
            <a:off x="777240" y="3063240"/>
            <a:ext cx="5166360" cy="603504"/>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nginx upstream weights on port 8080</a:t>
            </a:r>
            <a:endParaRPr lang="en-US" sz="950" dirty="0"/>
          </a:p>
        </p:txBody>
      </p:sp>
      <p:sp>
        <p:nvSpPr>
          <p:cNvPr id="22" name="Shape 18"/>
          <p:cNvSpPr/>
          <p:nvPr/>
        </p:nvSpPr>
        <p:spPr>
          <a:xfrm>
            <a:off x="6108192" y="3063240"/>
            <a:ext cx="5440680" cy="603504"/>
          </a:xfrm>
          <a:prstGeom prst="rect">
            <a:avLst/>
          </a:prstGeom>
          <a:solidFill>
            <a:srgbClr val="FBF1E3"/>
          </a:solidFill>
          <a:ln w="9525">
            <a:solidFill>
              <a:srgbClr val="C9D3E6"/>
            </a:solidFill>
            <a:prstDash val="solid"/>
          </a:ln>
        </p:spPr>
      </p:sp>
      <p:sp>
        <p:nvSpPr>
          <p:cNvPr id="23" name="Text 19"/>
          <p:cNvSpPr/>
          <p:nvPr/>
        </p:nvSpPr>
        <p:spPr>
          <a:xfrm>
            <a:off x="6245352" y="3063240"/>
            <a:ext cx="5212080" cy="603504"/>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Cloud Run traffic split · ALB weighted target groups · Argo Rollouts</a:t>
            </a:r>
            <a:endParaRPr lang="en-US" sz="1050" dirty="0"/>
          </a:p>
        </p:txBody>
      </p:sp>
      <p:sp>
        <p:nvSpPr>
          <p:cNvPr id="24" name="Shape 20"/>
          <p:cNvSpPr/>
          <p:nvPr/>
        </p:nvSpPr>
        <p:spPr>
          <a:xfrm>
            <a:off x="640080" y="3685032"/>
            <a:ext cx="5394960" cy="603504"/>
          </a:xfrm>
          <a:prstGeom prst="rect">
            <a:avLst/>
          </a:prstGeom>
          <a:solidFill>
            <a:srgbClr val="FFFFFF"/>
          </a:solidFill>
          <a:ln w="9525">
            <a:solidFill>
              <a:srgbClr val="C9D3E6"/>
            </a:solidFill>
            <a:prstDash val="solid"/>
          </a:ln>
        </p:spPr>
      </p:sp>
      <p:sp>
        <p:nvSpPr>
          <p:cNvPr id="25" name="Text 21"/>
          <p:cNvSpPr/>
          <p:nvPr/>
        </p:nvSpPr>
        <p:spPr>
          <a:xfrm>
            <a:off x="777240" y="3685032"/>
            <a:ext cx="5166360" cy="603504"/>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canary.sh — evaluate, then shift or revert</a:t>
            </a:r>
            <a:endParaRPr lang="en-US" sz="950" dirty="0"/>
          </a:p>
        </p:txBody>
      </p:sp>
      <p:sp>
        <p:nvSpPr>
          <p:cNvPr id="26" name="Shape 22"/>
          <p:cNvSpPr/>
          <p:nvPr/>
        </p:nvSpPr>
        <p:spPr>
          <a:xfrm>
            <a:off x="6108192" y="3685032"/>
            <a:ext cx="5440680" cy="603504"/>
          </a:xfrm>
          <a:prstGeom prst="rect">
            <a:avLst/>
          </a:prstGeom>
          <a:solidFill>
            <a:srgbClr val="FFFFFF"/>
          </a:solidFill>
          <a:ln w="9525">
            <a:solidFill>
              <a:srgbClr val="C9D3E6"/>
            </a:solidFill>
            <a:prstDash val="solid"/>
          </a:ln>
        </p:spPr>
      </p:sp>
      <p:sp>
        <p:nvSpPr>
          <p:cNvPr id="27" name="Text 23"/>
          <p:cNvSpPr/>
          <p:nvPr/>
        </p:nvSpPr>
        <p:spPr>
          <a:xfrm>
            <a:off x="6245352" y="3685032"/>
            <a:ext cx="5212080" cy="603504"/>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Argo Rollouts automated analysis / a gated deployment pipeline stage</a:t>
            </a:r>
            <a:endParaRPr lang="en-US" sz="1050" dirty="0"/>
          </a:p>
        </p:txBody>
      </p:sp>
      <p:sp>
        <p:nvSpPr>
          <p:cNvPr id="28" name="Shape 24"/>
          <p:cNvSpPr/>
          <p:nvPr/>
        </p:nvSpPr>
        <p:spPr>
          <a:xfrm>
            <a:off x="640080" y="4306824"/>
            <a:ext cx="5394960" cy="603504"/>
          </a:xfrm>
          <a:prstGeom prst="rect">
            <a:avLst/>
          </a:prstGeom>
          <a:solidFill>
            <a:srgbClr val="EEF2FA"/>
          </a:solidFill>
          <a:ln w="9525">
            <a:solidFill>
              <a:srgbClr val="C9D3E6"/>
            </a:solidFill>
            <a:prstDash val="solid"/>
          </a:ln>
        </p:spPr>
      </p:sp>
      <p:sp>
        <p:nvSpPr>
          <p:cNvPr id="29" name="Text 25"/>
          <p:cNvSpPr/>
          <p:nvPr/>
        </p:nvSpPr>
        <p:spPr>
          <a:xfrm>
            <a:off x="777240" y="4306824"/>
            <a:ext cx="5166360" cy="603504"/>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rollback.sh — weights back to 100% v1</a:t>
            </a:r>
            <a:endParaRPr lang="en-US" sz="950" dirty="0"/>
          </a:p>
        </p:txBody>
      </p:sp>
      <p:sp>
        <p:nvSpPr>
          <p:cNvPr id="30" name="Shape 26"/>
          <p:cNvSpPr/>
          <p:nvPr/>
        </p:nvSpPr>
        <p:spPr>
          <a:xfrm>
            <a:off x="6108192" y="4306824"/>
            <a:ext cx="5440680" cy="603504"/>
          </a:xfrm>
          <a:prstGeom prst="rect">
            <a:avLst/>
          </a:prstGeom>
          <a:solidFill>
            <a:srgbClr val="FBF1E3"/>
          </a:solidFill>
          <a:ln w="9525">
            <a:solidFill>
              <a:srgbClr val="C9D3E6"/>
            </a:solidFill>
            <a:prstDash val="solid"/>
          </a:ln>
        </p:spPr>
      </p:sp>
      <p:sp>
        <p:nvSpPr>
          <p:cNvPr id="31" name="Text 27"/>
          <p:cNvSpPr/>
          <p:nvPr/>
        </p:nvSpPr>
        <p:spPr>
          <a:xfrm>
            <a:off x="6245352" y="4306824"/>
            <a:ext cx="5212080" cy="603504"/>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kubectl rollout undo · gcloud run services update-traffic</a:t>
            </a:r>
            <a:endParaRPr lang="en-US" sz="1050" dirty="0"/>
          </a:p>
        </p:txBody>
      </p:sp>
      <p:sp>
        <p:nvSpPr>
          <p:cNvPr id="32" name="Shape 28"/>
          <p:cNvSpPr/>
          <p:nvPr/>
        </p:nvSpPr>
        <p:spPr>
          <a:xfrm>
            <a:off x="640080" y="4928616"/>
            <a:ext cx="5394960" cy="603504"/>
          </a:xfrm>
          <a:prstGeom prst="rect">
            <a:avLst/>
          </a:prstGeom>
          <a:solidFill>
            <a:srgbClr val="FFFFFF"/>
          </a:solidFill>
          <a:ln w="9525">
            <a:solidFill>
              <a:srgbClr val="C9D3E6"/>
            </a:solidFill>
            <a:prstDash val="solid"/>
          </a:ln>
        </p:spPr>
      </p:sp>
      <p:sp>
        <p:nvSpPr>
          <p:cNvPr id="33" name="Text 29"/>
          <p:cNvSpPr/>
          <p:nvPr/>
        </p:nvSpPr>
        <p:spPr>
          <a:xfrm>
            <a:off x="777240" y="4928616"/>
            <a:ext cx="5166360" cy="603504"/>
          </a:xfrm>
          <a:prstGeom prst="rect">
            <a:avLst/>
          </a:prstGeom>
          <a:noFill/>
          <a:ln/>
        </p:spPr>
        <p:txBody>
          <a:bodyPr wrap="square" lIns="0" tIns="0" rIns="0" bIns="0" rtlCol="0" anchor="ctr"/>
          <a:lstStyle/>
          <a:p>
            <a:pPr indent="0" marL="0">
              <a:buNone/>
            </a:pPr>
            <a:r>
              <a:rPr lang="en-US" sz="950" b="1" dirty="0">
                <a:solidFill>
                  <a:srgbClr val="232946"/>
                </a:solidFill>
                <a:latin typeface="Courier New" pitchFamily="34" charset="0"/>
                <a:ea typeface="Courier New" pitchFamily="34" charset="-122"/>
                <a:cs typeface="Courier New" pitchFamily="34" charset="-120"/>
              </a:rPr>
              <a:t>git init --bare ../origin.git</a:t>
            </a:r>
            <a:endParaRPr lang="en-US" sz="950" dirty="0"/>
          </a:p>
        </p:txBody>
      </p:sp>
      <p:sp>
        <p:nvSpPr>
          <p:cNvPr id="34" name="Shape 30"/>
          <p:cNvSpPr/>
          <p:nvPr/>
        </p:nvSpPr>
        <p:spPr>
          <a:xfrm>
            <a:off x="6108192" y="4928616"/>
            <a:ext cx="5440680" cy="603504"/>
          </a:xfrm>
          <a:prstGeom prst="rect">
            <a:avLst/>
          </a:prstGeom>
          <a:solidFill>
            <a:srgbClr val="FFFFFF"/>
          </a:solidFill>
          <a:ln w="9525">
            <a:solidFill>
              <a:srgbClr val="C9D3E6"/>
            </a:solidFill>
            <a:prstDash val="solid"/>
          </a:ln>
        </p:spPr>
      </p:sp>
      <p:sp>
        <p:nvSpPr>
          <p:cNvPr id="35" name="Text 31"/>
          <p:cNvSpPr/>
          <p:nvPr/>
        </p:nvSpPr>
        <p:spPr>
          <a:xfrm>
            <a:off x="6245352" y="4928616"/>
            <a:ext cx="5212080" cy="603504"/>
          </a:xfrm>
          <a:prstGeom prst="rect">
            <a:avLst/>
          </a:prstGeom>
          <a:noFill/>
          <a:ln/>
        </p:spPr>
        <p:txBody>
          <a:bodyPr wrap="square" lIns="0" tIns="0" rIns="0" bIns="0" rtlCol="0" anchor="ctr"/>
          <a:lstStyle/>
          <a:p>
            <a:pPr indent="0" marL="0">
              <a:buNone/>
            </a:pPr>
            <a:r>
              <a:rPr lang="en-US" sz="1050" dirty="0">
                <a:solidFill>
                  <a:srgbClr val="232946"/>
                </a:solidFill>
                <a:latin typeface="Calibri" pitchFamily="34" charset="0"/>
                <a:ea typeface="Calibri" pitchFamily="34" charset="-122"/>
                <a:cs typeface="Calibri" pitchFamily="34" charset="-120"/>
              </a:rPr>
              <a:t>The hosted remote (GitHub / GitLab) receiving gated pushes</a:t>
            </a:r>
            <a:endParaRPr lang="en-US" sz="1050" dirty="0"/>
          </a:p>
        </p:txBody>
      </p:sp>
      <p:sp>
        <p:nvSpPr>
          <p:cNvPr id="36" name="Text 32"/>
          <p:cNvSpPr/>
          <p:nvPr/>
        </p:nvSpPr>
        <p:spPr>
          <a:xfrm>
            <a:off x="640080" y="5989320"/>
            <a:ext cx="10881360" cy="320040"/>
          </a:xfrm>
          <a:prstGeom prst="rect">
            <a:avLst/>
          </a:prstGeom>
          <a:noFill/>
          <a:ln/>
        </p:spPr>
        <p:txBody>
          <a:bodyPr wrap="square" lIns="0" tIns="0" rIns="0" bIns="0" rtlCol="0" anchor="ctr"/>
          <a:lstStyle/>
          <a:p>
            <a:pPr algn="ctr" indent="0" marL="0">
              <a:buNone/>
            </a:pPr>
            <a:r>
              <a:rPr lang="en-US" sz="1200" i="1" dirty="0">
                <a:solidFill>
                  <a:srgbClr val="5A6478"/>
                </a:solidFill>
                <a:latin typeface="Calibri" pitchFamily="34" charset="0"/>
                <a:ea typeface="Calibri" pitchFamily="34" charset="-122"/>
                <a:cs typeface="Calibri" pitchFamily="34" charset="-120"/>
              </a:rPr>
              <a:t>Every gate, split and reversal practised today transfers unchanged; only the operator of the machinery differs.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LAB DELIVERABLES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Evidence to submit at the end of the session</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554480"/>
            <a:ext cx="5349240" cy="2011680"/>
          </a:xfrm>
          <a:prstGeom prst="roundRect">
            <a:avLst>
              <a:gd name="adj" fmla="val 4091"/>
            </a:avLst>
          </a:prstGeom>
          <a:solidFill>
            <a:srgbClr val="EEF2FA"/>
          </a:solidFill>
          <a:ln/>
          <a:effectLst>
            <a:outerShdw sx="100000" sy="100000" kx="0" ky="0" algn="bl" rotWithShape="0" blurRad="76200" dist="25400" dir="5400000">
              <a:srgbClr val="9AA4B8">
                <a:alpha val="35000"/>
              </a:srgbClr>
            </a:outerShdw>
          </a:effectLst>
        </p:spPr>
      </p:sp>
      <p:sp>
        <p:nvSpPr>
          <p:cNvPr id="9" name="Shape 5"/>
          <p:cNvSpPr/>
          <p:nvPr/>
        </p:nvSpPr>
        <p:spPr>
          <a:xfrm>
            <a:off x="868680" y="1783080"/>
            <a:ext cx="548640" cy="548640"/>
          </a:xfrm>
          <a:prstGeom prst="ellipse">
            <a:avLst/>
          </a:prstGeom>
          <a:solidFill>
            <a:srgbClr val="E8871E"/>
          </a:solidFill>
          <a:ln/>
        </p:spPr>
      </p:sp>
      <p:sp>
        <p:nvSpPr>
          <p:cNvPr id="10" name="Text 6"/>
          <p:cNvSpPr/>
          <p:nvPr/>
        </p:nvSpPr>
        <p:spPr>
          <a:xfrm>
            <a:off x="868680" y="1783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1" name="Text 7"/>
          <p:cNvSpPr/>
          <p:nvPr/>
        </p:nvSpPr>
        <p:spPr>
          <a:xfrm>
            <a:off x="1600200" y="184708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Blocked-push evidence</a:t>
            </a:r>
            <a:endParaRPr lang="en-US" sz="1450" dirty="0"/>
          </a:p>
        </p:txBody>
      </p:sp>
      <p:sp>
        <p:nvSpPr>
          <p:cNvPr id="12" name="Text 8"/>
          <p:cNvSpPr/>
          <p:nvPr/>
        </p:nvSpPr>
        <p:spPr>
          <a:xfrm>
            <a:off x="868680" y="246888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A screenshot of the rejected git push showing the failing eval table, and of the successful push after git revert (Step 3).</a:t>
            </a:r>
            <a:endParaRPr lang="en-US" sz="1100" dirty="0"/>
          </a:p>
        </p:txBody>
      </p:sp>
      <p:sp>
        <p:nvSpPr>
          <p:cNvPr id="13" name="Shape 9"/>
          <p:cNvSpPr/>
          <p:nvPr/>
        </p:nvSpPr>
        <p:spPr>
          <a:xfrm>
            <a:off x="6217920" y="1554480"/>
            <a:ext cx="5349240" cy="2011680"/>
          </a:xfrm>
          <a:prstGeom prst="roundRect">
            <a:avLst>
              <a:gd name="adj" fmla="val 4091"/>
            </a:avLst>
          </a:prstGeom>
          <a:solidFill>
            <a:srgbClr val="DDE6F5"/>
          </a:solidFill>
          <a:ln/>
          <a:effectLst>
            <a:outerShdw sx="100000" sy="100000" kx="0" ky="0" algn="bl" rotWithShape="0" blurRad="76200" dist="25400" dir="5400000">
              <a:srgbClr val="9AA4B8">
                <a:alpha val="35000"/>
              </a:srgbClr>
            </a:outerShdw>
          </a:effectLst>
        </p:spPr>
      </p:sp>
      <p:sp>
        <p:nvSpPr>
          <p:cNvPr id="14" name="Shape 10"/>
          <p:cNvSpPr/>
          <p:nvPr/>
        </p:nvSpPr>
        <p:spPr>
          <a:xfrm>
            <a:off x="6446520" y="1783080"/>
            <a:ext cx="548640" cy="548640"/>
          </a:xfrm>
          <a:prstGeom prst="ellipse">
            <a:avLst/>
          </a:prstGeom>
          <a:solidFill>
            <a:srgbClr val="E8871E"/>
          </a:solidFill>
          <a:ln/>
        </p:spPr>
      </p:sp>
      <p:sp>
        <p:nvSpPr>
          <p:cNvPr id="15" name="Text 11"/>
          <p:cNvSpPr/>
          <p:nvPr/>
        </p:nvSpPr>
        <p:spPr>
          <a:xfrm>
            <a:off x="6446520" y="17830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6" name="Text 12"/>
          <p:cNvSpPr/>
          <p:nvPr/>
        </p:nvSpPr>
        <p:spPr>
          <a:xfrm>
            <a:off x="7178040" y="184708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Failing-canary evidence</a:t>
            </a:r>
            <a:endParaRPr lang="en-US" sz="1450" dirty="0"/>
          </a:p>
        </p:txBody>
      </p:sp>
      <p:sp>
        <p:nvSpPr>
          <p:cNvPr id="17" name="Text 13"/>
          <p:cNvSpPr/>
          <p:nvPr/>
        </p:nvSpPr>
        <p:spPr>
          <a:xfrm>
            <a:off x="6446520" y="246888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canary.sh output showing the failed evaluations and the automatic rollback to 100% v1 (Step 4).</a:t>
            </a:r>
            <a:endParaRPr lang="en-US" sz="1100" dirty="0"/>
          </a:p>
        </p:txBody>
      </p:sp>
      <p:sp>
        <p:nvSpPr>
          <p:cNvPr id="18" name="Shape 14"/>
          <p:cNvSpPr/>
          <p:nvPr/>
        </p:nvSpPr>
        <p:spPr>
          <a:xfrm>
            <a:off x="640080" y="3794760"/>
            <a:ext cx="5349240" cy="2011680"/>
          </a:xfrm>
          <a:prstGeom prst="roundRect">
            <a:avLst>
              <a:gd name="adj" fmla="val 4091"/>
            </a:avLst>
          </a:prstGeom>
          <a:solidFill>
            <a:srgbClr val="EEF2FA"/>
          </a:solidFill>
          <a:ln/>
          <a:effectLst>
            <a:outerShdw sx="100000" sy="100000" kx="0" ky="0" algn="bl" rotWithShape="0" blurRad="76200" dist="25400" dir="5400000">
              <a:srgbClr val="9AA4B8">
                <a:alpha val="35000"/>
              </a:srgbClr>
            </a:outerShdw>
          </a:effectLst>
        </p:spPr>
      </p:sp>
      <p:sp>
        <p:nvSpPr>
          <p:cNvPr id="19" name="Shape 15"/>
          <p:cNvSpPr/>
          <p:nvPr/>
        </p:nvSpPr>
        <p:spPr>
          <a:xfrm>
            <a:off x="868680" y="4023360"/>
            <a:ext cx="548640" cy="548640"/>
          </a:xfrm>
          <a:prstGeom prst="ellipse">
            <a:avLst/>
          </a:prstGeom>
          <a:solidFill>
            <a:srgbClr val="E8871E"/>
          </a:solidFill>
          <a:ln/>
        </p:spPr>
      </p:sp>
      <p:sp>
        <p:nvSpPr>
          <p:cNvPr id="20" name="Text 16"/>
          <p:cNvSpPr/>
          <p:nvPr/>
        </p:nvSpPr>
        <p:spPr>
          <a:xfrm>
            <a:off x="868680" y="4023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1" name="Text 17"/>
          <p:cNvSpPr/>
          <p:nvPr/>
        </p:nvSpPr>
        <p:spPr>
          <a:xfrm>
            <a:off x="1600200" y="408736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Promotion evidence</a:t>
            </a:r>
            <a:endParaRPr lang="en-US" sz="1450" dirty="0"/>
          </a:p>
        </p:txBody>
      </p:sp>
      <p:sp>
        <p:nvSpPr>
          <p:cNvPr id="22" name="Text 18"/>
          <p:cNvSpPr/>
          <p:nvPr/>
        </p:nvSpPr>
        <p:spPr>
          <a:xfrm>
            <a:off x="868680" y="470916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The canary.sh output for the 10% → 50% → 100% promotion, and the /version response showing v2 via the load balancer (Step 5).</a:t>
            </a:r>
            <a:endParaRPr lang="en-US" sz="1100" dirty="0"/>
          </a:p>
        </p:txBody>
      </p:sp>
      <p:sp>
        <p:nvSpPr>
          <p:cNvPr id="23" name="Shape 19"/>
          <p:cNvSpPr/>
          <p:nvPr/>
        </p:nvSpPr>
        <p:spPr>
          <a:xfrm>
            <a:off x="6217920" y="3794760"/>
            <a:ext cx="5349240" cy="2011680"/>
          </a:xfrm>
          <a:prstGeom prst="roundRect">
            <a:avLst>
              <a:gd name="adj" fmla="val 4091"/>
            </a:avLst>
          </a:prstGeom>
          <a:solidFill>
            <a:srgbClr val="DDE6F5"/>
          </a:solidFill>
          <a:ln/>
          <a:effectLst>
            <a:outerShdw sx="100000" sy="100000" kx="0" ky="0" algn="bl" rotWithShape="0" blurRad="76200" dist="25400" dir="5400000">
              <a:srgbClr val="9AA4B8">
                <a:alpha val="35000"/>
              </a:srgbClr>
            </a:outerShdw>
          </a:effectLst>
        </p:spPr>
      </p:sp>
      <p:sp>
        <p:nvSpPr>
          <p:cNvPr id="24" name="Shape 20"/>
          <p:cNvSpPr/>
          <p:nvPr/>
        </p:nvSpPr>
        <p:spPr>
          <a:xfrm>
            <a:off x="6446520" y="4023360"/>
            <a:ext cx="548640" cy="548640"/>
          </a:xfrm>
          <a:prstGeom prst="ellipse">
            <a:avLst/>
          </a:prstGeom>
          <a:solidFill>
            <a:srgbClr val="E8871E"/>
          </a:solidFill>
          <a:ln/>
        </p:spPr>
      </p:sp>
      <p:sp>
        <p:nvSpPr>
          <p:cNvPr id="25" name="Text 21"/>
          <p:cNvSpPr/>
          <p:nvPr/>
        </p:nvSpPr>
        <p:spPr>
          <a:xfrm>
            <a:off x="6446520" y="4023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6" name="Text 22"/>
          <p:cNvSpPr/>
          <p:nvPr/>
        </p:nvSpPr>
        <p:spPr>
          <a:xfrm>
            <a:off x="7178040" y="4087368"/>
            <a:ext cx="4206240" cy="411480"/>
          </a:xfrm>
          <a:prstGeom prst="rect">
            <a:avLst/>
          </a:prstGeom>
          <a:noFill/>
          <a:ln/>
        </p:spPr>
        <p:txBody>
          <a:bodyPr wrap="square" lIns="0" tIns="0" rIns="0" bIns="0" rtlCol="0" anchor="ctr"/>
          <a:lstStyle/>
          <a:p>
            <a:pPr indent="0" marL="0">
              <a:buNone/>
            </a:pPr>
            <a:r>
              <a:rPr lang="en-US" sz="1450" b="1" dirty="0">
                <a:solidFill>
                  <a:srgbClr val="232946"/>
                </a:solidFill>
                <a:latin typeface="Arial" pitchFamily="34" charset="0"/>
                <a:ea typeface="Arial" pitchFamily="34" charset="-122"/>
                <a:cs typeface="Arial" pitchFamily="34" charset="-120"/>
              </a:rPr>
              <a:t>Written answer</a:t>
            </a:r>
            <a:endParaRPr lang="en-US" sz="1450" dirty="0"/>
          </a:p>
        </p:txBody>
      </p:sp>
      <p:sp>
        <p:nvSpPr>
          <p:cNvPr id="27" name="Text 23"/>
          <p:cNvSpPr/>
          <p:nvPr/>
        </p:nvSpPr>
        <p:spPr>
          <a:xfrm>
            <a:off x="6446520" y="4709160"/>
            <a:ext cx="4892040" cy="1005840"/>
          </a:xfrm>
          <a:prstGeom prst="rect">
            <a:avLst/>
          </a:prstGeom>
          <a:noFill/>
          <a:ln/>
        </p:spPr>
        <p:txBody>
          <a:bodyPr wrap="square" lIns="0" tIns="0" rIns="0" bIns="0" rtlCol="0" anchor="ctr"/>
          <a:lstStyle/>
          <a:p>
            <a:pPr indent="0" marL="0">
              <a:buNone/>
            </a:pPr>
            <a:r>
              <a:rPr lang="en-US" sz="1100" dirty="0">
                <a:solidFill>
                  <a:srgbClr val="5A6478"/>
                </a:solidFill>
                <a:latin typeface="Calibri" pitchFamily="34" charset="0"/>
                <a:ea typeface="Calibri" pitchFamily="34" charset="-122"/>
                <a:cs typeface="Calibri" pitchFamily="34" charset="-120"/>
              </a:rPr>
              <a:t>A short paragraph: why can unit tests alone not gate an LLM release? Reference at least one observation from today's lab.</a:t>
            </a:r>
            <a:endParaRPr lang="en-US" sz="1100" dirty="0"/>
          </a:p>
        </p:txBody>
      </p:sp>
      <p:sp>
        <p:nvSpPr>
          <p:cNvPr id="28" name="Text 24"/>
          <p:cNvSpPr/>
          <p:nvPr/>
        </p:nvSpPr>
        <p:spPr>
          <a:xfrm>
            <a:off x="640080" y="5943600"/>
            <a:ext cx="10881360" cy="320040"/>
          </a:xfrm>
          <a:prstGeom prst="rect">
            <a:avLst/>
          </a:prstGeom>
          <a:noFill/>
          <a:ln/>
        </p:spPr>
        <p:txBody>
          <a:bodyPr wrap="square" lIns="0" tIns="0" rIns="0" bIns="0" rtlCol="0" anchor="ctr"/>
          <a:lstStyle/>
          <a:p>
            <a:pPr algn="ctr" indent="0" marL="0">
              <a:buNone/>
            </a:pPr>
            <a:r>
              <a:rPr lang="en-US" sz="1200" i="1" dirty="0">
                <a:solidFill>
                  <a:srgbClr val="5A6478"/>
                </a:solidFill>
                <a:latin typeface="Calibri" pitchFamily="34" charset="0"/>
                <a:ea typeface="Calibri" pitchFamily="34" charset="-122"/>
                <a:cs typeface="Calibri" pitchFamily="34" charset="-120"/>
              </a:rPr>
              <a:t>Submission closes the lab block; the review compares rollback times and blocked-push evidence across pairs.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8871E"/>
          </a:solidFill>
          <a:ln/>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325880" y="402336"/>
            <a:ext cx="9601200" cy="274320"/>
          </a:xfrm>
          <a:prstGeom prst="rect">
            <a:avLst/>
          </a:prstGeom>
          <a:noFill/>
          <a:ln/>
        </p:spPr>
        <p:txBody>
          <a:bodyPr wrap="square" lIns="0" tIns="0" rIns="0" bIns="0" rtlCol="0" anchor="ctr"/>
          <a:lstStyle/>
          <a:p>
            <a:pPr indent="0" marL="0">
              <a:buNone/>
            </a:pPr>
            <a:r>
              <a:rPr lang="en-US" sz="1050" b="1" spc="200" kern="0" dirty="0">
                <a:solidFill>
                  <a:srgbClr val="E8871E"/>
                </a:solidFill>
                <a:latin typeface="Arial" pitchFamily="34" charset="0"/>
                <a:ea typeface="Arial" pitchFamily="34" charset="-122"/>
                <a:cs typeface="Arial" pitchFamily="34" charset="-120"/>
              </a:rPr>
              <a:t>PITFALLS</a:t>
            </a:r>
            <a:endParaRPr lang="en-US" sz="1050" dirty="0"/>
          </a:p>
        </p:txBody>
      </p:sp>
      <p:sp>
        <p:nvSpPr>
          <p:cNvPr id="5" name="Text 2"/>
          <p:cNvSpPr/>
          <p:nvPr/>
        </p:nvSpPr>
        <p:spPr>
          <a:xfrm>
            <a:off x="1325880" y="621792"/>
            <a:ext cx="10241280" cy="566928"/>
          </a:xfrm>
          <a:prstGeom prst="rect">
            <a:avLst/>
          </a:prstGeom>
          <a:noFill/>
          <a:ln/>
        </p:spPr>
        <p:txBody>
          <a:bodyPr wrap="square" lIns="0" tIns="0" rIns="0" bIns="0" rtlCol="0" anchor="ctr"/>
          <a:lstStyle/>
          <a:p>
            <a:pPr indent="0" marL="0">
              <a:buNone/>
            </a:pPr>
            <a:r>
              <a:rPr lang="en-US" sz="2500" b="1" dirty="0">
                <a:solidFill>
                  <a:srgbClr val="232946"/>
                </a:solidFill>
                <a:latin typeface="Arial" pitchFamily="34" charset="0"/>
                <a:ea typeface="Arial" pitchFamily="34" charset="-122"/>
                <a:cs typeface="Arial" pitchFamily="34" charset="-120"/>
              </a:rPr>
              <a:t>Common failure modes in AI release engineering</a:t>
            </a:r>
            <a:endParaRPr lang="en-US" sz="2500" dirty="0"/>
          </a:p>
        </p:txBody>
      </p:sp>
      <p:sp>
        <p:nvSpPr>
          <p:cNvPr id="6" name="Text 3"/>
          <p:cNvSpPr/>
          <p:nvPr/>
        </p:nvSpPr>
        <p:spPr>
          <a:xfrm>
            <a:off x="548640" y="6528816"/>
            <a:ext cx="8229600" cy="237744"/>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EXL AI Services · Track 2.A · Session 3 — CI/CD, Canary &amp; Rollback</a:t>
            </a:r>
            <a:endParaRPr lang="en-US" sz="900" dirty="0"/>
          </a:p>
        </p:txBody>
      </p:sp>
      <p:sp>
        <p:nvSpPr>
          <p:cNvPr id="8" name="Shape 4"/>
          <p:cNvSpPr/>
          <p:nvPr/>
        </p:nvSpPr>
        <p:spPr>
          <a:xfrm>
            <a:off x="640080" y="1508760"/>
            <a:ext cx="5349240" cy="1353312"/>
          </a:xfrm>
          <a:prstGeom prst="roundRect">
            <a:avLst>
              <a:gd name="adj" fmla="val 6081"/>
            </a:avLst>
          </a:prstGeom>
          <a:solidFill>
            <a:srgbClr val="DDE6F5"/>
          </a:solidFill>
          <a:ln/>
          <a:effectLst>
            <a:outerShdw sx="100000" sy="100000" kx="0" ky="0" algn="bl" rotWithShape="0" blurRad="76200" dist="25400" dir="5400000">
              <a:srgbClr val="9AA4B8">
                <a:alpha val="35000"/>
              </a:srgbClr>
            </a:outerShdw>
          </a:effectLst>
        </p:spPr>
      </p:sp>
      <p:sp>
        <p:nvSpPr>
          <p:cNvPr id="9" name="Shape 5"/>
          <p:cNvSpPr/>
          <p:nvPr/>
        </p:nvSpPr>
        <p:spPr>
          <a:xfrm>
            <a:off x="841248" y="1691640"/>
            <a:ext cx="384048" cy="384048"/>
          </a:xfrm>
          <a:prstGeom prst="ellipse">
            <a:avLst/>
          </a:prstGeom>
          <a:solidFill>
            <a:srgbClr val="B3402A"/>
          </a:solidFill>
          <a:ln/>
        </p:spPr>
      </p:sp>
      <p:pic>
        <p:nvPicPr>
          <p:cNvPr id="10" name="Image 1" descr="preencoded.png">    </p:cNvPr>
          <p:cNvPicPr>
            <a:picLocks noChangeAspect="1"/>
          </p:cNvPicPr>
          <p:nvPr/>
        </p:nvPicPr>
        <p:blipFill>
          <a:blip r:embed="rId2"/>
          <a:stretch>
            <a:fillRect/>
          </a:stretch>
        </p:blipFill>
        <p:spPr>
          <a:xfrm>
            <a:off x="941100" y="1791492"/>
            <a:ext cx="184343" cy="184343"/>
          </a:xfrm>
          <a:prstGeom prst="rect">
            <a:avLst/>
          </a:prstGeom>
        </p:spPr>
      </p:pic>
      <p:sp>
        <p:nvSpPr>
          <p:cNvPr id="11" name="Text 6"/>
          <p:cNvSpPr/>
          <p:nvPr/>
        </p:nvSpPr>
        <p:spPr>
          <a:xfrm>
            <a:off x="1371600" y="1636776"/>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Gating only on unit tests</a:t>
            </a:r>
            <a:endParaRPr lang="en-US" sz="1250" dirty="0"/>
          </a:p>
        </p:txBody>
      </p:sp>
      <p:sp>
        <p:nvSpPr>
          <p:cNvPr id="12" name="Text 7"/>
          <p:cNvSpPr/>
          <p:nvPr/>
        </p:nvSpPr>
        <p:spPr>
          <a:xfrm>
            <a:off x="1371600" y="2011680"/>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Code correctness says nothing about answer quality; a green build can ship a behavioural regression. Every artifact type — code, prompt, model — passes a behavioural gate.</a:t>
            </a:r>
            <a:endParaRPr lang="en-US" sz="1000" dirty="0"/>
          </a:p>
        </p:txBody>
      </p:sp>
      <p:sp>
        <p:nvSpPr>
          <p:cNvPr id="13" name="Shape 8"/>
          <p:cNvSpPr/>
          <p:nvPr/>
        </p:nvSpPr>
        <p:spPr>
          <a:xfrm>
            <a:off x="6217920" y="1508760"/>
            <a:ext cx="5349240" cy="1353312"/>
          </a:xfrm>
          <a:prstGeom prst="roundRect">
            <a:avLst>
              <a:gd name="adj" fmla="val 6081"/>
            </a:avLst>
          </a:prstGeom>
          <a:solidFill>
            <a:srgbClr val="EEF2FA"/>
          </a:solidFill>
          <a:ln/>
          <a:effectLst>
            <a:outerShdw sx="100000" sy="100000" kx="0" ky="0" algn="bl" rotWithShape="0" blurRad="76200" dist="25400" dir="5400000">
              <a:srgbClr val="9AA4B8">
                <a:alpha val="35000"/>
              </a:srgbClr>
            </a:outerShdw>
          </a:effectLst>
        </p:spPr>
      </p:sp>
      <p:sp>
        <p:nvSpPr>
          <p:cNvPr id="14" name="Shape 9"/>
          <p:cNvSpPr/>
          <p:nvPr/>
        </p:nvSpPr>
        <p:spPr>
          <a:xfrm>
            <a:off x="6419088" y="1691640"/>
            <a:ext cx="384048" cy="384048"/>
          </a:xfrm>
          <a:prstGeom prst="ellipse">
            <a:avLst/>
          </a:prstGeom>
          <a:solidFill>
            <a:srgbClr val="B3402A"/>
          </a:solidFill>
          <a:ln/>
        </p:spPr>
      </p:sp>
      <p:pic>
        <p:nvPicPr>
          <p:cNvPr id="15" name="Image 2" descr="preencoded.png">    </p:cNvPr>
          <p:cNvPicPr>
            <a:picLocks noChangeAspect="1"/>
          </p:cNvPicPr>
          <p:nvPr/>
        </p:nvPicPr>
        <p:blipFill>
          <a:blip r:embed="rId3"/>
          <a:stretch>
            <a:fillRect/>
          </a:stretch>
        </p:blipFill>
        <p:spPr>
          <a:xfrm>
            <a:off x="6518940" y="1791492"/>
            <a:ext cx="184343" cy="184343"/>
          </a:xfrm>
          <a:prstGeom prst="rect">
            <a:avLst/>
          </a:prstGeom>
        </p:spPr>
      </p:pic>
      <p:sp>
        <p:nvSpPr>
          <p:cNvPr id="16" name="Text 10"/>
          <p:cNvSpPr/>
          <p:nvPr/>
        </p:nvSpPr>
        <p:spPr>
          <a:xfrm>
            <a:off x="6949440" y="1636776"/>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An eval suite that never grows</a:t>
            </a:r>
            <a:endParaRPr lang="en-US" sz="1250" dirty="0"/>
          </a:p>
        </p:txBody>
      </p:sp>
      <p:sp>
        <p:nvSpPr>
          <p:cNvPr id="17" name="Text 11"/>
          <p:cNvSpPr/>
          <p:nvPr/>
        </p:nvSpPr>
        <p:spPr>
          <a:xfrm>
            <a:off x="6949440" y="2011680"/>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 static suite tests only yesterday's failures. After every incident, the failing case is added to promptfooconfig.yaml before the ticket is closed.</a:t>
            </a:r>
            <a:endParaRPr lang="en-US" sz="1000" dirty="0"/>
          </a:p>
        </p:txBody>
      </p:sp>
      <p:sp>
        <p:nvSpPr>
          <p:cNvPr id="18" name="Shape 12"/>
          <p:cNvSpPr/>
          <p:nvPr/>
        </p:nvSpPr>
        <p:spPr>
          <a:xfrm>
            <a:off x="640080" y="3044952"/>
            <a:ext cx="5349240" cy="1353312"/>
          </a:xfrm>
          <a:prstGeom prst="roundRect">
            <a:avLst>
              <a:gd name="adj" fmla="val 6081"/>
            </a:avLst>
          </a:prstGeom>
          <a:solidFill>
            <a:srgbClr val="DDE6F5"/>
          </a:solidFill>
          <a:ln/>
          <a:effectLst>
            <a:outerShdw sx="100000" sy="100000" kx="0" ky="0" algn="bl" rotWithShape="0" blurRad="76200" dist="25400" dir="5400000">
              <a:srgbClr val="9AA4B8">
                <a:alpha val="35000"/>
              </a:srgbClr>
            </a:outerShdw>
          </a:effectLst>
        </p:spPr>
      </p:sp>
      <p:sp>
        <p:nvSpPr>
          <p:cNvPr id="19" name="Shape 13"/>
          <p:cNvSpPr/>
          <p:nvPr/>
        </p:nvSpPr>
        <p:spPr>
          <a:xfrm>
            <a:off x="841248" y="3227832"/>
            <a:ext cx="384048" cy="384048"/>
          </a:xfrm>
          <a:prstGeom prst="ellipse">
            <a:avLst/>
          </a:prstGeom>
          <a:solidFill>
            <a:srgbClr val="B3402A"/>
          </a:solidFill>
          <a:ln/>
        </p:spPr>
      </p:sp>
      <p:pic>
        <p:nvPicPr>
          <p:cNvPr id="20" name="Image 3" descr="preencoded.png">    </p:cNvPr>
          <p:cNvPicPr>
            <a:picLocks noChangeAspect="1"/>
          </p:cNvPicPr>
          <p:nvPr/>
        </p:nvPicPr>
        <p:blipFill>
          <a:blip r:embed="rId4"/>
          <a:stretch>
            <a:fillRect/>
          </a:stretch>
        </p:blipFill>
        <p:spPr>
          <a:xfrm>
            <a:off x="941100" y="3327684"/>
            <a:ext cx="184343" cy="184343"/>
          </a:xfrm>
          <a:prstGeom prst="rect">
            <a:avLst/>
          </a:prstGeom>
        </p:spPr>
      </p:pic>
      <p:sp>
        <p:nvSpPr>
          <p:cNvPr id="21" name="Text 14"/>
          <p:cNvSpPr/>
          <p:nvPr/>
        </p:nvSpPr>
        <p:spPr>
          <a:xfrm>
            <a:off x="1371600" y="3172968"/>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Canary without automated analysis</a:t>
            </a:r>
            <a:endParaRPr lang="en-US" sz="1250" dirty="0"/>
          </a:p>
        </p:txBody>
      </p:sp>
      <p:sp>
        <p:nvSpPr>
          <p:cNvPr id="22" name="Text 15"/>
          <p:cNvSpPr/>
          <p:nvPr/>
        </p:nvSpPr>
        <p:spPr>
          <a:xfrm>
            <a:off x="1371600" y="3547872"/>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If promotion depends on someone watching a dashboard, the canary is a slower full rollout. Metrics and evaluations decide promotion and trigger rollback.</a:t>
            </a:r>
            <a:endParaRPr lang="en-US" sz="1000" dirty="0"/>
          </a:p>
        </p:txBody>
      </p:sp>
      <p:sp>
        <p:nvSpPr>
          <p:cNvPr id="23" name="Shape 16"/>
          <p:cNvSpPr/>
          <p:nvPr/>
        </p:nvSpPr>
        <p:spPr>
          <a:xfrm>
            <a:off x="6217920" y="3044952"/>
            <a:ext cx="5349240" cy="1353312"/>
          </a:xfrm>
          <a:prstGeom prst="roundRect">
            <a:avLst>
              <a:gd name="adj" fmla="val 6081"/>
            </a:avLst>
          </a:prstGeom>
          <a:solidFill>
            <a:srgbClr val="EEF2FA"/>
          </a:solidFill>
          <a:ln/>
          <a:effectLst>
            <a:outerShdw sx="100000" sy="100000" kx="0" ky="0" algn="bl" rotWithShape="0" blurRad="76200" dist="25400" dir="5400000">
              <a:srgbClr val="9AA4B8">
                <a:alpha val="35000"/>
              </a:srgbClr>
            </a:outerShdw>
          </a:effectLst>
        </p:spPr>
      </p:sp>
      <p:sp>
        <p:nvSpPr>
          <p:cNvPr id="24" name="Shape 17"/>
          <p:cNvSpPr/>
          <p:nvPr/>
        </p:nvSpPr>
        <p:spPr>
          <a:xfrm>
            <a:off x="6419088" y="3227832"/>
            <a:ext cx="384048" cy="384048"/>
          </a:xfrm>
          <a:prstGeom prst="ellipse">
            <a:avLst/>
          </a:prstGeom>
          <a:solidFill>
            <a:srgbClr val="B3402A"/>
          </a:solidFill>
          <a:ln/>
        </p:spPr>
      </p:sp>
      <p:pic>
        <p:nvPicPr>
          <p:cNvPr id="25" name="Image 4" descr="preencoded.png">    </p:cNvPr>
          <p:cNvPicPr>
            <a:picLocks noChangeAspect="1"/>
          </p:cNvPicPr>
          <p:nvPr/>
        </p:nvPicPr>
        <p:blipFill>
          <a:blip r:embed="rId5"/>
          <a:stretch>
            <a:fillRect/>
          </a:stretch>
        </p:blipFill>
        <p:spPr>
          <a:xfrm>
            <a:off x="6518940" y="3327684"/>
            <a:ext cx="184343" cy="184343"/>
          </a:xfrm>
          <a:prstGeom prst="rect">
            <a:avLst/>
          </a:prstGeom>
        </p:spPr>
      </p:pic>
      <p:sp>
        <p:nvSpPr>
          <p:cNvPr id="26" name="Text 18"/>
          <p:cNvSpPr/>
          <p:nvPr/>
        </p:nvSpPr>
        <p:spPr>
          <a:xfrm>
            <a:off x="6949440" y="3172968"/>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Changing prompt and model together</a:t>
            </a:r>
            <a:endParaRPr lang="en-US" sz="1250" dirty="0"/>
          </a:p>
        </p:txBody>
      </p:sp>
      <p:sp>
        <p:nvSpPr>
          <p:cNvPr id="27" name="Text 19"/>
          <p:cNvSpPr/>
          <p:nvPr/>
        </p:nvSpPr>
        <p:spPr>
          <a:xfrm>
            <a:off x="6949440" y="3547872"/>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When two artifacts change in one release, a regression cannot be attributed to either. Change one artifact type per release.</a:t>
            </a:r>
            <a:endParaRPr lang="en-US" sz="1000" dirty="0"/>
          </a:p>
        </p:txBody>
      </p:sp>
      <p:sp>
        <p:nvSpPr>
          <p:cNvPr id="28" name="Shape 20"/>
          <p:cNvSpPr/>
          <p:nvPr/>
        </p:nvSpPr>
        <p:spPr>
          <a:xfrm>
            <a:off x="640080" y="4581144"/>
            <a:ext cx="5349240" cy="1353312"/>
          </a:xfrm>
          <a:prstGeom prst="roundRect">
            <a:avLst>
              <a:gd name="adj" fmla="val 6081"/>
            </a:avLst>
          </a:prstGeom>
          <a:solidFill>
            <a:srgbClr val="DDE6F5"/>
          </a:solidFill>
          <a:ln/>
          <a:effectLst>
            <a:outerShdw sx="100000" sy="100000" kx="0" ky="0" algn="bl" rotWithShape="0" blurRad="76200" dist="25400" dir="5400000">
              <a:srgbClr val="9AA4B8">
                <a:alpha val="35000"/>
              </a:srgbClr>
            </a:outerShdw>
          </a:effectLst>
        </p:spPr>
      </p:sp>
      <p:sp>
        <p:nvSpPr>
          <p:cNvPr id="29" name="Shape 21"/>
          <p:cNvSpPr/>
          <p:nvPr/>
        </p:nvSpPr>
        <p:spPr>
          <a:xfrm>
            <a:off x="841248" y="4764024"/>
            <a:ext cx="384048" cy="384048"/>
          </a:xfrm>
          <a:prstGeom prst="ellipse">
            <a:avLst/>
          </a:prstGeom>
          <a:solidFill>
            <a:srgbClr val="B3402A"/>
          </a:solidFill>
          <a:ln/>
        </p:spPr>
      </p:sp>
      <p:pic>
        <p:nvPicPr>
          <p:cNvPr id="30" name="Image 5" descr="preencoded.png">    </p:cNvPr>
          <p:cNvPicPr>
            <a:picLocks noChangeAspect="1"/>
          </p:cNvPicPr>
          <p:nvPr/>
        </p:nvPicPr>
        <p:blipFill>
          <a:blip r:embed="rId6"/>
          <a:stretch>
            <a:fillRect/>
          </a:stretch>
        </p:blipFill>
        <p:spPr>
          <a:xfrm>
            <a:off x="941100" y="4863876"/>
            <a:ext cx="184343" cy="184343"/>
          </a:xfrm>
          <a:prstGeom prst="rect">
            <a:avLst/>
          </a:prstGeom>
        </p:spPr>
      </p:pic>
      <p:sp>
        <p:nvSpPr>
          <p:cNvPr id="31" name="Text 22"/>
          <p:cNvSpPr/>
          <p:nvPr/>
        </p:nvSpPr>
        <p:spPr>
          <a:xfrm>
            <a:off x="1371600" y="4709160"/>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No rollback rehearsal</a:t>
            </a:r>
            <a:endParaRPr lang="en-US" sz="1250" dirty="0"/>
          </a:p>
        </p:txBody>
      </p:sp>
      <p:sp>
        <p:nvSpPr>
          <p:cNvPr id="32" name="Text 23"/>
          <p:cNvSpPr/>
          <p:nvPr/>
        </p:nvSpPr>
        <p:spPr>
          <a:xfrm>
            <a:off x="1371600" y="5084064"/>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The first execution of the rollback path must not occur during a live incident. Drill it on a schedule and record the measured time.</a:t>
            </a:r>
            <a:endParaRPr lang="en-US" sz="1000" dirty="0"/>
          </a:p>
        </p:txBody>
      </p:sp>
      <p:sp>
        <p:nvSpPr>
          <p:cNvPr id="33" name="Shape 24"/>
          <p:cNvSpPr/>
          <p:nvPr/>
        </p:nvSpPr>
        <p:spPr>
          <a:xfrm>
            <a:off x="6217920" y="4581144"/>
            <a:ext cx="5349240" cy="1353312"/>
          </a:xfrm>
          <a:prstGeom prst="roundRect">
            <a:avLst>
              <a:gd name="adj" fmla="val 6081"/>
            </a:avLst>
          </a:prstGeom>
          <a:solidFill>
            <a:srgbClr val="EEF2FA"/>
          </a:solidFill>
          <a:ln/>
          <a:effectLst>
            <a:outerShdw sx="100000" sy="100000" kx="0" ky="0" algn="bl" rotWithShape="0" blurRad="76200" dist="25400" dir="5400000">
              <a:srgbClr val="9AA4B8">
                <a:alpha val="35000"/>
              </a:srgbClr>
            </a:outerShdw>
          </a:effectLst>
        </p:spPr>
      </p:sp>
      <p:sp>
        <p:nvSpPr>
          <p:cNvPr id="34" name="Shape 25"/>
          <p:cNvSpPr/>
          <p:nvPr/>
        </p:nvSpPr>
        <p:spPr>
          <a:xfrm>
            <a:off x="6419088" y="4764024"/>
            <a:ext cx="384048" cy="384048"/>
          </a:xfrm>
          <a:prstGeom prst="ellipse">
            <a:avLst/>
          </a:prstGeom>
          <a:solidFill>
            <a:srgbClr val="B3402A"/>
          </a:solidFill>
          <a:ln/>
        </p:spPr>
      </p:sp>
      <p:pic>
        <p:nvPicPr>
          <p:cNvPr id="35" name="Image 6" descr="preencoded.png">    </p:cNvPr>
          <p:cNvPicPr>
            <a:picLocks noChangeAspect="1"/>
          </p:cNvPicPr>
          <p:nvPr/>
        </p:nvPicPr>
        <p:blipFill>
          <a:blip r:embed="rId7"/>
          <a:stretch>
            <a:fillRect/>
          </a:stretch>
        </p:blipFill>
        <p:spPr>
          <a:xfrm>
            <a:off x="6518940" y="4863876"/>
            <a:ext cx="184343" cy="184343"/>
          </a:xfrm>
          <a:prstGeom prst="rect">
            <a:avLst/>
          </a:prstGeom>
        </p:spPr>
      </p:pic>
      <p:sp>
        <p:nvSpPr>
          <p:cNvPr id="36" name="Text 26"/>
          <p:cNvSpPr/>
          <p:nvPr/>
        </p:nvSpPr>
        <p:spPr>
          <a:xfrm>
            <a:off x="6949440" y="4709160"/>
            <a:ext cx="4480560" cy="384048"/>
          </a:xfrm>
          <a:prstGeom prst="rect">
            <a:avLst/>
          </a:prstGeom>
          <a:noFill/>
          <a:ln/>
        </p:spPr>
        <p:txBody>
          <a:bodyPr wrap="square" lIns="0" tIns="0" rIns="0" bIns="0" rtlCol="0" anchor="ctr"/>
          <a:lstStyle/>
          <a:p>
            <a:pPr indent="0" marL="0">
              <a:buNone/>
            </a:pPr>
            <a:r>
              <a:rPr lang="en-US" sz="1250" b="1" dirty="0">
                <a:solidFill>
                  <a:srgbClr val="232946"/>
                </a:solidFill>
                <a:latin typeface="Arial" pitchFamily="34" charset="0"/>
                <a:ea typeface="Arial" pitchFamily="34" charset="-122"/>
                <a:cs typeface="Arial" pitchFamily="34" charset="-120"/>
              </a:rPr>
              <a:t>Flaky evaluations eroding trust</a:t>
            </a:r>
            <a:endParaRPr lang="en-US" sz="1250" dirty="0"/>
          </a:p>
        </p:txBody>
      </p:sp>
      <p:sp>
        <p:nvSpPr>
          <p:cNvPr id="37" name="Text 27"/>
          <p:cNvSpPr/>
          <p:nvPr/>
        </p:nvSpPr>
        <p:spPr>
          <a:xfrm>
            <a:off x="6949440" y="5084064"/>
            <a:ext cx="4480560" cy="82296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Assertions that fail intermittently teach teams to re-run until green — the gate is then decorative. Prefer deterministic assertions; threshold the model-graded ones.</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32946"/>
        </a:solidFill>
      </p:bgPr>
    </p:bg>
    <p:spTree>
      <p:nvGrpSpPr>
        <p:cNvPr id="1" name=""/>
        <p:cNvGrpSpPr/>
        <p:nvPr/>
      </p:nvGrpSpPr>
      <p:grpSpPr>
        <a:xfrm>
          <a:off x="0" y="0"/>
          <a:ext cx="0" cy="0"/>
          <a:chOff x="0" y="0"/>
          <a:chExt cx="0" cy="0"/>
        </a:xfrm>
      </p:grpSpPr>
      <p:sp>
        <p:nvSpPr>
          <p:cNvPr id="2" name="Shape 0"/>
          <p:cNvSpPr/>
          <p:nvPr/>
        </p:nvSpPr>
        <p:spPr>
          <a:xfrm>
            <a:off x="10058400" y="-1463040"/>
            <a:ext cx="4206240" cy="4206240"/>
          </a:xfrm>
          <a:prstGeom prst="ellipse">
            <a:avLst/>
          </a:prstGeom>
          <a:solidFill>
            <a:srgbClr val="2E3554"/>
          </a:solidFill>
          <a:ln/>
        </p:spPr>
      </p:sp>
      <p:sp>
        <p:nvSpPr>
          <p:cNvPr id="3" name="Shape 1"/>
          <p:cNvSpPr/>
          <p:nvPr/>
        </p:nvSpPr>
        <p:spPr>
          <a:xfrm>
            <a:off x="685800" y="502920"/>
            <a:ext cx="640080" cy="640080"/>
          </a:xfrm>
          <a:prstGeom prst="ellipse">
            <a:avLst/>
          </a:prstGeom>
          <a:solidFill>
            <a:srgbClr val="E8871E"/>
          </a:solidFill>
          <a:ln/>
        </p:spPr>
      </p:sp>
      <p:pic>
        <p:nvPicPr>
          <p:cNvPr id="4" name="Image 0" descr="preencoded.png">    </p:cNvPr>
          <p:cNvPicPr>
            <a:picLocks noChangeAspect="1"/>
          </p:cNvPicPr>
          <p:nvPr/>
        </p:nvPicPr>
        <p:blipFill>
          <a:blip r:embed="rId1"/>
          <a:stretch>
            <a:fillRect/>
          </a:stretch>
        </p:blipFill>
        <p:spPr>
          <a:xfrm>
            <a:off x="852221" y="669341"/>
            <a:ext cx="307238" cy="307238"/>
          </a:xfrm>
          <a:prstGeom prst="rect">
            <a:avLst/>
          </a:prstGeom>
        </p:spPr>
      </p:pic>
      <p:sp>
        <p:nvSpPr>
          <p:cNvPr id="5" name="Text 2"/>
          <p:cNvSpPr/>
          <p:nvPr/>
        </p:nvSpPr>
        <p:spPr>
          <a:xfrm>
            <a:off x="1554480" y="566928"/>
            <a:ext cx="7315200" cy="320040"/>
          </a:xfrm>
          <a:prstGeom prst="rect">
            <a:avLst/>
          </a:prstGeom>
          <a:noFill/>
          <a:ln/>
        </p:spPr>
        <p:txBody>
          <a:bodyPr wrap="square" lIns="0" tIns="0" rIns="0" bIns="0" rtlCol="0" anchor="ctr"/>
          <a:lstStyle/>
          <a:p>
            <a:pPr indent="0" marL="0">
              <a:buNone/>
            </a:pPr>
            <a:r>
              <a:rPr lang="en-US" sz="1200" b="1" spc="200" kern="0" dirty="0">
                <a:solidFill>
                  <a:srgbClr val="E8871E"/>
                </a:solidFill>
                <a:latin typeface="Arial" pitchFamily="34" charset="0"/>
                <a:ea typeface="Arial" pitchFamily="34" charset="-122"/>
                <a:cs typeface="Arial" pitchFamily="34" charset="-120"/>
              </a:rPr>
              <a:t>SESSION 3 · RECAP</a:t>
            </a:r>
            <a:endParaRPr lang="en-US" sz="1200" dirty="0"/>
          </a:p>
        </p:txBody>
      </p:sp>
      <p:sp>
        <p:nvSpPr>
          <p:cNvPr id="6" name="Text 3"/>
          <p:cNvSpPr/>
          <p:nvPr/>
        </p:nvSpPr>
        <p:spPr>
          <a:xfrm>
            <a:off x="1536192" y="822960"/>
            <a:ext cx="822960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Capabilities established today</a:t>
            </a:r>
            <a:endParaRPr lang="en-US" sz="2600" dirty="0"/>
          </a:p>
        </p:txBody>
      </p:sp>
      <p:sp>
        <p:nvSpPr>
          <p:cNvPr id="7" name="Shape 4"/>
          <p:cNvSpPr/>
          <p:nvPr/>
        </p:nvSpPr>
        <p:spPr>
          <a:xfrm>
            <a:off x="685800" y="1691640"/>
            <a:ext cx="7040880" cy="676656"/>
          </a:xfrm>
          <a:prstGeom prst="roundRect">
            <a:avLst>
              <a:gd name="adj" fmla="val 10811"/>
            </a:avLst>
          </a:prstGeom>
          <a:solidFill>
            <a:srgbClr val="2E3554"/>
          </a:solidFill>
          <a:ln/>
        </p:spPr>
      </p:sp>
      <p:pic>
        <p:nvPicPr>
          <p:cNvPr id="8" name="Image 1" descr="preencoded.png">    </p:cNvPr>
          <p:cNvPicPr>
            <a:picLocks noChangeAspect="1"/>
          </p:cNvPicPr>
          <p:nvPr/>
        </p:nvPicPr>
        <p:blipFill>
          <a:blip r:embed="rId2"/>
          <a:stretch>
            <a:fillRect/>
          </a:stretch>
        </p:blipFill>
        <p:spPr>
          <a:xfrm>
            <a:off x="914400" y="1892808"/>
            <a:ext cx="274320" cy="274320"/>
          </a:xfrm>
          <a:prstGeom prst="rect">
            <a:avLst/>
          </a:prstGeom>
        </p:spPr>
      </p:pic>
      <p:sp>
        <p:nvSpPr>
          <p:cNvPr id="9" name="Text 5"/>
          <p:cNvSpPr/>
          <p:nvPr/>
        </p:nvSpPr>
        <p:spPr>
          <a:xfrm>
            <a:off x="1371600" y="1691640"/>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Gate on behaviour</a:t>
            </a:r>
            <a:endParaRPr lang="en-US" sz="1300" dirty="0"/>
          </a:p>
        </p:txBody>
      </p:sp>
      <p:sp>
        <p:nvSpPr>
          <p:cNvPr id="10" name="Text 6"/>
          <p:cNvSpPr/>
          <p:nvPr/>
        </p:nvSpPr>
        <p:spPr>
          <a:xfrm>
            <a:off x="3703320" y="1691640"/>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Releases are blocked on measured answer quality — unit tests alone cannot gate an AI release.</a:t>
            </a:r>
            <a:endParaRPr lang="en-US" sz="1050" dirty="0"/>
          </a:p>
        </p:txBody>
      </p:sp>
      <p:sp>
        <p:nvSpPr>
          <p:cNvPr id="11" name="Shape 7"/>
          <p:cNvSpPr/>
          <p:nvPr/>
        </p:nvSpPr>
        <p:spPr>
          <a:xfrm>
            <a:off x="685800" y="2496312"/>
            <a:ext cx="7040880" cy="676656"/>
          </a:xfrm>
          <a:prstGeom prst="roundRect">
            <a:avLst>
              <a:gd name="adj" fmla="val 10811"/>
            </a:avLst>
          </a:prstGeom>
          <a:solidFill>
            <a:srgbClr val="2E3554"/>
          </a:solidFill>
          <a:ln/>
        </p:spPr>
      </p:sp>
      <p:pic>
        <p:nvPicPr>
          <p:cNvPr id="12" name="Image 2" descr="preencoded.png">    </p:cNvPr>
          <p:cNvPicPr>
            <a:picLocks noChangeAspect="1"/>
          </p:cNvPicPr>
          <p:nvPr/>
        </p:nvPicPr>
        <p:blipFill>
          <a:blip r:embed="rId3"/>
          <a:stretch>
            <a:fillRect/>
          </a:stretch>
        </p:blipFill>
        <p:spPr>
          <a:xfrm>
            <a:off x="914400" y="2697480"/>
            <a:ext cx="274320" cy="274320"/>
          </a:xfrm>
          <a:prstGeom prst="rect">
            <a:avLst/>
          </a:prstGeom>
        </p:spPr>
      </p:pic>
      <p:sp>
        <p:nvSpPr>
          <p:cNvPr id="13" name="Text 8"/>
          <p:cNvSpPr/>
          <p:nvPr/>
        </p:nvSpPr>
        <p:spPr>
          <a:xfrm>
            <a:off x="1371600" y="2496312"/>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Write eval gates</a:t>
            </a:r>
            <a:endParaRPr lang="en-US" sz="1300" dirty="0"/>
          </a:p>
        </p:txBody>
      </p:sp>
      <p:sp>
        <p:nvSpPr>
          <p:cNvPr id="14" name="Text 9"/>
          <p:cNvSpPr/>
          <p:nvPr/>
        </p:nvSpPr>
        <p:spPr>
          <a:xfrm>
            <a:off x="3703320" y="2496312"/>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 promptfoo suite with deterministic assertions; non-zero exit blocks the release.</a:t>
            </a:r>
            <a:endParaRPr lang="en-US" sz="1050" dirty="0"/>
          </a:p>
        </p:txBody>
      </p:sp>
      <p:sp>
        <p:nvSpPr>
          <p:cNvPr id="15" name="Shape 10"/>
          <p:cNvSpPr/>
          <p:nvPr/>
        </p:nvSpPr>
        <p:spPr>
          <a:xfrm>
            <a:off x="685800" y="3300984"/>
            <a:ext cx="7040880" cy="676656"/>
          </a:xfrm>
          <a:prstGeom prst="roundRect">
            <a:avLst>
              <a:gd name="adj" fmla="val 10811"/>
            </a:avLst>
          </a:prstGeom>
          <a:solidFill>
            <a:srgbClr val="2E3554"/>
          </a:solidFill>
          <a:ln/>
        </p:spPr>
      </p:sp>
      <p:pic>
        <p:nvPicPr>
          <p:cNvPr id="16" name="Image 3" descr="preencoded.png">    </p:cNvPr>
          <p:cNvPicPr>
            <a:picLocks noChangeAspect="1"/>
          </p:cNvPicPr>
          <p:nvPr/>
        </p:nvPicPr>
        <p:blipFill>
          <a:blip r:embed="rId4"/>
          <a:stretch>
            <a:fillRect/>
          </a:stretch>
        </p:blipFill>
        <p:spPr>
          <a:xfrm>
            <a:off x="914400" y="3502152"/>
            <a:ext cx="274320" cy="274320"/>
          </a:xfrm>
          <a:prstGeom prst="rect">
            <a:avLst/>
          </a:prstGeom>
        </p:spPr>
      </p:pic>
      <p:sp>
        <p:nvSpPr>
          <p:cNvPr id="17" name="Text 11"/>
          <p:cNvSpPr/>
          <p:nvPr/>
        </p:nvSpPr>
        <p:spPr>
          <a:xfrm>
            <a:off x="1371600" y="3300984"/>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Enforce at push</a:t>
            </a:r>
            <a:endParaRPr lang="en-US" sz="1300" dirty="0"/>
          </a:p>
        </p:txBody>
      </p:sp>
      <p:sp>
        <p:nvSpPr>
          <p:cNvPr id="18" name="Text 12"/>
          <p:cNvSpPr/>
          <p:nvPr/>
        </p:nvSpPr>
        <p:spPr>
          <a:xfrm>
            <a:off x="3703320" y="3300984"/>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 pre-push hook locally; GitHub Actions plus branch protection in production.</a:t>
            </a:r>
            <a:endParaRPr lang="en-US" sz="1050" dirty="0"/>
          </a:p>
        </p:txBody>
      </p:sp>
      <p:sp>
        <p:nvSpPr>
          <p:cNvPr id="19" name="Shape 13"/>
          <p:cNvSpPr/>
          <p:nvPr/>
        </p:nvSpPr>
        <p:spPr>
          <a:xfrm>
            <a:off x="685800" y="4105656"/>
            <a:ext cx="7040880" cy="676656"/>
          </a:xfrm>
          <a:prstGeom prst="roundRect">
            <a:avLst>
              <a:gd name="adj" fmla="val 10811"/>
            </a:avLst>
          </a:prstGeom>
          <a:solidFill>
            <a:srgbClr val="2E3554"/>
          </a:solidFill>
          <a:ln/>
        </p:spPr>
      </p:sp>
      <p:pic>
        <p:nvPicPr>
          <p:cNvPr id="20" name="Image 4" descr="preencoded.png">    </p:cNvPr>
          <p:cNvPicPr>
            <a:picLocks noChangeAspect="1"/>
          </p:cNvPicPr>
          <p:nvPr/>
        </p:nvPicPr>
        <p:blipFill>
          <a:blip r:embed="rId5"/>
          <a:stretch>
            <a:fillRect/>
          </a:stretch>
        </p:blipFill>
        <p:spPr>
          <a:xfrm>
            <a:off x="914400" y="4306824"/>
            <a:ext cx="274320" cy="274320"/>
          </a:xfrm>
          <a:prstGeom prst="rect">
            <a:avLst/>
          </a:prstGeom>
        </p:spPr>
      </p:pic>
      <p:sp>
        <p:nvSpPr>
          <p:cNvPr id="21" name="Text 14"/>
          <p:cNvSpPr/>
          <p:nvPr/>
        </p:nvSpPr>
        <p:spPr>
          <a:xfrm>
            <a:off x="1371600" y="4105656"/>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Release progressively</a:t>
            </a:r>
            <a:endParaRPr lang="en-US" sz="1300" dirty="0"/>
          </a:p>
        </p:txBody>
      </p:sp>
      <p:sp>
        <p:nvSpPr>
          <p:cNvPr id="22" name="Text 15"/>
          <p:cNvSpPr/>
          <p:nvPr/>
        </p:nvSpPr>
        <p:spPr>
          <a:xfrm>
            <a:off x="3703320" y="4105656"/>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Canary 10% → 50% → 100%, each promotion earned by automated analysis.</a:t>
            </a:r>
            <a:endParaRPr lang="en-US" sz="1050" dirty="0"/>
          </a:p>
        </p:txBody>
      </p:sp>
      <p:sp>
        <p:nvSpPr>
          <p:cNvPr id="23" name="Shape 16"/>
          <p:cNvSpPr/>
          <p:nvPr/>
        </p:nvSpPr>
        <p:spPr>
          <a:xfrm>
            <a:off x="685800" y="4910328"/>
            <a:ext cx="7040880" cy="676656"/>
          </a:xfrm>
          <a:prstGeom prst="roundRect">
            <a:avLst>
              <a:gd name="adj" fmla="val 10811"/>
            </a:avLst>
          </a:prstGeom>
          <a:solidFill>
            <a:srgbClr val="2E3554"/>
          </a:solidFill>
          <a:ln/>
        </p:spPr>
      </p:sp>
      <p:pic>
        <p:nvPicPr>
          <p:cNvPr id="24" name="Image 5" descr="preencoded.png">    </p:cNvPr>
          <p:cNvPicPr>
            <a:picLocks noChangeAspect="1"/>
          </p:cNvPicPr>
          <p:nvPr/>
        </p:nvPicPr>
        <p:blipFill>
          <a:blip r:embed="rId6"/>
          <a:stretch>
            <a:fillRect/>
          </a:stretch>
        </p:blipFill>
        <p:spPr>
          <a:xfrm>
            <a:off x="914400" y="5111496"/>
            <a:ext cx="274320" cy="274320"/>
          </a:xfrm>
          <a:prstGeom prst="rect">
            <a:avLst/>
          </a:prstGeom>
        </p:spPr>
      </p:pic>
      <p:sp>
        <p:nvSpPr>
          <p:cNvPr id="25" name="Text 17"/>
          <p:cNvSpPr/>
          <p:nvPr/>
        </p:nvSpPr>
        <p:spPr>
          <a:xfrm>
            <a:off x="1371600" y="4910328"/>
            <a:ext cx="2286000" cy="676656"/>
          </a:xfrm>
          <a:prstGeom prst="rect">
            <a:avLst/>
          </a:prstGeom>
          <a:noFill/>
          <a:ln/>
        </p:spPr>
        <p:txBody>
          <a:bodyPr wrap="square" lIns="0" tIns="0" rIns="0" bIns="0" rtlCol="0" anchor="ctr"/>
          <a:lstStyle/>
          <a:p>
            <a:pPr indent="0" marL="0">
              <a:buNone/>
            </a:pPr>
            <a:r>
              <a:rPr lang="en-US" sz="1300" b="1" dirty="0">
                <a:solidFill>
                  <a:srgbClr val="F5B971"/>
                </a:solidFill>
                <a:latin typeface="Arial" pitchFamily="34" charset="0"/>
                <a:ea typeface="Arial" pitchFamily="34" charset="-122"/>
                <a:cs typeface="Arial" pitchFamily="34" charset="-120"/>
              </a:rPr>
              <a:t>Roll back in seconds</a:t>
            </a:r>
            <a:endParaRPr lang="en-US" sz="1300" dirty="0"/>
          </a:p>
        </p:txBody>
      </p:sp>
      <p:sp>
        <p:nvSpPr>
          <p:cNvPr id="26" name="Text 18"/>
          <p:cNvSpPr/>
          <p:nvPr/>
        </p:nvSpPr>
        <p:spPr>
          <a:xfrm>
            <a:off x="3703320" y="4910328"/>
            <a:ext cx="3931920" cy="67665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 traffic change to the warm previous version — rollback first, debug second.</a:t>
            </a:r>
            <a:endParaRPr lang="en-US" sz="1050" dirty="0"/>
          </a:p>
        </p:txBody>
      </p:sp>
      <p:sp>
        <p:nvSpPr>
          <p:cNvPr id="27" name="Shape 19"/>
          <p:cNvSpPr/>
          <p:nvPr/>
        </p:nvSpPr>
        <p:spPr>
          <a:xfrm>
            <a:off x="8092440" y="1691640"/>
            <a:ext cx="3429000" cy="4023360"/>
          </a:xfrm>
          <a:prstGeom prst="roundRect">
            <a:avLst>
              <a:gd name="adj" fmla="val 2400"/>
            </a:avLst>
          </a:prstGeom>
          <a:solidFill>
            <a:srgbClr val="2E3554"/>
          </a:solidFill>
          <a:ln/>
          <a:effectLst>
            <a:outerShdw sx="100000" sy="100000" kx="0" ky="0" algn="bl" rotWithShape="0" blurRad="76200" dist="25400" dir="5400000">
              <a:srgbClr val="9AA4B8">
                <a:alpha val="35000"/>
              </a:srgbClr>
            </a:outerShdw>
          </a:effectLst>
        </p:spPr>
      </p:sp>
      <p:sp>
        <p:nvSpPr>
          <p:cNvPr id="28" name="Text 20"/>
          <p:cNvSpPr/>
          <p:nvPr/>
        </p:nvSpPr>
        <p:spPr>
          <a:xfrm>
            <a:off x="8321040" y="1874520"/>
            <a:ext cx="2926080" cy="320040"/>
          </a:xfrm>
          <a:prstGeom prst="rect">
            <a:avLst/>
          </a:prstGeom>
          <a:noFill/>
          <a:ln/>
        </p:spPr>
        <p:txBody>
          <a:bodyPr wrap="square" lIns="0" tIns="0" rIns="0" bIns="0" rtlCol="0" anchor="ctr"/>
          <a:lstStyle/>
          <a:p>
            <a:pPr indent="0" marL="0">
              <a:buNone/>
            </a:pPr>
            <a:r>
              <a:rPr lang="en-US" sz="1200" b="1" spc="150" kern="0" dirty="0">
                <a:solidFill>
                  <a:srgbClr val="E8871E"/>
                </a:solidFill>
                <a:latin typeface="Arial" pitchFamily="34" charset="0"/>
                <a:ea typeface="Arial" pitchFamily="34" charset="-122"/>
                <a:cs typeface="Arial" pitchFamily="34" charset="-120"/>
              </a:rPr>
              <a:t>Next session</a:t>
            </a:r>
            <a:endParaRPr lang="en-US" sz="1200" dirty="0"/>
          </a:p>
        </p:txBody>
      </p:sp>
      <p:sp>
        <p:nvSpPr>
          <p:cNvPr id="29" name="Text 21"/>
          <p:cNvSpPr/>
          <p:nvPr/>
        </p:nvSpPr>
        <p:spPr>
          <a:xfrm>
            <a:off x="8321040" y="2194560"/>
            <a:ext cx="3017520" cy="9144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Production Monitoring, Drift Detection &amp; Audit Logging</a:t>
            </a:r>
            <a:endParaRPr lang="en-US" sz="1600" dirty="0"/>
          </a:p>
        </p:txBody>
      </p:sp>
      <p:sp>
        <p:nvSpPr>
          <p:cNvPr id="30" name="Text 22"/>
          <p:cNvSpPr/>
          <p:nvPr/>
        </p:nvSpPr>
        <p:spPr>
          <a:xfrm>
            <a:off x="8321040" y="3200400"/>
            <a:ext cx="3017520" cy="160020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The gated pipeline now ships safely. Session 4 covers what happens after 100%: monitoring latency, cost and answer quality in production, detecting drift when input distributions change, and maintaining audit trails for compliance.</a:t>
            </a:r>
            <a:endParaRPr lang="en-US" sz="1150" dirty="0"/>
          </a:p>
        </p:txBody>
      </p:sp>
      <p:sp>
        <p:nvSpPr>
          <p:cNvPr id="31" name="Text 23"/>
          <p:cNvSpPr/>
          <p:nvPr/>
        </p:nvSpPr>
        <p:spPr>
          <a:xfrm>
            <a:off x="8321040" y="4892040"/>
            <a:ext cx="3017520" cy="731520"/>
          </a:xfrm>
          <a:prstGeom prst="rect">
            <a:avLst/>
          </a:prstGeom>
          <a:noFill/>
          <a:ln/>
        </p:spPr>
        <p:txBody>
          <a:bodyPr wrap="square" lIns="0" tIns="0" rIns="0" bIns="0" rtlCol="0" anchor="ctr"/>
          <a:lstStyle/>
          <a:p>
            <a:pPr indent="0" marL="0">
              <a:buNone/>
            </a:pPr>
            <a:r>
              <a:rPr lang="en-US" sz="1150" i="1" dirty="0">
                <a:solidFill>
                  <a:srgbClr val="F5B971"/>
                </a:solidFill>
                <a:latin typeface="Calibri" pitchFamily="34" charset="0"/>
                <a:ea typeface="Calibri" pitchFamily="34" charset="-122"/>
                <a:cs typeface="Calibri" pitchFamily="34" charset="-120"/>
              </a:rPr>
              <a:t>Retain the session3_lab stack — Session 4 instruments this same service.</a:t>
            </a:r>
            <a:endParaRPr lang="en-US" sz="1150" dirty="0"/>
          </a:p>
        </p:txBody>
      </p:sp>
      <p:sp>
        <p:nvSpPr>
          <p:cNvPr id="32" name="Text 24"/>
          <p:cNvSpPr/>
          <p:nvPr/>
        </p:nvSpPr>
        <p:spPr>
          <a:xfrm>
            <a:off x="685800" y="6355080"/>
            <a:ext cx="8229600" cy="274320"/>
          </a:xfrm>
          <a:prstGeom prst="rect">
            <a:avLst/>
          </a:prstGeom>
          <a:noFill/>
          <a:ln/>
        </p:spPr>
        <p:txBody>
          <a:bodyPr wrap="square" lIns="0" tIns="0" rIns="0" bIns="0" rtlCol="0" anchor="ctr"/>
          <a:lstStyle/>
          <a:p>
            <a:pPr indent="0" marL="0">
              <a:buNone/>
            </a:pPr>
            <a:r>
              <a:rPr lang="en-US" sz="900" dirty="0">
                <a:solidFill>
                  <a:srgbClr val="9AA7C7"/>
                </a:solidFill>
                <a:latin typeface="Calibri" pitchFamily="34" charset="0"/>
                <a:ea typeface="Calibri" pitchFamily="34" charset="-122"/>
                <a:cs typeface="Calibri" pitchFamily="34" charset="-120"/>
              </a:rPr>
              <a:t>EXL AI Services · Track 2.A · Session 3 — CI/CD, Canary &amp; Rollback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2026-07-22T11:19:11Z</dcterms:created>
  <dcterms:modified xsi:type="dcterms:W3CDTF">2026-07-22T11:19:11Z</dcterms:modified>
</cp:coreProperties>
</file>