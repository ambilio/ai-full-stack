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back. Session 1 selected a serving stack; today that server is packaged as a container image and operated with production disciplines. State clearly at the outset: the lab is entirely local — no cloud account is needed — while cloud deployment is covered as reference theory so the concepts transfer directly when cloud access becomes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Emphasise the split: 45 minutes of concepts including cloud theory, 60 minutes of local Docker lab work, 15 minutes of review. Protect time for Step 6 of the lab (scaling), which produces the most instructive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precisely: the Session 1 server runs on the machine where it was developed, but development, CI and production hosts diverge over time. 'Works on my machine' should be treated as a reproducibility failure, not an anecdote. Containers resolve it by making the deployable artifact self-contained and immutable.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terms precisely. Image: immutable, layered, read-only artifact. Container: a running instance of an image. Registry: the distribution point. Emphasise OS-level virtualization — containers share the host kernel; no guest OS is booted. Walk the pipeline diagram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a VM virtualises hardware and boots a full guest OS; a container virtualises at the OS level and shares the host kernel. Note the closing point — the models are complementary: cloud container platforms schedule containers onto fleets of VMs.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file line by line — it is the exact Dockerfile used in the lab. Three decisions to stress: the pinned slim base rather than ':latest'; dependencies copied and installed before code so the expensive pip layer is cached; the CPU-only torch wheel that keeps the image near 200 MB of framework instead of roughly 2.5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walkthrough. Cover the baked-in weights decision and its trade-off; the non-root user; the HEALTHCHECK instruction, whose start-period covers the model-loading window. The starting-to-healthy transition is measured in Lab Step 2 as the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discipline slide. Stress that docker history exposes every layer, so a secret deleted in a later layer remains readable. Trivy scanning and SBOM generation belong in the build pipeline (Session 3 automates them). The .dockerignore file bounds the build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only — the lab machines are CPU-only. The essential model: the GPU driver resides on the host; the CUDA toolkit travels inside the image; the host driver version must satisfy the image's CUDA version. Framework wheels must match the image's CUDA version. This mismatch is the most common failure in ML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invariant: application code reads environment variables and is identical everywhere; only the injection mechanism differs by environment. Locally, a .env file excluded from git and the image. In the cloud, a secret manager with IAM-scoped access. Rotation changes the stored value without rebuilding the image. Lab Step 3 exercises the local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three probe types and their distinct consequences. Stress the LLM-specific point: model loading can take one to two minutes, so the startup window must be generous or the platform will kill instances that are merely still loading. Traffic-readiness is the principle the lab measures in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Clearly restate that this section is reference theory — the class has no cloud access today, and nothing here is exercised in the lab. The division of responsibility is the key idea: the team supplies an image and configuration; the platform supplies infrastructure, TLS, autoscaling, health probing and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AWS App Runner, Azure Container Apps and Google Cloud Run across the four dimensions that drive selection. Notable differences: App Runner keeps a provisioned instance (no scale to zero); Container Apps is built on Kubernetes with KEDA scaling; Cloud Run offers the most direct request-based pricing with scale to zero. All three consume the same OCI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flag and connect it to the lab: --memory/--cpu correspond to mem_limit/cpus in the Compose file; min/max instances and concurrency define the autoscaling envelope; --set-secrets is the runtime injection covered on the secrets slide. This command is shown for reference only and is not executed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when does a team graduate from a managed runtime to AKS/GKE/EKS, and how do the pricing models differ? The bottom row is the economic core: per-request versus per-instance pricing, scale-to-zero economics, and cold start as the structural price of zero idle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first: both options run the same open-source Kubernetes; the decision is who operates the control plane. Managed = the provider runs API server, etcd and scheduler. Self-managed = the team installs and operates everything, typically on-premises. Close with the decision rule: on public cloud, managed is the default; self-managed is justified by constraints - data residency, air-gapped or edge deployment - not by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pairs as Session 1. All steps run locally against the lab handout in the lab02 directory; no cloud credentials are distributed. Confirm every machine meets the Step 0 prerequisites before starting the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Docker before the clock starts. On Linux, group membership takes effect only after a fresh login — this is the most common blocker. hello-world confirms the client can reach the daemon. The disk check matters: images, layers and build cache consume several gigabytes.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measurements: the recorded image size (deliverable 1) and the cached-rebuild time. The first build takes minutes because the pip layer runs; after touching app.py only the code layer rebuilds and the dependency layer is served from cache. If pip re-runs after a code-only change, the layer order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observations: the health status transition from starting to healthy, whose elapsed time is the local cold start (deliverable 2); a successful authenticated request; and a 401 for a wrong key (deliverable 3). Note that API_KEY is injected at run time with -e — it is not present in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but essential step. .env.example documents required variables without values and is committed; .env holds real values and never is. docker history renders every build instruction visible — use it to demonstrate that the image carries no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(10 min): Compose codifies the runtime configuration — env_file, healthcheck, mem_limit, cpus — in a versioned file instead of remembered flags; the host port is auto-assigned, discover it with docker compose port. Step 5 (5 min): docker stats reveals actual consumption; discuss OOM behaviour when mem_limit is undersized (exit 137, restart loop) and right-sizing from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measurement. Two replicas appear on two auto-assigned host ports, and total memory roughly doubles because each replica loads a complete copy of the model. Draw the conclusion explicitly: what participants just did by hand — adding a replica and finding its port — is exactly what a cloud autoscaler and load balancer automate.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every lab step has a direct cloud counterpart. Participants write this mapping in their own words as part of deliverable 4. Walking this table is the bridge between today's local lab and the cloud theory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all four items before the review block. Item 4's written paragraph is the comprehension check: each pair states, in its own words, how the local practices map to their cloud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pitfall maps back to a concept slide and to a lab step where the correct practice was exercised. Invite participants to identify which step guards against each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five capabilities and the objective: container-packaging discipline applied locally, cloud deployment understood in theory. Remind pairs to retain the lab02 directory and built image for Session 3, which introduces CI/CD with evaluation gates, canary deployments and automated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509760" y="-1645920"/>
            <a:ext cx="4937760" cy="4937760"/>
          </a:xfrm>
          <a:prstGeom prst="ellipse">
            <a:avLst/>
          </a:prstGeom>
          <a:solidFill>
            <a:srgbClr val="2E3554"/>
          </a:solidFill>
          <a:ln/>
        </p:spPr>
      </p:sp>
      <p:sp>
        <p:nvSpPr>
          <p:cNvPr id="3" name="Shape 1"/>
          <p:cNvSpPr/>
          <p:nvPr/>
        </p:nvSpPr>
        <p:spPr>
          <a:xfrm>
            <a:off x="-1463040" y="4937760"/>
            <a:ext cx="4023360" cy="4023360"/>
          </a:xfrm>
          <a:prstGeom prst="ellipse">
            <a:avLst/>
          </a:prstGeom>
          <a:solidFill>
            <a:srgbClr val="2E3554"/>
          </a:solidFill>
          <a:ln/>
        </p:spPr>
      </p:sp>
      <p:sp>
        <p:nvSpPr>
          <p:cNvPr id="4" name="Shape 2"/>
          <p:cNvSpPr/>
          <p:nvPr/>
        </p:nvSpPr>
        <p:spPr>
          <a:xfrm>
            <a:off x="685800" y="777240"/>
            <a:ext cx="777240" cy="77724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87882" y="979322"/>
            <a:ext cx="373075" cy="373075"/>
          </a:xfrm>
          <a:prstGeom prst="rect">
            <a:avLst/>
          </a:prstGeom>
        </p:spPr>
      </p:pic>
      <p:sp>
        <p:nvSpPr>
          <p:cNvPr id="6" name="Text 3"/>
          <p:cNvSpPr/>
          <p:nvPr/>
        </p:nvSpPr>
        <p:spPr>
          <a:xfrm>
            <a:off x="685800" y="1920240"/>
            <a:ext cx="105156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AI FULL-STACK &amp; DEPLOYMENT ENGINEER · TRACK 2.A · SESSION 2</a:t>
            </a:r>
            <a:endParaRPr lang="en-US" sz="1300" dirty="0"/>
          </a:p>
        </p:txBody>
      </p:sp>
      <p:sp>
        <p:nvSpPr>
          <p:cNvPr id="7" name="Text 4"/>
          <p:cNvSpPr/>
          <p:nvPr/>
        </p:nvSpPr>
        <p:spPr>
          <a:xfrm>
            <a:off x="658368" y="2286000"/>
            <a:ext cx="11338560"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Container Packaging &amp; Cloud Deployment</a:t>
            </a:r>
            <a:endParaRPr lang="en-US" sz="4400" dirty="0"/>
          </a:p>
        </p:txBody>
      </p:sp>
      <p:sp>
        <p:nvSpPr>
          <p:cNvPr id="8" name="Text 5"/>
          <p:cNvSpPr/>
          <p:nvPr/>
        </p:nvSpPr>
        <p:spPr>
          <a:xfrm>
            <a:off x="685800" y="3337560"/>
            <a:ext cx="10241280" cy="73152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Packaging a model server as a reproducible container image, applying production disciplines locally, and studying cloud deployment as reference theory</a:t>
            </a:r>
            <a:endParaRPr lang="en-US" sz="1700" dirty="0"/>
          </a:p>
        </p:txBody>
      </p:sp>
      <p:sp>
        <p:nvSpPr>
          <p:cNvPr id="9" name="Text 6"/>
          <p:cNvSpPr/>
          <p:nvPr/>
        </p:nvSpPr>
        <p:spPr>
          <a:xfrm>
            <a:off x="685800" y="4343400"/>
            <a:ext cx="1060704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Docker  ·  Images &amp; layers  ·  Build cache  ·  Health checks  ·  Secrets management  ·  Docker Compose  ·  Managed runtimes (theory)</a:t>
            </a:r>
            <a:endParaRPr lang="en-US" sz="1450" dirty="0"/>
          </a:p>
        </p:txBody>
      </p:sp>
      <p:sp>
        <p:nvSpPr>
          <p:cNvPr id="10" name="Text 7"/>
          <p:cNvSpPr/>
          <p:nvPr/>
        </p:nvSpPr>
        <p:spPr>
          <a:xfrm>
            <a:off x="685800" y="4983480"/>
            <a:ext cx="10058400" cy="320040"/>
          </a:xfrm>
          <a:prstGeom prst="rect">
            <a:avLst/>
          </a:prstGeom>
          <a:noFill/>
          <a:ln/>
        </p:spPr>
        <p:txBody>
          <a:bodyPr wrap="square" lIns="0" tIns="0" rIns="0" bIns="0" rtlCol="0" anchor="ctr"/>
          <a:lstStyle/>
          <a:p>
            <a:pPr indent="0" marL="0">
              <a:buNone/>
            </a:pPr>
            <a:r>
              <a:rPr lang="en-US" sz="1300" i="1" dirty="0">
                <a:solidFill>
                  <a:srgbClr val="F5B971"/>
                </a:solidFill>
                <a:latin typeface="Calibri" pitchFamily="34" charset="0"/>
                <a:ea typeface="Calibri" pitchFamily="34" charset="-122"/>
                <a:cs typeface="Calibri" pitchFamily="34" charset="-120"/>
              </a:rPr>
              <a:t>The hands-on lab runs entirely on your local machine — no cloud account is required.</a:t>
            </a:r>
            <a:endParaRPr lang="en-US" sz="1300" dirty="0"/>
          </a:p>
        </p:txBody>
      </p:sp>
      <p:sp>
        <p:nvSpPr>
          <p:cNvPr id="11" name="Text 8"/>
          <p:cNvSpPr/>
          <p:nvPr/>
        </p:nvSpPr>
        <p:spPr>
          <a:xfrm>
            <a:off x="685800" y="6035040"/>
            <a:ext cx="9601200" cy="320040"/>
          </a:xfrm>
          <a:prstGeom prst="rect">
            <a:avLst/>
          </a:prstGeom>
          <a:noFill/>
          <a:ln/>
        </p:spPr>
        <p:txBody>
          <a:bodyPr wrap="square" lIns="0" tIns="0" rIns="0" bIns="0" rtlCol="0" anchor="ctr"/>
          <a:lstStyle/>
          <a:p>
            <a:pPr indent="0" marL="0">
              <a:buNone/>
            </a:pPr>
            <a:r>
              <a:rPr lang="en-US" sz="1300" dirty="0">
                <a:solidFill>
                  <a:srgbClr val="9AA7C7"/>
                </a:solidFill>
                <a:latin typeface="Calibri" pitchFamily="34" charset="0"/>
                <a:ea typeface="Calibri" pitchFamily="34" charset="-122"/>
                <a:cs typeface="Calibri" pitchFamily="34" charset="-120"/>
              </a:rPr>
              <a:t>Day 2 · 2 hours · concepts 45 min + local lab 60 min + review 15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SESSION 2 · AGENDA</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Session agenda</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5448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85623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45 min</a:t>
            </a:r>
            <a:endParaRPr lang="en-US" sz="2200" dirty="0"/>
          </a:p>
        </p:txBody>
      </p:sp>
      <p:sp>
        <p:nvSpPr>
          <p:cNvPr id="10" name="Shape 6"/>
          <p:cNvSpPr/>
          <p:nvPr/>
        </p:nvSpPr>
        <p:spPr>
          <a:xfrm>
            <a:off x="2286000" y="1883664"/>
            <a:ext cx="502920" cy="502920"/>
          </a:xfrm>
          <a:prstGeom prst="ellipse">
            <a:avLst/>
          </a:prstGeom>
          <a:solidFill>
            <a:srgbClr val="232946"/>
          </a:solidFill>
          <a:ln/>
        </p:spPr>
      </p:sp>
      <p:pic>
        <p:nvPicPr>
          <p:cNvPr id="11" name="Image 1" descr="preencoded.png">    </p:cNvPr>
          <p:cNvPicPr>
            <a:picLocks noChangeAspect="1"/>
          </p:cNvPicPr>
          <p:nvPr/>
        </p:nvPicPr>
        <p:blipFill>
          <a:blip r:embed="rId2"/>
          <a:stretch>
            <a:fillRect/>
          </a:stretch>
        </p:blipFill>
        <p:spPr>
          <a:xfrm>
            <a:off x="2416759" y="2014423"/>
            <a:ext cx="241402" cy="241402"/>
          </a:xfrm>
          <a:prstGeom prst="rect">
            <a:avLst/>
          </a:prstGeom>
        </p:spPr>
      </p:pic>
      <p:sp>
        <p:nvSpPr>
          <p:cNvPr id="12" name="Text 7"/>
          <p:cNvSpPr/>
          <p:nvPr/>
        </p:nvSpPr>
        <p:spPr>
          <a:xfrm>
            <a:off x="3017520" y="1719072"/>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Concepts &amp; walkthrough</a:t>
            </a:r>
            <a:endParaRPr lang="en-US" sz="1600" dirty="0"/>
          </a:p>
        </p:txBody>
      </p:sp>
      <p:sp>
        <p:nvSpPr>
          <p:cNvPr id="13" name="Text 8"/>
          <p:cNvSpPr/>
          <p:nvPr/>
        </p:nvSpPr>
        <p:spPr>
          <a:xfrm>
            <a:off x="3017520" y="2084832"/>
            <a:ext cx="81381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Environment drift and reproducibility; container fundamentals; Dockerfile discipline for ML services; supply-chain hygiene; secrets; health probes; cloud deployment targets as reference theory.</a:t>
            </a:r>
            <a:endParaRPr lang="en-US" sz="1200" dirty="0"/>
          </a:p>
        </p:txBody>
      </p:sp>
      <p:sp>
        <p:nvSpPr>
          <p:cNvPr id="14" name="Shape 9"/>
          <p:cNvSpPr/>
          <p:nvPr/>
        </p:nvSpPr>
        <p:spPr>
          <a:xfrm>
            <a:off x="640080" y="2971800"/>
            <a:ext cx="10881360" cy="1188720"/>
          </a:xfrm>
          <a:prstGeom prst="roundRect">
            <a:avLst>
              <a:gd name="adj" fmla="val 6923"/>
            </a:avLst>
          </a:prstGeom>
          <a:solidFill>
            <a:srgbClr val="DDE6F5"/>
          </a:solidFill>
          <a:ln/>
          <a:effectLst>
            <a:outerShdw sx="100000" sy="100000" kx="0" ky="0" algn="bl" rotWithShape="0" blurRad="76200" dist="25400" dir="5400000">
              <a:srgbClr val="9AA4B8">
                <a:alpha val="35000"/>
              </a:srgbClr>
            </a:outerShdw>
          </a:effectLst>
        </p:spPr>
      </p:sp>
      <p:sp>
        <p:nvSpPr>
          <p:cNvPr id="15" name="Text 10"/>
          <p:cNvSpPr/>
          <p:nvPr/>
        </p:nvSpPr>
        <p:spPr>
          <a:xfrm>
            <a:off x="868680" y="327355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60 min</a:t>
            </a:r>
            <a:endParaRPr lang="en-US" sz="2200" dirty="0"/>
          </a:p>
        </p:txBody>
      </p:sp>
      <p:sp>
        <p:nvSpPr>
          <p:cNvPr id="16" name="Shape 11"/>
          <p:cNvSpPr/>
          <p:nvPr/>
        </p:nvSpPr>
        <p:spPr>
          <a:xfrm>
            <a:off x="2286000" y="3300984"/>
            <a:ext cx="502920" cy="502920"/>
          </a:xfrm>
          <a:prstGeom prst="ellipse">
            <a:avLst/>
          </a:prstGeom>
          <a:solidFill>
            <a:srgbClr val="232946"/>
          </a:solidFill>
          <a:ln/>
        </p:spPr>
      </p:sp>
      <p:pic>
        <p:nvPicPr>
          <p:cNvPr id="17" name="Image 2" descr="preencoded.png">    </p:cNvPr>
          <p:cNvPicPr>
            <a:picLocks noChangeAspect="1"/>
          </p:cNvPicPr>
          <p:nvPr/>
        </p:nvPicPr>
        <p:blipFill>
          <a:blip r:embed="rId3"/>
          <a:stretch>
            <a:fillRect/>
          </a:stretch>
        </p:blipFill>
        <p:spPr>
          <a:xfrm>
            <a:off x="2416759" y="3431743"/>
            <a:ext cx="241402" cy="241402"/>
          </a:xfrm>
          <a:prstGeom prst="rect">
            <a:avLst/>
          </a:prstGeom>
        </p:spPr>
      </p:pic>
      <p:sp>
        <p:nvSpPr>
          <p:cNvPr id="18" name="Text 12"/>
          <p:cNvSpPr/>
          <p:nvPr/>
        </p:nvSpPr>
        <p:spPr>
          <a:xfrm>
            <a:off x="3017520" y="3136392"/>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Local deployment lab</a:t>
            </a:r>
            <a:endParaRPr lang="en-US" sz="1600" dirty="0"/>
          </a:p>
        </p:txBody>
      </p:sp>
      <p:sp>
        <p:nvSpPr>
          <p:cNvPr id="19" name="Text 13"/>
          <p:cNvSpPr/>
          <p:nvPr/>
        </p:nvSpPr>
        <p:spPr>
          <a:xfrm>
            <a:off x="3017520" y="3502152"/>
            <a:ext cx="81381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Build, run, secure, constrain and scale the LLM inference container on your own machine with Docker and Docker Compose. All steps are local.</a:t>
            </a:r>
            <a:endParaRPr lang="en-US" sz="1200" dirty="0"/>
          </a:p>
        </p:txBody>
      </p:sp>
      <p:sp>
        <p:nvSpPr>
          <p:cNvPr id="20" name="Shape 14"/>
          <p:cNvSpPr/>
          <p:nvPr/>
        </p:nvSpPr>
        <p:spPr>
          <a:xfrm>
            <a:off x="640080" y="438912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21" name="Text 15"/>
          <p:cNvSpPr/>
          <p:nvPr/>
        </p:nvSpPr>
        <p:spPr>
          <a:xfrm>
            <a:off x="868680" y="469087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15 min</a:t>
            </a:r>
            <a:endParaRPr lang="en-US" sz="2200" dirty="0"/>
          </a:p>
        </p:txBody>
      </p:sp>
      <p:sp>
        <p:nvSpPr>
          <p:cNvPr id="22" name="Shape 16"/>
          <p:cNvSpPr/>
          <p:nvPr/>
        </p:nvSpPr>
        <p:spPr>
          <a:xfrm>
            <a:off x="2286000" y="4718304"/>
            <a:ext cx="502920" cy="502920"/>
          </a:xfrm>
          <a:prstGeom prst="ellipse">
            <a:avLst/>
          </a:prstGeom>
          <a:solidFill>
            <a:srgbClr val="232946"/>
          </a:solidFill>
          <a:ln/>
        </p:spPr>
      </p:sp>
      <p:pic>
        <p:nvPicPr>
          <p:cNvPr id="23" name="Image 3" descr="preencoded.png">    </p:cNvPr>
          <p:cNvPicPr>
            <a:picLocks noChangeAspect="1"/>
          </p:cNvPicPr>
          <p:nvPr/>
        </p:nvPicPr>
        <p:blipFill>
          <a:blip r:embed="rId4"/>
          <a:stretch>
            <a:fillRect/>
          </a:stretch>
        </p:blipFill>
        <p:spPr>
          <a:xfrm>
            <a:off x="2416759" y="4849063"/>
            <a:ext cx="241402" cy="241402"/>
          </a:xfrm>
          <a:prstGeom prst="rect">
            <a:avLst/>
          </a:prstGeom>
        </p:spPr>
      </p:pic>
      <p:sp>
        <p:nvSpPr>
          <p:cNvPr id="24" name="Text 17"/>
          <p:cNvSpPr/>
          <p:nvPr/>
        </p:nvSpPr>
        <p:spPr>
          <a:xfrm>
            <a:off x="3017520" y="4553712"/>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Review &amp; wrap-up</a:t>
            </a:r>
            <a:endParaRPr lang="en-US" sz="1600" dirty="0"/>
          </a:p>
        </p:txBody>
      </p:sp>
      <p:sp>
        <p:nvSpPr>
          <p:cNvPr id="25" name="Text 18"/>
          <p:cNvSpPr/>
          <p:nvPr/>
        </p:nvSpPr>
        <p:spPr>
          <a:xfrm>
            <a:off x="3017520" y="4919472"/>
            <a:ext cx="8138160" cy="5486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Compare measurements — image size, cold start, memory per replica — map each local practice to its cloud equivalent, and preview Session 3.</a:t>
            </a:r>
            <a:endParaRPr lang="en-US" sz="1200" dirty="0"/>
          </a:p>
        </p:txBody>
      </p:sp>
      <p:sp>
        <p:nvSpPr>
          <p:cNvPr id="26" name="Text 19"/>
          <p:cNvSpPr/>
          <p:nvPr/>
        </p:nvSpPr>
        <p:spPr>
          <a:xfrm>
            <a:off x="640080" y="5943600"/>
            <a:ext cx="10881360" cy="411480"/>
          </a:xfrm>
          <a:prstGeom prst="rect">
            <a:avLst/>
          </a:prstGeom>
          <a:noFill/>
          <a:ln/>
        </p:spPr>
        <p:txBody>
          <a:bodyPr wrap="square" lIns="0" tIns="0" rIns="0" bIns="0" rtlCol="0" anchor="ctr"/>
          <a:lstStyle/>
          <a:p>
            <a:pPr indent="0" marL="0">
              <a:buNone/>
            </a:pPr>
            <a:r>
              <a:rPr lang="en-US" sz="1350" b="1" dirty="0">
                <a:solidFill>
                  <a:srgbClr val="E8871E"/>
                </a:solidFill>
                <a:latin typeface="Calibri" pitchFamily="34" charset="0"/>
                <a:ea typeface="Calibri" pitchFamily="34" charset="-122"/>
                <a:cs typeface="Calibri" pitchFamily="34" charset="-120"/>
              </a:rPr>
              <a:t>Objective: </a:t>
            </a:r>
            <a:pPr indent="0" marL="0">
              <a:buNone/>
            </a:pPr>
            <a:r>
              <a:rPr lang="en-US" sz="1350" dirty="0">
                <a:solidFill>
                  <a:srgbClr val="232946"/>
                </a:solidFill>
                <a:latin typeface="Calibri" pitchFamily="34" charset="0"/>
                <a:ea typeface="Calibri" pitchFamily="34" charset="-122"/>
                <a:cs typeface="Calibri" pitchFamily="34" charset="-120"/>
              </a:rPr>
              <a:t>apply container-packaging discipline and demonstrate deployment — locally in practice, with cloud deployment understood in theory.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PROBLEM</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Environment drift and the reproducibility failure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257800" cy="3794760"/>
          </a:xfrm>
          <a:prstGeom prst="roundRect">
            <a:avLst>
              <a:gd name="adj" fmla="val 2169"/>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914400" y="1737360"/>
            <a:ext cx="4663440" cy="365760"/>
          </a:xfrm>
          <a:prstGeom prst="rect">
            <a:avLst/>
          </a:prstGeom>
          <a:noFill/>
          <a:ln/>
        </p:spPr>
        <p:txBody>
          <a:bodyPr wrap="square" lIns="0" tIns="0" rIns="0" bIns="0" rtlCol="0" anchor="ctr"/>
          <a:lstStyle/>
          <a:p>
            <a:pPr indent="0" marL="0">
              <a:buNone/>
            </a:pPr>
            <a:r>
              <a:rPr lang="en-US" sz="1700" b="1" dirty="0">
                <a:solidFill>
                  <a:srgbClr val="B3402A"/>
                </a:solidFill>
                <a:latin typeface="Arial" pitchFamily="34" charset="0"/>
                <a:ea typeface="Arial" pitchFamily="34" charset="-122"/>
                <a:cs typeface="Arial" pitchFamily="34" charset="-120"/>
              </a:rPr>
              <a:t>Environment drift</a:t>
            </a:r>
            <a:endParaRPr lang="en-US" sz="1700" dirty="0"/>
          </a:p>
        </p:txBody>
      </p:sp>
      <p:sp>
        <p:nvSpPr>
          <p:cNvPr id="10" name="Text 6"/>
          <p:cNvSpPr/>
          <p:nvPr/>
        </p:nvSpPr>
        <p:spPr>
          <a:xfrm>
            <a:off x="914400" y="2084832"/>
            <a:ext cx="4663440" cy="27432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Installing the application separately on each host</a:t>
            </a:r>
            <a:endParaRPr lang="en-US" sz="1200" dirty="0"/>
          </a:p>
        </p:txBody>
      </p:sp>
      <p:sp>
        <p:nvSpPr>
          <p:cNvPr id="11" name="Text 7"/>
          <p:cNvSpPr/>
          <p:nvPr/>
        </p:nvSpPr>
        <p:spPr>
          <a:xfrm>
            <a:off x="914400" y="2487168"/>
            <a:ext cx="4754880" cy="2743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Development, CI and production hosts accumulate different Python versions, system libraries and dependency trees</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artifact that was tested is not the artifact that runs in production</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ML services amplify the risk: native wheels, model files and accelerator libraries all vary by host</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Failures surface late, in the environment least convenient to debug</a:t>
            </a:r>
            <a:endParaRPr lang="en-US" sz="1250" dirty="0"/>
          </a:p>
        </p:txBody>
      </p:sp>
      <p:sp>
        <p:nvSpPr>
          <p:cNvPr id="12" name="Shape 8"/>
          <p:cNvSpPr/>
          <p:nvPr/>
        </p:nvSpPr>
        <p:spPr>
          <a:xfrm>
            <a:off x="6263640" y="1508760"/>
            <a:ext cx="5257800" cy="3794760"/>
          </a:xfrm>
          <a:prstGeom prst="roundRect">
            <a:avLst>
              <a:gd name="adj" fmla="val 2169"/>
            </a:avLst>
          </a:prstGeom>
          <a:solidFill>
            <a:srgbClr val="DDE6F5"/>
          </a:solidFill>
          <a:ln/>
          <a:effectLst>
            <a:outerShdw sx="100000" sy="100000" kx="0" ky="0" algn="bl" rotWithShape="0" blurRad="76200" dist="25400" dir="5400000">
              <a:srgbClr val="9AA4B8">
                <a:alpha val="35000"/>
              </a:srgbClr>
            </a:outerShdw>
          </a:effectLst>
        </p:spPr>
      </p:sp>
      <p:sp>
        <p:nvSpPr>
          <p:cNvPr id="13" name="Text 9"/>
          <p:cNvSpPr/>
          <p:nvPr/>
        </p:nvSpPr>
        <p:spPr>
          <a:xfrm>
            <a:off x="6537960" y="1737360"/>
            <a:ext cx="4754880" cy="365760"/>
          </a:xfrm>
          <a:prstGeom prst="rect">
            <a:avLst/>
          </a:prstGeom>
          <a:noFill/>
          <a:ln/>
        </p:spPr>
        <p:txBody>
          <a:bodyPr wrap="square" lIns="0" tIns="0" rIns="0" bIns="0" rtlCol="0" anchor="ctr"/>
          <a:lstStyle/>
          <a:p>
            <a:pPr indent="0" marL="0">
              <a:buNone/>
            </a:pPr>
            <a:r>
              <a:rPr lang="en-US" sz="1700" b="1" dirty="0">
                <a:solidFill>
                  <a:srgbClr val="2C7A4B"/>
                </a:solidFill>
                <a:latin typeface="Arial" pitchFamily="34" charset="0"/>
                <a:ea typeface="Arial" pitchFamily="34" charset="-122"/>
                <a:cs typeface="Arial" pitchFamily="34" charset="-120"/>
              </a:rPr>
              <a:t>The container as the unit of deployment</a:t>
            </a:r>
            <a:endParaRPr lang="en-US" sz="1700" dirty="0"/>
          </a:p>
        </p:txBody>
      </p:sp>
      <p:sp>
        <p:nvSpPr>
          <p:cNvPr id="14" name="Text 10"/>
          <p:cNvSpPr/>
          <p:nvPr/>
        </p:nvSpPr>
        <p:spPr>
          <a:xfrm>
            <a:off x="6537960" y="2084832"/>
            <a:ext cx="4754880" cy="27432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Shipping one immutable, self-contained image</a:t>
            </a:r>
            <a:endParaRPr lang="en-US" sz="1200" dirty="0"/>
          </a:p>
        </p:txBody>
      </p:sp>
      <p:sp>
        <p:nvSpPr>
          <p:cNvPr id="15" name="Text 11"/>
          <p:cNvSpPr/>
          <p:nvPr/>
        </p:nvSpPr>
        <p:spPr>
          <a:xfrm>
            <a:off x="6537960" y="2487168"/>
            <a:ext cx="4800600" cy="2743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Application code, interpreter, dependencies and OS libraries are packaged into a single immutable image</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image that passes testing is byte-for-byte the image that runs in production</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Any host with a container runtime executes it without further setup</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Containers are the standard unit of deployment across every major cloud platform</a:t>
            </a:r>
            <a:endParaRPr lang="en-US" sz="1250" dirty="0"/>
          </a:p>
        </p:txBody>
      </p:sp>
      <p:sp>
        <p:nvSpPr>
          <p:cNvPr id="16" name="Shape 12"/>
          <p:cNvSpPr/>
          <p:nvPr/>
        </p:nvSpPr>
        <p:spPr>
          <a:xfrm>
            <a:off x="640080" y="5532120"/>
            <a:ext cx="10881360" cy="777240"/>
          </a:xfrm>
          <a:prstGeom prst="roundRect">
            <a:avLst>
              <a:gd name="adj" fmla="val 10588"/>
            </a:avLst>
          </a:prstGeom>
          <a:solidFill>
            <a:srgbClr val="232946"/>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5605272"/>
            <a:ext cx="10424160" cy="630936"/>
          </a:xfrm>
          <a:prstGeom prst="rect">
            <a:avLst/>
          </a:prstGeom>
          <a:noFill/>
          <a:ln/>
        </p:spPr>
        <p:txBody>
          <a:bodyPr wrap="square" lIns="0" tIns="0" rIns="0" bIns="0" rtlCol="0" anchor="ctr"/>
          <a:lstStyle/>
          <a:p>
            <a:pPr indent="0" marL="0">
              <a:buNone/>
            </a:pPr>
            <a:r>
              <a:rPr lang="en-US" sz="1300" b="1" dirty="0">
                <a:solidFill>
                  <a:srgbClr val="F5B971"/>
                </a:solidFill>
                <a:latin typeface="Calibri" pitchFamily="34" charset="0"/>
                <a:ea typeface="Calibri" pitchFamily="34" charset="-122"/>
                <a:cs typeface="Calibri" pitchFamily="34" charset="-120"/>
              </a:rPr>
              <a:t>Principle:  </a:t>
            </a:r>
            <a:pPr indent="0" marL="0">
              <a:buNone/>
            </a:pPr>
            <a:r>
              <a:rPr lang="en-US" sz="1300" dirty="0">
                <a:solidFill>
                  <a:srgbClr val="FFFFFF"/>
                </a:solidFill>
                <a:latin typeface="Calibri" pitchFamily="34" charset="0"/>
                <a:ea typeface="Calibri" pitchFamily="34" charset="-122"/>
                <a:cs typeface="Calibri" pitchFamily="34" charset="-120"/>
              </a:rPr>
              <a:t>build once, run anywhere a runtime exists — promotion between environments moves an artifact, not a list of installation steps.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CORE CONCEPTS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Container fundamentals: images, layers, registries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417320"/>
            <a:ext cx="5303520" cy="1965960"/>
          </a:xfrm>
          <a:prstGeom prst="roundRect">
            <a:avLst>
              <a:gd name="adj" fmla="val 4186"/>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572768"/>
            <a:ext cx="4846320" cy="32004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Image — the immutable artifact</a:t>
            </a:r>
            <a:endParaRPr lang="en-US" sz="1500" dirty="0"/>
          </a:p>
        </p:txBody>
      </p:sp>
      <p:sp>
        <p:nvSpPr>
          <p:cNvPr id="10" name="Text 6"/>
          <p:cNvSpPr/>
          <p:nvPr/>
        </p:nvSpPr>
        <p:spPr>
          <a:xfrm>
            <a:off x="868680" y="1947672"/>
            <a:ext cx="4892040" cy="1371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Read-only package: code, dependencies, OS libraries</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Built from a Dockerfile as a stack of cached layers</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Versioned by tag (v1, v2, …) and stored in a registry</a:t>
            </a:r>
            <a:endParaRPr lang="en-US" sz="1200" dirty="0"/>
          </a:p>
        </p:txBody>
      </p:sp>
      <p:sp>
        <p:nvSpPr>
          <p:cNvPr id="11" name="Shape 7"/>
          <p:cNvSpPr/>
          <p:nvPr/>
        </p:nvSpPr>
        <p:spPr>
          <a:xfrm>
            <a:off x="6263640" y="1417320"/>
            <a:ext cx="5303520" cy="1965960"/>
          </a:xfrm>
          <a:prstGeom prst="roundRect">
            <a:avLst>
              <a:gd name="adj" fmla="val 4186"/>
            </a:avLst>
          </a:prstGeom>
          <a:solidFill>
            <a:srgbClr val="DDE6F5"/>
          </a:solidFill>
          <a:ln/>
          <a:effectLst>
            <a:outerShdw sx="100000" sy="100000" kx="0" ky="0" algn="bl" rotWithShape="0" blurRad="76200" dist="25400" dir="5400000">
              <a:srgbClr val="9AA4B8">
                <a:alpha val="35000"/>
              </a:srgbClr>
            </a:outerShdw>
          </a:effectLst>
        </p:spPr>
      </p:sp>
      <p:sp>
        <p:nvSpPr>
          <p:cNvPr id="12" name="Text 8"/>
          <p:cNvSpPr/>
          <p:nvPr/>
        </p:nvSpPr>
        <p:spPr>
          <a:xfrm>
            <a:off x="6492240" y="1572768"/>
            <a:ext cx="4846320" cy="32004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Container — the running instance</a:t>
            </a:r>
            <a:endParaRPr lang="en-US" sz="1500" dirty="0"/>
          </a:p>
        </p:txBody>
      </p:sp>
      <p:sp>
        <p:nvSpPr>
          <p:cNvPr id="13" name="Text 9"/>
          <p:cNvSpPr/>
          <p:nvPr/>
        </p:nvSpPr>
        <p:spPr>
          <a:xfrm>
            <a:off x="6492240" y="1947672"/>
            <a:ext cx="4892040" cy="1371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An isolated process started from an image</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OS-level virtualization: shares the host kernel; isolated by namespaces and control groups</a:t>
            </a:r>
            <a:endParaRPr lang="en-US" sz="1200" dirty="0"/>
          </a:p>
          <a:p>
            <a:pPr marL="152400" indent="-152400">
              <a:lnSpc>
                <a:spcPct val="108000"/>
              </a:lnSpc>
              <a:spcAft>
                <a:spcPts val="800"/>
              </a:spcAft>
              <a:buSzPct val="100000"/>
              <a:buChar char="•"/>
            </a:pPr>
            <a:r>
              <a:rPr lang="en-US" sz="1200" dirty="0">
                <a:solidFill>
                  <a:srgbClr val="232946"/>
                </a:solidFill>
                <a:latin typeface="Calibri" pitchFamily="34" charset="0"/>
                <a:ea typeface="Calibri" pitchFamily="34" charset="-122"/>
                <a:cs typeface="Calibri" pitchFamily="34" charset="-120"/>
              </a:rPr>
              <a:t>Many identical containers can run from one image</a:t>
            </a:r>
            <a:endParaRPr lang="en-US" sz="1200" dirty="0"/>
          </a:p>
        </p:txBody>
      </p:sp>
      <p:sp>
        <p:nvSpPr>
          <p:cNvPr id="14" name="Shape 10"/>
          <p:cNvSpPr/>
          <p:nvPr/>
        </p:nvSpPr>
        <p:spPr>
          <a:xfrm>
            <a:off x="731520" y="3749040"/>
            <a:ext cx="196596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5" name="Text 11"/>
          <p:cNvSpPr/>
          <p:nvPr/>
        </p:nvSpPr>
        <p:spPr>
          <a:xfrm>
            <a:off x="777240" y="3840480"/>
            <a:ext cx="1874520" cy="731520"/>
          </a:xfrm>
          <a:prstGeom prst="rect">
            <a:avLst/>
          </a:prstGeom>
          <a:noFill/>
          <a:ln/>
        </p:spPr>
        <p:txBody>
          <a:bodyPr wrap="square" lIns="0" tIns="0" rIns="0" bIns="0" rtlCol="0" anchor="ctr"/>
          <a:lstStyle/>
          <a:p>
            <a:pPr algn="ctr" indent="0" marL="0">
              <a:buNone/>
            </a:pPr>
            <a:r>
              <a:rPr lang="en-US" sz="1150" b="1" dirty="0">
                <a:solidFill>
                  <a:srgbClr val="232946"/>
                </a:solidFill>
                <a:latin typeface="Calibri" pitchFamily="34" charset="0"/>
                <a:ea typeface="Calibri" pitchFamily="34" charset="-122"/>
                <a:cs typeface="Calibri" pitchFamily="34" charset="-120"/>
              </a:rPr>
              <a:t>Dockerfile</a:t>
            </a:r>
            <a:endParaRPr lang="en-US" sz="1150" dirty="0"/>
          </a:p>
          <a:p>
            <a:pPr algn="ctr" indent="0" marL="0">
              <a:buNone/>
            </a:pPr>
            <a:r>
              <a:rPr lang="en-US" sz="1150" b="1" dirty="0">
                <a:solidFill>
                  <a:srgbClr val="232946"/>
                </a:solidFill>
                <a:latin typeface="Calibri" pitchFamily="34" charset="0"/>
                <a:ea typeface="Calibri" pitchFamily="34" charset="-122"/>
                <a:cs typeface="Calibri" pitchFamily="34" charset="-120"/>
              </a:rPr>
              <a:t>build definition</a:t>
            </a:r>
            <a:endParaRPr lang="en-US" sz="1150" dirty="0"/>
          </a:p>
        </p:txBody>
      </p:sp>
      <p:sp>
        <p:nvSpPr>
          <p:cNvPr id="16" name="Shape 12"/>
          <p:cNvSpPr/>
          <p:nvPr/>
        </p:nvSpPr>
        <p:spPr>
          <a:xfrm>
            <a:off x="2788920" y="4206240"/>
            <a:ext cx="640080" cy="0"/>
          </a:xfrm>
          <a:prstGeom prst="line">
            <a:avLst/>
          </a:prstGeom>
          <a:noFill/>
          <a:ln w="31750">
            <a:solidFill>
              <a:srgbClr val="E8871E"/>
            </a:solidFill>
            <a:prstDash val="solid"/>
            <a:tailEnd type="triangle"/>
          </a:ln>
        </p:spPr>
      </p:sp>
      <p:sp>
        <p:nvSpPr>
          <p:cNvPr id="17" name="Text 13"/>
          <p:cNvSpPr/>
          <p:nvPr/>
        </p:nvSpPr>
        <p:spPr>
          <a:xfrm>
            <a:off x="2487168" y="4315968"/>
            <a:ext cx="1280160" cy="228600"/>
          </a:xfrm>
          <a:prstGeom prst="rect">
            <a:avLst/>
          </a:prstGeom>
          <a:noFill/>
          <a:ln/>
        </p:spPr>
        <p:txBody>
          <a:bodyPr wrap="square" lIns="0" tIns="0" rIns="0" bIns="0" rtlCol="0" anchor="ctr"/>
          <a:lstStyle/>
          <a:p>
            <a:pPr algn="ctr" indent="0" marL="0">
              <a:buNone/>
            </a:pPr>
            <a:r>
              <a:rPr lang="en-US" sz="850" dirty="0">
                <a:solidFill>
                  <a:srgbClr val="5A6478"/>
                </a:solidFill>
                <a:latin typeface="Courier New" pitchFamily="34" charset="0"/>
                <a:ea typeface="Courier New" pitchFamily="34" charset="-122"/>
                <a:cs typeface="Courier New" pitchFamily="34" charset="-120"/>
              </a:rPr>
              <a:t>docker build</a:t>
            </a:r>
            <a:endParaRPr lang="en-US" sz="850" dirty="0"/>
          </a:p>
        </p:txBody>
      </p:sp>
      <p:sp>
        <p:nvSpPr>
          <p:cNvPr id="18" name="Shape 14"/>
          <p:cNvSpPr/>
          <p:nvPr/>
        </p:nvSpPr>
        <p:spPr>
          <a:xfrm>
            <a:off x="3520440" y="3749040"/>
            <a:ext cx="1965960" cy="914400"/>
          </a:xfrm>
          <a:prstGeom prst="roundRect">
            <a:avLst>
              <a:gd name="adj" fmla="val 9000"/>
            </a:avLst>
          </a:prstGeom>
          <a:solidFill>
            <a:srgbClr val="232946"/>
          </a:solidFill>
          <a:ln/>
          <a:effectLst>
            <a:outerShdw sx="100000" sy="100000" kx="0" ky="0" algn="bl" rotWithShape="0" blurRad="76200" dist="25400" dir="5400000">
              <a:srgbClr val="9AA4B8">
                <a:alpha val="35000"/>
              </a:srgbClr>
            </a:outerShdw>
          </a:effectLst>
        </p:spPr>
      </p:sp>
      <p:sp>
        <p:nvSpPr>
          <p:cNvPr id="19" name="Text 15"/>
          <p:cNvSpPr/>
          <p:nvPr/>
        </p:nvSpPr>
        <p:spPr>
          <a:xfrm>
            <a:off x="3566160" y="3840480"/>
            <a:ext cx="1874520" cy="7315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Image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llm-server:v1</a:t>
            </a:r>
            <a:endParaRPr lang="en-US" sz="1150" dirty="0"/>
          </a:p>
        </p:txBody>
      </p:sp>
      <p:sp>
        <p:nvSpPr>
          <p:cNvPr id="20" name="Shape 16"/>
          <p:cNvSpPr/>
          <p:nvPr/>
        </p:nvSpPr>
        <p:spPr>
          <a:xfrm>
            <a:off x="5577840" y="4206240"/>
            <a:ext cx="640080" cy="0"/>
          </a:xfrm>
          <a:prstGeom prst="line">
            <a:avLst/>
          </a:prstGeom>
          <a:noFill/>
          <a:ln w="31750">
            <a:solidFill>
              <a:srgbClr val="E8871E"/>
            </a:solidFill>
            <a:prstDash val="solid"/>
            <a:tailEnd type="triangle"/>
          </a:ln>
        </p:spPr>
      </p:sp>
      <p:sp>
        <p:nvSpPr>
          <p:cNvPr id="21" name="Text 17"/>
          <p:cNvSpPr/>
          <p:nvPr/>
        </p:nvSpPr>
        <p:spPr>
          <a:xfrm>
            <a:off x="5285232" y="4315968"/>
            <a:ext cx="1234440" cy="228600"/>
          </a:xfrm>
          <a:prstGeom prst="rect">
            <a:avLst/>
          </a:prstGeom>
          <a:noFill/>
          <a:ln/>
        </p:spPr>
        <p:txBody>
          <a:bodyPr wrap="square" lIns="0" tIns="0" rIns="0" bIns="0" rtlCol="0" anchor="ctr"/>
          <a:lstStyle/>
          <a:p>
            <a:pPr algn="ctr" indent="0" marL="0">
              <a:buNone/>
            </a:pPr>
            <a:r>
              <a:rPr lang="en-US" sz="850" dirty="0">
                <a:solidFill>
                  <a:srgbClr val="5A6478"/>
                </a:solidFill>
                <a:latin typeface="Courier New" pitchFamily="34" charset="0"/>
                <a:ea typeface="Courier New" pitchFamily="34" charset="-122"/>
                <a:cs typeface="Courier New" pitchFamily="34" charset="-120"/>
              </a:rPr>
              <a:t>docker push</a:t>
            </a:r>
            <a:endParaRPr lang="en-US" sz="850" dirty="0"/>
          </a:p>
        </p:txBody>
      </p:sp>
      <p:sp>
        <p:nvSpPr>
          <p:cNvPr id="22" name="Shape 18"/>
          <p:cNvSpPr/>
          <p:nvPr/>
        </p:nvSpPr>
        <p:spPr>
          <a:xfrm>
            <a:off x="6309360" y="3749040"/>
            <a:ext cx="1965960" cy="914400"/>
          </a:xfrm>
          <a:prstGeom prst="roundRect">
            <a:avLst>
              <a:gd name="adj" fmla="val 9000"/>
            </a:avLst>
          </a:prstGeom>
          <a:solidFill>
            <a:srgbClr val="DDE6F5"/>
          </a:solidFill>
          <a:ln/>
          <a:effectLst>
            <a:outerShdw sx="100000" sy="100000" kx="0" ky="0" algn="bl" rotWithShape="0" blurRad="76200" dist="25400" dir="5400000">
              <a:srgbClr val="9AA4B8">
                <a:alpha val="35000"/>
              </a:srgbClr>
            </a:outerShdw>
          </a:effectLst>
        </p:spPr>
      </p:sp>
      <p:sp>
        <p:nvSpPr>
          <p:cNvPr id="23" name="Text 19"/>
          <p:cNvSpPr/>
          <p:nvPr/>
        </p:nvSpPr>
        <p:spPr>
          <a:xfrm>
            <a:off x="6355080" y="3840480"/>
            <a:ext cx="1874520" cy="731520"/>
          </a:xfrm>
          <a:prstGeom prst="rect">
            <a:avLst/>
          </a:prstGeom>
          <a:noFill/>
          <a:ln/>
        </p:spPr>
        <p:txBody>
          <a:bodyPr wrap="square" lIns="0" tIns="0" rIns="0" bIns="0" rtlCol="0" anchor="ctr"/>
          <a:lstStyle/>
          <a:p>
            <a:pPr algn="ctr" indent="0" marL="0">
              <a:buNone/>
            </a:pPr>
            <a:r>
              <a:rPr lang="en-US" sz="1100" b="1" dirty="0">
                <a:solidFill>
                  <a:srgbClr val="232946"/>
                </a:solidFill>
                <a:latin typeface="Calibri" pitchFamily="34" charset="0"/>
                <a:ea typeface="Calibri" pitchFamily="34" charset="-122"/>
                <a:cs typeface="Calibri" pitchFamily="34" charset="-120"/>
              </a:rPr>
              <a:t>Registry</a:t>
            </a:r>
            <a:endParaRPr lang="en-US" sz="1100" dirty="0"/>
          </a:p>
          <a:p>
            <a:pPr algn="ctr" indent="0" marL="0">
              <a:buNone/>
            </a:pPr>
            <a:r>
              <a:rPr lang="en-US" sz="1100" b="1" dirty="0">
                <a:solidFill>
                  <a:srgbClr val="232946"/>
                </a:solidFill>
                <a:latin typeface="Calibri" pitchFamily="34" charset="0"/>
                <a:ea typeface="Calibri" pitchFamily="34" charset="-122"/>
                <a:cs typeface="Calibri" pitchFamily="34" charset="-120"/>
              </a:rPr>
              <a:t>distribution point</a:t>
            </a:r>
            <a:endParaRPr lang="en-US" sz="1100" dirty="0"/>
          </a:p>
        </p:txBody>
      </p:sp>
      <p:sp>
        <p:nvSpPr>
          <p:cNvPr id="24" name="Shape 20"/>
          <p:cNvSpPr/>
          <p:nvPr/>
        </p:nvSpPr>
        <p:spPr>
          <a:xfrm>
            <a:off x="8366760" y="4206240"/>
            <a:ext cx="640080" cy="0"/>
          </a:xfrm>
          <a:prstGeom prst="line">
            <a:avLst/>
          </a:prstGeom>
          <a:noFill/>
          <a:ln w="31750">
            <a:solidFill>
              <a:srgbClr val="E8871E"/>
            </a:solidFill>
            <a:prstDash val="solid"/>
            <a:tailEnd type="triangle"/>
          </a:ln>
        </p:spPr>
      </p:sp>
      <p:sp>
        <p:nvSpPr>
          <p:cNvPr id="25" name="Text 21"/>
          <p:cNvSpPr/>
          <p:nvPr/>
        </p:nvSpPr>
        <p:spPr>
          <a:xfrm>
            <a:off x="8092440" y="4315968"/>
            <a:ext cx="1188720" cy="228600"/>
          </a:xfrm>
          <a:prstGeom prst="rect">
            <a:avLst/>
          </a:prstGeom>
          <a:noFill/>
          <a:ln/>
        </p:spPr>
        <p:txBody>
          <a:bodyPr wrap="square" lIns="0" tIns="0" rIns="0" bIns="0" rtlCol="0" anchor="ctr"/>
          <a:lstStyle/>
          <a:p>
            <a:pPr algn="ctr" indent="0" marL="0">
              <a:buNone/>
            </a:pPr>
            <a:r>
              <a:rPr lang="en-US" sz="850" dirty="0">
                <a:solidFill>
                  <a:srgbClr val="5A6478"/>
                </a:solidFill>
                <a:latin typeface="Courier New" pitchFamily="34" charset="0"/>
                <a:ea typeface="Courier New" pitchFamily="34" charset="-122"/>
                <a:cs typeface="Courier New" pitchFamily="34" charset="-120"/>
              </a:rPr>
              <a:t>docker run</a:t>
            </a:r>
            <a:endParaRPr lang="en-US" sz="850" dirty="0"/>
          </a:p>
        </p:txBody>
      </p:sp>
      <p:sp>
        <p:nvSpPr>
          <p:cNvPr id="26" name="Shape 22"/>
          <p:cNvSpPr/>
          <p:nvPr/>
        </p:nvSpPr>
        <p:spPr>
          <a:xfrm>
            <a:off x="9098280" y="3493008"/>
            <a:ext cx="2423160" cy="1481328"/>
          </a:xfrm>
          <a:prstGeom prst="roundRect">
            <a:avLst>
              <a:gd name="adj" fmla="val 5556"/>
            </a:avLst>
          </a:prstGeom>
          <a:solidFill>
            <a:srgbClr val="232946"/>
          </a:solidFill>
          <a:ln/>
          <a:effectLst>
            <a:outerShdw sx="100000" sy="100000" kx="0" ky="0" algn="bl" rotWithShape="0" blurRad="76200" dist="25400" dir="5400000">
              <a:srgbClr val="9AA4B8">
                <a:alpha val="35000"/>
              </a:srgbClr>
            </a:outerShdw>
          </a:effectLst>
        </p:spPr>
      </p:sp>
      <p:sp>
        <p:nvSpPr>
          <p:cNvPr id="27" name="Text 23"/>
          <p:cNvSpPr/>
          <p:nvPr/>
        </p:nvSpPr>
        <p:spPr>
          <a:xfrm>
            <a:off x="9281160" y="3611880"/>
            <a:ext cx="210312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Containers</a:t>
            </a:r>
            <a:endParaRPr lang="en-US" sz="1250" dirty="0"/>
          </a:p>
        </p:txBody>
      </p:sp>
      <p:sp>
        <p:nvSpPr>
          <p:cNvPr id="28" name="Shape 24"/>
          <p:cNvSpPr/>
          <p:nvPr/>
        </p:nvSpPr>
        <p:spPr>
          <a:xfrm>
            <a:off x="9262872" y="3968496"/>
            <a:ext cx="621792" cy="502920"/>
          </a:xfrm>
          <a:prstGeom prst="roundRect">
            <a:avLst>
              <a:gd name="adj" fmla="val 10909"/>
            </a:avLst>
          </a:prstGeom>
          <a:solidFill>
            <a:srgbClr val="2E3554"/>
          </a:solidFill>
          <a:ln/>
        </p:spPr>
      </p:sp>
      <p:pic>
        <p:nvPicPr>
          <p:cNvPr id="29" name="Image 1" descr="preencoded.png">    </p:cNvPr>
          <p:cNvPicPr>
            <a:picLocks noChangeAspect="1"/>
          </p:cNvPicPr>
          <p:nvPr/>
        </p:nvPicPr>
        <p:blipFill>
          <a:blip r:embed="rId2"/>
          <a:stretch>
            <a:fillRect/>
          </a:stretch>
        </p:blipFill>
        <p:spPr>
          <a:xfrm>
            <a:off x="9427464" y="4069080"/>
            <a:ext cx="292608" cy="292608"/>
          </a:xfrm>
          <a:prstGeom prst="rect">
            <a:avLst/>
          </a:prstGeom>
        </p:spPr>
      </p:pic>
      <p:sp>
        <p:nvSpPr>
          <p:cNvPr id="30" name="Shape 25"/>
          <p:cNvSpPr/>
          <p:nvPr/>
        </p:nvSpPr>
        <p:spPr>
          <a:xfrm>
            <a:off x="9985248" y="3968496"/>
            <a:ext cx="621792" cy="502920"/>
          </a:xfrm>
          <a:prstGeom prst="roundRect">
            <a:avLst>
              <a:gd name="adj" fmla="val 10909"/>
            </a:avLst>
          </a:prstGeom>
          <a:solidFill>
            <a:srgbClr val="2E3554"/>
          </a:solidFill>
          <a:ln/>
        </p:spPr>
      </p:sp>
      <p:pic>
        <p:nvPicPr>
          <p:cNvPr id="31" name="Image 2" descr="preencoded.png">    </p:cNvPr>
          <p:cNvPicPr>
            <a:picLocks noChangeAspect="1"/>
          </p:cNvPicPr>
          <p:nvPr/>
        </p:nvPicPr>
        <p:blipFill>
          <a:blip r:embed="rId3"/>
          <a:stretch>
            <a:fillRect/>
          </a:stretch>
        </p:blipFill>
        <p:spPr>
          <a:xfrm>
            <a:off x="10149840" y="4069080"/>
            <a:ext cx="292608" cy="292608"/>
          </a:xfrm>
          <a:prstGeom prst="rect">
            <a:avLst/>
          </a:prstGeom>
        </p:spPr>
      </p:pic>
      <p:sp>
        <p:nvSpPr>
          <p:cNvPr id="32" name="Shape 26"/>
          <p:cNvSpPr/>
          <p:nvPr/>
        </p:nvSpPr>
        <p:spPr>
          <a:xfrm>
            <a:off x="10707624" y="3968496"/>
            <a:ext cx="621792" cy="502920"/>
          </a:xfrm>
          <a:prstGeom prst="roundRect">
            <a:avLst>
              <a:gd name="adj" fmla="val 10909"/>
            </a:avLst>
          </a:prstGeom>
          <a:solidFill>
            <a:srgbClr val="2E3554"/>
          </a:solidFill>
          <a:ln/>
        </p:spPr>
      </p:sp>
      <p:pic>
        <p:nvPicPr>
          <p:cNvPr id="33" name="Image 3" descr="preencoded.png">    </p:cNvPr>
          <p:cNvPicPr>
            <a:picLocks noChangeAspect="1"/>
          </p:cNvPicPr>
          <p:nvPr/>
        </p:nvPicPr>
        <p:blipFill>
          <a:blip r:embed="rId4"/>
          <a:stretch>
            <a:fillRect/>
          </a:stretch>
        </p:blipFill>
        <p:spPr>
          <a:xfrm>
            <a:off x="10872216" y="4069080"/>
            <a:ext cx="292608" cy="292608"/>
          </a:xfrm>
          <a:prstGeom prst="rect">
            <a:avLst/>
          </a:prstGeom>
        </p:spPr>
      </p:pic>
      <p:sp>
        <p:nvSpPr>
          <p:cNvPr id="34" name="Text 27"/>
          <p:cNvSpPr/>
          <p:nvPr/>
        </p:nvSpPr>
        <p:spPr>
          <a:xfrm>
            <a:off x="9281160" y="4572000"/>
            <a:ext cx="2194560" cy="27432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many instances, one image</a:t>
            </a:r>
            <a:endParaRPr lang="en-US" sz="950" dirty="0"/>
          </a:p>
        </p:txBody>
      </p:sp>
      <p:sp>
        <p:nvSpPr>
          <p:cNvPr id="35" name="Shape 28"/>
          <p:cNvSpPr/>
          <p:nvPr/>
        </p:nvSpPr>
        <p:spPr>
          <a:xfrm>
            <a:off x="640080" y="5440680"/>
            <a:ext cx="10881360" cy="868680"/>
          </a:xfrm>
          <a:prstGeom prst="roundRect">
            <a:avLst>
              <a:gd name="adj" fmla="val 9474"/>
            </a:avLst>
          </a:prstGeom>
          <a:solidFill>
            <a:srgbClr val="EEF2FA"/>
          </a:solidFill>
          <a:ln/>
          <a:effectLst>
            <a:outerShdw sx="100000" sy="100000" kx="0" ky="0" algn="bl" rotWithShape="0" blurRad="76200" dist="25400" dir="5400000">
              <a:srgbClr val="9AA4B8">
                <a:alpha val="35000"/>
              </a:srgbClr>
            </a:outerShdw>
          </a:effectLst>
        </p:spPr>
      </p:sp>
      <p:sp>
        <p:nvSpPr>
          <p:cNvPr id="36" name="Text 29"/>
          <p:cNvSpPr/>
          <p:nvPr/>
        </p:nvSpPr>
        <p:spPr>
          <a:xfrm>
            <a:off x="868680" y="5513832"/>
            <a:ext cx="10424160" cy="722376"/>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Registries  </a:t>
            </a:r>
            <a:pPr indent="0" marL="0">
              <a:buNone/>
            </a:pPr>
            <a:r>
              <a:rPr lang="en-US" sz="1200" dirty="0">
                <a:solidFill>
                  <a:srgbClr val="5A6478"/>
                </a:solidFill>
                <a:latin typeface="Calibri" pitchFamily="34" charset="0"/>
                <a:ea typeface="Calibri" pitchFamily="34" charset="-122"/>
                <a:cs typeface="Calibri" pitchFamily="34" charset="-120"/>
              </a:rPr>
              <a:t>(Docker Hub, GCP Artifact Registry, AWS ECR, Azure ACR) store and distribute versioned images. Layers are content-addressed: a push or pull transfers only the layers the other side does not already hold.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CORE CONCEPTS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Containers and virtual machines compared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371600"/>
            <a:ext cx="2651760" cy="347472"/>
          </a:xfrm>
          <a:prstGeom prst="rect">
            <a:avLst/>
          </a:prstGeom>
          <a:solidFill>
            <a:srgbClr val="FFFFFF"/>
          </a:solidFill>
          <a:ln/>
        </p:spPr>
      </p:sp>
      <p:sp>
        <p:nvSpPr>
          <p:cNvPr id="9" name="Text 5"/>
          <p:cNvSpPr/>
          <p:nvPr/>
        </p:nvSpPr>
        <p:spPr>
          <a:xfrm>
            <a:off x="768096" y="1371600"/>
            <a:ext cx="2432304" cy="347472"/>
          </a:xfrm>
          <a:prstGeom prst="rect">
            <a:avLst/>
          </a:prstGeom>
          <a:noFill/>
          <a:ln/>
        </p:spPr>
        <p:txBody>
          <a:bodyPr wrap="square" lIns="0" tIns="0" rIns="0" bIns="0" rtlCol="0" anchor="ctr"/>
          <a:lstStyle/>
          <a:p>
            <a:pPr indent="0" marL="0">
              <a:buNone/>
            </a:pPr>
            <a:endParaRPr lang="en-US" sz="1250" dirty="0"/>
          </a:p>
        </p:txBody>
      </p:sp>
      <p:sp>
        <p:nvSpPr>
          <p:cNvPr id="10" name="Shape 6"/>
          <p:cNvSpPr/>
          <p:nvPr/>
        </p:nvSpPr>
        <p:spPr>
          <a:xfrm>
            <a:off x="3291840" y="1371600"/>
            <a:ext cx="4114800" cy="347472"/>
          </a:xfrm>
          <a:prstGeom prst="rect">
            <a:avLst/>
          </a:prstGeom>
          <a:solidFill>
            <a:srgbClr val="232946"/>
          </a:solidFill>
          <a:ln/>
        </p:spPr>
      </p:sp>
      <p:sp>
        <p:nvSpPr>
          <p:cNvPr id="11" name="Text 7"/>
          <p:cNvSpPr/>
          <p:nvPr/>
        </p:nvSpPr>
        <p:spPr>
          <a:xfrm>
            <a:off x="3419856" y="1371600"/>
            <a:ext cx="3895344"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Containers</a:t>
            </a:r>
            <a:endParaRPr lang="en-US" sz="1250" dirty="0"/>
          </a:p>
        </p:txBody>
      </p:sp>
      <p:sp>
        <p:nvSpPr>
          <p:cNvPr id="12" name="Shape 8"/>
          <p:cNvSpPr/>
          <p:nvPr/>
        </p:nvSpPr>
        <p:spPr>
          <a:xfrm>
            <a:off x="7406640" y="1371600"/>
            <a:ext cx="4142232" cy="347472"/>
          </a:xfrm>
          <a:prstGeom prst="rect">
            <a:avLst/>
          </a:prstGeom>
          <a:solidFill>
            <a:srgbClr val="232946"/>
          </a:solidFill>
          <a:ln/>
        </p:spPr>
      </p:sp>
      <p:sp>
        <p:nvSpPr>
          <p:cNvPr id="13" name="Text 9"/>
          <p:cNvSpPr/>
          <p:nvPr/>
        </p:nvSpPr>
        <p:spPr>
          <a:xfrm>
            <a:off x="7534656" y="1371600"/>
            <a:ext cx="3922776" cy="34747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Virtual machines</a:t>
            </a:r>
            <a:endParaRPr lang="en-US" sz="1250" dirty="0"/>
          </a:p>
        </p:txBody>
      </p:sp>
      <p:sp>
        <p:nvSpPr>
          <p:cNvPr id="14" name="Shape 10"/>
          <p:cNvSpPr/>
          <p:nvPr/>
        </p:nvSpPr>
        <p:spPr>
          <a:xfrm>
            <a:off x="640080" y="1737360"/>
            <a:ext cx="2651760" cy="640080"/>
          </a:xfrm>
          <a:prstGeom prst="rect">
            <a:avLst/>
          </a:prstGeom>
          <a:solidFill>
            <a:srgbClr val="EEF2FA"/>
          </a:solidFill>
          <a:ln w="9525">
            <a:solidFill>
              <a:srgbClr val="C9D3E6"/>
            </a:solidFill>
            <a:prstDash val="solid"/>
          </a:ln>
        </p:spPr>
      </p:sp>
      <p:sp>
        <p:nvSpPr>
          <p:cNvPr id="15" name="Text 11"/>
          <p:cNvSpPr/>
          <p:nvPr/>
        </p:nvSpPr>
        <p:spPr>
          <a:xfrm>
            <a:off x="768096" y="1737360"/>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Virtualization boundary</a:t>
            </a:r>
            <a:endParaRPr lang="en-US" sz="1150" dirty="0"/>
          </a:p>
        </p:txBody>
      </p:sp>
      <p:sp>
        <p:nvSpPr>
          <p:cNvPr id="16" name="Shape 12"/>
          <p:cNvSpPr/>
          <p:nvPr/>
        </p:nvSpPr>
        <p:spPr>
          <a:xfrm>
            <a:off x="3291840" y="1737360"/>
            <a:ext cx="4114800" cy="640080"/>
          </a:xfrm>
          <a:prstGeom prst="rect">
            <a:avLst/>
          </a:prstGeom>
          <a:solidFill>
            <a:srgbClr val="EEF2FA"/>
          </a:solidFill>
          <a:ln w="9525">
            <a:solidFill>
              <a:srgbClr val="C9D3E6"/>
            </a:solidFill>
            <a:prstDash val="solid"/>
          </a:ln>
        </p:spPr>
      </p:sp>
      <p:sp>
        <p:nvSpPr>
          <p:cNvPr id="17" name="Text 13"/>
          <p:cNvSpPr/>
          <p:nvPr/>
        </p:nvSpPr>
        <p:spPr>
          <a:xfrm>
            <a:off x="3419856" y="1737360"/>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Operating-system level: namespaces and control groups on a shared host kernel</a:t>
            </a:r>
            <a:endParaRPr lang="en-US" sz="1050" dirty="0"/>
          </a:p>
        </p:txBody>
      </p:sp>
      <p:sp>
        <p:nvSpPr>
          <p:cNvPr id="18" name="Shape 14"/>
          <p:cNvSpPr/>
          <p:nvPr/>
        </p:nvSpPr>
        <p:spPr>
          <a:xfrm>
            <a:off x="7406640" y="1737360"/>
            <a:ext cx="4142232" cy="640080"/>
          </a:xfrm>
          <a:prstGeom prst="rect">
            <a:avLst/>
          </a:prstGeom>
          <a:solidFill>
            <a:srgbClr val="EEF2FA"/>
          </a:solidFill>
          <a:ln w="9525">
            <a:solidFill>
              <a:srgbClr val="C9D3E6"/>
            </a:solidFill>
            <a:prstDash val="solid"/>
          </a:ln>
        </p:spPr>
      </p:sp>
      <p:sp>
        <p:nvSpPr>
          <p:cNvPr id="19" name="Text 15"/>
          <p:cNvSpPr/>
          <p:nvPr/>
        </p:nvSpPr>
        <p:spPr>
          <a:xfrm>
            <a:off x="7534656" y="1737360"/>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Hardware level: a hypervisor runs a complete guest OS per VM</a:t>
            </a:r>
            <a:endParaRPr lang="en-US" sz="1050" dirty="0"/>
          </a:p>
        </p:txBody>
      </p:sp>
      <p:sp>
        <p:nvSpPr>
          <p:cNvPr id="20" name="Shape 16"/>
          <p:cNvSpPr/>
          <p:nvPr/>
        </p:nvSpPr>
        <p:spPr>
          <a:xfrm>
            <a:off x="640080" y="2395728"/>
            <a:ext cx="2651760" cy="640080"/>
          </a:xfrm>
          <a:prstGeom prst="rect">
            <a:avLst/>
          </a:prstGeom>
          <a:solidFill>
            <a:srgbClr val="FFFFFF"/>
          </a:solidFill>
          <a:ln w="9525">
            <a:solidFill>
              <a:srgbClr val="C9D3E6"/>
            </a:solidFill>
            <a:prstDash val="solid"/>
          </a:ln>
        </p:spPr>
      </p:sp>
      <p:sp>
        <p:nvSpPr>
          <p:cNvPr id="21" name="Text 17"/>
          <p:cNvSpPr/>
          <p:nvPr/>
        </p:nvSpPr>
        <p:spPr>
          <a:xfrm>
            <a:off x="768096" y="2395728"/>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Startup time</a:t>
            </a:r>
            <a:endParaRPr lang="en-US" sz="1150" dirty="0"/>
          </a:p>
        </p:txBody>
      </p:sp>
      <p:sp>
        <p:nvSpPr>
          <p:cNvPr id="22" name="Shape 18"/>
          <p:cNvSpPr/>
          <p:nvPr/>
        </p:nvSpPr>
        <p:spPr>
          <a:xfrm>
            <a:off x="3291840" y="2395728"/>
            <a:ext cx="4114800" cy="640080"/>
          </a:xfrm>
          <a:prstGeom prst="rect">
            <a:avLst/>
          </a:prstGeom>
          <a:solidFill>
            <a:srgbClr val="FFFFFF"/>
          </a:solidFill>
          <a:ln w="9525">
            <a:solidFill>
              <a:srgbClr val="C9D3E6"/>
            </a:solidFill>
            <a:prstDash val="solid"/>
          </a:ln>
        </p:spPr>
      </p:sp>
      <p:sp>
        <p:nvSpPr>
          <p:cNvPr id="23" name="Text 19"/>
          <p:cNvSpPr/>
          <p:nvPr/>
        </p:nvSpPr>
        <p:spPr>
          <a:xfrm>
            <a:off x="3419856" y="2395728"/>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Milliseconds to seconds</a:t>
            </a:r>
            <a:endParaRPr lang="en-US" sz="1050" dirty="0"/>
          </a:p>
        </p:txBody>
      </p:sp>
      <p:sp>
        <p:nvSpPr>
          <p:cNvPr id="24" name="Shape 20"/>
          <p:cNvSpPr/>
          <p:nvPr/>
        </p:nvSpPr>
        <p:spPr>
          <a:xfrm>
            <a:off x="7406640" y="2395728"/>
            <a:ext cx="4142232" cy="640080"/>
          </a:xfrm>
          <a:prstGeom prst="rect">
            <a:avLst/>
          </a:prstGeom>
          <a:solidFill>
            <a:srgbClr val="FFFFFF"/>
          </a:solidFill>
          <a:ln w="9525">
            <a:solidFill>
              <a:srgbClr val="C9D3E6"/>
            </a:solidFill>
            <a:prstDash val="solid"/>
          </a:ln>
        </p:spPr>
      </p:sp>
      <p:sp>
        <p:nvSpPr>
          <p:cNvPr id="25" name="Text 21"/>
          <p:cNvSpPr/>
          <p:nvPr/>
        </p:nvSpPr>
        <p:spPr>
          <a:xfrm>
            <a:off x="7534656" y="2395728"/>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Tens of seconds to minutes</a:t>
            </a:r>
            <a:endParaRPr lang="en-US" sz="1050" dirty="0"/>
          </a:p>
        </p:txBody>
      </p:sp>
      <p:sp>
        <p:nvSpPr>
          <p:cNvPr id="26" name="Shape 22"/>
          <p:cNvSpPr/>
          <p:nvPr/>
        </p:nvSpPr>
        <p:spPr>
          <a:xfrm>
            <a:off x="640080" y="3054096"/>
            <a:ext cx="2651760" cy="640080"/>
          </a:xfrm>
          <a:prstGeom prst="rect">
            <a:avLst/>
          </a:prstGeom>
          <a:solidFill>
            <a:srgbClr val="EEF2FA"/>
          </a:solidFill>
          <a:ln w="9525">
            <a:solidFill>
              <a:srgbClr val="C9D3E6"/>
            </a:solidFill>
            <a:prstDash val="solid"/>
          </a:ln>
        </p:spPr>
      </p:sp>
      <p:sp>
        <p:nvSpPr>
          <p:cNvPr id="27" name="Text 23"/>
          <p:cNvSpPr/>
          <p:nvPr/>
        </p:nvSpPr>
        <p:spPr>
          <a:xfrm>
            <a:off x="768096" y="3054096"/>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Typical artifact size</a:t>
            </a:r>
            <a:endParaRPr lang="en-US" sz="1150" dirty="0"/>
          </a:p>
        </p:txBody>
      </p:sp>
      <p:sp>
        <p:nvSpPr>
          <p:cNvPr id="28" name="Shape 24"/>
          <p:cNvSpPr/>
          <p:nvPr/>
        </p:nvSpPr>
        <p:spPr>
          <a:xfrm>
            <a:off x="3291840" y="3054096"/>
            <a:ext cx="4114800" cy="640080"/>
          </a:xfrm>
          <a:prstGeom prst="rect">
            <a:avLst/>
          </a:prstGeom>
          <a:solidFill>
            <a:srgbClr val="EEF2FA"/>
          </a:solidFill>
          <a:ln w="9525">
            <a:solidFill>
              <a:srgbClr val="C9D3E6"/>
            </a:solidFill>
            <a:prstDash val="solid"/>
          </a:ln>
        </p:spPr>
      </p:sp>
      <p:sp>
        <p:nvSpPr>
          <p:cNvPr id="29" name="Text 25"/>
          <p:cNvSpPr/>
          <p:nvPr/>
        </p:nvSpPr>
        <p:spPr>
          <a:xfrm>
            <a:off x="3419856" y="3054096"/>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Tens of MB to a few GB (layered image)</a:t>
            </a:r>
            <a:endParaRPr lang="en-US" sz="1050" dirty="0"/>
          </a:p>
        </p:txBody>
      </p:sp>
      <p:sp>
        <p:nvSpPr>
          <p:cNvPr id="30" name="Shape 26"/>
          <p:cNvSpPr/>
          <p:nvPr/>
        </p:nvSpPr>
        <p:spPr>
          <a:xfrm>
            <a:off x="7406640" y="3054096"/>
            <a:ext cx="4142232" cy="640080"/>
          </a:xfrm>
          <a:prstGeom prst="rect">
            <a:avLst/>
          </a:prstGeom>
          <a:solidFill>
            <a:srgbClr val="EEF2FA"/>
          </a:solidFill>
          <a:ln w="9525">
            <a:solidFill>
              <a:srgbClr val="C9D3E6"/>
            </a:solidFill>
            <a:prstDash val="solid"/>
          </a:ln>
        </p:spPr>
      </p:sp>
      <p:sp>
        <p:nvSpPr>
          <p:cNvPr id="31" name="Text 27"/>
          <p:cNvSpPr/>
          <p:nvPr/>
        </p:nvSpPr>
        <p:spPr>
          <a:xfrm>
            <a:off x="7534656" y="3054096"/>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Several GB to tens of GB (full OS disk image)</a:t>
            </a:r>
            <a:endParaRPr lang="en-US" sz="1050" dirty="0"/>
          </a:p>
        </p:txBody>
      </p:sp>
      <p:sp>
        <p:nvSpPr>
          <p:cNvPr id="32" name="Shape 28"/>
          <p:cNvSpPr/>
          <p:nvPr/>
        </p:nvSpPr>
        <p:spPr>
          <a:xfrm>
            <a:off x="640080" y="3712464"/>
            <a:ext cx="2651760" cy="640080"/>
          </a:xfrm>
          <a:prstGeom prst="rect">
            <a:avLst/>
          </a:prstGeom>
          <a:solidFill>
            <a:srgbClr val="FFFFFF"/>
          </a:solidFill>
          <a:ln w="9525">
            <a:solidFill>
              <a:srgbClr val="C9D3E6"/>
            </a:solidFill>
            <a:prstDash val="solid"/>
          </a:ln>
        </p:spPr>
      </p:sp>
      <p:sp>
        <p:nvSpPr>
          <p:cNvPr id="33" name="Text 29"/>
          <p:cNvSpPr/>
          <p:nvPr/>
        </p:nvSpPr>
        <p:spPr>
          <a:xfrm>
            <a:off x="768096" y="3712464"/>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Density per host</a:t>
            </a:r>
            <a:endParaRPr lang="en-US" sz="1150" dirty="0"/>
          </a:p>
        </p:txBody>
      </p:sp>
      <p:sp>
        <p:nvSpPr>
          <p:cNvPr id="34" name="Shape 30"/>
          <p:cNvSpPr/>
          <p:nvPr/>
        </p:nvSpPr>
        <p:spPr>
          <a:xfrm>
            <a:off x="3291840" y="3712464"/>
            <a:ext cx="4114800" cy="640080"/>
          </a:xfrm>
          <a:prstGeom prst="rect">
            <a:avLst/>
          </a:prstGeom>
          <a:solidFill>
            <a:srgbClr val="FFFFFF"/>
          </a:solidFill>
          <a:ln w="9525">
            <a:solidFill>
              <a:srgbClr val="C9D3E6"/>
            </a:solidFill>
            <a:prstDash val="solid"/>
          </a:ln>
        </p:spPr>
      </p:sp>
      <p:sp>
        <p:nvSpPr>
          <p:cNvPr id="35" name="Text 31"/>
          <p:cNvSpPr/>
          <p:nvPr/>
        </p:nvSpPr>
        <p:spPr>
          <a:xfrm>
            <a:off x="3419856" y="3712464"/>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High — many containers share one kernel</a:t>
            </a:r>
            <a:endParaRPr lang="en-US" sz="1050" dirty="0"/>
          </a:p>
        </p:txBody>
      </p:sp>
      <p:sp>
        <p:nvSpPr>
          <p:cNvPr id="36" name="Shape 32"/>
          <p:cNvSpPr/>
          <p:nvPr/>
        </p:nvSpPr>
        <p:spPr>
          <a:xfrm>
            <a:off x="7406640" y="3712464"/>
            <a:ext cx="4142232" cy="640080"/>
          </a:xfrm>
          <a:prstGeom prst="rect">
            <a:avLst/>
          </a:prstGeom>
          <a:solidFill>
            <a:srgbClr val="FFFFFF"/>
          </a:solidFill>
          <a:ln w="9525">
            <a:solidFill>
              <a:srgbClr val="C9D3E6"/>
            </a:solidFill>
            <a:prstDash val="solid"/>
          </a:ln>
        </p:spPr>
      </p:sp>
      <p:sp>
        <p:nvSpPr>
          <p:cNvPr id="37" name="Text 33"/>
          <p:cNvSpPr/>
          <p:nvPr/>
        </p:nvSpPr>
        <p:spPr>
          <a:xfrm>
            <a:off x="7534656" y="3712464"/>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Lower — each VM reserves memory for its guest OS</a:t>
            </a:r>
            <a:endParaRPr lang="en-US" sz="1050" dirty="0"/>
          </a:p>
        </p:txBody>
      </p:sp>
      <p:sp>
        <p:nvSpPr>
          <p:cNvPr id="38" name="Shape 34"/>
          <p:cNvSpPr/>
          <p:nvPr/>
        </p:nvSpPr>
        <p:spPr>
          <a:xfrm>
            <a:off x="640080" y="4370832"/>
            <a:ext cx="2651760" cy="640080"/>
          </a:xfrm>
          <a:prstGeom prst="rect">
            <a:avLst/>
          </a:prstGeom>
          <a:solidFill>
            <a:srgbClr val="EEF2FA"/>
          </a:solidFill>
          <a:ln w="9525">
            <a:solidFill>
              <a:srgbClr val="C9D3E6"/>
            </a:solidFill>
            <a:prstDash val="solid"/>
          </a:ln>
        </p:spPr>
      </p:sp>
      <p:sp>
        <p:nvSpPr>
          <p:cNvPr id="39" name="Text 35"/>
          <p:cNvSpPr/>
          <p:nvPr/>
        </p:nvSpPr>
        <p:spPr>
          <a:xfrm>
            <a:off x="768096" y="4370832"/>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Isolation strength</a:t>
            </a:r>
            <a:endParaRPr lang="en-US" sz="1150" dirty="0"/>
          </a:p>
        </p:txBody>
      </p:sp>
      <p:sp>
        <p:nvSpPr>
          <p:cNvPr id="40" name="Shape 36"/>
          <p:cNvSpPr/>
          <p:nvPr/>
        </p:nvSpPr>
        <p:spPr>
          <a:xfrm>
            <a:off x="3291840" y="4370832"/>
            <a:ext cx="4114800" cy="640080"/>
          </a:xfrm>
          <a:prstGeom prst="rect">
            <a:avLst/>
          </a:prstGeom>
          <a:solidFill>
            <a:srgbClr val="EEF2FA"/>
          </a:solidFill>
          <a:ln w="9525">
            <a:solidFill>
              <a:srgbClr val="C9D3E6"/>
            </a:solidFill>
            <a:prstDash val="solid"/>
          </a:ln>
        </p:spPr>
      </p:sp>
      <p:sp>
        <p:nvSpPr>
          <p:cNvPr id="41" name="Text 37"/>
          <p:cNvSpPr/>
          <p:nvPr/>
        </p:nvSpPr>
        <p:spPr>
          <a:xfrm>
            <a:off x="3419856" y="4370832"/>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Process-level; weaker than a VM (shared kernel)</a:t>
            </a:r>
            <a:endParaRPr lang="en-US" sz="1050" dirty="0"/>
          </a:p>
        </p:txBody>
      </p:sp>
      <p:sp>
        <p:nvSpPr>
          <p:cNvPr id="42" name="Shape 38"/>
          <p:cNvSpPr/>
          <p:nvPr/>
        </p:nvSpPr>
        <p:spPr>
          <a:xfrm>
            <a:off x="7406640" y="4370832"/>
            <a:ext cx="4142232" cy="640080"/>
          </a:xfrm>
          <a:prstGeom prst="rect">
            <a:avLst/>
          </a:prstGeom>
          <a:solidFill>
            <a:srgbClr val="EEF2FA"/>
          </a:solidFill>
          <a:ln w="9525">
            <a:solidFill>
              <a:srgbClr val="C9D3E6"/>
            </a:solidFill>
            <a:prstDash val="solid"/>
          </a:ln>
        </p:spPr>
      </p:sp>
      <p:sp>
        <p:nvSpPr>
          <p:cNvPr id="43" name="Text 39"/>
          <p:cNvSpPr/>
          <p:nvPr/>
        </p:nvSpPr>
        <p:spPr>
          <a:xfrm>
            <a:off x="7534656" y="4370832"/>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Strong — independent kernels per workload</a:t>
            </a:r>
            <a:endParaRPr lang="en-US" sz="1050" dirty="0"/>
          </a:p>
        </p:txBody>
      </p:sp>
      <p:sp>
        <p:nvSpPr>
          <p:cNvPr id="44" name="Shape 40"/>
          <p:cNvSpPr/>
          <p:nvPr/>
        </p:nvSpPr>
        <p:spPr>
          <a:xfrm>
            <a:off x="640080" y="5029200"/>
            <a:ext cx="2651760" cy="640080"/>
          </a:xfrm>
          <a:prstGeom prst="rect">
            <a:avLst/>
          </a:prstGeom>
          <a:solidFill>
            <a:srgbClr val="FFFFFF"/>
          </a:solidFill>
          <a:ln w="9525">
            <a:solidFill>
              <a:srgbClr val="C9D3E6"/>
            </a:solidFill>
            <a:prstDash val="solid"/>
          </a:ln>
        </p:spPr>
      </p:sp>
      <p:sp>
        <p:nvSpPr>
          <p:cNvPr id="45" name="Text 41"/>
          <p:cNvSpPr/>
          <p:nvPr/>
        </p:nvSpPr>
        <p:spPr>
          <a:xfrm>
            <a:off x="768096" y="5029200"/>
            <a:ext cx="2432304" cy="6400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Typical role</a:t>
            </a:r>
            <a:endParaRPr lang="en-US" sz="1150" dirty="0"/>
          </a:p>
        </p:txBody>
      </p:sp>
      <p:sp>
        <p:nvSpPr>
          <p:cNvPr id="46" name="Shape 42"/>
          <p:cNvSpPr/>
          <p:nvPr/>
        </p:nvSpPr>
        <p:spPr>
          <a:xfrm>
            <a:off x="3291840" y="5029200"/>
            <a:ext cx="4114800" cy="640080"/>
          </a:xfrm>
          <a:prstGeom prst="rect">
            <a:avLst/>
          </a:prstGeom>
          <a:solidFill>
            <a:srgbClr val="FFFFFF"/>
          </a:solidFill>
          <a:ln w="9525">
            <a:solidFill>
              <a:srgbClr val="C9D3E6"/>
            </a:solidFill>
            <a:prstDash val="solid"/>
          </a:ln>
        </p:spPr>
      </p:sp>
      <p:sp>
        <p:nvSpPr>
          <p:cNvPr id="47" name="Text 43"/>
          <p:cNvSpPr/>
          <p:nvPr/>
        </p:nvSpPr>
        <p:spPr>
          <a:xfrm>
            <a:off x="3419856" y="5029200"/>
            <a:ext cx="3895344"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Unit of application deployment</a:t>
            </a:r>
            <a:endParaRPr lang="en-US" sz="1050" dirty="0"/>
          </a:p>
        </p:txBody>
      </p:sp>
      <p:sp>
        <p:nvSpPr>
          <p:cNvPr id="48" name="Shape 44"/>
          <p:cNvSpPr/>
          <p:nvPr/>
        </p:nvSpPr>
        <p:spPr>
          <a:xfrm>
            <a:off x="7406640" y="5029200"/>
            <a:ext cx="4142232" cy="640080"/>
          </a:xfrm>
          <a:prstGeom prst="rect">
            <a:avLst/>
          </a:prstGeom>
          <a:solidFill>
            <a:srgbClr val="FFFFFF"/>
          </a:solidFill>
          <a:ln w="9525">
            <a:solidFill>
              <a:srgbClr val="C9D3E6"/>
            </a:solidFill>
            <a:prstDash val="solid"/>
          </a:ln>
        </p:spPr>
      </p:sp>
      <p:sp>
        <p:nvSpPr>
          <p:cNvPr id="49" name="Text 45"/>
          <p:cNvSpPr/>
          <p:nvPr/>
        </p:nvSpPr>
        <p:spPr>
          <a:xfrm>
            <a:off x="7534656" y="5029200"/>
            <a:ext cx="3922776" cy="64008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Unit of infrastructure; often hosts the container runtime</a:t>
            </a:r>
            <a:endParaRPr lang="en-US" sz="1050" dirty="0"/>
          </a:p>
        </p:txBody>
      </p:sp>
      <p:sp>
        <p:nvSpPr>
          <p:cNvPr id="50" name="Text 46"/>
          <p:cNvSpPr/>
          <p:nvPr/>
        </p:nvSpPr>
        <p:spPr>
          <a:xfrm>
            <a:off x="640080" y="5989320"/>
            <a:ext cx="10881360" cy="36576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The two models are complementary: cloud container platforms schedule containers onto fleets of virtual machines managed by the provider.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DOCKERFILE DISCIPLINE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lab Dockerfile (1 of 2): base image and dependency layer</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463040"/>
            <a:ext cx="6583680" cy="3794760"/>
          </a:xfrm>
          <a:prstGeom prst="roundRect">
            <a:avLst>
              <a:gd name="adj" fmla="val 1928"/>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6181344" cy="357530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Dockerfile (part 1) — llm-server inference service</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Pinned, minimal base image — never ':latest'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FROM python:3.11.9-slim</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WORKDIR /app</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Dependency layer FIRST: rebuilt only when</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requirements.txt itself changes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COPY requirements.txt .</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CPU-only torch wheel: ~200 MB framework instead</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of the ~2.5 GB CUDA build — see slide on GPU images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RUN pip install --no-cache-dir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--extra-index-url https://download.pytorch.org/whl/cpu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-r requirements.txt</a:t>
            </a:r>
            <a:endParaRPr lang="en-US" sz="1050" dirty="0"/>
          </a:p>
        </p:txBody>
      </p:sp>
      <p:sp>
        <p:nvSpPr>
          <p:cNvPr id="10" name="Shape 6"/>
          <p:cNvSpPr/>
          <p:nvPr/>
        </p:nvSpPr>
        <p:spPr>
          <a:xfrm>
            <a:off x="7452360" y="1463040"/>
            <a:ext cx="4114800" cy="2651760"/>
          </a:xfrm>
          <a:prstGeom prst="roundRect">
            <a:avLst>
              <a:gd name="adj" fmla="val 3103"/>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680960" y="1600200"/>
            <a:ext cx="365760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Design decisions</a:t>
            </a:r>
            <a:endParaRPr lang="en-US" sz="1300" dirty="0"/>
          </a:p>
        </p:txBody>
      </p:sp>
      <p:sp>
        <p:nvSpPr>
          <p:cNvPr id="12" name="Text 8"/>
          <p:cNvSpPr/>
          <p:nvPr/>
        </p:nvSpPr>
        <p:spPr>
          <a:xfrm>
            <a:off x="7680960" y="1965960"/>
            <a:ext cx="3703320" cy="21031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python:3.11.9-slim pins an exact, minimal base; ':latest' changes silently between builds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Dependencies precede code, so the slow pip layer is served from cache on routine rebuilds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CPU wheel reduces the framework footprint by roughly an order of magnitude</a:t>
            </a:r>
            <a:endParaRPr lang="en-US" sz="1100" dirty="0"/>
          </a:p>
        </p:txBody>
      </p:sp>
      <p:sp>
        <p:nvSpPr>
          <p:cNvPr id="13" name="Shape 9"/>
          <p:cNvSpPr/>
          <p:nvPr/>
        </p:nvSpPr>
        <p:spPr>
          <a:xfrm>
            <a:off x="7452360" y="4297680"/>
            <a:ext cx="411480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7680960" y="4434840"/>
            <a:ext cx="365760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requirements.txt — fully pinned</a:t>
            </a:r>
            <a:endParaRPr lang="en-US" sz="1250" dirty="0"/>
          </a:p>
        </p:txBody>
      </p:sp>
      <p:sp>
        <p:nvSpPr>
          <p:cNvPr id="15" name="Shape 11"/>
          <p:cNvSpPr/>
          <p:nvPr/>
        </p:nvSpPr>
        <p:spPr>
          <a:xfrm>
            <a:off x="7680960" y="4773168"/>
            <a:ext cx="3657600" cy="1371600"/>
          </a:xfrm>
          <a:prstGeom prst="roundRect">
            <a:avLst>
              <a:gd name="adj" fmla="val 5333"/>
            </a:avLst>
          </a:prstGeom>
          <a:solidFill>
            <a:srgbClr val="1B2130"/>
          </a:solidFill>
          <a:ln/>
          <a:effectLst>
            <a:outerShdw sx="100000" sy="100000" kx="0" ky="0" algn="bl" rotWithShape="0" blurRad="76200" dist="25400" dir="5400000">
              <a:srgbClr val="9AA4B8">
                <a:alpha val="35000"/>
              </a:srgbClr>
            </a:outerShdw>
          </a:effectLst>
        </p:spPr>
      </p:sp>
      <p:sp>
        <p:nvSpPr>
          <p:cNvPr id="16" name="Text 12"/>
          <p:cNvSpPr/>
          <p:nvPr/>
        </p:nvSpPr>
        <p:spPr>
          <a:xfrm>
            <a:off x="7882128" y="4882896"/>
            <a:ext cx="3255264" cy="115214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fastapi==0.111.0</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uvicorn==0.30.1</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torch==2.3.1</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transformers==4.42.3</a:t>
            </a:r>
            <a:endParaRPr lang="en-US" sz="1000" dirty="0"/>
          </a:p>
        </p:txBody>
      </p:sp>
      <p:sp>
        <p:nvSpPr>
          <p:cNvPr id="17" name="Text 13"/>
          <p:cNvSpPr/>
          <p:nvPr/>
        </p:nvSpPr>
        <p:spPr>
          <a:xfrm>
            <a:off x="640080" y="5486400"/>
            <a:ext cx="6583680" cy="32004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Layer order and cache behaviour are measured in Lab Step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DOCKERFILE DISCIPLINE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lab Dockerfile (2 of 2): weights, non-root user, health check</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463040"/>
            <a:ext cx="6583680" cy="4846320"/>
          </a:xfrm>
          <a:prstGeom prst="roundRect">
            <a:avLst>
              <a:gd name="adj" fmla="val 150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6181344" cy="462686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Dockerfile (part 2)</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Model weights baked into the image</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(trade-off discussed at right)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COPY models/ ./models/</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Application code LAST — it changes most often</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COPY app.py .</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Non-root user limits the blast radius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RUN useradd --create-home appuser</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USER appuser</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EXPOSE 8080</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start-period covers model loading (Step 2)</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HEALTHCHECK --interval=10s --timeout=3s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--start-period=90s --retries=3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CMD ["python", "healthcheck.py"]</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CMD ["uvicorn", "app:app",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"--host", "0.0.0.0", "--port", "8080"]</a:t>
            </a:r>
            <a:endParaRPr lang="en-US" sz="1000" dirty="0"/>
          </a:p>
        </p:txBody>
      </p:sp>
      <p:sp>
        <p:nvSpPr>
          <p:cNvPr id="10" name="Shape 6"/>
          <p:cNvSpPr/>
          <p:nvPr/>
        </p:nvSpPr>
        <p:spPr>
          <a:xfrm>
            <a:off x="7452360" y="1463040"/>
            <a:ext cx="4114800" cy="2606040"/>
          </a:xfrm>
          <a:prstGeom prst="roundRect">
            <a:avLst>
              <a:gd name="adj" fmla="val 3158"/>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680960" y="1600200"/>
            <a:ext cx="365760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Weights: baked in vs mounted</a:t>
            </a:r>
            <a:endParaRPr lang="en-US" sz="1300" dirty="0"/>
          </a:p>
        </p:txBody>
      </p:sp>
      <p:sp>
        <p:nvSpPr>
          <p:cNvPr id="12" name="Text 8"/>
          <p:cNvSpPr/>
          <p:nvPr/>
        </p:nvSpPr>
        <p:spPr>
          <a:xfrm>
            <a:off x="7680960" y="1965960"/>
            <a:ext cx="3703320" cy="20574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Baked in (this lab): larger image and slower pull, but a self-contained container with predictable startup</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Mounted volume or download at start: small image, but startup depends on external storage and the network</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A cold-start versus image-size trade-off — measure both before deciding</a:t>
            </a:r>
            <a:endParaRPr lang="en-US" sz="1050" dirty="0"/>
          </a:p>
        </p:txBody>
      </p:sp>
      <p:sp>
        <p:nvSpPr>
          <p:cNvPr id="13" name="Shape 9"/>
          <p:cNvSpPr/>
          <p:nvPr/>
        </p:nvSpPr>
        <p:spPr>
          <a:xfrm>
            <a:off x="7452360" y="4251960"/>
            <a:ext cx="4114800" cy="2057400"/>
          </a:xfrm>
          <a:prstGeom prst="roundRect">
            <a:avLst>
              <a:gd name="adj" fmla="val 4000"/>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7680960" y="4389120"/>
            <a:ext cx="365760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HEALTHCHECK semantics</a:t>
            </a:r>
            <a:endParaRPr lang="en-US" sz="1300" dirty="0"/>
          </a:p>
        </p:txBody>
      </p:sp>
      <p:sp>
        <p:nvSpPr>
          <p:cNvPr id="15" name="Text 11"/>
          <p:cNvSpPr/>
          <p:nvPr/>
        </p:nvSpPr>
        <p:spPr>
          <a:xfrm>
            <a:off x="7680960" y="4736592"/>
            <a:ext cx="3703320" cy="15087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Docker reports the container as starting, then healthy or unhealthy</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--start-period grants a grace window before failures count — sized for model loading</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same contract becomes startup, readiness and liveness probes in cloud platforms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SUPPLY-CHAIN HYGIENE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Four controls before an image leaves the workstation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463040"/>
            <a:ext cx="6720840" cy="1097280"/>
          </a:xfrm>
          <a:prstGeom prst="roundRect">
            <a:avLst>
              <a:gd name="adj" fmla="val 7500"/>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737360"/>
            <a:ext cx="502920" cy="502920"/>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72007" y="1868119"/>
            <a:ext cx="241402" cy="241402"/>
          </a:xfrm>
          <a:prstGeom prst="rect">
            <a:avLst/>
          </a:prstGeom>
        </p:spPr>
      </p:pic>
      <p:sp>
        <p:nvSpPr>
          <p:cNvPr id="11" name="Text 6"/>
          <p:cNvSpPr/>
          <p:nvPr/>
        </p:nvSpPr>
        <p:spPr>
          <a:xfrm>
            <a:off x="1508760" y="1572768"/>
            <a:ext cx="56692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Pin every version</a:t>
            </a:r>
            <a:endParaRPr lang="en-US" sz="1350" dirty="0"/>
          </a:p>
        </p:txBody>
      </p:sp>
      <p:sp>
        <p:nvSpPr>
          <p:cNvPr id="12" name="Text 7"/>
          <p:cNvSpPr/>
          <p:nvPr/>
        </p:nvSpPr>
        <p:spPr>
          <a:xfrm>
            <a:off x="1508760" y="1892808"/>
            <a:ext cx="5715000" cy="64008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FROM python:3.11.9-slim, torch==2.3.1 — never ':latest'. Unpinned inputs make builds non-reproducible and impossible to audit.</a:t>
            </a:r>
            <a:endParaRPr lang="en-US" sz="1050" dirty="0"/>
          </a:p>
        </p:txBody>
      </p:sp>
      <p:sp>
        <p:nvSpPr>
          <p:cNvPr id="13" name="Shape 8"/>
          <p:cNvSpPr/>
          <p:nvPr/>
        </p:nvSpPr>
        <p:spPr>
          <a:xfrm>
            <a:off x="640080" y="2697480"/>
            <a:ext cx="6720840" cy="1097280"/>
          </a:xfrm>
          <a:prstGeom prst="roundRect">
            <a:avLst>
              <a:gd name="adj" fmla="val 7500"/>
            </a:avLst>
          </a:prstGeom>
          <a:solidFill>
            <a:srgbClr val="DDE6F5"/>
          </a:solidFill>
          <a:ln/>
          <a:effectLst>
            <a:outerShdw sx="100000" sy="100000" kx="0" ky="0" algn="bl" rotWithShape="0" blurRad="76200" dist="25400" dir="5400000">
              <a:srgbClr val="9AA4B8">
                <a:alpha val="35000"/>
              </a:srgbClr>
            </a:outerShdw>
          </a:effectLst>
        </p:spPr>
      </p:sp>
      <p:sp>
        <p:nvSpPr>
          <p:cNvPr id="14" name="Shape 9"/>
          <p:cNvSpPr/>
          <p:nvPr/>
        </p:nvSpPr>
        <p:spPr>
          <a:xfrm>
            <a:off x="841248" y="2971800"/>
            <a:ext cx="502920" cy="502920"/>
          </a:xfrm>
          <a:prstGeom prst="ellipse">
            <a:avLst/>
          </a:prstGeom>
          <a:solidFill>
            <a:srgbClr val="232946"/>
          </a:solidFill>
          <a:ln/>
        </p:spPr>
      </p:sp>
      <p:pic>
        <p:nvPicPr>
          <p:cNvPr id="15" name="Image 2" descr="preencoded.png">    </p:cNvPr>
          <p:cNvPicPr>
            <a:picLocks noChangeAspect="1"/>
          </p:cNvPicPr>
          <p:nvPr/>
        </p:nvPicPr>
        <p:blipFill>
          <a:blip r:embed="rId3"/>
          <a:stretch>
            <a:fillRect/>
          </a:stretch>
        </p:blipFill>
        <p:spPr>
          <a:xfrm>
            <a:off x="972007" y="3102559"/>
            <a:ext cx="241402" cy="241402"/>
          </a:xfrm>
          <a:prstGeom prst="rect">
            <a:avLst/>
          </a:prstGeom>
        </p:spPr>
      </p:pic>
      <p:sp>
        <p:nvSpPr>
          <p:cNvPr id="16" name="Text 10"/>
          <p:cNvSpPr/>
          <p:nvPr/>
        </p:nvSpPr>
        <p:spPr>
          <a:xfrm>
            <a:off x="1508760" y="2807208"/>
            <a:ext cx="56692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Scan and attest</a:t>
            </a:r>
            <a:endParaRPr lang="en-US" sz="1350" dirty="0"/>
          </a:p>
        </p:txBody>
      </p:sp>
      <p:sp>
        <p:nvSpPr>
          <p:cNvPr id="17" name="Text 11"/>
          <p:cNvSpPr/>
          <p:nvPr/>
        </p:nvSpPr>
        <p:spPr>
          <a:xfrm>
            <a:off x="1508760" y="3127248"/>
            <a:ext cx="5715000" cy="64008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trivy image llm-server:v1 lists known CVEs in OS packages and Python dependencies; an SBOM records exactly what shipped. Fail the build on critical findings.</a:t>
            </a:r>
            <a:endParaRPr lang="en-US" sz="1050" dirty="0"/>
          </a:p>
        </p:txBody>
      </p:sp>
      <p:sp>
        <p:nvSpPr>
          <p:cNvPr id="18" name="Shape 12"/>
          <p:cNvSpPr/>
          <p:nvPr/>
        </p:nvSpPr>
        <p:spPr>
          <a:xfrm>
            <a:off x="640080" y="3931920"/>
            <a:ext cx="6720840" cy="1097280"/>
          </a:xfrm>
          <a:prstGeom prst="roundRect">
            <a:avLst>
              <a:gd name="adj" fmla="val 7500"/>
            </a:avLst>
          </a:prstGeom>
          <a:solidFill>
            <a:srgbClr val="EEF2FA"/>
          </a:solidFill>
          <a:ln/>
          <a:effectLst>
            <a:outerShdw sx="100000" sy="100000" kx="0" ky="0" algn="bl" rotWithShape="0" blurRad="76200" dist="25400" dir="5400000">
              <a:srgbClr val="9AA4B8">
                <a:alpha val="35000"/>
              </a:srgbClr>
            </a:outerShdw>
          </a:effectLst>
        </p:spPr>
      </p:sp>
      <p:sp>
        <p:nvSpPr>
          <p:cNvPr id="19" name="Shape 13"/>
          <p:cNvSpPr/>
          <p:nvPr/>
        </p:nvSpPr>
        <p:spPr>
          <a:xfrm>
            <a:off x="841248" y="4206240"/>
            <a:ext cx="502920" cy="502920"/>
          </a:xfrm>
          <a:prstGeom prst="ellipse">
            <a:avLst/>
          </a:prstGeom>
          <a:solidFill>
            <a:srgbClr val="B3402A"/>
          </a:solidFill>
          <a:ln/>
        </p:spPr>
      </p:sp>
      <p:pic>
        <p:nvPicPr>
          <p:cNvPr id="20" name="Image 3" descr="preencoded.png">    </p:cNvPr>
          <p:cNvPicPr>
            <a:picLocks noChangeAspect="1"/>
          </p:cNvPicPr>
          <p:nvPr/>
        </p:nvPicPr>
        <p:blipFill>
          <a:blip r:embed="rId4"/>
          <a:stretch>
            <a:fillRect/>
          </a:stretch>
        </p:blipFill>
        <p:spPr>
          <a:xfrm>
            <a:off x="972007" y="4336999"/>
            <a:ext cx="241402" cy="241402"/>
          </a:xfrm>
          <a:prstGeom prst="rect">
            <a:avLst/>
          </a:prstGeom>
        </p:spPr>
      </p:pic>
      <p:sp>
        <p:nvSpPr>
          <p:cNvPr id="21" name="Text 14"/>
          <p:cNvSpPr/>
          <p:nvPr/>
        </p:nvSpPr>
        <p:spPr>
          <a:xfrm>
            <a:off x="1508760" y="4041648"/>
            <a:ext cx="56692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No secrets in images or git</a:t>
            </a:r>
            <a:endParaRPr lang="en-US" sz="1350" dirty="0"/>
          </a:p>
        </p:txBody>
      </p:sp>
      <p:sp>
        <p:nvSpPr>
          <p:cNvPr id="22" name="Text 15"/>
          <p:cNvSpPr/>
          <p:nvPr/>
        </p:nvSpPr>
        <p:spPr>
          <a:xfrm>
            <a:off x="1508760" y="4361688"/>
            <a:ext cx="5715000" cy="64008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Never COPY .env or set credentials with ENV at build time. Every layer is readable via docker history; deletion in a later layer does not remove it. Inject at runtime only.</a:t>
            </a:r>
            <a:endParaRPr lang="en-US" sz="1050" dirty="0"/>
          </a:p>
        </p:txBody>
      </p:sp>
      <p:sp>
        <p:nvSpPr>
          <p:cNvPr id="23" name="Shape 16"/>
          <p:cNvSpPr/>
          <p:nvPr/>
        </p:nvSpPr>
        <p:spPr>
          <a:xfrm>
            <a:off x="640080" y="5166360"/>
            <a:ext cx="6720840" cy="1097280"/>
          </a:xfrm>
          <a:prstGeom prst="roundRect">
            <a:avLst>
              <a:gd name="adj" fmla="val 7500"/>
            </a:avLst>
          </a:prstGeom>
          <a:solidFill>
            <a:srgbClr val="DDE6F5"/>
          </a:solidFill>
          <a:ln/>
          <a:effectLst>
            <a:outerShdw sx="100000" sy="100000" kx="0" ky="0" algn="bl" rotWithShape="0" blurRad="76200" dist="25400" dir="5400000">
              <a:srgbClr val="9AA4B8">
                <a:alpha val="35000"/>
              </a:srgbClr>
            </a:outerShdw>
          </a:effectLst>
        </p:spPr>
      </p:sp>
      <p:sp>
        <p:nvSpPr>
          <p:cNvPr id="24" name="Shape 17"/>
          <p:cNvSpPr/>
          <p:nvPr/>
        </p:nvSpPr>
        <p:spPr>
          <a:xfrm>
            <a:off x="841248" y="5440680"/>
            <a:ext cx="502920" cy="502920"/>
          </a:xfrm>
          <a:prstGeom prst="ellipse">
            <a:avLst/>
          </a:prstGeom>
          <a:solidFill>
            <a:srgbClr val="232946"/>
          </a:solidFill>
          <a:ln/>
        </p:spPr>
      </p:sp>
      <p:pic>
        <p:nvPicPr>
          <p:cNvPr id="25" name="Image 4" descr="preencoded.png">    </p:cNvPr>
          <p:cNvPicPr>
            <a:picLocks noChangeAspect="1"/>
          </p:cNvPicPr>
          <p:nvPr/>
        </p:nvPicPr>
        <p:blipFill>
          <a:blip r:embed="rId5"/>
          <a:stretch>
            <a:fillRect/>
          </a:stretch>
        </p:blipFill>
        <p:spPr>
          <a:xfrm>
            <a:off x="972007" y="5571439"/>
            <a:ext cx="241402" cy="241402"/>
          </a:xfrm>
          <a:prstGeom prst="rect">
            <a:avLst/>
          </a:prstGeom>
        </p:spPr>
      </p:pic>
      <p:sp>
        <p:nvSpPr>
          <p:cNvPr id="26" name="Text 18"/>
          <p:cNvSpPr/>
          <p:nvPr/>
        </p:nvSpPr>
        <p:spPr>
          <a:xfrm>
            <a:off x="1508760" y="5276088"/>
            <a:ext cx="56692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Minimal attack surface</a:t>
            </a:r>
            <a:endParaRPr lang="en-US" sz="1350" dirty="0"/>
          </a:p>
        </p:txBody>
      </p:sp>
      <p:sp>
        <p:nvSpPr>
          <p:cNvPr id="27" name="Text 19"/>
          <p:cNvSpPr/>
          <p:nvPr/>
        </p:nvSpPr>
        <p:spPr>
          <a:xfrm>
            <a:off x="1508760" y="5596128"/>
            <a:ext cx="5715000" cy="64008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Slim base images, a non-root USER, and no compilers or build tools in the final image. Fewer installed packages mean fewer exploitable vulnerabilities.</a:t>
            </a:r>
            <a:endParaRPr lang="en-US" sz="1050" dirty="0"/>
          </a:p>
        </p:txBody>
      </p:sp>
      <p:sp>
        <p:nvSpPr>
          <p:cNvPr id="28" name="Text 20"/>
          <p:cNvSpPr/>
          <p:nvPr/>
        </p:nvSpPr>
        <p:spPr>
          <a:xfrm>
            <a:off x="7589520" y="1508760"/>
            <a:ext cx="397764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.dockerignore — bounding the build context</a:t>
            </a:r>
            <a:endParaRPr lang="en-US" sz="1350" dirty="0"/>
          </a:p>
        </p:txBody>
      </p:sp>
      <p:sp>
        <p:nvSpPr>
          <p:cNvPr id="29" name="Shape 21"/>
          <p:cNvSpPr/>
          <p:nvPr/>
        </p:nvSpPr>
        <p:spPr>
          <a:xfrm>
            <a:off x="7589520" y="1920240"/>
            <a:ext cx="3977640" cy="2651760"/>
          </a:xfrm>
          <a:prstGeom prst="roundRect">
            <a:avLst>
              <a:gd name="adj" fmla="val 2759"/>
            </a:avLst>
          </a:prstGeom>
          <a:solidFill>
            <a:srgbClr val="1B2130"/>
          </a:solidFill>
          <a:ln/>
          <a:effectLst>
            <a:outerShdw sx="100000" sy="100000" kx="0" ky="0" algn="bl" rotWithShape="0" blurRad="76200" dist="25400" dir="5400000">
              <a:srgbClr val="9AA4B8">
                <a:alpha val="35000"/>
              </a:srgbClr>
            </a:outerShdw>
          </a:effectLst>
        </p:spPr>
      </p:sp>
      <p:sp>
        <p:nvSpPr>
          <p:cNvPr id="30" name="Text 22"/>
          <p:cNvSpPr/>
          <p:nvPr/>
        </p:nvSpPr>
        <p:spPr>
          <a:xfrm>
            <a:off x="7790688" y="2029968"/>
            <a:ext cx="3575304" cy="243230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.dockerignore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.env             # secrets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.venv</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__pycache__/</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*.log</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tests/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notebooks/</a:t>
            </a:r>
            <a:endParaRPr lang="en-US" sz="1050" dirty="0"/>
          </a:p>
        </p:txBody>
      </p:sp>
      <p:sp>
        <p:nvSpPr>
          <p:cNvPr id="31" name="Shape 23"/>
          <p:cNvSpPr/>
          <p:nvPr/>
        </p:nvSpPr>
        <p:spPr>
          <a:xfrm>
            <a:off x="7589520" y="4754880"/>
            <a:ext cx="3977640" cy="1554480"/>
          </a:xfrm>
          <a:prstGeom prst="roundRect">
            <a:avLst>
              <a:gd name="adj" fmla="val 5294"/>
            </a:avLst>
          </a:prstGeom>
          <a:solidFill>
            <a:srgbClr val="FBF1E3"/>
          </a:solidFill>
          <a:ln/>
          <a:effectLst>
            <a:outerShdw sx="100000" sy="100000" kx="0" ky="0" algn="bl" rotWithShape="0" blurRad="76200" dist="25400" dir="5400000">
              <a:srgbClr val="9AA4B8">
                <a:alpha val="35000"/>
              </a:srgbClr>
            </a:outerShdw>
          </a:effectLst>
        </p:spPr>
      </p:sp>
      <p:sp>
        <p:nvSpPr>
          <p:cNvPr id="32" name="Text 24"/>
          <p:cNvSpPr/>
          <p:nvPr/>
        </p:nvSpPr>
        <p:spPr>
          <a:xfrm>
            <a:off x="7818120" y="4892040"/>
            <a:ext cx="3566160" cy="1280160"/>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Without it, COPY . . sweeps the entire repository — including files that must never enter an image — into the build context, inflating the image and risking credential leakage.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GPU IMAGES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GPU images: CUDA bases and driver compatibility</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Text 6"/>
          <p:cNvSpPr/>
          <p:nvPr/>
        </p:nvSpPr>
        <p:spPr>
          <a:xfrm>
            <a:off x="640080" y="1554480"/>
            <a:ext cx="5577840" cy="3657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b="1" dirty="0">
                <a:solidFill>
                  <a:srgbClr val="232946"/>
                </a:solidFill>
                <a:latin typeface="Calibri" pitchFamily="34" charset="0"/>
                <a:ea typeface="Calibri" pitchFamily="34" charset="-122"/>
                <a:cs typeface="Calibri" pitchFamily="34" charset="-120"/>
              </a:rPr>
              <a:t>GPU workloads build FROM NVIDIA CUDA base images, which bundle the CUDA toolkit and runtime libraries.</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GPU driver remains on the host; the CUDA toolkit travels inside the image. The host driver version must satisfy the image's CUDA version.</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NVIDIA Container Toolkit exposes host GPUs to containers: docker run --gpus all.</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Framework wheels must match the image's CUDA version — for example cu124 wheels on a CUDA 12.4 base.</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CUDA runtime libraries plus matched framework builds are why GPU images commonly exceed 5–10 GB — size discipline matters even more.</a:t>
            </a:r>
            <a:endParaRPr lang="en-US" sz="1250" dirty="0"/>
          </a:p>
        </p:txBody>
      </p:sp>
      <p:sp>
        <p:nvSpPr>
          <p:cNvPr id="11" name="Shape 7"/>
          <p:cNvSpPr/>
          <p:nvPr/>
        </p:nvSpPr>
        <p:spPr>
          <a:xfrm>
            <a:off x="640080" y="5029200"/>
            <a:ext cx="5577840" cy="1280160"/>
          </a:xfrm>
          <a:prstGeom prst="roundRect">
            <a:avLst>
              <a:gd name="adj" fmla="val 6429"/>
            </a:avLst>
          </a:prstGeom>
          <a:solidFill>
            <a:srgbClr val="EEF2FA"/>
          </a:solidFill>
          <a:ln/>
          <a:effectLst>
            <a:outerShdw sx="100000" sy="100000" kx="0" ky="0" algn="bl" rotWithShape="0" blurRad="76200" dist="25400" dir="5400000">
              <a:srgbClr val="9AA4B8">
                <a:alpha val="35000"/>
              </a:srgbClr>
            </a:outerShdw>
          </a:effectLst>
        </p:spPr>
      </p:sp>
      <p:sp>
        <p:nvSpPr>
          <p:cNvPr id="12" name="Text 8"/>
          <p:cNvSpPr/>
          <p:nvPr/>
        </p:nvSpPr>
        <p:spPr>
          <a:xfrm>
            <a:off x="868680" y="5120640"/>
            <a:ext cx="5120640" cy="109728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Compatibility rule:  </a:t>
            </a:r>
            <a:pPr indent="0" marL="0">
              <a:buNone/>
            </a:pPr>
            <a:r>
              <a:rPr lang="en-US" sz="1150" dirty="0">
                <a:solidFill>
                  <a:srgbClr val="5A6478"/>
                </a:solidFill>
                <a:latin typeface="Calibri" pitchFamily="34" charset="0"/>
                <a:ea typeface="Calibri" pitchFamily="34" charset="-122"/>
                <a:cs typeface="Calibri" pitchFamily="34" charset="-120"/>
              </a:rPr>
              <a:t>host driver version ≥ the image's CUDA requirement; framework wheel version = the image's CUDA version. A mismatch at either boundary leaves the GPU invisible to the application.</a:t>
            </a:r>
            <a:endParaRPr lang="en-US" sz="1150" dirty="0"/>
          </a:p>
        </p:txBody>
      </p:sp>
      <p:sp>
        <p:nvSpPr>
          <p:cNvPr id="13" name="Shape 9"/>
          <p:cNvSpPr/>
          <p:nvPr/>
        </p:nvSpPr>
        <p:spPr>
          <a:xfrm>
            <a:off x="6446520" y="1554480"/>
            <a:ext cx="5120640" cy="3063240"/>
          </a:xfrm>
          <a:prstGeom prst="roundRect">
            <a:avLst>
              <a:gd name="adj" fmla="val 2388"/>
            </a:avLst>
          </a:prstGeom>
          <a:solidFill>
            <a:srgbClr val="1B2130"/>
          </a:solidFill>
          <a:ln/>
          <a:effectLst>
            <a:outerShdw sx="100000" sy="100000" kx="0" ky="0" algn="bl" rotWithShape="0" blurRad="76200" dist="25400" dir="5400000">
              <a:srgbClr val="9AA4B8">
                <a:alpha val="35000"/>
              </a:srgbClr>
            </a:outerShdw>
          </a:effectLst>
        </p:spPr>
      </p:sp>
      <p:sp>
        <p:nvSpPr>
          <p:cNvPr id="14" name="Text 10"/>
          <p:cNvSpPr/>
          <p:nvPr/>
        </p:nvSpPr>
        <p:spPr>
          <a:xfrm>
            <a:off x="6647688" y="1664208"/>
            <a:ext cx="4718304" cy="284378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Dockerfile.gpu — reference only</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FROM nvidia/cuda:12.4.1-runtime-ubuntu22.04</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RUN apt-get update &amp;&amp;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apt-get install -y python3-pip</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wheel must match image CUDA (cu124)</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RUN pip install vllm==0.6.3</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CMD ["vllm", "serve",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"Qwen/Qwen2.5-0.5B-Instruct",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"--port", "8000"]</a:t>
            </a:r>
            <a:endParaRPr lang="en-US" sz="1000" dirty="0"/>
          </a:p>
        </p:txBody>
      </p:sp>
      <p:sp>
        <p:nvSpPr>
          <p:cNvPr id="15" name="Shape 11"/>
          <p:cNvSpPr/>
          <p:nvPr/>
        </p:nvSpPr>
        <p:spPr>
          <a:xfrm>
            <a:off x="6446520" y="4800600"/>
            <a:ext cx="5120640" cy="1508760"/>
          </a:xfrm>
          <a:prstGeom prst="roundRect">
            <a:avLst>
              <a:gd name="adj" fmla="val 5455"/>
            </a:avLst>
          </a:prstGeom>
          <a:solidFill>
            <a:srgbClr val="EEF2FA"/>
          </a:solidFill>
          <a:ln/>
          <a:effectLst>
            <a:outerShdw sx="100000" sy="100000" kx="0" ky="0" algn="bl" rotWithShape="0" blurRad="76200" dist="25400" dir="5400000">
              <a:srgbClr val="9AA4B8">
                <a:alpha val="35000"/>
              </a:srgbClr>
            </a:outerShdw>
          </a:effectLst>
        </p:spPr>
      </p:sp>
      <p:sp>
        <p:nvSpPr>
          <p:cNvPr id="16" name="Text 12"/>
          <p:cNvSpPr/>
          <p:nvPr/>
        </p:nvSpPr>
        <p:spPr>
          <a:xfrm>
            <a:off x="6675120" y="4919472"/>
            <a:ext cx="457200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Run with GPUs (reference)</a:t>
            </a:r>
            <a:endParaRPr lang="en-US" sz="1250" dirty="0"/>
          </a:p>
        </p:txBody>
      </p:sp>
      <p:sp>
        <p:nvSpPr>
          <p:cNvPr id="17" name="Shape 13"/>
          <p:cNvSpPr/>
          <p:nvPr/>
        </p:nvSpPr>
        <p:spPr>
          <a:xfrm>
            <a:off x="6675120" y="5257800"/>
            <a:ext cx="4663440" cy="914400"/>
          </a:xfrm>
          <a:prstGeom prst="roundRect">
            <a:avLst>
              <a:gd name="adj" fmla="val 8000"/>
            </a:avLst>
          </a:prstGeom>
          <a:solidFill>
            <a:srgbClr val="1B2130"/>
          </a:solidFill>
          <a:ln/>
          <a:effectLst>
            <a:outerShdw sx="100000" sy="100000" kx="0" ky="0" algn="bl" rotWithShape="0" blurRad="76200" dist="25400" dir="5400000">
              <a:srgbClr val="9AA4B8">
                <a:alpha val="35000"/>
              </a:srgbClr>
            </a:outerShdw>
          </a:effectLst>
        </p:spPr>
      </p:sp>
      <p:sp>
        <p:nvSpPr>
          <p:cNvPr id="18" name="Text 14"/>
          <p:cNvSpPr/>
          <p:nvPr/>
        </p:nvSpPr>
        <p:spPr>
          <a:xfrm>
            <a:off x="6876288" y="5367528"/>
            <a:ext cx="4261104" cy="694944"/>
          </a:xfrm>
          <a:prstGeom prst="rect">
            <a:avLst/>
          </a:prstGeom>
          <a:noFill/>
          <a:ln/>
        </p:spPr>
        <p:txBody>
          <a:bodyPr wrap="square" lIns="0" tIns="0" rIns="0" bIns="0" rtlCol="0" anchor="t"/>
          <a:lstStyle/>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docker run --gpus all -p 8000:8000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llm-server-gpu:v1</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verify with nvidia-smi in the container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SECRETS MANAGEMENT</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Secrets: runtime injection, local and in the cloud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Text 4"/>
          <p:cNvSpPr/>
          <p:nvPr/>
        </p:nvSpPr>
        <p:spPr>
          <a:xfrm>
            <a:off x="640080" y="1554480"/>
            <a:ext cx="5577840" cy="40233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b="1" dirty="0">
                <a:solidFill>
                  <a:srgbClr val="232946"/>
                </a:solidFill>
                <a:latin typeface="Calibri" pitchFamily="34" charset="0"/>
                <a:ea typeface="Calibri" pitchFamily="34" charset="-122"/>
                <a:cs typeface="Calibri" pitchFamily="34" charset="-120"/>
              </a:rPr>
              <a:t>Credentials and configuration are injected at runtime as environment variables; the code reads os.environ and is identical in every environment.</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Locally: a .env file — excluded by .gitignore and .dockerignore — supplied with --env-file or a Compose env_file entry.</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In the cloud: a secret manager (GCP Secret Manager, AWS Secrets Manager, Azure Key Vault) stores the value; the platform injects it at container start.</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Access is IAM-scoped: the service identity may read exactly the secrets it requires, and nothing else.</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Rotation updates the stored value centrally — no image rebuild and no code change.</a:t>
            </a:r>
            <a:endParaRPr lang="en-US" sz="1250" dirty="0"/>
          </a:p>
        </p:txBody>
      </p:sp>
      <p:sp>
        <p:nvSpPr>
          <p:cNvPr id="9" name="Shape 5"/>
          <p:cNvSpPr/>
          <p:nvPr/>
        </p:nvSpPr>
        <p:spPr>
          <a:xfrm>
            <a:off x="640080" y="5257800"/>
            <a:ext cx="5577840" cy="1051560"/>
          </a:xfrm>
          <a:prstGeom prst="roundRect">
            <a:avLst>
              <a:gd name="adj" fmla="val 7826"/>
            </a:avLst>
          </a:prstGeom>
          <a:solidFill>
            <a:srgbClr val="EEF2FA"/>
          </a:solidFill>
          <a:ln/>
          <a:effectLst>
            <a:outerShdw sx="100000" sy="100000" kx="0" ky="0" algn="bl" rotWithShape="0" blurRad="76200" dist="25400" dir="5400000">
              <a:srgbClr val="9AA4B8">
                <a:alpha val="35000"/>
              </a:srgbClr>
            </a:outerShdw>
          </a:effectLst>
        </p:spPr>
      </p:sp>
      <p:sp>
        <p:nvSpPr>
          <p:cNvPr id="10" name="Text 6"/>
          <p:cNvSpPr/>
          <p:nvPr/>
        </p:nvSpPr>
        <p:spPr>
          <a:xfrm>
            <a:off x="868680" y="5330952"/>
            <a:ext cx="5120640" cy="90525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In today's lab:  </a:t>
            </a:r>
            <a:pPr indent="0" marL="0">
              <a:buNone/>
            </a:pPr>
            <a:r>
              <a:rPr lang="en-US" sz="1150" dirty="0">
                <a:solidFill>
                  <a:srgbClr val="5A6478"/>
                </a:solidFill>
                <a:latin typeface="Calibri" pitchFamily="34" charset="0"/>
                <a:ea typeface="Calibri" pitchFamily="34" charset="-122"/>
                <a:cs typeface="Calibri" pitchFamily="34" charset="-120"/>
              </a:rPr>
              <a:t>Step 3 exercises the local half of this model — a .env file, runtime injection with -e / env_file, and verification via docker history.</a:t>
            </a:r>
            <a:endParaRPr lang="en-US" sz="1150" dirty="0"/>
          </a:p>
        </p:txBody>
      </p:sp>
      <p:sp>
        <p:nvSpPr>
          <p:cNvPr id="11" name="Shape 7"/>
          <p:cNvSpPr/>
          <p:nvPr/>
        </p:nvSpPr>
        <p:spPr>
          <a:xfrm>
            <a:off x="6446520" y="1554480"/>
            <a:ext cx="5120640" cy="2834640"/>
          </a:xfrm>
          <a:prstGeom prst="roundRect">
            <a:avLst>
              <a:gd name="adj" fmla="val 2581"/>
            </a:avLst>
          </a:prstGeom>
          <a:solidFill>
            <a:srgbClr val="1B2130"/>
          </a:solidFill>
          <a:ln/>
          <a:effectLst>
            <a:outerShdw sx="100000" sy="100000" kx="0" ky="0" algn="bl" rotWithShape="0" blurRad="76200" dist="25400" dir="5400000">
              <a:srgbClr val="9AA4B8">
                <a:alpha val="35000"/>
              </a:srgbClr>
            </a:outerShdw>
          </a:effectLst>
        </p:spPr>
      </p:sp>
      <p:sp>
        <p:nvSpPr>
          <p:cNvPr id="12" name="Text 8"/>
          <p:cNvSpPr/>
          <p:nvPr/>
        </p:nvSpPr>
        <p:spPr>
          <a:xfrm>
            <a:off x="6647688" y="1664208"/>
            <a:ext cx="4718304" cy="261518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app.py — identical in every environment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API_KEY = os.environ["API_KEY"]</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local development and today's lab</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run --env-file .env llm-server:v1</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cloud (reference theory)</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gcloud run deploy llm-server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--set-secrets API_KEY=api-key:latest</a:t>
            </a:r>
            <a:endParaRPr lang="en-US" sz="1000" dirty="0"/>
          </a:p>
        </p:txBody>
      </p:sp>
      <p:sp>
        <p:nvSpPr>
          <p:cNvPr id="13" name="Shape 9"/>
          <p:cNvSpPr/>
          <p:nvPr/>
        </p:nvSpPr>
        <p:spPr>
          <a:xfrm>
            <a:off x="6446520" y="4572000"/>
            <a:ext cx="5120640" cy="1737360"/>
          </a:xfrm>
          <a:prstGeom prst="roundRect">
            <a:avLst>
              <a:gd name="adj" fmla="val 4737"/>
            </a:avLst>
          </a:prstGeom>
          <a:solidFill>
            <a:srgbClr val="F8ECE8"/>
          </a:solidFill>
          <a:ln/>
          <a:effectLst>
            <a:outerShdw sx="100000" sy="100000" kx="0" ky="0" algn="bl" rotWithShape="0" blurRad="76200" dist="25400" dir="5400000">
              <a:srgbClr val="9AA4B8">
                <a:alpha val="35000"/>
              </a:srgbClr>
            </a:outerShdw>
          </a:effectLst>
        </p:spPr>
      </p:sp>
      <p:sp>
        <p:nvSpPr>
          <p:cNvPr id="14" name="Shape 10"/>
          <p:cNvSpPr/>
          <p:nvPr/>
        </p:nvSpPr>
        <p:spPr>
          <a:xfrm>
            <a:off x="6675120" y="4754880"/>
            <a:ext cx="384048" cy="384048"/>
          </a:xfrm>
          <a:prstGeom prst="ellipse">
            <a:avLst/>
          </a:prstGeom>
          <a:solidFill>
            <a:srgbClr val="B3402A"/>
          </a:solidFill>
          <a:ln/>
        </p:spPr>
      </p:sp>
      <p:pic>
        <p:nvPicPr>
          <p:cNvPr id="15" name="Image 1" descr="preencoded.png">    </p:cNvPr>
          <p:cNvPicPr>
            <a:picLocks noChangeAspect="1"/>
          </p:cNvPicPr>
          <p:nvPr/>
        </p:nvPicPr>
        <p:blipFill>
          <a:blip r:embed="rId2"/>
          <a:stretch>
            <a:fillRect/>
          </a:stretch>
        </p:blipFill>
        <p:spPr>
          <a:xfrm>
            <a:off x="6774972" y="4854732"/>
            <a:ext cx="184343" cy="184343"/>
          </a:xfrm>
          <a:prstGeom prst="rect">
            <a:avLst/>
          </a:prstGeom>
        </p:spPr>
      </p:pic>
      <p:sp>
        <p:nvSpPr>
          <p:cNvPr id="16" name="Text 11"/>
          <p:cNvSpPr/>
          <p:nvPr/>
        </p:nvSpPr>
        <p:spPr>
          <a:xfrm>
            <a:off x="7223760" y="4773168"/>
            <a:ext cx="4114800" cy="320040"/>
          </a:xfrm>
          <a:prstGeom prst="rect">
            <a:avLst/>
          </a:prstGeom>
          <a:noFill/>
          <a:ln/>
        </p:spPr>
        <p:txBody>
          <a:bodyPr wrap="square" lIns="0" tIns="0" rIns="0" bIns="0" rtlCol="0" anchor="ctr"/>
          <a:lstStyle/>
          <a:p>
            <a:pPr indent="0" marL="0">
              <a:buNone/>
            </a:pPr>
            <a:r>
              <a:rPr lang="en-US" sz="1300" b="1" dirty="0">
                <a:solidFill>
                  <a:srgbClr val="B3402A"/>
                </a:solidFill>
                <a:latin typeface="Arial" pitchFamily="34" charset="0"/>
                <a:ea typeface="Arial" pitchFamily="34" charset="-122"/>
                <a:cs typeface="Arial" pitchFamily="34" charset="-120"/>
              </a:rPr>
              <a:t>Never acceptable</a:t>
            </a:r>
            <a:endParaRPr lang="en-US" sz="1300" dirty="0"/>
          </a:p>
        </p:txBody>
      </p:sp>
      <p:sp>
        <p:nvSpPr>
          <p:cNvPr id="17" name="Text 12"/>
          <p:cNvSpPr/>
          <p:nvPr/>
        </p:nvSpPr>
        <p:spPr>
          <a:xfrm>
            <a:off x="7223760" y="5120640"/>
            <a:ext cx="4160520" cy="1051560"/>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Credentials baked into image layers (ENV or COPY .env at build time) or committed to version control. Both persist indefinitely and are trivially recoverable.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HEALTH PROBES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Health probes: startup, readiness, liveness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54480"/>
            <a:ext cx="3474720" cy="2651760"/>
          </a:xfrm>
          <a:prstGeom prst="roundRect">
            <a:avLst>
              <a:gd name="adj" fmla="val 3103"/>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02920" cy="502920"/>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99439" y="1913839"/>
            <a:ext cx="241402" cy="241402"/>
          </a:xfrm>
          <a:prstGeom prst="rect">
            <a:avLst/>
          </a:prstGeom>
        </p:spPr>
      </p:pic>
      <p:sp>
        <p:nvSpPr>
          <p:cNvPr id="11" name="Text 6"/>
          <p:cNvSpPr/>
          <p:nvPr/>
        </p:nvSpPr>
        <p:spPr>
          <a:xfrm>
            <a:off x="1508760" y="1847088"/>
            <a:ext cx="237744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Startup</a:t>
            </a:r>
            <a:endParaRPr lang="en-US" sz="1600" dirty="0"/>
          </a:p>
        </p:txBody>
      </p:sp>
      <p:sp>
        <p:nvSpPr>
          <p:cNvPr id="12" name="Text 7"/>
          <p:cNvSpPr/>
          <p:nvPr/>
        </p:nvSpPr>
        <p:spPr>
          <a:xfrm>
            <a:off x="868680" y="2423160"/>
            <a:ext cx="3017520" cy="16459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Has initialisation finished? Failures are tolerated until the startup window elapses. An LLM server loading weights may legitimately need 60–120 seconds — the window must cover it.</a:t>
            </a:r>
            <a:endParaRPr lang="en-US" sz="1100" dirty="0"/>
          </a:p>
        </p:txBody>
      </p:sp>
      <p:sp>
        <p:nvSpPr>
          <p:cNvPr id="13" name="Shape 8"/>
          <p:cNvSpPr/>
          <p:nvPr/>
        </p:nvSpPr>
        <p:spPr>
          <a:xfrm>
            <a:off x="4343400" y="1554480"/>
            <a:ext cx="3474720" cy="2651760"/>
          </a:xfrm>
          <a:prstGeom prst="roundRect">
            <a:avLst>
              <a:gd name="adj" fmla="val 3103"/>
            </a:avLst>
          </a:prstGeom>
          <a:solidFill>
            <a:srgbClr val="DDE6F5"/>
          </a:solidFill>
          <a:ln/>
          <a:effectLst>
            <a:outerShdw sx="100000" sy="100000" kx="0" ky="0" algn="bl" rotWithShape="0" blurRad="76200" dist="25400" dir="5400000">
              <a:srgbClr val="9AA4B8">
                <a:alpha val="35000"/>
              </a:srgbClr>
            </a:outerShdw>
          </a:effectLst>
        </p:spPr>
      </p:sp>
      <p:sp>
        <p:nvSpPr>
          <p:cNvPr id="14" name="Shape 9"/>
          <p:cNvSpPr/>
          <p:nvPr/>
        </p:nvSpPr>
        <p:spPr>
          <a:xfrm>
            <a:off x="4572000" y="1783080"/>
            <a:ext cx="502920" cy="502920"/>
          </a:xfrm>
          <a:prstGeom prst="ellipse">
            <a:avLst/>
          </a:prstGeom>
          <a:solidFill>
            <a:srgbClr val="232946"/>
          </a:solidFill>
          <a:ln/>
        </p:spPr>
      </p:sp>
      <p:pic>
        <p:nvPicPr>
          <p:cNvPr id="15" name="Image 2" descr="preencoded.png">    </p:cNvPr>
          <p:cNvPicPr>
            <a:picLocks noChangeAspect="1"/>
          </p:cNvPicPr>
          <p:nvPr/>
        </p:nvPicPr>
        <p:blipFill>
          <a:blip r:embed="rId3"/>
          <a:stretch>
            <a:fillRect/>
          </a:stretch>
        </p:blipFill>
        <p:spPr>
          <a:xfrm>
            <a:off x="4702759" y="1913839"/>
            <a:ext cx="241402" cy="241402"/>
          </a:xfrm>
          <a:prstGeom prst="rect">
            <a:avLst/>
          </a:prstGeom>
        </p:spPr>
      </p:pic>
      <p:sp>
        <p:nvSpPr>
          <p:cNvPr id="16" name="Text 10"/>
          <p:cNvSpPr/>
          <p:nvPr/>
        </p:nvSpPr>
        <p:spPr>
          <a:xfrm>
            <a:off x="5212080" y="1847088"/>
            <a:ext cx="237744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Readiness</a:t>
            </a:r>
            <a:endParaRPr lang="en-US" sz="1600" dirty="0"/>
          </a:p>
        </p:txBody>
      </p:sp>
      <p:sp>
        <p:nvSpPr>
          <p:cNvPr id="17" name="Text 11"/>
          <p:cNvSpPr/>
          <p:nvPr/>
        </p:nvSpPr>
        <p:spPr>
          <a:xfrm>
            <a:off x="4572000" y="2423160"/>
            <a:ext cx="3017520" cy="16459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Is this instance able to serve traffic now? A failing readiness probe removes the instance from load balancing without restarting it — used during load spikes and warm-up.</a:t>
            </a:r>
            <a:endParaRPr lang="en-US" sz="1100" dirty="0"/>
          </a:p>
        </p:txBody>
      </p:sp>
      <p:sp>
        <p:nvSpPr>
          <p:cNvPr id="18" name="Shape 12"/>
          <p:cNvSpPr/>
          <p:nvPr/>
        </p:nvSpPr>
        <p:spPr>
          <a:xfrm>
            <a:off x="8046720" y="1554480"/>
            <a:ext cx="3474720" cy="2651760"/>
          </a:xfrm>
          <a:prstGeom prst="roundRect">
            <a:avLst>
              <a:gd name="adj" fmla="val 3103"/>
            </a:avLst>
          </a:prstGeom>
          <a:solidFill>
            <a:srgbClr val="EEF2FA"/>
          </a:solidFill>
          <a:ln/>
          <a:effectLst>
            <a:outerShdw sx="100000" sy="100000" kx="0" ky="0" algn="bl" rotWithShape="0" blurRad="76200" dist="25400" dir="5400000">
              <a:srgbClr val="9AA4B8">
                <a:alpha val="35000"/>
              </a:srgbClr>
            </a:outerShdw>
          </a:effectLst>
        </p:spPr>
      </p:sp>
      <p:sp>
        <p:nvSpPr>
          <p:cNvPr id="19" name="Shape 13"/>
          <p:cNvSpPr/>
          <p:nvPr/>
        </p:nvSpPr>
        <p:spPr>
          <a:xfrm>
            <a:off x="8275320" y="1783080"/>
            <a:ext cx="502920" cy="502920"/>
          </a:xfrm>
          <a:prstGeom prst="ellipse">
            <a:avLst/>
          </a:prstGeom>
          <a:solidFill>
            <a:srgbClr val="232946"/>
          </a:solidFill>
          <a:ln/>
        </p:spPr>
      </p:sp>
      <p:pic>
        <p:nvPicPr>
          <p:cNvPr id="20" name="Image 3" descr="preencoded.png">    </p:cNvPr>
          <p:cNvPicPr>
            <a:picLocks noChangeAspect="1"/>
          </p:cNvPicPr>
          <p:nvPr/>
        </p:nvPicPr>
        <p:blipFill>
          <a:blip r:embed="rId4"/>
          <a:stretch>
            <a:fillRect/>
          </a:stretch>
        </p:blipFill>
        <p:spPr>
          <a:xfrm>
            <a:off x="8406079" y="1913839"/>
            <a:ext cx="241402" cy="241402"/>
          </a:xfrm>
          <a:prstGeom prst="rect">
            <a:avLst/>
          </a:prstGeom>
        </p:spPr>
      </p:pic>
      <p:sp>
        <p:nvSpPr>
          <p:cNvPr id="21" name="Text 14"/>
          <p:cNvSpPr/>
          <p:nvPr/>
        </p:nvSpPr>
        <p:spPr>
          <a:xfrm>
            <a:off x="8915400" y="1847088"/>
            <a:ext cx="237744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Liveness</a:t>
            </a:r>
            <a:endParaRPr lang="en-US" sz="1600" dirty="0"/>
          </a:p>
        </p:txBody>
      </p:sp>
      <p:sp>
        <p:nvSpPr>
          <p:cNvPr id="22" name="Text 15"/>
          <p:cNvSpPr/>
          <p:nvPr/>
        </p:nvSpPr>
        <p:spPr>
          <a:xfrm>
            <a:off x="8275320" y="2423160"/>
            <a:ext cx="3017520" cy="16459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Is the process still functioning? Repeated liveness failures trigger a restart of the container. Kept deliberately cheap and unambiguous.</a:t>
            </a:r>
            <a:endParaRPr lang="en-US" sz="1100" dirty="0"/>
          </a:p>
        </p:txBody>
      </p:sp>
      <p:sp>
        <p:nvSpPr>
          <p:cNvPr id="23" name="Shape 16"/>
          <p:cNvSpPr/>
          <p:nvPr/>
        </p:nvSpPr>
        <p:spPr>
          <a:xfrm>
            <a:off x="640080" y="4434840"/>
            <a:ext cx="10881360" cy="868680"/>
          </a:xfrm>
          <a:prstGeom prst="roundRect">
            <a:avLst>
              <a:gd name="adj" fmla="val 9474"/>
            </a:avLst>
          </a:prstGeom>
          <a:solidFill>
            <a:srgbClr val="232946"/>
          </a:solidFill>
          <a:ln/>
          <a:effectLst>
            <a:outerShdw sx="100000" sy="100000" kx="0" ky="0" algn="bl" rotWithShape="0" blurRad="76200" dist="25400" dir="5400000">
              <a:srgbClr val="9AA4B8">
                <a:alpha val="35000"/>
              </a:srgbClr>
            </a:outerShdw>
          </a:effectLst>
        </p:spPr>
      </p:sp>
      <p:sp>
        <p:nvSpPr>
          <p:cNvPr id="24" name="Text 17"/>
          <p:cNvSpPr/>
          <p:nvPr/>
        </p:nvSpPr>
        <p:spPr>
          <a:xfrm>
            <a:off x="868680" y="4507992"/>
            <a:ext cx="10424160" cy="722376"/>
          </a:xfrm>
          <a:prstGeom prst="rect">
            <a:avLst/>
          </a:prstGeom>
          <a:noFill/>
          <a:ln/>
        </p:spPr>
        <p:txBody>
          <a:bodyPr wrap="square" lIns="0" tIns="0" rIns="0" bIns="0" rtlCol="0" anchor="ctr"/>
          <a:lstStyle/>
          <a:p>
            <a:pPr indent="0" marL="0">
              <a:buNone/>
            </a:pPr>
            <a:r>
              <a:rPr lang="en-US" sz="1250" b="1" dirty="0">
                <a:solidFill>
                  <a:srgbClr val="F5B971"/>
                </a:solidFill>
                <a:latin typeface="Calibri" pitchFamily="34" charset="0"/>
                <a:ea typeface="Calibri" pitchFamily="34" charset="-122"/>
                <a:cs typeface="Calibri" pitchFamily="34" charset="-120"/>
              </a:rPr>
              <a:t>Traffic-readiness principle:  </a:t>
            </a:r>
            <a:pPr indent="0" marL="0">
              <a:buNone/>
            </a:pPr>
            <a:r>
              <a:rPr lang="en-US" sz="1250" dirty="0">
                <a:solidFill>
                  <a:srgbClr val="FFFFFF"/>
                </a:solidFill>
                <a:latin typeface="Calibri" pitchFamily="34" charset="0"/>
                <a:ea typeface="Calibri" pitchFamily="34" charset="-122"/>
                <a:cs typeface="Calibri" pitchFamily="34" charset="-120"/>
              </a:rPr>
              <a:t>a platform must never route requests to an instance whose readiness probe has not passed. The absence of health checks manifests as 503 errors during every deployment and scale-out event.</a:t>
            </a:r>
            <a:endParaRPr lang="en-US" sz="1250" dirty="0"/>
          </a:p>
        </p:txBody>
      </p:sp>
      <p:sp>
        <p:nvSpPr>
          <p:cNvPr id="25" name="Shape 18"/>
          <p:cNvSpPr/>
          <p:nvPr/>
        </p:nvSpPr>
        <p:spPr>
          <a:xfrm>
            <a:off x="640080" y="5486400"/>
            <a:ext cx="10881360" cy="822960"/>
          </a:xfrm>
          <a:prstGeom prst="roundRect">
            <a:avLst>
              <a:gd name="adj" fmla="val 10000"/>
            </a:avLst>
          </a:prstGeom>
          <a:solidFill>
            <a:srgbClr val="EEF2FA"/>
          </a:solidFill>
          <a:ln/>
          <a:effectLst>
            <a:outerShdw sx="100000" sy="100000" kx="0" ky="0" algn="bl" rotWithShape="0" blurRad="76200" dist="25400" dir="5400000">
              <a:srgbClr val="9AA4B8">
                <a:alpha val="35000"/>
              </a:srgbClr>
            </a:outerShdw>
          </a:effectLst>
        </p:spPr>
      </p:sp>
      <p:sp>
        <p:nvSpPr>
          <p:cNvPr id="26" name="Text 19"/>
          <p:cNvSpPr/>
          <p:nvPr/>
        </p:nvSpPr>
        <p:spPr>
          <a:xfrm>
            <a:off x="868680" y="5559552"/>
            <a:ext cx="10424160" cy="676656"/>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In today's lab:  </a:t>
            </a:r>
            <a:pPr indent="0" marL="0">
              <a:buNone/>
            </a:pPr>
            <a:r>
              <a:rPr lang="en-US" sz="1200" dirty="0">
                <a:solidFill>
                  <a:srgbClr val="5A6478"/>
                </a:solidFill>
                <a:latin typeface="Calibri" pitchFamily="34" charset="0"/>
                <a:ea typeface="Calibri" pitchFamily="34" charset="-122"/>
                <a:cs typeface="Calibri" pitchFamily="34" charset="-120"/>
              </a:rPr>
              <a:t>Docker's HEALTHCHECK plays the startup and liveness roles. The starting → healthy transition you will time in Step 2 is precisely the model-loading window a cloud startup probe must accommodate.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CLOUD DEPLOYMENT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Managed container runtimes: the reference architecture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Text 6"/>
          <p:cNvSpPr/>
          <p:nvPr/>
        </p:nvSpPr>
        <p:spPr>
          <a:xfrm>
            <a:off x="640080" y="1417320"/>
            <a:ext cx="10881360" cy="548640"/>
          </a:xfrm>
          <a:prstGeom prst="rect">
            <a:avLst/>
          </a:prstGeom>
          <a:noFill/>
          <a:ln/>
        </p:spPr>
        <p:txBody>
          <a:bodyPr wrap="square" lIns="0" tIns="0" rIns="0" bIns="0" rtlCol="0" anchor="ctr"/>
          <a:lstStyle/>
          <a:p>
            <a:pPr indent="0" marL="0">
              <a:buNone/>
            </a:pPr>
            <a:r>
              <a:rPr lang="en-US" sz="1350" dirty="0">
                <a:solidFill>
                  <a:srgbClr val="232946"/>
                </a:solidFill>
                <a:latin typeface="Calibri" pitchFamily="34" charset="0"/>
                <a:ea typeface="Calibri" pitchFamily="34" charset="-122"/>
                <a:cs typeface="Calibri" pitchFamily="34" charset="-120"/>
              </a:rPr>
              <a:t>A managed container runtime consumes the image you build and operates everything beneath it. The image produced in today's lab is exactly the artifact these platforms accept.</a:t>
            </a:r>
            <a:endParaRPr lang="en-US" sz="1350" dirty="0"/>
          </a:p>
        </p:txBody>
      </p:sp>
      <p:sp>
        <p:nvSpPr>
          <p:cNvPr id="11" name="Shape 7"/>
          <p:cNvSpPr/>
          <p:nvPr/>
        </p:nvSpPr>
        <p:spPr>
          <a:xfrm>
            <a:off x="822960" y="2651760"/>
            <a:ext cx="2103120" cy="914400"/>
          </a:xfrm>
          <a:prstGeom prst="roundRect">
            <a:avLst>
              <a:gd name="adj" fmla="val 9000"/>
            </a:avLst>
          </a:prstGeom>
          <a:solidFill>
            <a:srgbClr val="DDE6F5"/>
          </a:solidFill>
          <a:ln/>
          <a:effectLst>
            <a:outerShdw sx="100000" sy="100000" kx="0" ky="0" algn="bl" rotWithShape="0" blurRad="76200" dist="25400" dir="5400000">
              <a:srgbClr val="9AA4B8">
                <a:alpha val="35000"/>
              </a:srgbClr>
            </a:outerShdw>
          </a:effectLst>
        </p:spPr>
      </p:sp>
      <p:sp>
        <p:nvSpPr>
          <p:cNvPr id="12" name="Text 8"/>
          <p:cNvSpPr/>
          <p:nvPr/>
        </p:nvSpPr>
        <p:spPr>
          <a:xfrm>
            <a:off x="868680" y="2743200"/>
            <a:ext cx="2011680" cy="731520"/>
          </a:xfrm>
          <a:prstGeom prst="rect">
            <a:avLst/>
          </a:prstGeom>
          <a:noFill/>
          <a:ln/>
        </p:spPr>
        <p:txBody>
          <a:bodyPr wrap="square" lIns="0" tIns="0" rIns="0" bIns="0" rtlCol="0" anchor="ctr"/>
          <a:lstStyle/>
          <a:p>
            <a:pPr algn="ctr" indent="0" marL="0">
              <a:buNone/>
            </a:pPr>
            <a:r>
              <a:rPr lang="en-US" sz="1150" b="1" dirty="0">
                <a:solidFill>
                  <a:srgbClr val="232946"/>
                </a:solidFill>
                <a:latin typeface="Calibri" pitchFamily="34" charset="0"/>
                <a:ea typeface="Calibri" pitchFamily="34" charset="-122"/>
                <a:cs typeface="Calibri" pitchFamily="34" charset="-120"/>
              </a:rPr>
              <a:t>Your image</a:t>
            </a:r>
            <a:endParaRPr lang="en-US" sz="1150" dirty="0"/>
          </a:p>
          <a:p>
            <a:pPr algn="ctr" indent="0" marL="0">
              <a:buNone/>
            </a:pPr>
            <a:r>
              <a:rPr lang="en-US" sz="1150" b="1" dirty="0">
                <a:solidFill>
                  <a:srgbClr val="232946"/>
                </a:solidFill>
                <a:latin typeface="Calibri" pitchFamily="34" charset="0"/>
                <a:ea typeface="Calibri" pitchFamily="34" charset="-122"/>
                <a:cs typeface="Calibri" pitchFamily="34" charset="-120"/>
              </a:rPr>
              <a:t>llm-server:v1</a:t>
            </a:r>
            <a:endParaRPr lang="en-US" sz="1150" dirty="0"/>
          </a:p>
        </p:txBody>
      </p:sp>
      <p:sp>
        <p:nvSpPr>
          <p:cNvPr id="13" name="Shape 9"/>
          <p:cNvSpPr/>
          <p:nvPr/>
        </p:nvSpPr>
        <p:spPr>
          <a:xfrm>
            <a:off x="3017520" y="3108960"/>
            <a:ext cx="731520" cy="0"/>
          </a:xfrm>
          <a:prstGeom prst="line">
            <a:avLst/>
          </a:prstGeom>
          <a:noFill/>
          <a:ln w="31750">
            <a:solidFill>
              <a:srgbClr val="E8871E"/>
            </a:solidFill>
            <a:prstDash val="solid"/>
            <a:tailEnd type="triangle"/>
          </a:ln>
        </p:spPr>
      </p:sp>
      <p:sp>
        <p:nvSpPr>
          <p:cNvPr id="14" name="Text 10"/>
          <p:cNvSpPr/>
          <p:nvPr/>
        </p:nvSpPr>
        <p:spPr>
          <a:xfrm>
            <a:off x="3017520" y="3200400"/>
            <a:ext cx="731520" cy="228600"/>
          </a:xfrm>
          <a:prstGeom prst="rect">
            <a:avLst/>
          </a:prstGeom>
          <a:noFill/>
          <a:ln/>
        </p:spPr>
        <p:txBody>
          <a:bodyPr wrap="square" lIns="0" tIns="0" rIns="0" bIns="0" rtlCol="0" anchor="ctr"/>
          <a:lstStyle/>
          <a:p>
            <a:pPr algn="ctr" indent="0" marL="0">
              <a:buNone/>
            </a:pPr>
            <a:r>
              <a:rPr lang="en-US" sz="850" dirty="0">
                <a:solidFill>
                  <a:srgbClr val="5A6478"/>
                </a:solidFill>
                <a:latin typeface="Courier New" pitchFamily="34" charset="0"/>
                <a:ea typeface="Courier New" pitchFamily="34" charset="-122"/>
                <a:cs typeface="Courier New" pitchFamily="34" charset="-120"/>
              </a:rPr>
              <a:t>push</a:t>
            </a:r>
            <a:endParaRPr lang="en-US" sz="850" dirty="0"/>
          </a:p>
        </p:txBody>
      </p:sp>
      <p:sp>
        <p:nvSpPr>
          <p:cNvPr id="15" name="Shape 11"/>
          <p:cNvSpPr/>
          <p:nvPr/>
        </p:nvSpPr>
        <p:spPr>
          <a:xfrm>
            <a:off x="3840480" y="2651760"/>
            <a:ext cx="2103120" cy="914400"/>
          </a:xfrm>
          <a:prstGeom prst="roundRect">
            <a:avLst>
              <a:gd name="adj" fmla="val 9000"/>
            </a:avLst>
          </a:prstGeom>
          <a:solidFill>
            <a:srgbClr val="DDE6F5"/>
          </a:solidFill>
          <a:ln/>
          <a:effectLst>
            <a:outerShdw sx="100000" sy="100000" kx="0" ky="0" algn="bl" rotWithShape="0" blurRad="76200" dist="25400" dir="5400000">
              <a:srgbClr val="9AA4B8">
                <a:alpha val="35000"/>
              </a:srgbClr>
            </a:outerShdw>
          </a:effectLst>
        </p:spPr>
      </p:sp>
      <p:sp>
        <p:nvSpPr>
          <p:cNvPr id="16" name="Text 12"/>
          <p:cNvSpPr/>
          <p:nvPr/>
        </p:nvSpPr>
        <p:spPr>
          <a:xfrm>
            <a:off x="3886200" y="2743200"/>
            <a:ext cx="2011680" cy="731520"/>
          </a:xfrm>
          <a:prstGeom prst="rect">
            <a:avLst/>
          </a:prstGeom>
          <a:noFill/>
          <a:ln/>
        </p:spPr>
        <p:txBody>
          <a:bodyPr wrap="square" lIns="0" tIns="0" rIns="0" bIns="0" rtlCol="0" anchor="ctr"/>
          <a:lstStyle/>
          <a:p>
            <a:pPr algn="ctr" indent="0" marL="0">
              <a:buNone/>
            </a:pPr>
            <a:r>
              <a:rPr lang="en-US" sz="1050" b="1" dirty="0">
                <a:solidFill>
                  <a:srgbClr val="232946"/>
                </a:solidFill>
                <a:latin typeface="Calibri" pitchFamily="34" charset="0"/>
                <a:ea typeface="Calibri" pitchFamily="34" charset="-122"/>
                <a:cs typeface="Calibri" pitchFamily="34" charset="-120"/>
              </a:rPr>
              <a:t>Registry</a:t>
            </a:r>
            <a:endParaRPr lang="en-US" sz="1050" dirty="0"/>
          </a:p>
          <a:p>
            <a:pPr algn="ctr" indent="0" marL="0">
              <a:buNone/>
            </a:pPr>
            <a:r>
              <a:rPr lang="en-US" sz="1050" b="1" dirty="0">
                <a:solidFill>
                  <a:srgbClr val="232946"/>
                </a:solidFill>
                <a:latin typeface="Calibri" pitchFamily="34" charset="0"/>
                <a:ea typeface="Calibri" pitchFamily="34" charset="-122"/>
                <a:cs typeface="Calibri" pitchFamily="34" charset="-120"/>
              </a:rPr>
              <a:t>Artifact Registry / ECR / ACR</a:t>
            </a:r>
            <a:endParaRPr lang="en-US" sz="1050" dirty="0"/>
          </a:p>
        </p:txBody>
      </p:sp>
      <p:sp>
        <p:nvSpPr>
          <p:cNvPr id="17" name="Shape 13"/>
          <p:cNvSpPr/>
          <p:nvPr/>
        </p:nvSpPr>
        <p:spPr>
          <a:xfrm>
            <a:off x="6035040" y="3108960"/>
            <a:ext cx="731520" cy="0"/>
          </a:xfrm>
          <a:prstGeom prst="line">
            <a:avLst/>
          </a:prstGeom>
          <a:noFill/>
          <a:ln w="31750">
            <a:solidFill>
              <a:srgbClr val="E8871E"/>
            </a:solidFill>
            <a:prstDash val="solid"/>
            <a:tailEnd type="triangle"/>
          </a:ln>
        </p:spPr>
      </p:sp>
      <p:sp>
        <p:nvSpPr>
          <p:cNvPr id="18" name="Text 14"/>
          <p:cNvSpPr/>
          <p:nvPr/>
        </p:nvSpPr>
        <p:spPr>
          <a:xfrm>
            <a:off x="5989320" y="3200400"/>
            <a:ext cx="822960" cy="228600"/>
          </a:xfrm>
          <a:prstGeom prst="rect">
            <a:avLst/>
          </a:prstGeom>
          <a:noFill/>
          <a:ln/>
        </p:spPr>
        <p:txBody>
          <a:bodyPr wrap="square" lIns="0" tIns="0" rIns="0" bIns="0" rtlCol="0" anchor="ctr"/>
          <a:lstStyle/>
          <a:p>
            <a:pPr algn="ctr" indent="0" marL="0">
              <a:buNone/>
            </a:pPr>
            <a:r>
              <a:rPr lang="en-US" sz="850" dirty="0">
                <a:solidFill>
                  <a:srgbClr val="5A6478"/>
                </a:solidFill>
                <a:latin typeface="Courier New" pitchFamily="34" charset="0"/>
                <a:ea typeface="Courier New" pitchFamily="34" charset="-122"/>
                <a:cs typeface="Courier New" pitchFamily="34" charset="-120"/>
              </a:rPr>
              <a:t>deploy</a:t>
            </a:r>
            <a:endParaRPr lang="en-US" sz="850" dirty="0"/>
          </a:p>
        </p:txBody>
      </p:sp>
      <p:sp>
        <p:nvSpPr>
          <p:cNvPr id="19" name="Shape 15"/>
          <p:cNvSpPr/>
          <p:nvPr/>
        </p:nvSpPr>
        <p:spPr>
          <a:xfrm>
            <a:off x="6858000" y="2286000"/>
            <a:ext cx="4663440" cy="1691640"/>
          </a:xfrm>
          <a:prstGeom prst="roundRect">
            <a:avLst>
              <a:gd name="adj" fmla="val 4865"/>
            </a:avLst>
          </a:prstGeom>
          <a:solidFill>
            <a:srgbClr val="232946"/>
          </a:solidFill>
          <a:ln/>
          <a:effectLst>
            <a:outerShdw sx="100000" sy="100000" kx="0" ky="0" algn="bl" rotWithShape="0" blurRad="76200" dist="25400" dir="5400000">
              <a:srgbClr val="9AA4B8">
                <a:alpha val="35000"/>
              </a:srgbClr>
            </a:outerShdw>
          </a:effectLst>
        </p:spPr>
      </p:sp>
      <p:sp>
        <p:nvSpPr>
          <p:cNvPr id="20" name="Text 16"/>
          <p:cNvSpPr/>
          <p:nvPr/>
        </p:nvSpPr>
        <p:spPr>
          <a:xfrm>
            <a:off x="7040880" y="2404872"/>
            <a:ext cx="4343400" cy="5029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Managed runtime (Cloud Run / Container Apps / App Runner)</a:t>
            </a:r>
            <a:endParaRPr lang="en-US" sz="1250" dirty="0"/>
          </a:p>
        </p:txBody>
      </p:sp>
      <p:sp>
        <p:nvSpPr>
          <p:cNvPr id="21" name="Shape 17"/>
          <p:cNvSpPr/>
          <p:nvPr/>
        </p:nvSpPr>
        <p:spPr>
          <a:xfrm>
            <a:off x="7040880" y="3017520"/>
            <a:ext cx="1371600" cy="384048"/>
          </a:xfrm>
          <a:prstGeom prst="roundRect">
            <a:avLst>
              <a:gd name="adj" fmla="val 19048"/>
            </a:avLst>
          </a:prstGeom>
          <a:solidFill>
            <a:srgbClr val="2E3554"/>
          </a:solidFill>
          <a:ln/>
        </p:spPr>
      </p:sp>
      <p:sp>
        <p:nvSpPr>
          <p:cNvPr id="22" name="Text 18"/>
          <p:cNvSpPr/>
          <p:nvPr/>
        </p:nvSpPr>
        <p:spPr>
          <a:xfrm>
            <a:off x="7040880" y="3017520"/>
            <a:ext cx="1371600" cy="384048"/>
          </a:xfrm>
          <a:prstGeom prst="rect">
            <a:avLst/>
          </a:prstGeom>
          <a:noFill/>
          <a:ln/>
        </p:spPr>
        <p:txBody>
          <a:bodyPr wrap="square" lIns="0" tIns="0" rIns="0" bIns="0" rtlCol="0" anchor="ctr"/>
          <a:lstStyle/>
          <a:p>
            <a:pPr algn="ctr" indent="0" marL="0">
              <a:buNone/>
            </a:pPr>
            <a:r>
              <a:rPr lang="en-US" sz="900" b="1" dirty="0">
                <a:solidFill>
                  <a:srgbClr val="F5B971"/>
                </a:solidFill>
                <a:latin typeface="Calibri" pitchFamily="34" charset="0"/>
                <a:ea typeface="Calibri" pitchFamily="34" charset="-122"/>
                <a:cs typeface="Calibri" pitchFamily="34" charset="-120"/>
              </a:rPr>
              <a:t>HTTPS endpoint</a:t>
            </a:r>
            <a:endParaRPr lang="en-US" sz="900" dirty="0"/>
          </a:p>
        </p:txBody>
      </p:sp>
      <p:sp>
        <p:nvSpPr>
          <p:cNvPr id="23" name="Shape 19"/>
          <p:cNvSpPr/>
          <p:nvPr/>
        </p:nvSpPr>
        <p:spPr>
          <a:xfrm>
            <a:off x="8522208" y="3017520"/>
            <a:ext cx="1371600" cy="384048"/>
          </a:xfrm>
          <a:prstGeom prst="roundRect">
            <a:avLst>
              <a:gd name="adj" fmla="val 19048"/>
            </a:avLst>
          </a:prstGeom>
          <a:solidFill>
            <a:srgbClr val="2E3554"/>
          </a:solidFill>
          <a:ln/>
        </p:spPr>
      </p:sp>
      <p:sp>
        <p:nvSpPr>
          <p:cNvPr id="24" name="Text 20"/>
          <p:cNvSpPr/>
          <p:nvPr/>
        </p:nvSpPr>
        <p:spPr>
          <a:xfrm>
            <a:off x="8522208" y="3017520"/>
            <a:ext cx="1371600" cy="384048"/>
          </a:xfrm>
          <a:prstGeom prst="rect">
            <a:avLst/>
          </a:prstGeom>
          <a:noFill/>
          <a:ln/>
        </p:spPr>
        <p:txBody>
          <a:bodyPr wrap="square" lIns="0" tIns="0" rIns="0" bIns="0" rtlCol="0" anchor="ctr"/>
          <a:lstStyle/>
          <a:p>
            <a:pPr algn="ctr" indent="0" marL="0">
              <a:buNone/>
            </a:pPr>
            <a:r>
              <a:rPr lang="en-US" sz="900" b="1" dirty="0">
                <a:solidFill>
                  <a:srgbClr val="F5B971"/>
                </a:solidFill>
                <a:latin typeface="Calibri" pitchFamily="34" charset="0"/>
                <a:ea typeface="Calibri" pitchFamily="34" charset="-122"/>
                <a:cs typeface="Calibri" pitchFamily="34" charset="-120"/>
              </a:rPr>
              <a:t>autoscaling 0→N</a:t>
            </a:r>
            <a:endParaRPr lang="en-US" sz="900" dirty="0"/>
          </a:p>
        </p:txBody>
      </p:sp>
      <p:sp>
        <p:nvSpPr>
          <p:cNvPr id="25" name="Shape 21"/>
          <p:cNvSpPr/>
          <p:nvPr/>
        </p:nvSpPr>
        <p:spPr>
          <a:xfrm>
            <a:off x="10003536" y="3017520"/>
            <a:ext cx="1371600" cy="384048"/>
          </a:xfrm>
          <a:prstGeom prst="roundRect">
            <a:avLst>
              <a:gd name="adj" fmla="val 19048"/>
            </a:avLst>
          </a:prstGeom>
          <a:solidFill>
            <a:srgbClr val="2E3554"/>
          </a:solidFill>
          <a:ln/>
        </p:spPr>
      </p:sp>
      <p:sp>
        <p:nvSpPr>
          <p:cNvPr id="26" name="Text 22"/>
          <p:cNvSpPr/>
          <p:nvPr/>
        </p:nvSpPr>
        <p:spPr>
          <a:xfrm>
            <a:off x="10003536" y="3017520"/>
            <a:ext cx="1371600" cy="384048"/>
          </a:xfrm>
          <a:prstGeom prst="rect">
            <a:avLst/>
          </a:prstGeom>
          <a:noFill/>
          <a:ln/>
        </p:spPr>
        <p:txBody>
          <a:bodyPr wrap="square" lIns="0" tIns="0" rIns="0" bIns="0" rtlCol="0" anchor="ctr"/>
          <a:lstStyle/>
          <a:p>
            <a:pPr algn="ctr" indent="0" marL="0">
              <a:buNone/>
            </a:pPr>
            <a:r>
              <a:rPr lang="en-US" sz="900" b="1" dirty="0">
                <a:solidFill>
                  <a:srgbClr val="F5B971"/>
                </a:solidFill>
                <a:latin typeface="Calibri" pitchFamily="34" charset="0"/>
                <a:ea typeface="Calibri" pitchFamily="34" charset="-122"/>
                <a:cs typeface="Calibri" pitchFamily="34" charset="-120"/>
              </a:rPr>
              <a:t>logs + metrics</a:t>
            </a:r>
            <a:endParaRPr lang="en-US" sz="900" dirty="0"/>
          </a:p>
        </p:txBody>
      </p:sp>
      <p:sp>
        <p:nvSpPr>
          <p:cNvPr id="27" name="Text 23"/>
          <p:cNvSpPr/>
          <p:nvPr/>
        </p:nvSpPr>
        <p:spPr>
          <a:xfrm>
            <a:off x="7040880" y="3502152"/>
            <a:ext cx="429768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the platform operates the infrastructure</a:t>
            </a:r>
            <a:endParaRPr lang="en-US" sz="1050" dirty="0"/>
          </a:p>
        </p:txBody>
      </p:sp>
      <p:sp>
        <p:nvSpPr>
          <p:cNvPr id="28" name="Shape 24"/>
          <p:cNvSpPr/>
          <p:nvPr/>
        </p:nvSpPr>
        <p:spPr>
          <a:xfrm>
            <a:off x="640080" y="4343400"/>
            <a:ext cx="5349240" cy="1783080"/>
          </a:xfrm>
          <a:prstGeom prst="roundRect">
            <a:avLst>
              <a:gd name="adj" fmla="val 4615"/>
            </a:avLst>
          </a:prstGeom>
          <a:solidFill>
            <a:srgbClr val="EEF2FA"/>
          </a:solidFill>
          <a:ln/>
          <a:effectLst>
            <a:outerShdw sx="100000" sy="100000" kx="0" ky="0" algn="bl" rotWithShape="0" blurRad="76200" dist="25400" dir="5400000">
              <a:srgbClr val="9AA4B8">
                <a:alpha val="35000"/>
              </a:srgbClr>
            </a:outerShdw>
          </a:effectLst>
        </p:spPr>
      </p:sp>
      <p:sp>
        <p:nvSpPr>
          <p:cNvPr id="29" name="Text 25"/>
          <p:cNvSpPr/>
          <p:nvPr/>
        </p:nvSpPr>
        <p:spPr>
          <a:xfrm>
            <a:off x="868680" y="4480560"/>
            <a:ext cx="484632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The team supplies</a:t>
            </a:r>
            <a:endParaRPr lang="en-US" sz="1350" dirty="0"/>
          </a:p>
        </p:txBody>
      </p:sp>
      <p:sp>
        <p:nvSpPr>
          <p:cNvPr id="30" name="Text 26"/>
          <p:cNvSpPr/>
          <p:nvPr/>
        </p:nvSpPr>
        <p:spPr>
          <a:xfrm>
            <a:off x="868680" y="4846320"/>
            <a:ext cx="4892040" cy="1188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 container image in a registry</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Configuration: CPU, memory, scaling bounds, secrets references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Health endpoints for the platform to probe</a:t>
            </a:r>
            <a:endParaRPr lang="en-US" sz="1150" dirty="0"/>
          </a:p>
        </p:txBody>
      </p:sp>
      <p:sp>
        <p:nvSpPr>
          <p:cNvPr id="31" name="Shape 27"/>
          <p:cNvSpPr/>
          <p:nvPr/>
        </p:nvSpPr>
        <p:spPr>
          <a:xfrm>
            <a:off x="6263640" y="4343400"/>
            <a:ext cx="5303520" cy="1783080"/>
          </a:xfrm>
          <a:prstGeom prst="roundRect">
            <a:avLst>
              <a:gd name="adj" fmla="val 4615"/>
            </a:avLst>
          </a:prstGeom>
          <a:solidFill>
            <a:srgbClr val="DDE6F5"/>
          </a:solidFill>
          <a:ln/>
          <a:effectLst>
            <a:outerShdw sx="100000" sy="100000" kx="0" ky="0" algn="bl" rotWithShape="0" blurRad="76200" dist="25400" dir="5400000">
              <a:srgbClr val="9AA4B8">
                <a:alpha val="35000"/>
              </a:srgbClr>
            </a:outerShdw>
          </a:effectLst>
        </p:spPr>
      </p:sp>
      <p:sp>
        <p:nvSpPr>
          <p:cNvPr id="32" name="Text 28"/>
          <p:cNvSpPr/>
          <p:nvPr/>
        </p:nvSpPr>
        <p:spPr>
          <a:xfrm>
            <a:off x="6492240" y="4480560"/>
            <a:ext cx="484632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The platform supplies</a:t>
            </a:r>
            <a:endParaRPr lang="en-US" sz="1350" dirty="0"/>
          </a:p>
        </p:txBody>
      </p:sp>
      <p:sp>
        <p:nvSpPr>
          <p:cNvPr id="33" name="Text 29"/>
          <p:cNvSpPr/>
          <p:nvPr/>
        </p:nvSpPr>
        <p:spPr>
          <a:xfrm>
            <a:off x="6492240" y="4846320"/>
            <a:ext cx="4892040" cy="1188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Provisioned and patched servers; no SSH access required</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TLS termination, a stable HTTPS endpoint, load balancing</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Autoscaling, health probing, log and metric aggregation, staged rollouts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CLOUD DEPLOYMENT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Managed runtime comparison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Shape 6"/>
          <p:cNvSpPr/>
          <p:nvPr/>
        </p:nvSpPr>
        <p:spPr>
          <a:xfrm>
            <a:off x="640080" y="1417320"/>
            <a:ext cx="2103120" cy="365760"/>
          </a:xfrm>
          <a:prstGeom prst="rect">
            <a:avLst/>
          </a:prstGeom>
          <a:solidFill>
            <a:srgbClr val="FFFFFF"/>
          </a:solidFill>
          <a:ln/>
        </p:spPr>
      </p:sp>
      <p:sp>
        <p:nvSpPr>
          <p:cNvPr id="11" name="Text 7"/>
          <p:cNvSpPr/>
          <p:nvPr/>
        </p:nvSpPr>
        <p:spPr>
          <a:xfrm>
            <a:off x="749808" y="1417320"/>
            <a:ext cx="1920240" cy="365760"/>
          </a:xfrm>
          <a:prstGeom prst="rect">
            <a:avLst/>
          </a:prstGeom>
          <a:noFill/>
          <a:ln/>
        </p:spPr>
        <p:txBody>
          <a:bodyPr wrap="square" lIns="0" tIns="0" rIns="0" bIns="0" rtlCol="0" anchor="ctr"/>
          <a:lstStyle/>
          <a:p>
            <a:pPr indent="0" marL="0">
              <a:buNone/>
            </a:pPr>
            <a:endParaRPr lang="en-US" sz="1150" dirty="0"/>
          </a:p>
        </p:txBody>
      </p:sp>
      <p:sp>
        <p:nvSpPr>
          <p:cNvPr id="12" name="Shape 8"/>
          <p:cNvSpPr/>
          <p:nvPr/>
        </p:nvSpPr>
        <p:spPr>
          <a:xfrm>
            <a:off x="2743200" y="1417320"/>
            <a:ext cx="2926080" cy="365760"/>
          </a:xfrm>
          <a:prstGeom prst="rect">
            <a:avLst/>
          </a:prstGeom>
          <a:solidFill>
            <a:srgbClr val="232946"/>
          </a:solidFill>
          <a:ln/>
        </p:spPr>
      </p:sp>
      <p:sp>
        <p:nvSpPr>
          <p:cNvPr id="13" name="Text 9"/>
          <p:cNvSpPr/>
          <p:nvPr/>
        </p:nvSpPr>
        <p:spPr>
          <a:xfrm>
            <a:off x="2852928" y="1417320"/>
            <a:ext cx="2743200"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AWS App Runner</a:t>
            </a:r>
            <a:endParaRPr lang="en-US" sz="1150" dirty="0"/>
          </a:p>
        </p:txBody>
      </p:sp>
      <p:sp>
        <p:nvSpPr>
          <p:cNvPr id="14" name="Shape 10"/>
          <p:cNvSpPr/>
          <p:nvPr/>
        </p:nvSpPr>
        <p:spPr>
          <a:xfrm>
            <a:off x="5669280" y="1417320"/>
            <a:ext cx="2926080" cy="365760"/>
          </a:xfrm>
          <a:prstGeom prst="rect">
            <a:avLst/>
          </a:prstGeom>
          <a:solidFill>
            <a:srgbClr val="232946"/>
          </a:solidFill>
          <a:ln/>
        </p:spPr>
      </p:sp>
      <p:sp>
        <p:nvSpPr>
          <p:cNvPr id="15" name="Text 11"/>
          <p:cNvSpPr/>
          <p:nvPr/>
        </p:nvSpPr>
        <p:spPr>
          <a:xfrm>
            <a:off x="5779008" y="1417320"/>
            <a:ext cx="2743200"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Azure Container Apps</a:t>
            </a:r>
            <a:endParaRPr lang="en-US" sz="1150" dirty="0"/>
          </a:p>
        </p:txBody>
      </p:sp>
      <p:sp>
        <p:nvSpPr>
          <p:cNvPr id="16" name="Shape 12"/>
          <p:cNvSpPr/>
          <p:nvPr/>
        </p:nvSpPr>
        <p:spPr>
          <a:xfrm>
            <a:off x="8595360" y="1417320"/>
            <a:ext cx="2953512" cy="365760"/>
          </a:xfrm>
          <a:prstGeom prst="rect">
            <a:avLst/>
          </a:prstGeom>
          <a:solidFill>
            <a:srgbClr val="232946"/>
          </a:solidFill>
          <a:ln/>
        </p:spPr>
      </p:sp>
      <p:sp>
        <p:nvSpPr>
          <p:cNvPr id="17" name="Text 13"/>
          <p:cNvSpPr/>
          <p:nvPr/>
        </p:nvSpPr>
        <p:spPr>
          <a:xfrm>
            <a:off x="8705088" y="1417320"/>
            <a:ext cx="2770632"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Google Cloud Run</a:t>
            </a:r>
            <a:endParaRPr lang="en-US" sz="1150" dirty="0"/>
          </a:p>
        </p:txBody>
      </p:sp>
      <p:sp>
        <p:nvSpPr>
          <p:cNvPr id="18" name="Shape 14"/>
          <p:cNvSpPr/>
          <p:nvPr/>
        </p:nvSpPr>
        <p:spPr>
          <a:xfrm>
            <a:off x="640080" y="1801368"/>
            <a:ext cx="2103120" cy="822960"/>
          </a:xfrm>
          <a:prstGeom prst="rect">
            <a:avLst/>
          </a:prstGeom>
          <a:solidFill>
            <a:srgbClr val="EEF2FA"/>
          </a:solidFill>
          <a:ln w="9525">
            <a:solidFill>
              <a:srgbClr val="C9D3E6"/>
            </a:solidFill>
            <a:prstDash val="solid"/>
          </a:ln>
        </p:spPr>
      </p:sp>
      <p:sp>
        <p:nvSpPr>
          <p:cNvPr id="19" name="Text 15"/>
          <p:cNvSpPr/>
          <p:nvPr/>
        </p:nvSpPr>
        <p:spPr>
          <a:xfrm>
            <a:off x="749808" y="1801368"/>
            <a:ext cx="1920240" cy="82296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Deployment model</a:t>
            </a:r>
            <a:endParaRPr lang="en-US" sz="1150" dirty="0"/>
          </a:p>
        </p:txBody>
      </p:sp>
      <p:sp>
        <p:nvSpPr>
          <p:cNvPr id="20" name="Shape 16"/>
          <p:cNvSpPr/>
          <p:nvPr/>
        </p:nvSpPr>
        <p:spPr>
          <a:xfrm>
            <a:off x="2743200" y="1801368"/>
            <a:ext cx="2926080" cy="822960"/>
          </a:xfrm>
          <a:prstGeom prst="rect">
            <a:avLst/>
          </a:prstGeom>
          <a:solidFill>
            <a:srgbClr val="EEF2FA"/>
          </a:solidFill>
          <a:ln w="9525">
            <a:solidFill>
              <a:srgbClr val="C9D3E6"/>
            </a:solidFill>
            <a:prstDash val="solid"/>
          </a:ln>
        </p:spPr>
      </p:sp>
      <p:sp>
        <p:nvSpPr>
          <p:cNvPr id="21" name="Text 17"/>
          <p:cNvSpPr/>
          <p:nvPr/>
        </p:nvSpPr>
        <p:spPr>
          <a:xfrm>
            <a:off x="2852928" y="1801368"/>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Managed service per application, from source or image</a:t>
            </a:r>
            <a:endParaRPr lang="en-US" sz="1000" dirty="0"/>
          </a:p>
        </p:txBody>
      </p:sp>
      <p:sp>
        <p:nvSpPr>
          <p:cNvPr id="22" name="Shape 18"/>
          <p:cNvSpPr/>
          <p:nvPr/>
        </p:nvSpPr>
        <p:spPr>
          <a:xfrm>
            <a:off x="5669280" y="1801368"/>
            <a:ext cx="2926080" cy="822960"/>
          </a:xfrm>
          <a:prstGeom prst="rect">
            <a:avLst/>
          </a:prstGeom>
          <a:solidFill>
            <a:srgbClr val="EEF2FA"/>
          </a:solidFill>
          <a:ln w="9525">
            <a:solidFill>
              <a:srgbClr val="C9D3E6"/>
            </a:solidFill>
            <a:prstDash val="solid"/>
          </a:ln>
        </p:spPr>
      </p:sp>
      <p:sp>
        <p:nvSpPr>
          <p:cNvPr id="23" name="Text 19"/>
          <p:cNvSpPr/>
          <p:nvPr/>
        </p:nvSpPr>
        <p:spPr>
          <a:xfrm>
            <a:off x="5779008" y="1801368"/>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Containers on a managed, Kubernetes-based environment</a:t>
            </a:r>
            <a:endParaRPr lang="en-US" sz="1000" dirty="0"/>
          </a:p>
        </p:txBody>
      </p:sp>
      <p:sp>
        <p:nvSpPr>
          <p:cNvPr id="24" name="Shape 20"/>
          <p:cNvSpPr/>
          <p:nvPr/>
        </p:nvSpPr>
        <p:spPr>
          <a:xfrm>
            <a:off x="8595360" y="1801368"/>
            <a:ext cx="2953512" cy="822960"/>
          </a:xfrm>
          <a:prstGeom prst="rect">
            <a:avLst/>
          </a:prstGeom>
          <a:solidFill>
            <a:srgbClr val="EEF2FA"/>
          </a:solidFill>
          <a:ln w="9525">
            <a:solidFill>
              <a:srgbClr val="C9D3E6"/>
            </a:solidFill>
            <a:prstDash val="solid"/>
          </a:ln>
        </p:spPr>
      </p:sp>
      <p:sp>
        <p:nvSpPr>
          <p:cNvPr id="25" name="Text 21"/>
          <p:cNvSpPr/>
          <p:nvPr/>
        </p:nvSpPr>
        <p:spPr>
          <a:xfrm>
            <a:off x="8705088" y="1801368"/>
            <a:ext cx="2770632"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Revision-based services; one container image per revision</a:t>
            </a:r>
            <a:endParaRPr lang="en-US" sz="1000" dirty="0"/>
          </a:p>
        </p:txBody>
      </p:sp>
      <p:sp>
        <p:nvSpPr>
          <p:cNvPr id="26" name="Shape 22"/>
          <p:cNvSpPr/>
          <p:nvPr/>
        </p:nvSpPr>
        <p:spPr>
          <a:xfrm>
            <a:off x="640080" y="2642616"/>
            <a:ext cx="2103120" cy="822960"/>
          </a:xfrm>
          <a:prstGeom prst="rect">
            <a:avLst/>
          </a:prstGeom>
          <a:solidFill>
            <a:srgbClr val="FFFFFF"/>
          </a:solidFill>
          <a:ln w="9525">
            <a:solidFill>
              <a:srgbClr val="C9D3E6"/>
            </a:solidFill>
            <a:prstDash val="solid"/>
          </a:ln>
        </p:spPr>
      </p:sp>
      <p:sp>
        <p:nvSpPr>
          <p:cNvPr id="27" name="Text 23"/>
          <p:cNvSpPr/>
          <p:nvPr/>
        </p:nvSpPr>
        <p:spPr>
          <a:xfrm>
            <a:off x="749808" y="2642616"/>
            <a:ext cx="1920240" cy="82296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Autoscaling</a:t>
            </a:r>
            <a:endParaRPr lang="en-US" sz="1150" dirty="0"/>
          </a:p>
        </p:txBody>
      </p:sp>
      <p:sp>
        <p:nvSpPr>
          <p:cNvPr id="28" name="Shape 24"/>
          <p:cNvSpPr/>
          <p:nvPr/>
        </p:nvSpPr>
        <p:spPr>
          <a:xfrm>
            <a:off x="2743200" y="2642616"/>
            <a:ext cx="2926080" cy="822960"/>
          </a:xfrm>
          <a:prstGeom prst="rect">
            <a:avLst/>
          </a:prstGeom>
          <a:solidFill>
            <a:srgbClr val="FFFFFF"/>
          </a:solidFill>
          <a:ln w="9525">
            <a:solidFill>
              <a:srgbClr val="C9D3E6"/>
            </a:solidFill>
            <a:prstDash val="solid"/>
          </a:ln>
        </p:spPr>
      </p:sp>
      <p:sp>
        <p:nvSpPr>
          <p:cNvPr id="29" name="Text 25"/>
          <p:cNvSpPr/>
          <p:nvPr/>
        </p:nvSpPr>
        <p:spPr>
          <a:xfrm>
            <a:off x="2852928" y="2642616"/>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Request-based; minimum one instance</a:t>
            </a:r>
            <a:endParaRPr lang="en-US" sz="1000" dirty="0"/>
          </a:p>
        </p:txBody>
      </p:sp>
      <p:sp>
        <p:nvSpPr>
          <p:cNvPr id="30" name="Shape 26"/>
          <p:cNvSpPr/>
          <p:nvPr/>
        </p:nvSpPr>
        <p:spPr>
          <a:xfrm>
            <a:off x="5669280" y="2642616"/>
            <a:ext cx="2926080" cy="822960"/>
          </a:xfrm>
          <a:prstGeom prst="rect">
            <a:avLst/>
          </a:prstGeom>
          <a:solidFill>
            <a:srgbClr val="FFFFFF"/>
          </a:solidFill>
          <a:ln w="9525">
            <a:solidFill>
              <a:srgbClr val="C9D3E6"/>
            </a:solidFill>
            <a:prstDash val="solid"/>
          </a:ln>
        </p:spPr>
      </p:sp>
      <p:sp>
        <p:nvSpPr>
          <p:cNvPr id="31" name="Text 27"/>
          <p:cNvSpPr/>
          <p:nvPr/>
        </p:nvSpPr>
        <p:spPr>
          <a:xfrm>
            <a:off x="5779008" y="2642616"/>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KEDA rules: HTTP concurrency, queues, events, schedules</a:t>
            </a:r>
            <a:endParaRPr lang="en-US" sz="1000" dirty="0"/>
          </a:p>
        </p:txBody>
      </p:sp>
      <p:sp>
        <p:nvSpPr>
          <p:cNvPr id="32" name="Shape 28"/>
          <p:cNvSpPr/>
          <p:nvPr/>
        </p:nvSpPr>
        <p:spPr>
          <a:xfrm>
            <a:off x="8595360" y="2642616"/>
            <a:ext cx="2953512" cy="822960"/>
          </a:xfrm>
          <a:prstGeom prst="rect">
            <a:avLst/>
          </a:prstGeom>
          <a:solidFill>
            <a:srgbClr val="FFFFFF"/>
          </a:solidFill>
          <a:ln w="9525">
            <a:solidFill>
              <a:srgbClr val="C9D3E6"/>
            </a:solidFill>
            <a:prstDash val="solid"/>
          </a:ln>
        </p:spPr>
      </p:sp>
      <p:sp>
        <p:nvSpPr>
          <p:cNvPr id="33" name="Text 29"/>
          <p:cNvSpPr/>
          <p:nvPr/>
        </p:nvSpPr>
        <p:spPr>
          <a:xfrm>
            <a:off x="8705088" y="2642616"/>
            <a:ext cx="2770632"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Concurrency-based with configurable min/max instances</a:t>
            </a:r>
            <a:endParaRPr lang="en-US" sz="1000" dirty="0"/>
          </a:p>
        </p:txBody>
      </p:sp>
      <p:sp>
        <p:nvSpPr>
          <p:cNvPr id="34" name="Shape 30"/>
          <p:cNvSpPr/>
          <p:nvPr/>
        </p:nvSpPr>
        <p:spPr>
          <a:xfrm>
            <a:off x="640080" y="3483864"/>
            <a:ext cx="2103120" cy="822960"/>
          </a:xfrm>
          <a:prstGeom prst="rect">
            <a:avLst/>
          </a:prstGeom>
          <a:solidFill>
            <a:srgbClr val="EEF2FA"/>
          </a:solidFill>
          <a:ln w="9525">
            <a:solidFill>
              <a:srgbClr val="C9D3E6"/>
            </a:solidFill>
            <a:prstDash val="solid"/>
          </a:ln>
        </p:spPr>
      </p:sp>
      <p:sp>
        <p:nvSpPr>
          <p:cNvPr id="35" name="Text 31"/>
          <p:cNvSpPr/>
          <p:nvPr/>
        </p:nvSpPr>
        <p:spPr>
          <a:xfrm>
            <a:off x="749808" y="3483864"/>
            <a:ext cx="1920240" cy="82296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Scale to zero</a:t>
            </a:r>
            <a:endParaRPr lang="en-US" sz="1150" dirty="0"/>
          </a:p>
        </p:txBody>
      </p:sp>
      <p:sp>
        <p:nvSpPr>
          <p:cNvPr id="36" name="Shape 32"/>
          <p:cNvSpPr/>
          <p:nvPr/>
        </p:nvSpPr>
        <p:spPr>
          <a:xfrm>
            <a:off x="2743200" y="3483864"/>
            <a:ext cx="2926080" cy="822960"/>
          </a:xfrm>
          <a:prstGeom prst="rect">
            <a:avLst/>
          </a:prstGeom>
          <a:solidFill>
            <a:srgbClr val="EEF2FA"/>
          </a:solidFill>
          <a:ln w="9525">
            <a:solidFill>
              <a:srgbClr val="C9D3E6"/>
            </a:solidFill>
            <a:prstDash val="solid"/>
          </a:ln>
        </p:spPr>
      </p:sp>
      <p:sp>
        <p:nvSpPr>
          <p:cNvPr id="37" name="Text 33"/>
          <p:cNvSpPr/>
          <p:nvPr/>
        </p:nvSpPr>
        <p:spPr>
          <a:xfrm>
            <a:off x="2852928" y="3483864"/>
            <a:ext cx="2743200" cy="822960"/>
          </a:xfrm>
          <a:prstGeom prst="rect">
            <a:avLst/>
          </a:prstGeom>
          <a:noFill/>
          <a:ln/>
        </p:spPr>
        <p:txBody>
          <a:bodyPr wrap="square" lIns="0" tIns="0" rIns="0" bIns="0" rtlCol="0" anchor="ctr"/>
          <a:lstStyle/>
          <a:p>
            <a:pPr indent="0" marL="0">
              <a:buNone/>
            </a:pPr>
            <a:r>
              <a:rPr lang="en-US" sz="1000" dirty="0">
                <a:solidFill>
                  <a:srgbClr val="B3402A"/>
                </a:solidFill>
                <a:latin typeface="Calibri" pitchFamily="34" charset="0"/>
                <a:ea typeface="Calibri" pitchFamily="34" charset="-122"/>
                <a:cs typeface="Calibri" pitchFamily="34" charset="-120"/>
              </a:rPr>
              <a:t>No — a provisioned instance always remains</a:t>
            </a:r>
            <a:endParaRPr lang="en-US" sz="1000" dirty="0"/>
          </a:p>
        </p:txBody>
      </p:sp>
      <p:sp>
        <p:nvSpPr>
          <p:cNvPr id="38" name="Shape 34"/>
          <p:cNvSpPr/>
          <p:nvPr/>
        </p:nvSpPr>
        <p:spPr>
          <a:xfrm>
            <a:off x="5669280" y="3483864"/>
            <a:ext cx="2926080" cy="822960"/>
          </a:xfrm>
          <a:prstGeom prst="rect">
            <a:avLst/>
          </a:prstGeom>
          <a:solidFill>
            <a:srgbClr val="EEF2FA"/>
          </a:solidFill>
          <a:ln w="9525">
            <a:solidFill>
              <a:srgbClr val="C9D3E6"/>
            </a:solidFill>
            <a:prstDash val="solid"/>
          </a:ln>
        </p:spPr>
      </p:sp>
      <p:sp>
        <p:nvSpPr>
          <p:cNvPr id="39" name="Text 35"/>
          <p:cNvSpPr/>
          <p:nvPr/>
        </p:nvSpPr>
        <p:spPr>
          <a:xfrm>
            <a:off x="5779008" y="3483864"/>
            <a:ext cx="2743200" cy="822960"/>
          </a:xfrm>
          <a:prstGeom prst="rect">
            <a:avLst/>
          </a:prstGeom>
          <a:noFill/>
          <a:ln/>
        </p:spPr>
        <p:txBody>
          <a:bodyPr wrap="square" lIns="0" tIns="0" rIns="0" bIns="0" rtlCol="0" anchor="ctr"/>
          <a:lstStyle/>
          <a:p>
            <a:pPr indent="0" marL="0">
              <a:buNone/>
            </a:pPr>
            <a:r>
              <a:rPr lang="en-US" sz="1000" dirty="0">
                <a:solidFill>
                  <a:srgbClr val="2C7A4B"/>
                </a:solidFill>
                <a:latin typeface="Calibri" pitchFamily="34" charset="0"/>
                <a:ea typeface="Calibri" pitchFamily="34" charset="-122"/>
                <a:cs typeface="Calibri" pitchFamily="34" charset="-120"/>
              </a:rPr>
              <a:t>Yes — event-driven scale to zero</a:t>
            </a:r>
            <a:endParaRPr lang="en-US" sz="1000" dirty="0"/>
          </a:p>
        </p:txBody>
      </p:sp>
      <p:sp>
        <p:nvSpPr>
          <p:cNvPr id="40" name="Shape 36"/>
          <p:cNvSpPr/>
          <p:nvPr/>
        </p:nvSpPr>
        <p:spPr>
          <a:xfrm>
            <a:off x="8595360" y="3483864"/>
            <a:ext cx="2953512" cy="822960"/>
          </a:xfrm>
          <a:prstGeom prst="rect">
            <a:avLst/>
          </a:prstGeom>
          <a:solidFill>
            <a:srgbClr val="EEF2FA"/>
          </a:solidFill>
          <a:ln w="9525">
            <a:solidFill>
              <a:srgbClr val="C9D3E6"/>
            </a:solidFill>
            <a:prstDash val="solid"/>
          </a:ln>
        </p:spPr>
      </p:sp>
      <p:sp>
        <p:nvSpPr>
          <p:cNvPr id="41" name="Text 37"/>
          <p:cNvSpPr/>
          <p:nvPr/>
        </p:nvSpPr>
        <p:spPr>
          <a:xfrm>
            <a:off x="8705088" y="3483864"/>
            <a:ext cx="2770632" cy="822960"/>
          </a:xfrm>
          <a:prstGeom prst="rect">
            <a:avLst/>
          </a:prstGeom>
          <a:noFill/>
          <a:ln/>
        </p:spPr>
        <p:txBody>
          <a:bodyPr wrap="square" lIns="0" tIns="0" rIns="0" bIns="0" rtlCol="0" anchor="ctr"/>
          <a:lstStyle/>
          <a:p>
            <a:pPr indent="0" marL="0">
              <a:buNone/>
            </a:pPr>
            <a:r>
              <a:rPr lang="en-US" sz="1000" dirty="0">
                <a:solidFill>
                  <a:srgbClr val="2C7A4B"/>
                </a:solidFill>
                <a:latin typeface="Calibri" pitchFamily="34" charset="0"/>
                <a:ea typeface="Calibri" pitchFamily="34" charset="-122"/>
                <a:cs typeface="Calibri" pitchFamily="34" charset="-120"/>
              </a:rPr>
              <a:t>Yes — instances reduce to zero when idle</a:t>
            </a:r>
            <a:endParaRPr lang="en-US" sz="1000" dirty="0"/>
          </a:p>
        </p:txBody>
      </p:sp>
      <p:sp>
        <p:nvSpPr>
          <p:cNvPr id="42" name="Shape 38"/>
          <p:cNvSpPr/>
          <p:nvPr/>
        </p:nvSpPr>
        <p:spPr>
          <a:xfrm>
            <a:off x="640080" y="4325112"/>
            <a:ext cx="2103120" cy="822960"/>
          </a:xfrm>
          <a:prstGeom prst="rect">
            <a:avLst/>
          </a:prstGeom>
          <a:solidFill>
            <a:srgbClr val="FFFFFF"/>
          </a:solidFill>
          <a:ln w="9525">
            <a:solidFill>
              <a:srgbClr val="C9D3E6"/>
            </a:solidFill>
            <a:prstDash val="solid"/>
          </a:ln>
        </p:spPr>
      </p:sp>
      <p:sp>
        <p:nvSpPr>
          <p:cNvPr id="43" name="Text 39"/>
          <p:cNvSpPr/>
          <p:nvPr/>
        </p:nvSpPr>
        <p:spPr>
          <a:xfrm>
            <a:off x="749808" y="4325112"/>
            <a:ext cx="1920240" cy="82296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Pricing model</a:t>
            </a:r>
            <a:endParaRPr lang="en-US" sz="1150" dirty="0"/>
          </a:p>
        </p:txBody>
      </p:sp>
      <p:sp>
        <p:nvSpPr>
          <p:cNvPr id="44" name="Shape 40"/>
          <p:cNvSpPr/>
          <p:nvPr/>
        </p:nvSpPr>
        <p:spPr>
          <a:xfrm>
            <a:off x="2743200" y="4325112"/>
            <a:ext cx="2926080" cy="822960"/>
          </a:xfrm>
          <a:prstGeom prst="rect">
            <a:avLst/>
          </a:prstGeom>
          <a:solidFill>
            <a:srgbClr val="FFFFFF"/>
          </a:solidFill>
          <a:ln w="9525">
            <a:solidFill>
              <a:srgbClr val="C9D3E6"/>
            </a:solidFill>
            <a:prstDash val="solid"/>
          </a:ln>
        </p:spPr>
      </p:sp>
      <p:sp>
        <p:nvSpPr>
          <p:cNvPr id="45" name="Text 41"/>
          <p:cNvSpPr/>
          <p:nvPr/>
        </p:nvSpPr>
        <p:spPr>
          <a:xfrm>
            <a:off x="2852928" y="4325112"/>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Provisioned instance memory + active vCPU time</a:t>
            </a:r>
            <a:endParaRPr lang="en-US" sz="1000" dirty="0"/>
          </a:p>
        </p:txBody>
      </p:sp>
      <p:sp>
        <p:nvSpPr>
          <p:cNvPr id="46" name="Shape 42"/>
          <p:cNvSpPr/>
          <p:nvPr/>
        </p:nvSpPr>
        <p:spPr>
          <a:xfrm>
            <a:off x="5669280" y="4325112"/>
            <a:ext cx="2926080" cy="822960"/>
          </a:xfrm>
          <a:prstGeom prst="rect">
            <a:avLst/>
          </a:prstGeom>
          <a:solidFill>
            <a:srgbClr val="FFFFFF"/>
          </a:solidFill>
          <a:ln w="9525">
            <a:solidFill>
              <a:srgbClr val="C9D3E6"/>
            </a:solidFill>
            <a:prstDash val="solid"/>
          </a:ln>
        </p:spPr>
      </p:sp>
      <p:sp>
        <p:nvSpPr>
          <p:cNvPr id="47" name="Text 43"/>
          <p:cNvSpPr/>
          <p:nvPr/>
        </p:nvSpPr>
        <p:spPr>
          <a:xfrm>
            <a:off x="5779008" y="4325112"/>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Per-second vCPU and memory consumption</a:t>
            </a:r>
            <a:endParaRPr lang="en-US" sz="1000" dirty="0"/>
          </a:p>
        </p:txBody>
      </p:sp>
      <p:sp>
        <p:nvSpPr>
          <p:cNvPr id="48" name="Shape 44"/>
          <p:cNvSpPr/>
          <p:nvPr/>
        </p:nvSpPr>
        <p:spPr>
          <a:xfrm>
            <a:off x="8595360" y="4325112"/>
            <a:ext cx="2953512" cy="822960"/>
          </a:xfrm>
          <a:prstGeom prst="rect">
            <a:avLst/>
          </a:prstGeom>
          <a:solidFill>
            <a:srgbClr val="FFFFFF"/>
          </a:solidFill>
          <a:ln w="9525">
            <a:solidFill>
              <a:srgbClr val="C9D3E6"/>
            </a:solidFill>
            <a:prstDash val="solid"/>
          </a:ln>
        </p:spPr>
      </p:sp>
      <p:sp>
        <p:nvSpPr>
          <p:cNvPr id="49" name="Text 45"/>
          <p:cNvSpPr/>
          <p:nvPr/>
        </p:nvSpPr>
        <p:spPr>
          <a:xfrm>
            <a:off x="8705088" y="4325112"/>
            <a:ext cx="2770632"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Per-request CPU/memory, or instance-based billing</a:t>
            </a:r>
            <a:endParaRPr lang="en-US" sz="1000" dirty="0"/>
          </a:p>
        </p:txBody>
      </p:sp>
      <p:sp>
        <p:nvSpPr>
          <p:cNvPr id="50" name="Shape 46"/>
          <p:cNvSpPr/>
          <p:nvPr/>
        </p:nvSpPr>
        <p:spPr>
          <a:xfrm>
            <a:off x="640080" y="5166360"/>
            <a:ext cx="2103120" cy="822960"/>
          </a:xfrm>
          <a:prstGeom prst="rect">
            <a:avLst/>
          </a:prstGeom>
          <a:solidFill>
            <a:srgbClr val="EEF2FA"/>
          </a:solidFill>
          <a:ln w="9525">
            <a:solidFill>
              <a:srgbClr val="C9D3E6"/>
            </a:solidFill>
            <a:prstDash val="solid"/>
          </a:ln>
        </p:spPr>
      </p:sp>
      <p:sp>
        <p:nvSpPr>
          <p:cNvPr id="51" name="Text 47"/>
          <p:cNvSpPr/>
          <p:nvPr/>
        </p:nvSpPr>
        <p:spPr>
          <a:xfrm>
            <a:off x="749808" y="5166360"/>
            <a:ext cx="1920240" cy="82296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Representative fit</a:t>
            </a:r>
            <a:endParaRPr lang="en-US" sz="1150" dirty="0"/>
          </a:p>
        </p:txBody>
      </p:sp>
      <p:sp>
        <p:nvSpPr>
          <p:cNvPr id="52" name="Shape 48"/>
          <p:cNvSpPr/>
          <p:nvPr/>
        </p:nvSpPr>
        <p:spPr>
          <a:xfrm>
            <a:off x="2743200" y="5166360"/>
            <a:ext cx="2926080" cy="822960"/>
          </a:xfrm>
          <a:prstGeom prst="rect">
            <a:avLst/>
          </a:prstGeom>
          <a:solidFill>
            <a:srgbClr val="EEF2FA"/>
          </a:solidFill>
          <a:ln w="9525">
            <a:solidFill>
              <a:srgbClr val="C9D3E6"/>
            </a:solidFill>
            <a:prstDash val="solid"/>
          </a:ln>
        </p:spPr>
      </p:sp>
      <p:sp>
        <p:nvSpPr>
          <p:cNvPr id="53" name="Text 49"/>
          <p:cNvSpPr/>
          <p:nvPr/>
        </p:nvSpPr>
        <p:spPr>
          <a:xfrm>
            <a:off x="2852928" y="5166360"/>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Teams standardised on AWS running simple HTTP APIs</a:t>
            </a:r>
            <a:endParaRPr lang="en-US" sz="1000" dirty="0"/>
          </a:p>
        </p:txBody>
      </p:sp>
      <p:sp>
        <p:nvSpPr>
          <p:cNvPr id="54" name="Shape 50"/>
          <p:cNvSpPr/>
          <p:nvPr/>
        </p:nvSpPr>
        <p:spPr>
          <a:xfrm>
            <a:off x="5669280" y="5166360"/>
            <a:ext cx="2926080" cy="822960"/>
          </a:xfrm>
          <a:prstGeom prst="rect">
            <a:avLst/>
          </a:prstGeom>
          <a:solidFill>
            <a:srgbClr val="EEF2FA"/>
          </a:solidFill>
          <a:ln w="9525">
            <a:solidFill>
              <a:srgbClr val="C9D3E6"/>
            </a:solidFill>
            <a:prstDash val="solid"/>
          </a:ln>
        </p:spPr>
      </p:sp>
      <p:sp>
        <p:nvSpPr>
          <p:cNvPr id="55" name="Text 51"/>
          <p:cNvSpPr/>
          <p:nvPr/>
        </p:nvSpPr>
        <p:spPr>
          <a:xfrm>
            <a:off x="5779008" y="5166360"/>
            <a:ext cx="2743200"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Azure estates; event-driven and Dapr-based workloads</a:t>
            </a:r>
            <a:endParaRPr lang="en-US" sz="1000" dirty="0"/>
          </a:p>
        </p:txBody>
      </p:sp>
      <p:sp>
        <p:nvSpPr>
          <p:cNvPr id="56" name="Shape 52"/>
          <p:cNvSpPr/>
          <p:nvPr/>
        </p:nvSpPr>
        <p:spPr>
          <a:xfrm>
            <a:off x="8595360" y="5166360"/>
            <a:ext cx="2953512" cy="822960"/>
          </a:xfrm>
          <a:prstGeom prst="rect">
            <a:avLst/>
          </a:prstGeom>
          <a:solidFill>
            <a:srgbClr val="EEF2FA"/>
          </a:solidFill>
          <a:ln w="9525">
            <a:solidFill>
              <a:srgbClr val="C9D3E6"/>
            </a:solidFill>
            <a:prstDash val="solid"/>
          </a:ln>
        </p:spPr>
      </p:sp>
      <p:sp>
        <p:nvSpPr>
          <p:cNvPr id="57" name="Text 53"/>
          <p:cNvSpPr/>
          <p:nvPr/>
        </p:nvSpPr>
        <p:spPr>
          <a:xfrm>
            <a:off x="8705088" y="5166360"/>
            <a:ext cx="2770632" cy="82296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Direct path for ML APIs; used as this deck's reference example</a:t>
            </a:r>
            <a:endParaRPr lang="en-US" sz="1000" dirty="0"/>
          </a:p>
        </p:txBody>
      </p:sp>
      <p:sp>
        <p:nvSpPr>
          <p:cNvPr id="58" name="Text 54"/>
          <p:cNvSpPr/>
          <p:nvPr/>
        </p:nvSpPr>
        <p:spPr>
          <a:xfrm>
            <a:off x="640080" y="617220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All three consume the same OCI image from a registry. The packaging discipline practised in today's lab is identical for each target.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CLOUD DEPLOYMENT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Anatomy of a deploy command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Shape 6"/>
          <p:cNvSpPr/>
          <p:nvPr/>
        </p:nvSpPr>
        <p:spPr>
          <a:xfrm>
            <a:off x="640080" y="1508760"/>
            <a:ext cx="5943600" cy="3017520"/>
          </a:xfrm>
          <a:prstGeom prst="roundRect">
            <a:avLst>
              <a:gd name="adj" fmla="val 2424"/>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1618488"/>
            <a:ext cx="5541264" cy="279806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Google Cloud Run — reference example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gcloud run deploy llm-server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--image REGION-docker.pkg.dev/PROJECT/\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llm/llm-server:v1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--region asia-south1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--port 8080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--memory 4Gi --cpu 2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--min-instances 0 --max-instances 3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--concurrency 4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--set-secrets API_KEY=api-key:latest</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 Service URL: https://llm-server-….run.app</a:t>
            </a:r>
            <a:endParaRPr lang="en-US" sz="1050" dirty="0"/>
          </a:p>
        </p:txBody>
      </p:sp>
      <p:sp>
        <p:nvSpPr>
          <p:cNvPr id="12" name="Shape 8"/>
          <p:cNvSpPr/>
          <p:nvPr/>
        </p:nvSpPr>
        <p:spPr>
          <a:xfrm>
            <a:off x="640080" y="4709160"/>
            <a:ext cx="5943600" cy="1600200"/>
          </a:xfrm>
          <a:prstGeom prst="roundRect">
            <a:avLst>
              <a:gd name="adj" fmla="val 5143"/>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868680" y="4846320"/>
            <a:ext cx="539496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Autoscaling in one sentence</a:t>
            </a:r>
            <a:endParaRPr lang="en-US" sz="1300" dirty="0"/>
          </a:p>
        </p:txBody>
      </p:sp>
      <p:sp>
        <p:nvSpPr>
          <p:cNvPr id="14" name="Text 10"/>
          <p:cNvSpPr/>
          <p:nvPr/>
        </p:nvSpPr>
        <p:spPr>
          <a:xfrm>
            <a:off x="868680" y="5193792"/>
            <a:ext cx="5486400" cy="10058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When concurrent requests per instance exceed the configured concurrency, the platform starts additional instances up to the maximum; when traffic subsides, instances are retired down to the minimum — including zero.</a:t>
            </a:r>
            <a:endParaRPr lang="en-US" sz="1150" dirty="0"/>
          </a:p>
        </p:txBody>
      </p:sp>
      <p:sp>
        <p:nvSpPr>
          <p:cNvPr id="15" name="Shape 11"/>
          <p:cNvSpPr/>
          <p:nvPr/>
        </p:nvSpPr>
        <p:spPr>
          <a:xfrm>
            <a:off x="6812280" y="1508760"/>
            <a:ext cx="4754880" cy="4800600"/>
          </a:xfrm>
          <a:prstGeom prst="roundRect">
            <a:avLst>
              <a:gd name="adj" fmla="val 1731"/>
            </a:avLst>
          </a:prstGeom>
          <a:solidFill>
            <a:srgbClr val="DDE6F5"/>
          </a:solidFill>
          <a:ln/>
          <a:effectLst>
            <a:outerShdw sx="100000" sy="100000" kx="0" ky="0" algn="bl" rotWithShape="0" blurRad="76200" dist="25400" dir="5400000">
              <a:srgbClr val="9AA4B8">
                <a:alpha val="35000"/>
              </a:srgbClr>
            </a:outerShdw>
          </a:effectLst>
        </p:spPr>
      </p:sp>
      <p:sp>
        <p:nvSpPr>
          <p:cNvPr id="16" name="Text 12"/>
          <p:cNvSpPr/>
          <p:nvPr/>
        </p:nvSpPr>
        <p:spPr>
          <a:xfrm>
            <a:off x="7040880" y="1664208"/>
            <a:ext cx="42976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Flag semantics</a:t>
            </a:r>
            <a:endParaRPr lang="en-US" sz="1350" dirty="0"/>
          </a:p>
        </p:txBody>
      </p:sp>
      <p:sp>
        <p:nvSpPr>
          <p:cNvPr id="17" name="Text 13"/>
          <p:cNvSpPr/>
          <p:nvPr/>
        </p:nvSpPr>
        <p:spPr>
          <a:xfrm>
            <a:off x="7040880" y="2057400"/>
            <a:ext cx="434340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--memory / --cpu — instance sizing; the cloud counterpart of mem_limit and cpus in today's Compose file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--min-instances 0 — scale to zero: no idle cost; the first request pays the cold start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--max-instances 3 — the upper bound on both autoscaling and expenditure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--concurrency 4 — requests one instance handles before another is started (concurrency-based autoscaling)</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--set-secrets — runtime injection from the platform secret manager; nothing enters the image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--port 8080 — must match the container's listening port; the platform probes it before routing traffic</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CLOUD DEPLOYMENT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Managed Kubernetes and the economics of scaling</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Shape 6"/>
          <p:cNvSpPr/>
          <p:nvPr/>
        </p:nvSpPr>
        <p:spPr>
          <a:xfrm>
            <a:off x="640080" y="1463040"/>
            <a:ext cx="5349240" cy="2377440"/>
          </a:xfrm>
          <a:prstGeom prst="roundRect">
            <a:avLst>
              <a:gd name="adj" fmla="val 3462"/>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1600200"/>
            <a:ext cx="4937760" cy="320040"/>
          </a:xfrm>
          <a:prstGeom prst="rect">
            <a:avLst/>
          </a:prstGeom>
          <a:noFill/>
          <a:ln/>
        </p:spPr>
        <p:txBody>
          <a:bodyPr wrap="square" lIns="0" tIns="0" rIns="0" bIns="0" rtlCol="0" anchor="ctr"/>
          <a:lstStyle/>
          <a:p>
            <a:pPr indent="0" marL="0">
              <a:buNone/>
            </a:pPr>
            <a:r>
              <a:rPr lang="en-US" sz="1350" b="1" dirty="0">
                <a:solidFill>
                  <a:srgbClr val="2C7A4B"/>
                </a:solidFill>
                <a:latin typeface="Arial" pitchFamily="34" charset="0"/>
                <a:ea typeface="Arial" pitchFamily="34" charset="-122"/>
                <a:cs typeface="Arial" pitchFamily="34" charset="-120"/>
              </a:rPr>
              <a:t>A managed runtime remains sufficient while…</a:t>
            </a:r>
            <a:endParaRPr lang="en-US" sz="1350" dirty="0"/>
          </a:p>
        </p:txBody>
      </p:sp>
      <p:sp>
        <p:nvSpPr>
          <p:cNvPr id="12" name="Text 8"/>
          <p:cNvSpPr/>
          <p:nvPr/>
        </p:nvSpPr>
        <p:spPr>
          <a:xfrm>
            <a:off x="868680" y="1993392"/>
            <a:ext cx="4937760" cy="17830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team runs a small number of HTTP services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Default autoscaling and networking meet requirements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No dedicated platform team exists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Cold starts are acceptable, or minimum instances resolve them</a:t>
            </a:r>
            <a:endParaRPr lang="en-US" sz="1150" dirty="0"/>
          </a:p>
        </p:txBody>
      </p:sp>
      <p:sp>
        <p:nvSpPr>
          <p:cNvPr id="13" name="Shape 9"/>
          <p:cNvSpPr/>
          <p:nvPr/>
        </p:nvSpPr>
        <p:spPr>
          <a:xfrm>
            <a:off x="6263640" y="1463040"/>
            <a:ext cx="5303520" cy="2377440"/>
          </a:xfrm>
          <a:prstGeom prst="roundRect">
            <a:avLst>
              <a:gd name="adj" fmla="val 3462"/>
            </a:avLst>
          </a:prstGeom>
          <a:solidFill>
            <a:srgbClr val="DDE6F5"/>
          </a:solidFill>
          <a:ln/>
          <a:effectLst>
            <a:outerShdw sx="100000" sy="100000" kx="0" ky="0" algn="bl" rotWithShape="0" blurRad="76200" dist="25400" dir="5400000">
              <a:srgbClr val="9AA4B8">
                <a:alpha val="35000"/>
              </a:srgbClr>
            </a:outerShdw>
          </a:effectLst>
        </p:spPr>
      </p:sp>
      <p:sp>
        <p:nvSpPr>
          <p:cNvPr id="14" name="Text 10"/>
          <p:cNvSpPr/>
          <p:nvPr/>
        </p:nvSpPr>
        <p:spPr>
          <a:xfrm>
            <a:off x="6492240" y="1600200"/>
            <a:ext cx="484632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Teams graduate to AKS / GKE / EKS when…</a:t>
            </a:r>
            <a:endParaRPr lang="en-US" sz="1350" dirty="0"/>
          </a:p>
        </p:txBody>
      </p:sp>
      <p:sp>
        <p:nvSpPr>
          <p:cNvPr id="15" name="Text 11"/>
          <p:cNvSpPr/>
          <p:nvPr/>
        </p:nvSpPr>
        <p:spPr>
          <a:xfrm>
            <a:off x="6492240" y="1993392"/>
            <a:ext cx="4892040" cy="17830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GPU fleets are shared across models and teams (bin-packing, priorities, node pools)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Custom networking, sidecars or a service mesh are required</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Workloads are long-running or non-HTTP: queues, batch, training</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Fine-grained cost and placement control at scale justifies a platform team</a:t>
            </a:r>
            <a:endParaRPr lang="en-US" sz="1150" dirty="0"/>
          </a:p>
        </p:txBody>
      </p:sp>
      <p:sp>
        <p:nvSpPr>
          <p:cNvPr id="16" name="Shape 12"/>
          <p:cNvSpPr/>
          <p:nvPr/>
        </p:nvSpPr>
        <p:spPr>
          <a:xfrm>
            <a:off x="640080" y="4114800"/>
            <a:ext cx="3474720" cy="2148840"/>
          </a:xfrm>
          <a:prstGeom prst="roundRect">
            <a:avLst>
              <a:gd name="adj" fmla="val 3830"/>
            </a:avLst>
          </a:prstGeom>
          <a:solidFill>
            <a:srgbClr val="FBF1E3"/>
          </a:solidFill>
          <a:ln/>
          <a:effectLst>
            <a:outerShdw sx="100000" sy="100000" kx="0" ky="0" algn="bl" rotWithShape="0" blurRad="76200" dist="25400" dir="5400000">
              <a:srgbClr val="9AA4B8">
                <a:alpha val="35000"/>
              </a:srgbClr>
            </a:outerShdw>
          </a:effectLst>
        </p:spPr>
      </p:sp>
      <p:sp>
        <p:nvSpPr>
          <p:cNvPr id="17" name="Shape 13"/>
          <p:cNvSpPr/>
          <p:nvPr/>
        </p:nvSpPr>
        <p:spPr>
          <a:xfrm>
            <a:off x="841248" y="4279392"/>
            <a:ext cx="438912" cy="438912"/>
          </a:xfrm>
          <a:prstGeom prst="ellipse">
            <a:avLst/>
          </a:prstGeom>
          <a:solidFill>
            <a:srgbClr val="E8871E"/>
          </a:solidFill>
          <a:ln/>
        </p:spPr>
      </p:sp>
      <p:pic>
        <p:nvPicPr>
          <p:cNvPr id="18" name="Image 1" descr="preencoded.png">    </p:cNvPr>
          <p:cNvPicPr>
            <a:picLocks noChangeAspect="1"/>
          </p:cNvPicPr>
          <p:nvPr/>
        </p:nvPicPr>
        <p:blipFill>
          <a:blip r:embed="rId2"/>
          <a:stretch>
            <a:fillRect/>
          </a:stretch>
        </p:blipFill>
        <p:spPr>
          <a:xfrm>
            <a:off x="955365" y="4393509"/>
            <a:ext cx="210678" cy="210678"/>
          </a:xfrm>
          <a:prstGeom prst="rect">
            <a:avLst/>
          </a:prstGeom>
        </p:spPr>
      </p:pic>
      <p:sp>
        <p:nvSpPr>
          <p:cNvPr id="19" name="Text 14"/>
          <p:cNvSpPr/>
          <p:nvPr/>
        </p:nvSpPr>
        <p:spPr>
          <a:xfrm>
            <a:off x="1417320" y="4315968"/>
            <a:ext cx="2606040" cy="54864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Per-request vs per-instance</a:t>
            </a:r>
            <a:endParaRPr lang="en-US" sz="1200" dirty="0"/>
          </a:p>
        </p:txBody>
      </p:sp>
      <p:sp>
        <p:nvSpPr>
          <p:cNvPr id="20" name="Text 15"/>
          <p:cNvSpPr/>
          <p:nvPr/>
        </p:nvSpPr>
        <p:spPr>
          <a:xfrm>
            <a:off x="868680" y="4892040"/>
            <a:ext cx="3063240" cy="12801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Serverless billing charges CPU and memory consumed while serving requests; instance-based billing charges for provisioned capacity whether it is used or not.</a:t>
            </a:r>
            <a:endParaRPr lang="en-US" sz="1000" dirty="0"/>
          </a:p>
        </p:txBody>
      </p:sp>
      <p:sp>
        <p:nvSpPr>
          <p:cNvPr id="21" name="Shape 16"/>
          <p:cNvSpPr/>
          <p:nvPr/>
        </p:nvSpPr>
        <p:spPr>
          <a:xfrm>
            <a:off x="4343400" y="4114800"/>
            <a:ext cx="3474720" cy="2148840"/>
          </a:xfrm>
          <a:prstGeom prst="roundRect">
            <a:avLst>
              <a:gd name="adj" fmla="val 3830"/>
            </a:avLst>
          </a:prstGeom>
          <a:solidFill>
            <a:srgbClr val="FBF1E3"/>
          </a:solidFill>
          <a:ln/>
          <a:effectLst>
            <a:outerShdw sx="100000" sy="100000" kx="0" ky="0" algn="bl" rotWithShape="0" blurRad="76200" dist="25400" dir="5400000">
              <a:srgbClr val="9AA4B8">
                <a:alpha val="35000"/>
              </a:srgbClr>
            </a:outerShdw>
          </a:effectLst>
        </p:spPr>
      </p:sp>
      <p:sp>
        <p:nvSpPr>
          <p:cNvPr id="22" name="Shape 17"/>
          <p:cNvSpPr/>
          <p:nvPr/>
        </p:nvSpPr>
        <p:spPr>
          <a:xfrm>
            <a:off x="4544568" y="4279392"/>
            <a:ext cx="438912" cy="438912"/>
          </a:xfrm>
          <a:prstGeom prst="ellipse">
            <a:avLst/>
          </a:prstGeom>
          <a:solidFill>
            <a:srgbClr val="E8871E"/>
          </a:solidFill>
          <a:ln/>
        </p:spPr>
      </p:sp>
      <p:pic>
        <p:nvPicPr>
          <p:cNvPr id="23" name="Image 2" descr="preencoded.png">    </p:cNvPr>
          <p:cNvPicPr>
            <a:picLocks noChangeAspect="1"/>
          </p:cNvPicPr>
          <p:nvPr/>
        </p:nvPicPr>
        <p:blipFill>
          <a:blip r:embed="rId3"/>
          <a:stretch>
            <a:fillRect/>
          </a:stretch>
        </p:blipFill>
        <p:spPr>
          <a:xfrm>
            <a:off x="4658685" y="4393509"/>
            <a:ext cx="210678" cy="210678"/>
          </a:xfrm>
          <a:prstGeom prst="rect">
            <a:avLst/>
          </a:prstGeom>
        </p:spPr>
      </p:pic>
      <p:sp>
        <p:nvSpPr>
          <p:cNvPr id="24" name="Text 18"/>
          <p:cNvSpPr/>
          <p:nvPr/>
        </p:nvSpPr>
        <p:spPr>
          <a:xfrm>
            <a:off x="5120640" y="4315968"/>
            <a:ext cx="2606040" cy="54864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Scale-to-zero economics</a:t>
            </a:r>
            <a:endParaRPr lang="en-US" sz="1200" dirty="0"/>
          </a:p>
        </p:txBody>
      </p:sp>
      <p:sp>
        <p:nvSpPr>
          <p:cNvPr id="25" name="Text 19"/>
          <p:cNvSpPr/>
          <p:nvPr/>
        </p:nvSpPr>
        <p:spPr>
          <a:xfrm>
            <a:off x="4572000" y="4892040"/>
            <a:ext cx="3063240" cy="12801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Zero idle cost suits spiky or low traffic. A steady 24×7 load is usually cheaper on reserved, always-on capacity — compute the crossover per workload.</a:t>
            </a:r>
            <a:endParaRPr lang="en-US" sz="1000" dirty="0"/>
          </a:p>
        </p:txBody>
      </p:sp>
      <p:sp>
        <p:nvSpPr>
          <p:cNvPr id="26" name="Shape 20"/>
          <p:cNvSpPr/>
          <p:nvPr/>
        </p:nvSpPr>
        <p:spPr>
          <a:xfrm>
            <a:off x="8046720" y="4114800"/>
            <a:ext cx="3474720" cy="2148840"/>
          </a:xfrm>
          <a:prstGeom prst="roundRect">
            <a:avLst>
              <a:gd name="adj" fmla="val 3830"/>
            </a:avLst>
          </a:prstGeom>
          <a:solidFill>
            <a:srgbClr val="FBF1E3"/>
          </a:solidFill>
          <a:ln/>
          <a:effectLst>
            <a:outerShdw sx="100000" sy="100000" kx="0" ky="0" algn="bl" rotWithShape="0" blurRad="76200" dist="25400" dir="5400000">
              <a:srgbClr val="9AA4B8">
                <a:alpha val="35000"/>
              </a:srgbClr>
            </a:outerShdw>
          </a:effectLst>
        </p:spPr>
      </p:sp>
      <p:sp>
        <p:nvSpPr>
          <p:cNvPr id="27" name="Shape 21"/>
          <p:cNvSpPr/>
          <p:nvPr/>
        </p:nvSpPr>
        <p:spPr>
          <a:xfrm>
            <a:off x="8247888" y="4279392"/>
            <a:ext cx="438912" cy="438912"/>
          </a:xfrm>
          <a:prstGeom prst="ellipse">
            <a:avLst/>
          </a:prstGeom>
          <a:solidFill>
            <a:srgbClr val="E8871E"/>
          </a:solidFill>
          <a:ln/>
        </p:spPr>
      </p:sp>
      <p:pic>
        <p:nvPicPr>
          <p:cNvPr id="28" name="Image 3" descr="preencoded.png">    </p:cNvPr>
          <p:cNvPicPr>
            <a:picLocks noChangeAspect="1"/>
          </p:cNvPicPr>
          <p:nvPr/>
        </p:nvPicPr>
        <p:blipFill>
          <a:blip r:embed="rId4"/>
          <a:stretch>
            <a:fillRect/>
          </a:stretch>
        </p:blipFill>
        <p:spPr>
          <a:xfrm>
            <a:off x="8362005" y="4393509"/>
            <a:ext cx="210678" cy="210678"/>
          </a:xfrm>
          <a:prstGeom prst="rect">
            <a:avLst/>
          </a:prstGeom>
        </p:spPr>
      </p:pic>
      <p:sp>
        <p:nvSpPr>
          <p:cNvPr id="29" name="Text 22"/>
          <p:cNvSpPr/>
          <p:nvPr/>
        </p:nvSpPr>
        <p:spPr>
          <a:xfrm>
            <a:off x="8823960" y="4315968"/>
            <a:ext cx="2606040" cy="54864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Cold start: the price of zero</a:t>
            </a:r>
            <a:endParaRPr lang="en-US" sz="1200" dirty="0"/>
          </a:p>
        </p:txBody>
      </p:sp>
      <p:sp>
        <p:nvSpPr>
          <p:cNvPr id="30" name="Text 23"/>
          <p:cNvSpPr/>
          <p:nvPr/>
        </p:nvSpPr>
        <p:spPr>
          <a:xfrm>
            <a:off x="8275320" y="4892040"/>
            <a:ext cx="3063240" cy="12801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Scaling from zero adds image pull, container start and model load to the first request. Minimum instances remove the wait by paying continuously for warmth.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CLOUD DEPLOYMENT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Managed vs self-managed Kubernetes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Text 6"/>
          <p:cNvSpPr/>
          <p:nvPr/>
        </p:nvSpPr>
        <p:spPr>
          <a:xfrm>
            <a:off x="640080" y="1371600"/>
            <a:ext cx="10881360" cy="457200"/>
          </a:xfrm>
          <a:prstGeom prst="rect">
            <a:avLst/>
          </a:prstGeom>
          <a:noFill/>
          <a:ln/>
        </p:spPr>
        <p:txBody>
          <a:bodyPr wrap="square" lIns="0" tIns="0" rIns="0" bIns="0" rtlCol="0" anchor="ctr"/>
          <a:lstStyle/>
          <a:p>
            <a:pPr indent="0" marL="0">
              <a:buNone/>
            </a:pPr>
            <a:r>
              <a:rPr lang="en-US" sz="1300" b="1" dirty="0">
                <a:solidFill>
                  <a:srgbClr val="232946"/>
                </a:solidFill>
                <a:latin typeface="Calibri" pitchFamily="34" charset="0"/>
                <a:ea typeface="Calibri" pitchFamily="34" charset="-122"/>
                <a:cs typeface="Calibri" pitchFamily="34" charset="-120"/>
              </a:rPr>
              <a:t>Both run identical open-source Kubernetes. </a:t>
            </a:r>
            <a:pPr indent="0" marL="0">
              <a:buNone/>
            </a:pPr>
            <a:r>
              <a:rPr lang="en-US" sz="1300" dirty="0">
                <a:solidFill>
                  <a:srgbClr val="232946"/>
                </a:solidFill>
                <a:latin typeface="Calibri" pitchFamily="34" charset="0"/>
                <a:ea typeface="Calibri" pitchFamily="34" charset="-122"/>
                <a:cs typeface="Calibri" pitchFamily="34" charset="-120"/>
              </a:rPr>
              <a:t>The decision is operational: who runs the control plane (API server, etcd, scheduler) — the provider, or your team.</a:t>
            </a:r>
            <a:endParaRPr lang="en-US" sz="1300" dirty="0"/>
          </a:p>
        </p:txBody>
      </p:sp>
      <p:sp>
        <p:nvSpPr>
          <p:cNvPr id="11" name="Shape 7"/>
          <p:cNvSpPr/>
          <p:nvPr/>
        </p:nvSpPr>
        <p:spPr>
          <a:xfrm>
            <a:off x="640080" y="1920240"/>
            <a:ext cx="5349240" cy="3657600"/>
          </a:xfrm>
          <a:prstGeom prst="roundRect">
            <a:avLst>
              <a:gd name="adj" fmla="val 2250"/>
            </a:avLst>
          </a:prstGeom>
          <a:solidFill>
            <a:srgbClr val="EEF2FA"/>
          </a:solidFill>
          <a:ln/>
          <a:effectLst>
            <a:outerShdw sx="100000" sy="100000" kx="0" ky="0" algn="bl" rotWithShape="0" blurRad="76200" dist="25400" dir="5400000">
              <a:srgbClr val="9AA4B8">
                <a:alpha val="35000"/>
              </a:srgbClr>
            </a:outerShdw>
          </a:effectLst>
        </p:spPr>
      </p:sp>
      <p:sp>
        <p:nvSpPr>
          <p:cNvPr id="12" name="Shape 8"/>
          <p:cNvSpPr/>
          <p:nvPr/>
        </p:nvSpPr>
        <p:spPr>
          <a:xfrm>
            <a:off x="868680" y="2084832"/>
            <a:ext cx="457200" cy="457200"/>
          </a:xfrm>
          <a:prstGeom prst="ellipse">
            <a:avLst/>
          </a:prstGeom>
          <a:solidFill>
            <a:srgbClr val="232946"/>
          </a:solidFill>
          <a:ln/>
        </p:spPr>
      </p:sp>
      <p:pic>
        <p:nvPicPr>
          <p:cNvPr id="13" name="Image 1" descr="preencoded.png">    </p:cNvPr>
          <p:cNvPicPr>
            <a:picLocks noChangeAspect="1"/>
          </p:cNvPicPr>
          <p:nvPr/>
        </p:nvPicPr>
        <p:blipFill>
          <a:blip r:embed="rId2"/>
          <a:stretch>
            <a:fillRect/>
          </a:stretch>
        </p:blipFill>
        <p:spPr>
          <a:xfrm>
            <a:off x="987552" y="2203704"/>
            <a:ext cx="219456" cy="219456"/>
          </a:xfrm>
          <a:prstGeom prst="rect">
            <a:avLst/>
          </a:prstGeom>
        </p:spPr>
      </p:pic>
      <p:sp>
        <p:nvSpPr>
          <p:cNvPr id="14" name="Text 9"/>
          <p:cNvSpPr/>
          <p:nvPr/>
        </p:nvSpPr>
        <p:spPr>
          <a:xfrm>
            <a:off x="1463040" y="2130552"/>
            <a:ext cx="4389120" cy="36576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Managed  (GKE · AKS · EKS)</a:t>
            </a:r>
            <a:endParaRPr lang="en-US" sz="1500" dirty="0"/>
          </a:p>
        </p:txBody>
      </p:sp>
      <p:sp>
        <p:nvSpPr>
          <p:cNvPr id="15" name="Text 10"/>
          <p:cNvSpPr/>
          <p:nvPr/>
        </p:nvSpPr>
        <p:spPr>
          <a:xfrm>
            <a:off x="868680" y="2606040"/>
            <a:ext cx="2743200" cy="274320"/>
          </a:xfrm>
          <a:prstGeom prst="rect">
            <a:avLst/>
          </a:prstGeom>
          <a:noFill/>
          <a:ln/>
        </p:spPr>
        <p:txBody>
          <a:bodyPr wrap="square" lIns="0" tIns="0" rIns="0" bIns="0" rtlCol="0" anchor="ctr"/>
          <a:lstStyle/>
          <a:p>
            <a:pPr indent="0" marL="0">
              <a:buNone/>
            </a:pPr>
            <a:r>
              <a:rPr lang="en-US" sz="1100" b="1" dirty="0">
                <a:solidFill>
                  <a:srgbClr val="2C7A4B"/>
                </a:solidFill>
                <a:latin typeface="Arial" pitchFamily="34" charset="0"/>
                <a:ea typeface="Arial" pitchFamily="34" charset="-122"/>
                <a:cs typeface="Arial" pitchFamily="34" charset="-120"/>
              </a:rPr>
              <a:t>Strengths</a:t>
            </a:r>
            <a:endParaRPr lang="en-US" sz="1100" dirty="0"/>
          </a:p>
        </p:txBody>
      </p:sp>
      <p:sp>
        <p:nvSpPr>
          <p:cNvPr id="16" name="Text 11"/>
          <p:cNvSpPr/>
          <p:nvPr/>
        </p:nvSpPr>
        <p:spPr>
          <a:xfrm>
            <a:off x="868680" y="2880360"/>
            <a:ext cx="4937760" cy="1371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Control plane operated, patched and made highly available by the provider; SLA on the API server</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Automated upgrades; native IAM, load-balancer and storage integration; GPU node pools with driver management</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Production-ready quickly, with a small team</a:t>
            </a:r>
            <a:endParaRPr lang="en-US" sz="1050" dirty="0"/>
          </a:p>
        </p:txBody>
      </p:sp>
      <p:sp>
        <p:nvSpPr>
          <p:cNvPr id="17" name="Text 12"/>
          <p:cNvSpPr/>
          <p:nvPr/>
        </p:nvSpPr>
        <p:spPr>
          <a:xfrm>
            <a:off x="868680" y="4315968"/>
            <a:ext cx="2743200" cy="274320"/>
          </a:xfrm>
          <a:prstGeom prst="rect">
            <a:avLst/>
          </a:prstGeom>
          <a:noFill/>
          <a:ln/>
        </p:spPr>
        <p:txBody>
          <a:bodyPr wrap="square" lIns="0" tIns="0" rIns="0" bIns="0" rtlCol="0" anchor="ctr"/>
          <a:lstStyle/>
          <a:p>
            <a:pPr indent="0" marL="0">
              <a:buNone/>
            </a:pPr>
            <a:r>
              <a:rPr lang="en-US" sz="1100" b="1" dirty="0">
                <a:solidFill>
                  <a:srgbClr val="B3402A"/>
                </a:solidFill>
                <a:latin typeface="Arial" pitchFamily="34" charset="0"/>
                <a:ea typeface="Arial" pitchFamily="34" charset="-122"/>
                <a:cs typeface="Arial" pitchFamily="34" charset="-120"/>
              </a:rPr>
              <a:t>Limitations</a:t>
            </a:r>
            <a:endParaRPr lang="en-US" sz="1100" dirty="0"/>
          </a:p>
        </p:txBody>
      </p:sp>
      <p:sp>
        <p:nvSpPr>
          <p:cNvPr id="18" name="Text 13"/>
          <p:cNvSpPr/>
          <p:nvPr/>
        </p:nvSpPr>
        <p:spPr>
          <a:xfrm>
            <a:off x="868680" y="4590288"/>
            <a:ext cx="4937760" cy="9144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Per-cluster fee (~USD 70-75/month) plus node margins; enforced version windows</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 control-plane tuning or direct etcd access; coupling to the provider's IAM and networking</a:t>
            </a:r>
            <a:endParaRPr lang="en-US" sz="1050" dirty="0"/>
          </a:p>
        </p:txBody>
      </p:sp>
      <p:sp>
        <p:nvSpPr>
          <p:cNvPr id="19" name="Shape 14"/>
          <p:cNvSpPr/>
          <p:nvPr/>
        </p:nvSpPr>
        <p:spPr>
          <a:xfrm>
            <a:off x="6263640" y="1920240"/>
            <a:ext cx="5303520" cy="3657600"/>
          </a:xfrm>
          <a:prstGeom prst="roundRect">
            <a:avLst>
              <a:gd name="adj" fmla="val 2250"/>
            </a:avLst>
          </a:prstGeom>
          <a:solidFill>
            <a:srgbClr val="DDE6F5"/>
          </a:solidFill>
          <a:ln/>
          <a:effectLst>
            <a:outerShdw sx="100000" sy="100000" kx="0" ky="0" algn="bl" rotWithShape="0" blurRad="76200" dist="25400" dir="5400000">
              <a:srgbClr val="9AA4B8">
                <a:alpha val="35000"/>
              </a:srgbClr>
            </a:outerShdw>
          </a:effectLst>
        </p:spPr>
      </p:sp>
      <p:sp>
        <p:nvSpPr>
          <p:cNvPr id="20" name="Shape 15"/>
          <p:cNvSpPr/>
          <p:nvPr/>
        </p:nvSpPr>
        <p:spPr>
          <a:xfrm>
            <a:off x="6492240" y="2084832"/>
            <a:ext cx="457200" cy="457200"/>
          </a:xfrm>
          <a:prstGeom prst="ellipse">
            <a:avLst/>
          </a:prstGeom>
          <a:solidFill>
            <a:srgbClr val="232946"/>
          </a:solidFill>
          <a:ln/>
        </p:spPr>
      </p:sp>
      <p:pic>
        <p:nvPicPr>
          <p:cNvPr id="21" name="Image 2" descr="preencoded.png">    </p:cNvPr>
          <p:cNvPicPr>
            <a:picLocks noChangeAspect="1"/>
          </p:cNvPicPr>
          <p:nvPr/>
        </p:nvPicPr>
        <p:blipFill>
          <a:blip r:embed="rId3"/>
          <a:stretch>
            <a:fillRect/>
          </a:stretch>
        </p:blipFill>
        <p:spPr>
          <a:xfrm>
            <a:off x="6611112" y="2203704"/>
            <a:ext cx="219456" cy="219456"/>
          </a:xfrm>
          <a:prstGeom prst="rect">
            <a:avLst/>
          </a:prstGeom>
        </p:spPr>
      </p:pic>
      <p:sp>
        <p:nvSpPr>
          <p:cNvPr id="22" name="Text 16"/>
          <p:cNvSpPr/>
          <p:nvPr/>
        </p:nvSpPr>
        <p:spPr>
          <a:xfrm>
            <a:off x="7086600" y="2130552"/>
            <a:ext cx="4389120" cy="36576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Self-managed  (kubeadm, on-prem)</a:t>
            </a:r>
            <a:endParaRPr lang="en-US" sz="1500" dirty="0"/>
          </a:p>
        </p:txBody>
      </p:sp>
      <p:sp>
        <p:nvSpPr>
          <p:cNvPr id="23" name="Text 17"/>
          <p:cNvSpPr/>
          <p:nvPr/>
        </p:nvSpPr>
        <p:spPr>
          <a:xfrm>
            <a:off x="6492240" y="2606040"/>
            <a:ext cx="2743200" cy="274320"/>
          </a:xfrm>
          <a:prstGeom prst="rect">
            <a:avLst/>
          </a:prstGeom>
          <a:noFill/>
          <a:ln/>
        </p:spPr>
        <p:txBody>
          <a:bodyPr wrap="square" lIns="0" tIns="0" rIns="0" bIns="0" rtlCol="0" anchor="ctr"/>
          <a:lstStyle/>
          <a:p>
            <a:pPr indent="0" marL="0">
              <a:buNone/>
            </a:pPr>
            <a:r>
              <a:rPr lang="en-US" sz="1100" b="1" dirty="0">
                <a:solidFill>
                  <a:srgbClr val="2C7A4B"/>
                </a:solidFill>
                <a:latin typeface="Arial" pitchFamily="34" charset="0"/>
                <a:ea typeface="Arial" pitchFamily="34" charset="-122"/>
                <a:cs typeface="Arial" pitchFamily="34" charset="-120"/>
              </a:rPr>
              <a:t>Strengths</a:t>
            </a:r>
            <a:endParaRPr lang="en-US" sz="1100" dirty="0"/>
          </a:p>
        </p:txBody>
      </p:sp>
      <p:sp>
        <p:nvSpPr>
          <p:cNvPr id="24" name="Text 18"/>
          <p:cNvSpPr/>
          <p:nvPr/>
        </p:nvSpPr>
        <p:spPr>
          <a:xfrm>
            <a:off x="6492240" y="2880360"/>
            <a:ext cx="4892040" cy="1371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Full control: versions, feature gates, CNI choice, direct etcd access; no forced upgrades</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Runs anywhere - on-premises, air-gapped, edge; often decisive under data-residency regulation</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 per-cluster fees; can be economical at large, stable scale on owned hardware</a:t>
            </a:r>
            <a:endParaRPr lang="en-US" sz="1050" dirty="0"/>
          </a:p>
        </p:txBody>
      </p:sp>
      <p:sp>
        <p:nvSpPr>
          <p:cNvPr id="25" name="Text 19"/>
          <p:cNvSpPr/>
          <p:nvPr/>
        </p:nvSpPr>
        <p:spPr>
          <a:xfrm>
            <a:off x="6492240" y="4315968"/>
            <a:ext cx="2743200" cy="274320"/>
          </a:xfrm>
          <a:prstGeom prst="rect">
            <a:avLst/>
          </a:prstGeom>
          <a:noFill/>
          <a:ln/>
        </p:spPr>
        <p:txBody>
          <a:bodyPr wrap="square" lIns="0" tIns="0" rIns="0" bIns="0" rtlCol="0" anchor="ctr"/>
          <a:lstStyle/>
          <a:p>
            <a:pPr indent="0" marL="0">
              <a:buNone/>
            </a:pPr>
            <a:r>
              <a:rPr lang="en-US" sz="1100" b="1" dirty="0">
                <a:solidFill>
                  <a:srgbClr val="B3402A"/>
                </a:solidFill>
                <a:latin typeface="Arial" pitchFamily="34" charset="0"/>
                <a:ea typeface="Arial" pitchFamily="34" charset="-122"/>
                <a:cs typeface="Arial" pitchFamily="34" charset="-120"/>
              </a:rPr>
              <a:t>Limitations</a:t>
            </a:r>
            <a:endParaRPr lang="en-US" sz="1100" dirty="0"/>
          </a:p>
        </p:txBody>
      </p:sp>
      <p:sp>
        <p:nvSpPr>
          <p:cNvPr id="26" name="Text 20"/>
          <p:cNvSpPr/>
          <p:nvPr/>
        </p:nvSpPr>
        <p:spPr>
          <a:xfrm>
            <a:off x="6492240" y="4590288"/>
            <a:ext cx="4892040" cy="9144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team owns HA design, etcd backup, certificate rotation, CVE patching and upgrade testing</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Requires a skilled platform team with on-call; GPU drivers and device plugins managed manually</a:t>
            </a:r>
            <a:endParaRPr lang="en-US" sz="1050" dirty="0"/>
          </a:p>
        </p:txBody>
      </p:sp>
      <p:sp>
        <p:nvSpPr>
          <p:cNvPr id="27" name="Shape 21"/>
          <p:cNvSpPr/>
          <p:nvPr/>
        </p:nvSpPr>
        <p:spPr>
          <a:xfrm>
            <a:off x="640080" y="5760720"/>
            <a:ext cx="10927080" cy="566928"/>
          </a:xfrm>
          <a:prstGeom prst="roundRect">
            <a:avLst>
              <a:gd name="adj" fmla="val 14516"/>
            </a:avLst>
          </a:prstGeom>
          <a:solidFill>
            <a:srgbClr val="FBF1E3"/>
          </a:solidFill>
          <a:ln/>
          <a:effectLst>
            <a:outerShdw sx="100000" sy="100000" kx="0" ky="0" algn="bl" rotWithShape="0" blurRad="76200" dist="25400" dir="5400000">
              <a:srgbClr val="9AA4B8">
                <a:alpha val="35000"/>
              </a:srgbClr>
            </a:outerShdw>
          </a:effectLst>
        </p:spPr>
      </p:sp>
      <p:sp>
        <p:nvSpPr>
          <p:cNvPr id="28" name="Text 22"/>
          <p:cNvSpPr/>
          <p:nvPr/>
        </p:nvSpPr>
        <p:spPr>
          <a:xfrm>
            <a:off x="868680" y="5815584"/>
            <a:ext cx="10469880" cy="457200"/>
          </a:xfrm>
          <a:prstGeom prst="rect">
            <a:avLst/>
          </a:prstGeom>
          <a:noFill/>
          <a:ln/>
        </p:spPr>
        <p:txBody>
          <a:bodyPr wrap="square" lIns="0" tIns="0" rIns="0" bIns="0" rtlCol="0" anchor="ctr"/>
          <a:lstStyle/>
          <a:p>
            <a:pPr indent="0" marL="0">
              <a:buNone/>
            </a:pPr>
            <a:r>
              <a:rPr lang="en-US" sz="1200" b="1" dirty="0">
                <a:solidFill>
                  <a:srgbClr val="E8871E"/>
                </a:solidFill>
                <a:latin typeface="Calibri" pitchFamily="34" charset="0"/>
                <a:ea typeface="Calibri" pitchFamily="34" charset="-122"/>
                <a:cs typeface="Calibri" pitchFamily="34" charset="-120"/>
              </a:rPr>
              <a:t>Decision rule:  </a:t>
            </a:r>
            <a:pPr indent="0" marL="0">
              <a:buNone/>
            </a:pPr>
            <a:r>
              <a:rPr lang="en-US" sz="1200" dirty="0">
                <a:solidFill>
                  <a:srgbClr val="232946"/>
                </a:solidFill>
                <a:latin typeface="Calibri" pitchFamily="34" charset="0"/>
                <a:ea typeface="Calibri" pitchFamily="34" charset="-122"/>
                <a:cs typeface="Calibri" pitchFamily="34" charset="-120"/>
              </a:rPr>
              <a:t>on public cloud, managed is the default. Self-managed is justified by constraints — data residency, air-gapped or edge deployment — not by preference.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692640" y="4206240"/>
            <a:ext cx="4389120" cy="4389120"/>
          </a:xfrm>
          <a:prstGeom prst="ellipse">
            <a:avLst/>
          </a:prstGeom>
          <a:solidFill>
            <a:srgbClr val="2E3554"/>
          </a:solidFill>
          <a:ln/>
        </p:spPr>
      </p:sp>
      <p:sp>
        <p:nvSpPr>
          <p:cNvPr id="3" name="Shape 1"/>
          <p:cNvSpPr/>
          <p:nvPr/>
        </p:nvSpPr>
        <p:spPr>
          <a:xfrm>
            <a:off x="-1280160" y="-1645920"/>
            <a:ext cx="3840480" cy="3840480"/>
          </a:xfrm>
          <a:prstGeom prst="ellipse">
            <a:avLst/>
          </a:prstGeom>
          <a:solidFill>
            <a:srgbClr val="2E3554"/>
          </a:solidFill>
          <a:ln/>
        </p:spPr>
      </p:sp>
      <p:sp>
        <p:nvSpPr>
          <p:cNvPr id="4" name="Shape 2"/>
          <p:cNvSpPr/>
          <p:nvPr/>
        </p:nvSpPr>
        <p:spPr>
          <a:xfrm>
            <a:off x="685800" y="1371600"/>
            <a:ext cx="822960" cy="82296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99770" y="1585570"/>
            <a:ext cx="395021" cy="395021"/>
          </a:xfrm>
          <a:prstGeom prst="rect">
            <a:avLst/>
          </a:prstGeom>
        </p:spPr>
      </p:pic>
      <p:sp>
        <p:nvSpPr>
          <p:cNvPr id="6" name="Text 3"/>
          <p:cNvSpPr/>
          <p:nvPr/>
        </p:nvSpPr>
        <p:spPr>
          <a:xfrm>
            <a:off x="685800" y="2514600"/>
            <a:ext cx="91440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HANDS-ON LAB · 60 MINUTES · ENTIRELY LOCAL</a:t>
            </a:r>
            <a:endParaRPr lang="en-US" sz="1300" dirty="0"/>
          </a:p>
        </p:txBody>
      </p:sp>
      <p:sp>
        <p:nvSpPr>
          <p:cNvPr id="7" name="Text 4"/>
          <p:cNvSpPr/>
          <p:nvPr/>
        </p:nvSpPr>
        <p:spPr>
          <a:xfrm>
            <a:off x="658368" y="2880360"/>
            <a:ext cx="107899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Local Deployment Lab</a:t>
            </a:r>
            <a:endParaRPr lang="en-US" sz="4000" dirty="0"/>
          </a:p>
        </p:txBody>
      </p:sp>
      <p:sp>
        <p:nvSpPr>
          <p:cNvPr id="8" name="Text 5"/>
          <p:cNvSpPr/>
          <p:nvPr/>
        </p:nvSpPr>
        <p:spPr>
          <a:xfrm>
            <a:off x="685800" y="3703320"/>
            <a:ext cx="10789920" cy="457200"/>
          </a:xfrm>
          <a:prstGeom prst="rect">
            <a:avLst/>
          </a:prstGeom>
          <a:noFill/>
          <a:ln/>
        </p:spPr>
        <p:txBody>
          <a:bodyPr wrap="square" lIns="0" tIns="0" rIns="0" bIns="0" rtlCol="0" anchor="ctr"/>
          <a:lstStyle/>
          <a:p>
            <a:pPr indent="0" marL="0">
              <a:buNone/>
            </a:pPr>
            <a:r>
              <a:rPr lang="en-US" sz="2100" b="1" dirty="0">
                <a:solidFill>
                  <a:srgbClr val="F5B971"/>
                </a:solidFill>
                <a:latin typeface="Arial" pitchFamily="34" charset="0"/>
                <a:ea typeface="Arial" pitchFamily="34" charset="-122"/>
                <a:cs typeface="Arial" pitchFamily="34" charset="-120"/>
              </a:rPr>
              <a:t>Production disciplines without a cloud account</a:t>
            </a:r>
            <a:endParaRPr lang="en-US" sz="2100" dirty="0"/>
          </a:p>
        </p:txBody>
      </p:sp>
      <p:sp>
        <p:nvSpPr>
          <p:cNvPr id="9" name="Text 6"/>
          <p:cNvSpPr/>
          <p:nvPr/>
        </p:nvSpPr>
        <p:spPr>
          <a:xfrm>
            <a:off x="685800" y="4434840"/>
            <a:ext cx="9875520" cy="7315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Build, run, secure, constrain and scale an LLM inference container on your own machine with Docker and Docker Compose. Every step corresponds one-to-one to a cloud deployment concept covered in the theory block.</a:t>
            </a:r>
            <a:endParaRPr lang="en-US" sz="1500" dirty="0"/>
          </a:p>
        </p:txBody>
      </p:sp>
      <p:sp>
        <p:nvSpPr>
          <p:cNvPr id="10" name="Text 7"/>
          <p:cNvSpPr/>
          <p:nvPr/>
        </p:nvSpPr>
        <p:spPr>
          <a:xfrm>
            <a:off x="685800" y="5577840"/>
            <a:ext cx="10515600" cy="365760"/>
          </a:xfrm>
          <a:prstGeom prst="rect">
            <a:avLst/>
          </a:prstGeom>
          <a:noFill/>
          <a:ln/>
        </p:spPr>
        <p:txBody>
          <a:bodyPr wrap="square" lIns="0" tIns="0" rIns="0" bIns="0" rtlCol="0" anchor="ctr"/>
          <a:lstStyle/>
          <a:p>
            <a:pPr indent="0" marL="0">
              <a:buNone/>
            </a:pPr>
            <a:r>
              <a:rPr lang="en-US" sz="1300" dirty="0">
                <a:solidFill>
                  <a:srgbClr val="9AA7C7"/>
                </a:solidFill>
                <a:latin typeface="Calibri" pitchFamily="34" charset="0"/>
                <a:ea typeface="Calibri" pitchFamily="34" charset="-122"/>
                <a:cs typeface="Calibri" pitchFamily="34" charset="-120"/>
              </a:rPr>
              <a:t>Step 0 install · Step 1 build · Step 2 run &amp; health · Step 3 secrets · Steps 4–5 Compose &amp; limits · Step 6 scale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0</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Install and verify Docker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3017520"/>
          </a:xfrm>
          <a:prstGeom prst="roundRect">
            <a:avLst>
              <a:gd name="adj" fmla="val 2424"/>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79806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Ubuntu / Debian</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sudo apt-get update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sudo apt-get install -y docker.io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docker-compose-v2</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sudo usermod -aG docker $USER   # then re-login</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macOS / Windows: install Docker Desktop</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verification</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run hello-world</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compose version</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df -h .     # at least 8 GB free disk</a:t>
            </a:r>
            <a:endParaRPr lang="en-US" sz="1050" dirty="0"/>
          </a:p>
        </p:txBody>
      </p:sp>
      <p:sp>
        <p:nvSpPr>
          <p:cNvPr id="10" name="Shape 6"/>
          <p:cNvSpPr/>
          <p:nvPr/>
        </p:nvSpPr>
        <p:spPr>
          <a:xfrm>
            <a:off x="640080" y="4709160"/>
            <a:ext cx="5760720" cy="1600200"/>
          </a:xfrm>
          <a:prstGeom prst="roundRect">
            <a:avLst>
              <a:gd name="adj" fmla="val 5143"/>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484632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Lab materials (from the handout)</a:t>
            </a:r>
            <a:endParaRPr lang="en-US" sz="1300" dirty="0"/>
          </a:p>
        </p:txBody>
      </p:sp>
      <p:sp>
        <p:nvSpPr>
          <p:cNvPr id="12" name="Text 8"/>
          <p:cNvSpPr/>
          <p:nvPr/>
        </p:nvSpPr>
        <p:spPr>
          <a:xfrm>
            <a:off x="868680" y="5193792"/>
            <a:ext cx="5303520" cy="100584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The lab02 directory contains: Dockerfile, app.py, requirements.txt, healthcheck.py, .env.example, .dockerignore and docker-compose.yml — the files walked through in the theory block.</a:t>
            </a:r>
            <a:endParaRPr lang="en-US" sz="11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Verification notes</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Membership of the docker group permits running Docker without sudo; it takes effect only after logging out and back in.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docker run hello-world confirms the client can reach the daemon and pull from a registry — the complete local pipeline.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docker compose version must report v2; the lab uses the docker compose subcommand syntax.</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At least 8 GB of free disk is required: base image, dependency layers, model weights and build cache all consume space.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1</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Build the image and measure the cache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3383280"/>
          </a:xfrm>
          <a:prstGeom prst="roundRect">
            <a:avLst>
              <a:gd name="adj" fmla="val 2162"/>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163824"/>
          </a:xfrm>
          <a:prstGeom prst="rect">
            <a:avLst/>
          </a:prstGeom>
          <a:noFill/>
          <a:ln/>
        </p:spPr>
        <p:txBody>
          <a:bodyPr wrap="square" lIns="0" tIns="0" rIns="0" bIns="0" rtlCol="0" anchor="t"/>
          <a:lstStyle/>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cd lab02</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first build — the pip layer runs in full</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build -t llm-server:v1 .</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images llm-server</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record REPOSITORY, TAG and SIZE</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invalidate only the code layer, rebuild</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touch app.py</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time docker build -t llm-server:v1 .</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observe: dependency layer → CACHED</a:t>
            </a:r>
            <a:endParaRPr lang="en-US" sz="1050" dirty="0"/>
          </a:p>
        </p:txBody>
      </p:sp>
      <p:sp>
        <p:nvSpPr>
          <p:cNvPr id="10" name="Shape 6"/>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Record and interpret</a:t>
            </a:r>
            <a:endParaRPr lang="en-US" sz="1350" dirty="0"/>
          </a:p>
        </p:txBody>
      </p:sp>
      <p:sp>
        <p:nvSpPr>
          <p:cNvPr id="12" name="Text 8"/>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Record the image size — the CPU-only torch wheel is the reason it is measured in hundreds of MB, not multiple GB.</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Record the timed rebuild. Expect minutes for the first build and seconds after a code-only change.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cache works because dependencies are copied before code: editing app.py invalidates only the final layers.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Diagnostic: if pip runs again after touching app.py, the Dockerfile copies code before requirements — reorder it.</a:t>
            </a:r>
            <a:endParaRPr lang="en-US" sz="1150" dirty="0"/>
          </a:p>
        </p:txBody>
      </p:sp>
      <p:sp>
        <p:nvSpPr>
          <p:cNvPr id="13" name="Shape 9"/>
          <p:cNvSpPr/>
          <p:nvPr/>
        </p:nvSpPr>
        <p:spPr>
          <a:xfrm>
            <a:off x="640080" y="5074920"/>
            <a:ext cx="5760720" cy="1234440"/>
          </a:xfrm>
          <a:prstGeom prst="roundRect">
            <a:avLst>
              <a:gd name="adj" fmla="val 6667"/>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166360"/>
            <a:ext cx="5303520" cy="1051560"/>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Deliverable 1:  </a:t>
            </a:r>
            <a:pPr indent="0" marL="0">
              <a:buNone/>
            </a:pPr>
            <a:r>
              <a:rPr lang="en-US" sz="1200" dirty="0">
                <a:solidFill>
                  <a:srgbClr val="5A6478"/>
                </a:solidFill>
                <a:latin typeface="Calibri" pitchFamily="34" charset="0"/>
                <a:ea typeface="Calibri" pitchFamily="34" charset="-122"/>
                <a:cs typeface="Calibri" pitchFamily="34" charset="-120"/>
              </a:rPr>
              <a:t>the docker images output showing the image size, and the measured cached-rebuild time.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Run, observe health, verify authentication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1828800"/>
          </a:xfrm>
          <a:prstGeom prst="roundRect">
            <a:avLst>
              <a:gd name="adj" fmla="val 400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160934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run -d --name llm -p 8080:8080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-e API_KEY=test123 llm-server:v1</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watch -n 1 docker ps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STATUS: (health: starting) → (healthy)</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elapsed time = your cold start — record it</a:t>
            </a:r>
            <a:endParaRPr lang="en-US" sz="1000" dirty="0"/>
          </a:p>
        </p:txBody>
      </p:sp>
      <p:sp>
        <p:nvSpPr>
          <p:cNvPr id="10" name="Shape 6"/>
          <p:cNvSpPr/>
          <p:nvPr/>
        </p:nvSpPr>
        <p:spPr>
          <a:xfrm>
            <a:off x="640080" y="3520440"/>
            <a:ext cx="5760720" cy="2788920"/>
          </a:xfrm>
          <a:prstGeom prst="roundRect">
            <a:avLst>
              <a:gd name="adj" fmla="val 2623"/>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3630168"/>
            <a:ext cx="5358384" cy="2569464"/>
          </a:xfrm>
          <a:prstGeom prst="rect">
            <a:avLst/>
          </a:prstGeom>
          <a:noFill/>
          <a:ln/>
        </p:spPr>
        <p:txBody>
          <a:bodyPr wrap="square" lIns="0" tIns="0" rIns="0" bIns="0" rtlCol="0" anchor="t"/>
          <a:lstStyle/>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curl localhost:8080/health</a:t>
            </a:r>
            <a:endParaRPr lang="en-US" sz="950" dirty="0"/>
          </a:p>
          <a:p>
            <a:pPr indent="0" marL="0">
              <a:lnSpc>
                <a:spcPct val="112000"/>
              </a:lnSpc>
              <a:buNone/>
            </a:pP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authenticated request — expect 200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curl -s -X POST localhost:8080/generate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 "X-API-Key: test123"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 "Content-Type: application/json"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-d '{"prompt": "Define a container image."}'</a:t>
            </a:r>
            <a:endParaRPr lang="en-US" sz="950" dirty="0"/>
          </a:p>
          <a:p>
            <a:pPr indent="0" marL="0">
              <a:lnSpc>
                <a:spcPct val="112000"/>
              </a:lnSpc>
              <a:buNone/>
            </a:pP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wrong key — expect 401 Unauthorized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curl -i -X POST localhost:8080/generate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 "X-API-Key: wrong-key"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 "Content-Type: application/json" -d '{}'</a:t>
            </a:r>
            <a:endParaRPr lang="en-US" sz="950" dirty="0"/>
          </a:p>
        </p:txBody>
      </p:sp>
      <p:sp>
        <p:nvSpPr>
          <p:cNvPr id="12" name="Shape 8"/>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record</a:t>
            </a:r>
            <a:endParaRPr lang="en-US" sz="1350" dirty="0"/>
          </a:p>
        </p:txBody>
      </p:sp>
      <p:sp>
        <p:nvSpPr>
          <p:cNvPr id="14" name="Text 10"/>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starting → healthy transition is the HEALTHCHECK reporting model load completion. Its elapsed time is your measured cold start — the figure a cloud startup probe must accommodate.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Capture the transition (screenshot of docker ps) with the elapsed time: deliverable 2.</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Capture the 401 and 200 responses: deliverable 3. The 401 confirms the middleware reads the runtime-injected key.</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 API_KEY=test123 is runtime injection: the key exists only in this container's environment, not in the image.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3</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Secrets discipline (5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2880360"/>
          </a:xfrm>
          <a:prstGeom prst="roundRect">
            <a:avLst>
              <a:gd name="adj" fmla="val 254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66090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create the local secrets file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cp .env.example .env</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edit .env — set a real API_KEY value</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confirm both exclusion files cover it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grep -n "\.env" .dockerignore .gitignore</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prove the image carries no secret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history --no-trunc llm-server:v1</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inspect: no key appears in any layer</a:t>
            </a:r>
            <a:endParaRPr lang="en-US" sz="1050" dirty="0"/>
          </a:p>
        </p:txBody>
      </p:sp>
      <p:sp>
        <p:nvSpPr>
          <p:cNvPr id="10" name="Shape 6"/>
          <p:cNvSpPr/>
          <p:nvPr/>
        </p:nvSpPr>
        <p:spPr>
          <a:xfrm>
            <a:off x="640080" y="4572000"/>
            <a:ext cx="5760720" cy="1737360"/>
          </a:xfrm>
          <a:prstGeom prst="roundRect">
            <a:avLst>
              <a:gd name="adj" fmla="val 4737"/>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470916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Repository convention</a:t>
            </a:r>
            <a:endParaRPr lang="en-US" sz="1300" dirty="0"/>
          </a:p>
        </p:txBody>
      </p:sp>
      <p:sp>
        <p:nvSpPr>
          <p:cNvPr id="12" name="Text 8"/>
          <p:cNvSpPr/>
          <p:nvPr/>
        </p:nvSpPr>
        <p:spPr>
          <a:xfrm>
            <a:off x="868680" y="5056632"/>
            <a:ext cx="5303520" cy="11430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.env.example is committed and documents which variables the service requires — without their values. .env holds the real values, exists only on the local machine, and is excluded from both git and the image build context.</a:t>
            </a:r>
            <a:endParaRPr lang="en-US" sz="11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Why this matters</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docker history exposes every build instruction to anyone who obtains the image; a credential set at build time would be permanently visible there.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secret exists only in the runtime environment of a running container — precisely the model cloud secret managers implement centrally.</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cloud counterpart: the value moves to a secret manager, access is IAM-scoped, and rotation requires no rebuild — theory covered earlier.</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STEPS 4–5</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Docker Compose and resource limits (15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2651760"/>
          </a:xfrm>
          <a:prstGeom prst="roundRect">
            <a:avLst>
              <a:gd name="adj" fmla="val 275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43230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docker-compose.yml (from the handout)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services:</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llm:</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build: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env_file: .env</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ports: ["8080"]  # host port auto-assigned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mem_limit: 2g</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cpus: "2.0"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healthcheck:</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test: ["CMD", "python", "healthcheck.py"]</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interval: 10s</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start_period: 90s</a:t>
            </a:r>
            <a:endParaRPr lang="en-US" sz="950" dirty="0"/>
          </a:p>
        </p:txBody>
      </p:sp>
      <p:sp>
        <p:nvSpPr>
          <p:cNvPr id="10" name="Shape 6"/>
          <p:cNvSpPr/>
          <p:nvPr/>
        </p:nvSpPr>
        <p:spPr>
          <a:xfrm>
            <a:off x="640080" y="4343400"/>
            <a:ext cx="5760720" cy="1965960"/>
          </a:xfrm>
          <a:prstGeom prst="roundRect">
            <a:avLst>
              <a:gd name="adj" fmla="val 3721"/>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4453128"/>
            <a:ext cx="5358384" cy="174650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up -d --build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port llm 8080  # your host port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localhost:&lt;host-port&gt;/health</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step 5 — actual consumption vs the limit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stats --no-stream</a:t>
            </a:r>
            <a:endParaRPr lang="en-US" sz="1000" dirty="0"/>
          </a:p>
        </p:txBody>
      </p:sp>
      <p:sp>
        <p:nvSpPr>
          <p:cNvPr id="12" name="Shape 8"/>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Discussion points</a:t>
            </a:r>
            <a:endParaRPr lang="en-US" sz="1350" dirty="0"/>
          </a:p>
        </p:txBody>
      </p:sp>
      <p:sp>
        <p:nvSpPr>
          <p:cNvPr id="14" name="Text 10"/>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Compose turns run-time flags into a versioned artifact: environment file, health check and resource limits are declared, reviewed and repeatable.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mem_limit and cpus bound the container. An undersized mem_limit causes the kernel to terminate the process (exit code 137) — with a restart policy this becomes a restart loop.</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Right-sizing: observe peak memory in docker stats under load, then set the limit with explicit headroom.</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Cloud counterpart: these limits are exactly the --memory and --cpu instance sizing shown in the theory block.</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6</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Scale to two replicas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760720" cy="3291840"/>
          </a:xfrm>
          <a:prstGeom prst="roundRect">
            <a:avLst>
              <a:gd name="adj" fmla="val 2222"/>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07238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up -d --scale llm=2</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ps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two replicas, two auto-assigned host ports</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stats --no-stream</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total memory roughly doubles: each replica</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holds a complete copy of the model</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localhost:&lt;port-1&gt;/health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localhost:&lt;port-2&gt;/health</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down    # end of lab clean-up</a:t>
            </a:r>
            <a:endParaRPr lang="en-US" sz="1000" dirty="0"/>
          </a:p>
        </p:txBody>
      </p:sp>
      <p:sp>
        <p:nvSpPr>
          <p:cNvPr id="10" name="Shape 6"/>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Interpretation</a:t>
            </a:r>
            <a:endParaRPr lang="en-US" sz="1350" dirty="0"/>
          </a:p>
        </p:txBody>
      </p:sp>
      <p:sp>
        <p:nvSpPr>
          <p:cNvPr id="12" name="Text 8"/>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Replicas do not share model memory: capacity planning must budget a full model copy per instance.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You scaled manually and addressed each replica by port. A cloud platform performs the same action automatically — triggered by concurrency — behind a single load-balanced URL.</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Record the docker compose ps output showing both replicas: part of deliverable 4.</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Relate the memory doubling to instance sizing: doubling replicas doubles the memory bill, locally and in the cloud alike.</a:t>
            </a:r>
            <a:endParaRPr lang="en-US" sz="1150" dirty="0"/>
          </a:p>
        </p:txBody>
      </p:sp>
      <p:sp>
        <p:nvSpPr>
          <p:cNvPr id="13" name="Shape 9"/>
          <p:cNvSpPr/>
          <p:nvPr/>
        </p:nvSpPr>
        <p:spPr>
          <a:xfrm>
            <a:off x="640080" y="4983480"/>
            <a:ext cx="5760720" cy="1325880"/>
          </a:xfrm>
          <a:prstGeom prst="roundRect">
            <a:avLst>
              <a:gd name="adj" fmla="val 6207"/>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074920"/>
            <a:ext cx="5303520" cy="1143000"/>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Key result:  </a:t>
            </a:r>
            <a:pPr indent="0" marL="0">
              <a:buNone/>
            </a:pPr>
            <a:r>
              <a:rPr lang="en-US" sz="1200" dirty="0">
                <a:solidFill>
                  <a:srgbClr val="5A6478"/>
                </a:solidFill>
                <a:latin typeface="Calibri" pitchFamily="34" charset="0"/>
                <a:ea typeface="Calibri" pitchFamily="34" charset="-122"/>
                <a:cs typeface="Calibri" pitchFamily="34" charset="-120"/>
              </a:rPr>
              <a:t>manual scaling reproduces, by hand, precisely the mechanism cloud autoscalers automate.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SYNTHESIS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Mapping local practice to cloud deployment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417320"/>
            <a:ext cx="5394960" cy="384048"/>
          </a:xfrm>
          <a:prstGeom prst="rect">
            <a:avLst/>
          </a:prstGeom>
          <a:solidFill>
            <a:srgbClr val="232946"/>
          </a:solidFill>
          <a:ln/>
        </p:spPr>
      </p:sp>
      <p:sp>
        <p:nvSpPr>
          <p:cNvPr id="9" name="Text 5"/>
          <p:cNvSpPr/>
          <p:nvPr/>
        </p:nvSpPr>
        <p:spPr>
          <a:xfrm>
            <a:off x="777240" y="1417320"/>
            <a:ext cx="51663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Local practice — today's lab</a:t>
            </a:r>
            <a:endParaRPr lang="en-US" sz="1250" dirty="0"/>
          </a:p>
        </p:txBody>
      </p:sp>
      <p:sp>
        <p:nvSpPr>
          <p:cNvPr id="10" name="Shape 6"/>
          <p:cNvSpPr/>
          <p:nvPr/>
        </p:nvSpPr>
        <p:spPr>
          <a:xfrm>
            <a:off x="6108192" y="1417320"/>
            <a:ext cx="5440680" cy="384048"/>
          </a:xfrm>
          <a:prstGeom prst="rect">
            <a:avLst/>
          </a:prstGeom>
          <a:solidFill>
            <a:srgbClr val="E8871E"/>
          </a:solidFill>
          <a:ln/>
        </p:spPr>
      </p:sp>
      <p:sp>
        <p:nvSpPr>
          <p:cNvPr id="11" name="Text 7"/>
          <p:cNvSpPr/>
          <p:nvPr/>
        </p:nvSpPr>
        <p:spPr>
          <a:xfrm>
            <a:off x="6245352" y="1417320"/>
            <a:ext cx="5212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Cloud equivalent — reference theory</a:t>
            </a:r>
            <a:endParaRPr lang="en-US" sz="1250" dirty="0"/>
          </a:p>
        </p:txBody>
      </p:sp>
      <p:sp>
        <p:nvSpPr>
          <p:cNvPr id="12" name="Shape 8"/>
          <p:cNvSpPr/>
          <p:nvPr/>
        </p:nvSpPr>
        <p:spPr>
          <a:xfrm>
            <a:off x="640080" y="1819656"/>
            <a:ext cx="5394960" cy="530352"/>
          </a:xfrm>
          <a:prstGeom prst="rect">
            <a:avLst/>
          </a:prstGeom>
          <a:solidFill>
            <a:srgbClr val="EEF2FA"/>
          </a:solidFill>
          <a:ln w="9525">
            <a:solidFill>
              <a:srgbClr val="C9D3E6"/>
            </a:solidFill>
            <a:prstDash val="solid"/>
          </a:ln>
        </p:spPr>
      </p:sp>
      <p:sp>
        <p:nvSpPr>
          <p:cNvPr id="13" name="Text 9"/>
          <p:cNvSpPr/>
          <p:nvPr/>
        </p:nvSpPr>
        <p:spPr>
          <a:xfrm>
            <a:off x="777240" y="181965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docker build on the workstation</a:t>
            </a:r>
            <a:endParaRPr lang="en-US" sz="1000" dirty="0"/>
          </a:p>
        </p:txBody>
      </p:sp>
      <p:sp>
        <p:nvSpPr>
          <p:cNvPr id="14" name="Shape 10"/>
          <p:cNvSpPr/>
          <p:nvPr/>
        </p:nvSpPr>
        <p:spPr>
          <a:xfrm>
            <a:off x="6108192" y="1819656"/>
            <a:ext cx="5440680" cy="530352"/>
          </a:xfrm>
          <a:prstGeom prst="rect">
            <a:avLst/>
          </a:prstGeom>
          <a:solidFill>
            <a:srgbClr val="FBF1E3"/>
          </a:solidFill>
          <a:ln w="9525">
            <a:solidFill>
              <a:srgbClr val="C9D3E6"/>
            </a:solidFill>
            <a:prstDash val="solid"/>
          </a:ln>
        </p:spPr>
      </p:sp>
      <p:sp>
        <p:nvSpPr>
          <p:cNvPr id="15" name="Text 11"/>
          <p:cNvSpPr/>
          <p:nvPr/>
        </p:nvSpPr>
        <p:spPr>
          <a:xfrm>
            <a:off x="6245352" y="181965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Registry plus a managed build service (Cloud Build, CodeBuild)</a:t>
            </a:r>
            <a:endParaRPr lang="en-US" sz="1100" dirty="0"/>
          </a:p>
        </p:txBody>
      </p:sp>
      <p:sp>
        <p:nvSpPr>
          <p:cNvPr id="16" name="Shape 12"/>
          <p:cNvSpPr/>
          <p:nvPr/>
        </p:nvSpPr>
        <p:spPr>
          <a:xfrm>
            <a:off x="640080" y="2368296"/>
            <a:ext cx="5394960" cy="530352"/>
          </a:xfrm>
          <a:prstGeom prst="rect">
            <a:avLst/>
          </a:prstGeom>
          <a:solidFill>
            <a:srgbClr val="FFFFFF"/>
          </a:solidFill>
          <a:ln w="9525">
            <a:solidFill>
              <a:srgbClr val="C9D3E6"/>
            </a:solidFill>
            <a:prstDash val="solid"/>
          </a:ln>
        </p:spPr>
      </p:sp>
      <p:sp>
        <p:nvSpPr>
          <p:cNvPr id="17" name="Text 13"/>
          <p:cNvSpPr/>
          <p:nvPr/>
        </p:nvSpPr>
        <p:spPr>
          <a:xfrm>
            <a:off x="777240" y="236829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.env file injected at run time</a:t>
            </a:r>
            <a:endParaRPr lang="en-US" sz="1000" dirty="0"/>
          </a:p>
        </p:txBody>
      </p:sp>
      <p:sp>
        <p:nvSpPr>
          <p:cNvPr id="18" name="Shape 14"/>
          <p:cNvSpPr/>
          <p:nvPr/>
        </p:nvSpPr>
        <p:spPr>
          <a:xfrm>
            <a:off x="6108192" y="2368296"/>
            <a:ext cx="5440680" cy="530352"/>
          </a:xfrm>
          <a:prstGeom prst="rect">
            <a:avLst/>
          </a:prstGeom>
          <a:solidFill>
            <a:srgbClr val="FFFFFF"/>
          </a:solidFill>
          <a:ln w="9525">
            <a:solidFill>
              <a:srgbClr val="C9D3E6"/>
            </a:solidFill>
            <a:prstDash val="solid"/>
          </a:ln>
        </p:spPr>
      </p:sp>
      <p:sp>
        <p:nvSpPr>
          <p:cNvPr id="19" name="Text 15"/>
          <p:cNvSpPr/>
          <p:nvPr/>
        </p:nvSpPr>
        <p:spPr>
          <a:xfrm>
            <a:off x="6245352" y="236829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Secret manager with IAM-scoped access and rotation</a:t>
            </a:r>
            <a:endParaRPr lang="en-US" sz="1100" dirty="0"/>
          </a:p>
        </p:txBody>
      </p:sp>
      <p:sp>
        <p:nvSpPr>
          <p:cNvPr id="20" name="Shape 16"/>
          <p:cNvSpPr/>
          <p:nvPr/>
        </p:nvSpPr>
        <p:spPr>
          <a:xfrm>
            <a:off x="640080" y="2916936"/>
            <a:ext cx="5394960" cy="530352"/>
          </a:xfrm>
          <a:prstGeom prst="rect">
            <a:avLst/>
          </a:prstGeom>
          <a:solidFill>
            <a:srgbClr val="EEF2FA"/>
          </a:solidFill>
          <a:ln w="9525">
            <a:solidFill>
              <a:srgbClr val="C9D3E6"/>
            </a:solidFill>
            <a:prstDash val="solid"/>
          </a:ln>
        </p:spPr>
      </p:sp>
      <p:sp>
        <p:nvSpPr>
          <p:cNvPr id="21" name="Text 17"/>
          <p:cNvSpPr/>
          <p:nvPr/>
        </p:nvSpPr>
        <p:spPr>
          <a:xfrm>
            <a:off x="777240" y="291693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Dockerfile HEALTHCHECK</a:t>
            </a:r>
            <a:endParaRPr lang="en-US" sz="1000" dirty="0"/>
          </a:p>
        </p:txBody>
      </p:sp>
      <p:sp>
        <p:nvSpPr>
          <p:cNvPr id="22" name="Shape 18"/>
          <p:cNvSpPr/>
          <p:nvPr/>
        </p:nvSpPr>
        <p:spPr>
          <a:xfrm>
            <a:off x="6108192" y="2916936"/>
            <a:ext cx="5440680" cy="530352"/>
          </a:xfrm>
          <a:prstGeom prst="rect">
            <a:avLst/>
          </a:prstGeom>
          <a:solidFill>
            <a:srgbClr val="FBF1E3"/>
          </a:solidFill>
          <a:ln w="9525">
            <a:solidFill>
              <a:srgbClr val="C9D3E6"/>
            </a:solidFill>
            <a:prstDash val="solid"/>
          </a:ln>
        </p:spPr>
      </p:sp>
      <p:sp>
        <p:nvSpPr>
          <p:cNvPr id="23" name="Text 19"/>
          <p:cNvSpPr/>
          <p:nvPr/>
        </p:nvSpPr>
        <p:spPr>
          <a:xfrm>
            <a:off x="6245352" y="291693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Startup, readiness and liveness probes</a:t>
            </a:r>
            <a:endParaRPr lang="en-US" sz="1100" dirty="0"/>
          </a:p>
        </p:txBody>
      </p:sp>
      <p:sp>
        <p:nvSpPr>
          <p:cNvPr id="24" name="Shape 20"/>
          <p:cNvSpPr/>
          <p:nvPr/>
        </p:nvSpPr>
        <p:spPr>
          <a:xfrm>
            <a:off x="640080" y="3465576"/>
            <a:ext cx="5394960" cy="530352"/>
          </a:xfrm>
          <a:prstGeom prst="rect">
            <a:avLst/>
          </a:prstGeom>
          <a:solidFill>
            <a:srgbClr val="FFFFFF"/>
          </a:solidFill>
          <a:ln w="9525">
            <a:solidFill>
              <a:srgbClr val="C9D3E6"/>
            </a:solidFill>
            <a:prstDash val="solid"/>
          </a:ln>
        </p:spPr>
      </p:sp>
      <p:sp>
        <p:nvSpPr>
          <p:cNvPr id="25" name="Text 21"/>
          <p:cNvSpPr/>
          <p:nvPr/>
        </p:nvSpPr>
        <p:spPr>
          <a:xfrm>
            <a:off x="777240" y="346557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mem_limit / cpus in Compose</a:t>
            </a:r>
            <a:endParaRPr lang="en-US" sz="1000" dirty="0"/>
          </a:p>
        </p:txBody>
      </p:sp>
      <p:sp>
        <p:nvSpPr>
          <p:cNvPr id="26" name="Shape 22"/>
          <p:cNvSpPr/>
          <p:nvPr/>
        </p:nvSpPr>
        <p:spPr>
          <a:xfrm>
            <a:off x="6108192" y="3465576"/>
            <a:ext cx="5440680" cy="530352"/>
          </a:xfrm>
          <a:prstGeom prst="rect">
            <a:avLst/>
          </a:prstGeom>
          <a:solidFill>
            <a:srgbClr val="FFFFFF"/>
          </a:solidFill>
          <a:ln w="9525">
            <a:solidFill>
              <a:srgbClr val="C9D3E6"/>
            </a:solidFill>
            <a:prstDash val="solid"/>
          </a:ln>
        </p:spPr>
      </p:sp>
      <p:sp>
        <p:nvSpPr>
          <p:cNvPr id="27" name="Text 23"/>
          <p:cNvSpPr/>
          <p:nvPr/>
        </p:nvSpPr>
        <p:spPr>
          <a:xfrm>
            <a:off x="6245352" y="346557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Instance sizing (--memory / --cpu)</a:t>
            </a:r>
            <a:endParaRPr lang="en-US" sz="1100" dirty="0"/>
          </a:p>
        </p:txBody>
      </p:sp>
      <p:sp>
        <p:nvSpPr>
          <p:cNvPr id="28" name="Shape 24"/>
          <p:cNvSpPr/>
          <p:nvPr/>
        </p:nvSpPr>
        <p:spPr>
          <a:xfrm>
            <a:off x="640080" y="4014216"/>
            <a:ext cx="5394960" cy="530352"/>
          </a:xfrm>
          <a:prstGeom prst="rect">
            <a:avLst/>
          </a:prstGeom>
          <a:solidFill>
            <a:srgbClr val="EEF2FA"/>
          </a:solidFill>
          <a:ln w="9525">
            <a:solidFill>
              <a:srgbClr val="C9D3E6"/>
            </a:solidFill>
            <a:prstDash val="solid"/>
          </a:ln>
        </p:spPr>
      </p:sp>
      <p:sp>
        <p:nvSpPr>
          <p:cNvPr id="29" name="Text 25"/>
          <p:cNvSpPr/>
          <p:nvPr/>
        </p:nvSpPr>
        <p:spPr>
          <a:xfrm>
            <a:off x="777240" y="401421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docker compose up --scale llm=2</a:t>
            </a:r>
            <a:endParaRPr lang="en-US" sz="1000" dirty="0"/>
          </a:p>
        </p:txBody>
      </p:sp>
      <p:sp>
        <p:nvSpPr>
          <p:cNvPr id="30" name="Shape 26"/>
          <p:cNvSpPr/>
          <p:nvPr/>
        </p:nvSpPr>
        <p:spPr>
          <a:xfrm>
            <a:off x="6108192" y="4014216"/>
            <a:ext cx="5440680" cy="530352"/>
          </a:xfrm>
          <a:prstGeom prst="rect">
            <a:avLst/>
          </a:prstGeom>
          <a:solidFill>
            <a:srgbClr val="FBF1E3"/>
          </a:solidFill>
          <a:ln w="9525">
            <a:solidFill>
              <a:srgbClr val="C9D3E6"/>
            </a:solidFill>
            <a:prstDash val="solid"/>
          </a:ln>
        </p:spPr>
      </p:sp>
      <p:sp>
        <p:nvSpPr>
          <p:cNvPr id="31" name="Text 27"/>
          <p:cNvSpPr/>
          <p:nvPr/>
        </p:nvSpPr>
        <p:spPr>
          <a:xfrm>
            <a:off x="6245352" y="401421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Autoscaler: concurrency-based, bounded by min/max instances</a:t>
            </a:r>
            <a:endParaRPr lang="en-US" sz="1100" dirty="0"/>
          </a:p>
        </p:txBody>
      </p:sp>
      <p:sp>
        <p:nvSpPr>
          <p:cNvPr id="32" name="Shape 28"/>
          <p:cNvSpPr/>
          <p:nvPr/>
        </p:nvSpPr>
        <p:spPr>
          <a:xfrm>
            <a:off x="640080" y="4562856"/>
            <a:ext cx="5394960" cy="530352"/>
          </a:xfrm>
          <a:prstGeom prst="rect">
            <a:avLst/>
          </a:prstGeom>
          <a:solidFill>
            <a:srgbClr val="FFFFFF"/>
          </a:solidFill>
          <a:ln w="9525">
            <a:solidFill>
              <a:srgbClr val="C9D3E6"/>
            </a:solidFill>
            <a:prstDash val="solid"/>
          </a:ln>
        </p:spPr>
      </p:sp>
      <p:sp>
        <p:nvSpPr>
          <p:cNvPr id="33" name="Text 29"/>
          <p:cNvSpPr/>
          <p:nvPr/>
        </p:nvSpPr>
        <p:spPr>
          <a:xfrm>
            <a:off x="777240" y="456285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One host port per replica</a:t>
            </a:r>
            <a:endParaRPr lang="en-US" sz="1000" dirty="0"/>
          </a:p>
        </p:txBody>
      </p:sp>
      <p:sp>
        <p:nvSpPr>
          <p:cNvPr id="34" name="Shape 30"/>
          <p:cNvSpPr/>
          <p:nvPr/>
        </p:nvSpPr>
        <p:spPr>
          <a:xfrm>
            <a:off x="6108192" y="4562856"/>
            <a:ext cx="5440680" cy="530352"/>
          </a:xfrm>
          <a:prstGeom prst="rect">
            <a:avLst/>
          </a:prstGeom>
          <a:solidFill>
            <a:srgbClr val="FFFFFF"/>
          </a:solidFill>
          <a:ln w="9525">
            <a:solidFill>
              <a:srgbClr val="C9D3E6"/>
            </a:solidFill>
            <a:prstDash val="solid"/>
          </a:ln>
        </p:spPr>
      </p:sp>
      <p:sp>
        <p:nvSpPr>
          <p:cNvPr id="35" name="Text 31"/>
          <p:cNvSpPr/>
          <p:nvPr/>
        </p:nvSpPr>
        <p:spPr>
          <a:xfrm>
            <a:off x="6245352" y="456285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Load balancer behind a single service URL</a:t>
            </a:r>
            <a:endParaRPr lang="en-US" sz="1100" dirty="0"/>
          </a:p>
        </p:txBody>
      </p:sp>
      <p:sp>
        <p:nvSpPr>
          <p:cNvPr id="36" name="Shape 32"/>
          <p:cNvSpPr/>
          <p:nvPr/>
        </p:nvSpPr>
        <p:spPr>
          <a:xfrm>
            <a:off x="640080" y="5111496"/>
            <a:ext cx="5394960" cy="530352"/>
          </a:xfrm>
          <a:prstGeom prst="rect">
            <a:avLst/>
          </a:prstGeom>
          <a:solidFill>
            <a:srgbClr val="EEF2FA"/>
          </a:solidFill>
          <a:ln w="9525">
            <a:solidFill>
              <a:srgbClr val="C9D3E6"/>
            </a:solidFill>
            <a:prstDash val="solid"/>
          </a:ln>
        </p:spPr>
      </p:sp>
      <p:sp>
        <p:nvSpPr>
          <p:cNvPr id="37" name="Text 33"/>
          <p:cNvSpPr/>
          <p:nvPr/>
        </p:nvSpPr>
        <p:spPr>
          <a:xfrm>
            <a:off x="777240" y="5111496"/>
            <a:ext cx="5166360" cy="530352"/>
          </a:xfrm>
          <a:prstGeom prst="rect">
            <a:avLst/>
          </a:prstGeom>
          <a:noFill/>
          <a:ln/>
        </p:spPr>
        <p:txBody>
          <a:bodyPr wrap="square" lIns="0" tIns="0" rIns="0" bIns="0" rtlCol="0" anchor="ctr"/>
          <a:lstStyle/>
          <a:p>
            <a:pPr indent="0" marL="0">
              <a:buNone/>
            </a:pPr>
            <a:r>
              <a:rPr lang="en-US" sz="1000" b="1" dirty="0">
                <a:solidFill>
                  <a:srgbClr val="232946"/>
                </a:solidFill>
                <a:latin typeface="Courier New" pitchFamily="34" charset="0"/>
                <a:ea typeface="Courier New" pitchFamily="34" charset="-122"/>
                <a:cs typeface="Courier New" pitchFamily="34" charset="-120"/>
              </a:rPr>
              <a:t>Measured starting → healthy time</a:t>
            </a:r>
            <a:endParaRPr lang="en-US" sz="1000" dirty="0"/>
          </a:p>
        </p:txBody>
      </p:sp>
      <p:sp>
        <p:nvSpPr>
          <p:cNvPr id="38" name="Shape 34"/>
          <p:cNvSpPr/>
          <p:nvPr/>
        </p:nvSpPr>
        <p:spPr>
          <a:xfrm>
            <a:off x="6108192" y="5111496"/>
            <a:ext cx="5440680" cy="530352"/>
          </a:xfrm>
          <a:prstGeom prst="rect">
            <a:avLst/>
          </a:prstGeom>
          <a:solidFill>
            <a:srgbClr val="FBF1E3"/>
          </a:solidFill>
          <a:ln w="9525">
            <a:solidFill>
              <a:srgbClr val="C9D3E6"/>
            </a:solidFill>
            <a:prstDash val="solid"/>
          </a:ln>
        </p:spPr>
      </p:sp>
      <p:sp>
        <p:nvSpPr>
          <p:cNvPr id="39" name="Text 35"/>
          <p:cNvSpPr/>
          <p:nvPr/>
        </p:nvSpPr>
        <p:spPr>
          <a:xfrm>
            <a:off x="6245352" y="5111496"/>
            <a:ext cx="5212080" cy="530352"/>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Scale-from-zero cold-start latency</a:t>
            </a:r>
            <a:endParaRPr lang="en-US" sz="1100" dirty="0"/>
          </a:p>
        </p:txBody>
      </p:sp>
      <p:sp>
        <p:nvSpPr>
          <p:cNvPr id="40" name="Text 36"/>
          <p:cNvSpPr/>
          <p:nvPr/>
        </p:nvSpPr>
        <p:spPr>
          <a:xfrm>
            <a:off x="640080" y="580644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Every discipline practised locally today transfers unchanged; only the operator of the machinery differs.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DELIVERABLES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Evidence to submit at the end of the session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5448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48640" cy="548640"/>
          </a:xfrm>
          <a:prstGeom prst="ellipse">
            <a:avLst/>
          </a:prstGeom>
          <a:solidFill>
            <a:srgbClr val="E8871E"/>
          </a:solidFill>
          <a:ln/>
        </p:spPr>
      </p:sp>
      <p:sp>
        <p:nvSpPr>
          <p:cNvPr id="10" name="Text 6"/>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7"/>
          <p:cNvSpPr/>
          <p:nvPr/>
        </p:nvSpPr>
        <p:spPr>
          <a:xfrm>
            <a:off x="160020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Image evidence</a:t>
            </a:r>
            <a:endParaRPr lang="en-US" sz="1450" dirty="0"/>
          </a:p>
        </p:txBody>
      </p:sp>
      <p:sp>
        <p:nvSpPr>
          <p:cNvPr id="12" name="Text 8"/>
          <p:cNvSpPr/>
          <p:nvPr/>
        </p:nvSpPr>
        <p:spPr>
          <a:xfrm>
            <a:off x="86868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docker images output showing the size of llm-server:v1, together with the timed cached rebuild from Step 1.</a:t>
            </a:r>
            <a:endParaRPr lang="en-US" sz="1100" dirty="0"/>
          </a:p>
        </p:txBody>
      </p:sp>
      <p:sp>
        <p:nvSpPr>
          <p:cNvPr id="13" name="Shape 9"/>
          <p:cNvSpPr/>
          <p:nvPr/>
        </p:nvSpPr>
        <p:spPr>
          <a:xfrm>
            <a:off x="6217920" y="155448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14" name="Shape 10"/>
          <p:cNvSpPr/>
          <p:nvPr/>
        </p:nvSpPr>
        <p:spPr>
          <a:xfrm>
            <a:off x="6446520" y="1783080"/>
            <a:ext cx="548640" cy="548640"/>
          </a:xfrm>
          <a:prstGeom prst="ellipse">
            <a:avLst/>
          </a:prstGeom>
          <a:solidFill>
            <a:srgbClr val="E8871E"/>
          </a:solidFill>
          <a:ln/>
        </p:spPr>
      </p:sp>
      <p:sp>
        <p:nvSpPr>
          <p:cNvPr id="15" name="Text 11"/>
          <p:cNvSpPr/>
          <p:nvPr/>
        </p:nvSpPr>
        <p:spPr>
          <a:xfrm>
            <a:off x="644652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2"/>
          <p:cNvSpPr/>
          <p:nvPr/>
        </p:nvSpPr>
        <p:spPr>
          <a:xfrm>
            <a:off x="717804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Cold-start evidence</a:t>
            </a:r>
            <a:endParaRPr lang="en-US" sz="1450" dirty="0"/>
          </a:p>
        </p:txBody>
      </p:sp>
      <p:sp>
        <p:nvSpPr>
          <p:cNvPr id="17" name="Text 13"/>
          <p:cNvSpPr/>
          <p:nvPr/>
        </p:nvSpPr>
        <p:spPr>
          <a:xfrm>
            <a:off x="644652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 screenshot of docker ps showing the health status transition (health: starting) → (healthy), annotated with the elapsed time measured in Step 2.</a:t>
            </a:r>
            <a:endParaRPr lang="en-US" sz="1100" dirty="0"/>
          </a:p>
        </p:txBody>
      </p:sp>
      <p:sp>
        <p:nvSpPr>
          <p:cNvPr id="18" name="Shape 14"/>
          <p:cNvSpPr/>
          <p:nvPr/>
        </p:nvSpPr>
        <p:spPr>
          <a:xfrm>
            <a:off x="640080" y="379476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9" name="Shape 15"/>
          <p:cNvSpPr/>
          <p:nvPr/>
        </p:nvSpPr>
        <p:spPr>
          <a:xfrm>
            <a:off x="868680" y="4023360"/>
            <a:ext cx="548640" cy="548640"/>
          </a:xfrm>
          <a:prstGeom prst="ellipse">
            <a:avLst/>
          </a:prstGeom>
          <a:solidFill>
            <a:srgbClr val="E8871E"/>
          </a:solidFill>
          <a:ln/>
        </p:spPr>
      </p:sp>
      <p:sp>
        <p:nvSpPr>
          <p:cNvPr id="20" name="Text 16"/>
          <p:cNvSpPr/>
          <p:nvPr/>
        </p:nvSpPr>
        <p:spPr>
          <a:xfrm>
            <a:off x="86868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7"/>
          <p:cNvSpPr/>
          <p:nvPr/>
        </p:nvSpPr>
        <p:spPr>
          <a:xfrm>
            <a:off x="160020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Access-control evidence</a:t>
            </a:r>
            <a:endParaRPr lang="en-US" sz="1450" dirty="0"/>
          </a:p>
        </p:txBody>
      </p:sp>
      <p:sp>
        <p:nvSpPr>
          <p:cNvPr id="22" name="Text 18"/>
          <p:cNvSpPr/>
          <p:nvPr/>
        </p:nvSpPr>
        <p:spPr>
          <a:xfrm>
            <a:off x="86868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captured 401 response for the wrong API key and the 200 response for the correct key from Step 2.</a:t>
            </a:r>
            <a:endParaRPr lang="en-US" sz="1100" dirty="0"/>
          </a:p>
        </p:txBody>
      </p:sp>
      <p:sp>
        <p:nvSpPr>
          <p:cNvPr id="23" name="Shape 19"/>
          <p:cNvSpPr/>
          <p:nvPr/>
        </p:nvSpPr>
        <p:spPr>
          <a:xfrm>
            <a:off x="6217920" y="379476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24" name="Shape 20"/>
          <p:cNvSpPr/>
          <p:nvPr/>
        </p:nvSpPr>
        <p:spPr>
          <a:xfrm>
            <a:off x="6446520" y="4023360"/>
            <a:ext cx="548640" cy="548640"/>
          </a:xfrm>
          <a:prstGeom prst="ellipse">
            <a:avLst/>
          </a:prstGeom>
          <a:solidFill>
            <a:srgbClr val="E8871E"/>
          </a:solidFill>
          <a:ln/>
        </p:spPr>
      </p:sp>
      <p:sp>
        <p:nvSpPr>
          <p:cNvPr id="25" name="Text 21"/>
          <p:cNvSpPr/>
          <p:nvPr/>
        </p:nvSpPr>
        <p:spPr>
          <a:xfrm>
            <a:off x="644652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6" name="Text 22"/>
          <p:cNvSpPr/>
          <p:nvPr/>
        </p:nvSpPr>
        <p:spPr>
          <a:xfrm>
            <a:off x="717804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Scaling evidence &amp; written mapping</a:t>
            </a:r>
            <a:endParaRPr lang="en-US" sz="1450" dirty="0"/>
          </a:p>
        </p:txBody>
      </p:sp>
      <p:sp>
        <p:nvSpPr>
          <p:cNvPr id="27" name="Text 23"/>
          <p:cNvSpPr/>
          <p:nvPr/>
        </p:nvSpPr>
        <p:spPr>
          <a:xfrm>
            <a:off x="644652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docker compose ps output showing two replicas from Step 6, plus a short written paragraph mapping each local practice to its cloud equivalent.</a:t>
            </a:r>
            <a:endParaRPr lang="en-US" sz="1100" dirty="0"/>
          </a:p>
        </p:txBody>
      </p:sp>
      <p:sp>
        <p:nvSpPr>
          <p:cNvPr id="28" name="Text 24"/>
          <p:cNvSpPr/>
          <p:nvPr/>
        </p:nvSpPr>
        <p:spPr>
          <a:xfrm>
            <a:off x="640080" y="594360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Submission closes the lab block; the review block compares measurements across pairs.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PITFALLS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Common failure modes in container packaging</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
        <p:nvSpPr>
          <p:cNvPr id="8" name="Shape 4"/>
          <p:cNvSpPr/>
          <p:nvPr/>
        </p:nvSpPr>
        <p:spPr>
          <a:xfrm>
            <a:off x="640080" y="1508760"/>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691640"/>
            <a:ext cx="384048" cy="384048"/>
          </a:xfrm>
          <a:prstGeom prst="ellipse">
            <a:avLst/>
          </a:prstGeom>
          <a:solidFill>
            <a:srgbClr val="B3402A"/>
          </a:solidFill>
          <a:ln/>
        </p:spPr>
      </p:sp>
      <p:pic>
        <p:nvPicPr>
          <p:cNvPr id="10" name="Image 1" descr="preencoded.png">    </p:cNvPr>
          <p:cNvPicPr>
            <a:picLocks noChangeAspect="1"/>
          </p:cNvPicPr>
          <p:nvPr/>
        </p:nvPicPr>
        <p:blipFill>
          <a:blip r:embed="rId2"/>
          <a:stretch>
            <a:fillRect/>
          </a:stretch>
        </p:blipFill>
        <p:spPr>
          <a:xfrm>
            <a:off x="941100" y="1791492"/>
            <a:ext cx="184343" cy="184343"/>
          </a:xfrm>
          <a:prstGeom prst="rect">
            <a:avLst/>
          </a:prstGeom>
        </p:spPr>
      </p:pic>
      <p:sp>
        <p:nvSpPr>
          <p:cNvPr id="11" name="Text 6"/>
          <p:cNvSpPr/>
          <p:nvPr/>
        </p:nvSpPr>
        <p:spPr>
          <a:xfrm>
            <a:off x="1371600" y="1636776"/>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Building from ':latest'</a:t>
            </a:r>
            <a:endParaRPr lang="en-US" sz="1250" dirty="0"/>
          </a:p>
        </p:txBody>
      </p:sp>
      <p:sp>
        <p:nvSpPr>
          <p:cNvPr id="12" name="Text 7"/>
          <p:cNvSpPr/>
          <p:nvPr/>
        </p:nvSpPr>
        <p:spPr>
          <a:xfrm>
            <a:off x="1371600" y="2057400"/>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base image changes silently between builds and the artifact is no longer reproducible. Pin exact version tags for bases and dependencies alike.</a:t>
            </a:r>
            <a:endParaRPr lang="en-US" sz="1000" dirty="0"/>
          </a:p>
        </p:txBody>
      </p:sp>
      <p:sp>
        <p:nvSpPr>
          <p:cNvPr id="13" name="Shape 8"/>
          <p:cNvSpPr/>
          <p:nvPr/>
        </p:nvSpPr>
        <p:spPr>
          <a:xfrm>
            <a:off x="6217920" y="1508760"/>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14" name="Shape 9"/>
          <p:cNvSpPr/>
          <p:nvPr/>
        </p:nvSpPr>
        <p:spPr>
          <a:xfrm>
            <a:off x="6419088" y="1691640"/>
            <a:ext cx="384048" cy="384048"/>
          </a:xfrm>
          <a:prstGeom prst="ellipse">
            <a:avLst/>
          </a:prstGeom>
          <a:solidFill>
            <a:srgbClr val="B3402A"/>
          </a:solidFill>
          <a:ln/>
        </p:spPr>
      </p:sp>
      <p:pic>
        <p:nvPicPr>
          <p:cNvPr id="15" name="Image 2" descr="preencoded.png">    </p:cNvPr>
          <p:cNvPicPr>
            <a:picLocks noChangeAspect="1"/>
          </p:cNvPicPr>
          <p:nvPr/>
        </p:nvPicPr>
        <p:blipFill>
          <a:blip r:embed="rId3"/>
          <a:stretch>
            <a:fillRect/>
          </a:stretch>
        </p:blipFill>
        <p:spPr>
          <a:xfrm>
            <a:off x="6518940" y="1791492"/>
            <a:ext cx="184343" cy="184343"/>
          </a:xfrm>
          <a:prstGeom prst="rect">
            <a:avLst/>
          </a:prstGeom>
        </p:spPr>
      </p:pic>
      <p:sp>
        <p:nvSpPr>
          <p:cNvPr id="16" name="Text 10"/>
          <p:cNvSpPr/>
          <p:nvPr/>
        </p:nvSpPr>
        <p:spPr>
          <a:xfrm>
            <a:off x="6949440" y="1636776"/>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Secrets baked into images</a:t>
            </a:r>
            <a:endParaRPr lang="en-US" sz="1250" dirty="0"/>
          </a:p>
        </p:txBody>
      </p:sp>
      <p:sp>
        <p:nvSpPr>
          <p:cNvPr id="17" name="Text 11"/>
          <p:cNvSpPr/>
          <p:nvPr/>
        </p:nvSpPr>
        <p:spPr>
          <a:xfrm>
            <a:off x="6949440" y="2057400"/>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Values set at build time remain readable in every layer via docker history — deletion in a later layer does not remove them. Inject secrets at run time only.</a:t>
            </a:r>
            <a:endParaRPr lang="en-US" sz="1000" dirty="0"/>
          </a:p>
        </p:txBody>
      </p:sp>
      <p:sp>
        <p:nvSpPr>
          <p:cNvPr id="18" name="Shape 12"/>
          <p:cNvSpPr/>
          <p:nvPr/>
        </p:nvSpPr>
        <p:spPr>
          <a:xfrm>
            <a:off x="640080" y="3044952"/>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19" name="Shape 13"/>
          <p:cNvSpPr/>
          <p:nvPr/>
        </p:nvSpPr>
        <p:spPr>
          <a:xfrm>
            <a:off x="841248" y="3227832"/>
            <a:ext cx="384048" cy="384048"/>
          </a:xfrm>
          <a:prstGeom prst="ellipse">
            <a:avLst/>
          </a:prstGeom>
          <a:solidFill>
            <a:srgbClr val="B3402A"/>
          </a:solidFill>
          <a:ln/>
        </p:spPr>
      </p:sp>
      <p:pic>
        <p:nvPicPr>
          <p:cNvPr id="20" name="Image 3" descr="preencoded.png">    </p:cNvPr>
          <p:cNvPicPr>
            <a:picLocks noChangeAspect="1"/>
          </p:cNvPicPr>
          <p:nvPr/>
        </p:nvPicPr>
        <p:blipFill>
          <a:blip r:embed="rId4"/>
          <a:stretch>
            <a:fillRect/>
          </a:stretch>
        </p:blipFill>
        <p:spPr>
          <a:xfrm>
            <a:off x="941100" y="3327684"/>
            <a:ext cx="184343" cy="184343"/>
          </a:xfrm>
          <a:prstGeom prst="rect">
            <a:avLst/>
          </a:prstGeom>
        </p:spPr>
      </p:pic>
      <p:sp>
        <p:nvSpPr>
          <p:cNvPr id="21" name="Text 14"/>
          <p:cNvSpPr/>
          <p:nvPr/>
        </p:nvSpPr>
        <p:spPr>
          <a:xfrm>
            <a:off x="1371600" y="3172968"/>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Missing health checks</a:t>
            </a:r>
            <a:endParaRPr lang="en-US" sz="1250" dirty="0"/>
          </a:p>
        </p:txBody>
      </p:sp>
      <p:sp>
        <p:nvSpPr>
          <p:cNvPr id="22" name="Text 15"/>
          <p:cNvSpPr/>
          <p:nvPr/>
        </p:nvSpPr>
        <p:spPr>
          <a:xfrm>
            <a:off x="1371600" y="3593592"/>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platform cannot distinguish 'starting' from 'failed' and routes traffic before readiness; clients receive 503 errors during every deploy and scale-out.</a:t>
            </a:r>
            <a:endParaRPr lang="en-US" sz="1000" dirty="0"/>
          </a:p>
        </p:txBody>
      </p:sp>
      <p:sp>
        <p:nvSpPr>
          <p:cNvPr id="23" name="Shape 16"/>
          <p:cNvSpPr/>
          <p:nvPr/>
        </p:nvSpPr>
        <p:spPr>
          <a:xfrm>
            <a:off x="6217920" y="3044952"/>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24" name="Shape 17"/>
          <p:cNvSpPr/>
          <p:nvPr/>
        </p:nvSpPr>
        <p:spPr>
          <a:xfrm>
            <a:off x="6419088" y="3227832"/>
            <a:ext cx="384048" cy="384048"/>
          </a:xfrm>
          <a:prstGeom prst="ellipse">
            <a:avLst/>
          </a:prstGeom>
          <a:solidFill>
            <a:srgbClr val="B3402A"/>
          </a:solidFill>
          <a:ln/>
        </p:spPr>
      </p:sp>
      <p:pic>
        <p:nvPicPr>
          <p:cNvPr id="25" name="Image 4" descr="preencoded.png">    </p:cNvPr>
          <p:cNvPicPr>
            <a:picLocks noChangeAspect="1"/>
          </p:cNvPicPr>
          <p:nvPr/>
        </p:nvPicPr>
        <p:blipFill>
          <a:blip r:embed="rId5"/>
          <a:stretch>
            <a:fillRect/>
          </a:stretch>
        </p:blipFill>
        <p:spPr>
          <a:xfrm>
            <a:off x="6518940" y="3327684"/>
            <a:ext cx="184343" cy="184343"/>
          </a:xfrm>
          <a:prstGeom prst="rect">
            <a:avLst/>
          </a:prstGeom>
        </p:spPr>
      </p:pic>
      <p:sp>
        <p:nvSpPr>
          <p:cNvPr id="26" name="Text 18"/>
          <p:cNvSpPr/>
          <p:nvPr/>
        </p:nvSpPr>
        <p:spPr>
          <a:xfrm>
            <a:off x="6949440" y="3172968"/>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Unbounded or undersized memory</a:t>
            </a:r>
            <a:endParaRPr lang="en-US" sz="1250" dirty="0"/>
          </a:p>
        </p:txBody>
      </p:sp>
      <p:sp>
        <p:nvSpPr>
          <p:cNvPr id="27" name="Text 19"/>
          <p:cNvSpPr/>
          <p:nvPr/>
        </p:nvSpPr>
        <p:spPr>
          <a:xfrm>
            <a:off x="6949440" y="3593592"/>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No limit conceals the true footprint; an undersized limit produces OOM terminations (exit 137) and restart loops. Right-size from measured consumption.</a:t>
            </a:r>
            <a:endParaRPr lang="en-US" sz="1000" dirty="0"/>
          </a:p>
        </p:txBody>
      </p:sp>
      <p:sp>
        <p:nvSpPr>
          <p:cNvPr id="28" name="Shape 20"/>
          <p:cNvSpPr/>
          <p:nvPr/>
        </p:nvSpPr>
        <p:spPr>
          <a:xfrm>
            <a:off x="640080" y="4581144"/>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29" name="Shape 21"/>
          <p:cNvSpPr/>
          <p:nvPr/>
        </p:nvSpPr>
        <p:spPr>
          <a:xfrm>
            <a:off x="841248" y="4764024"/>
            <a:ext cx="384048" cy="384048"/>
          </a:xfrm>
          <a:prstGeom prst="ellipse">
            <a:avLst/>
          </a:prstGeom>
          <a:solidFill>
            <a:srgbClr val="B3402A"/>
          </a:solidFill>
          <a:ln/>
        </p:spPr>
      </p:sp>
      <p:pic>
        <p:nvPicPr>
          <p:cNvPr id="30" name="Image 5" descr="preencoded.png">    </p:cNvPr>
          <p:cNvPicPr>
            <a:picLocks noChangeAspect="1"/>
          </p:cNvPicPr>
          <p:nvPr/>
        </p:nvPicPr>
        <p:blipFill>
          <a:blip r:embed="rId6"/>
          <a:stretch>
            <a:fillRect/>
          </a:stretch>
        </p:blipFill>
        <p:spPr>
          <a:xfrm>
            <a:off x="941100" y="4863876"/>
            <a:ext cx="184343" cy="184343"/>
          </a:xfrm>
          <a:prstGeom prst="rect">
            <a:avLst/>
          </a:prstGeom>
        </p:spPr>
      </p:pic>
      <p:sp>
        <p:nvSpPr>
          <p:cNvPr id="31" name="Text 22"/>
          <p:cNvSpPr/>
          <p:nvPr/>
        </p:nvSpPr>
        <p:spPr>
          <a:xfrm>
            <a:off x="1371600" y="4709160"/>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Dependency layer invalidated by code</a:t>
            </a:r>
            <a:endParaRPr lang="en-US" sz="1250" dirty="0"/>
          </a:p>
        </p:txBody>
      </p:sp>
      <p:sp>
        <p:nvSpPr>
          <p:cNvPr id="32" name="Text 23"/>
          <p:cNvSpPr/>
          <p:nvPr/>
        </p:nvSpPr>
        <p:spPr>
          <a:xfrm>
            <a:off x="1371600" y="5129784"/>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Copying application code before requirements re-runs the full dependency install on every edit. Order layers from most stable to most volatile.</a:t>
            </a:r>
            <a:endParaRPr lang="en-US" sz="1000" dirty="0"/>
          </a:p>
        </p:txBody>
      </p:sp>
      <p:sp>
        <p:nvSpPr>
          <p:cNvPr id="33" name="Shape 24"/>
          <p:cNvSpPr/>
          <p:nvPr/>
        </p:nvSpPr>
        <p:spPr>
          <a:xfrm>
            <a:off x="6217920" y="4581144"/>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34" name="Shape 25"/>
          <p:cNvSpPr/>
          <p:nvPr/>
        </p:nvSpPr>
        <p:spPr>
          <a:xfrm>
            <a:off x="6419088" y="4764024"/>
            <a:ext cx="384048" cy="384048"/>
          </a:xfrm>
          <a:prstGeom prst="ellipse">
            <a:avLst/>
          </a:prstGeom>
          <a:solidFill>
            <a:srgbClr val="B3402A"/>
          </a:solidFill>
          <a:ln/>
        </p:spPr>
      </p:sp>
      <p:pic>
        <p:nvPicPr>
          <p:cNvPr id="35" name="Image 6" descr="preencoded.png">    </p:cNvPr>
          <p:cNvPicPr>
            <a:picLocks noChangeAspect="1"/>
          </p:cNvPicPr>
          <p:nvPr/>
        </p:nvPicPr>
        <p:blipFill>
          <a:blip r:embed="rId7"/>
          <a:stretch>
            <a:fillRect/>
          </a:stretch>
        </p:blipFill>
        <p:spPr>
          <a:xfrm>
            <a:off x="6518940" y="4863876"/>
            <a:ext cx="184343" cy="184343"/>
          </a:xfrm>
          <a:prstGeom prst="rect">
            <a:avLst/>
          </a:prstGeom>
        </p:spPr>
      </p:pic>
      <p:sp>
        <p:nvSpPr>
          <p:cNvPr id="36" name="Text 26"/>
          <p:cNvSpPr/>
          <p:nvPr/>
        </p:nvSpPr>
        <p:spPr>
          <a:xfrm>
            <a:off x="6949440" y="4709160"/>
            <a:ext cx="4480560" cy="5029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Ignoring image size</a:t>
            </a:r>
            <a:endParaRPr lang="en-US" sz="1250" dirty="0"/>
          </a:p>
        </p:txBody>
      </p:sp>
      <p:sp>
        <p:nvSpPr>
          <p:cNvPr id="37" name="Text 27"/>
          <p:cNvSpPr/>
          <p:nvPr/>
        </p:nvSpPr>
        <p:spPr>
          <a:xfrm>
            <a:off x="6949440" y="5129784"/>
            <a:ext cx="4480560" cy="77724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Oversized images slow every pull, lengthen cold starts and delay scale-out. Use slim bases, CPU-only wheels where applicable, and a strict .dockerignore.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10058400" y="-1463040"/>
            <a:ext cx="4206240" cy="4206240"/>
          </a:xfrm>
          <a:prstGeom prst="ellipse">
            <a:avLst/>
          </a:prstGeom>
          <a:solidFill>
            <a:srgbClr val="2E3554"/>
          </a:solidFill>
          <a:ln/>
        </p:spPr>
      </p:sp>
      <p:sp>
        <p:nvSpPr>
          <p:cNvPr id="3" name="Shape 1"/>
          <p:cNvSpPr/>
          <p:nvPr/>
        </p:nvSpPr>
        <p:spPr>
          <a:xfrm>
            <a:off x="685800" y="502920"/>
            <a:ext cx="640080" cy="640080"/>
          </a:xfrm>
          <a:prstGeom prst="ellipse">
            <a:avLst/>
          </a:prstGeom>
          <a:solidFill>
            <a:srgbClr val="E8871E"/>
          </a:solidFill>
          <a:ln/>
        </p:spPr>
      </p:sp>
      <p:pic>
        <p:nvPicPr>
          <p:cNvPr id="4" name="Image 0" descr="preencoded.png">    </p:cNvPr>
          <p:cNvPicPr>
            <a:picLocks noChangeAspect="1"/>
          </p:cNvPicPr>
          <p:nvPr/>
        </p:nvPicPr>
        <p:blipFill>
          <a:blip r:embed="rId1"/>
          <a:stretch>
            <a:fillRect/>
          </a:stretch>
        </p:blipFill>
        <p:spPr>
          <a:xfrm>
            <a:off x="852221" y="669341"/>
            <a:ext cx="307238" cy="307238"/>
          </a:xfrm>
          <a:prstGeom prst="rect">
            <a:avLst/>
          </a:prstGeom>
        </p:spPr>
      </p:pic>
      <p:sp>
        <p:nvSpPr>
          <p:cNvPr id="5" name="Text 2"/>
          <p:cNvSpPr/>
          <p:nvPr/>
        </p:nvSpPr>
        <p:spPr>
          <a:xfrm>
            <a:off x="1554480" y="566928"/>
            <a:ext cx="7315200" cy="320040"/>
          </a:xfrm>
          <a:prstGeom prst="rect">
            <a:avLst/>
          </a:prstGeom>
          <a:noFill/>
          <a:ln/>
        </p:spPr>
        <p:txBody>
          <a:bodyPr wrap="square" lIns="0" tIns="0" rIns="0" bIns="0" rtlCol="0" anchor="ctr"/>
          <a:lstStyle/>
          <a:p>
            <a:pPr indent="0" marL="0">
              <a:buNone/>
            </a:pPr>
            <a:r>
              <a:rPr lang="en-US" sz="1200" b="1" spc="200" kern="0" dirty="0">
                <a:solidFill>
                  <a:srgbClr val="E8871E"/>
                </a:solidFill>
                <a:latin typeface="Arial" pitchFamily="34" charset="0"/>
                <a:ea typeface="Arial" pitchFamily="34" charset="-122"/>
                <a:cs typeface="Arial" pitchFamily="34" charset="-120"/>
              </a:rPr>
              <a:t>SESSION 2 · RECAP</a:t>
            </a:r>
            <a:endParaRPr lang="en-US" sz="1200" dirty="0"/>
          </a:p>
        </p:txBody>
      </p:sp>
      <p:sp>
        <p:nvSpPr>
          <p:cNvPr id="6" name="Text 3"/>
          <p:cNvSpPr/>
          <p:nvPr/>
        </p:nvSpPr>
        <p:spPr>
          <a:xfrm>
            <a:off x="1536192" y="8229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Capabilities established today</a:t>
            </a:r>
            <a:endParaRPr lang="en-US" sz="2600" dirty="0"/>
          </a:p>
        </p:txBody>
      </p:sp>
      <p:sp>
        <p:nvSpPr>
          <p:cNvPr id="7" name="Shape 4"/>
          <p:cNvSpPr/>
          <p:nvPr/>
        </p:nvSpPr>
        <p:spPr>
          <a:xfrm>
            <a:off x="685800" y="1691640"/>
            <a:ext cx="7040880" cy="676656"/>
          </a:xfrm>
          <a:prstGeom prst="roundRect">
            <a:avLst>
              <a:gd name="adj" fmla="val 10811"/>
            </a:avLst>
          </a:prstGeom>
          <a:solidFill>
            <a:srgbClr val="2E3554"/>
          </a:solidFill>
          <a:ln/>
        </p:spPr>
      </p:sp>
      <p:pic>
        <p:nvPicPr>
          <p:cNvPr id="8" name="Image 1" descr="preencoded.png">    </p:cNvPr>
          <p:cNvPicPr>
            <a:picLocks noChangeAspect="1"/>
          </p:cNvPicPr>
          <p:nvPr/>
        </p:nvPicPr>
        <p:blipFill>
          <a:blip r:embed="rId2"/>
          <a:stretch>
            <a:fillRect/>
          </a:stretch>
        </p:blipFill>
        <p:spPr>
          <a:xfrm>
            <a:off x="914400" y="1892808"/>
            <a:ext cx="274320" cy="274320"/>
          </a:xfrm>
          <a:prstGeom prst="rect">
            <a:avLst/>
          </a:prstGeom>
        </p:spPr>
      </p:pic>
      <p:sp>
        <p:nvSpPr>
          <p:cNvPr id="9" name="Text 5"/>
          <p:cNvSpPr/>
          <p:nvPr/>
        </p:nvSpPr>
        <p:spPr>
          <a:xfrm>
            <a:off x="1371600" y="1691640"/>
            <a:ext cx="210312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Package</a:t>
            </a:r>
            <a:endParaRPr lang="en-US" sz="1300" dirty="0"/>
          </a:p>
        </p:txBody>
      </p:sp>
      <p:sp>
        <p:nvSpPr>
          <p:cNvPr id="10" name="Text 6"/>
          <p:cNvSpPr/>
          <p:nvPr/>
        </p:nvSpPr>
        <p:spPr>
          <a:xfrm>
            <a:off x="3520440" y="1691640"/>
            <a:ext cx="411480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Dockerfile discipline: pinned slim bases, layer ordering for cache efficiency, CPU-only wheels, non-root user, HEALTHCHECK.</a:t>
            </a:r>
            <a:endParaRPr lang="en-US" sz="1050" dirty="0"/>
          </a:p>
        </p:txBody>
      </p:sp>
      <p:sp>
        <p:nvSpPr>
          <p:cNvPr id="11" name="Shape 7"/>
          <p:cNvSpPr/>
          <p:nvPr/>
        </p:nvSpPr>
        <p:spPr>
          <a:xfrm>
            <a:off x="685800" y="2496312"/>
            <a:ext cx="7040880" cy="676656"/>
          </a:xfrm>
          <a:prstGeom prst="roundRect">
            <a:avLst>
              <a:gd name="adj" fmla="val 10811"/>
            </a:avLst>
          </a:prstGeom>
          <a:solidFill>
            <a:srgbClr val="2E3554"/>
          </a:solidFill>
          <a:ln/>
        </p:spPr>
      </p:sp>
      <p:pic>
        <p:nvPicPr>
          <p:cNvPr id="12" name="Image 2" descr="preencoded.png">    </p:cNvPr>
          <p:cNvPicPr>
            <a:picLocks noChangeAspect="1"/>
          </p:cNvPicPr>
          <p:nvPr/>
        </p:nvPicPr>
        <p:blipFill>
          <a:blip r:embed="rId3"/>
          <a:stretch>
            <a:fillRect/>
          </a:stretch>
        </p:blipFill>
        <p:spPr>
          <a:xfrm>
            <a:off x="914400" y="2697480"/>
            <a:ext cx="274320" cy="274320"/>
          </a:xfrm>
          <a:prstGeom prst="rect">
            <a:avLst/>
          </a:prstGeom>
        </p:spPr>
      </p:pic>
      <p:sp>
        <p:nvSpPr>
          <p:cNvPr id="13" name="Text 8"/>
          <p:cNvSpPr/>
          <p:nvPr/>
        </p:nvSpPr>
        <p:spPr>
          <a:xfrm>
            <a:off x="1371600" y="2496312"/>
            <a:ext cx="210312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Secure</a:t>
            </a:r>
            <a:endParaRPr lang="en-US" sz="1300" dirty="0"/>
          </a:p>
        </p:txBody>
      </p:sp>
      <p:sp>
        <p:nvSpPr>
          <p:cNvPr id="14" name="Text 9"/>
          <p:cNvSpPr/>
          <p:nvPr/>
        </p:nvSpPr>
        <p:spPr>
          <a:xfrm>
            <a:off x="3520440" y="2496312"/>
            <a:ext cx="411480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 secrets in images or git; runtime injection; image scanning, SBOMs and a minimal attack surface.</a:t>
            </a:r>
            <a:endParaRPr lang="en-US" sz="1050" dirty="0"/>
          </a:p>
        </p:txBody>
      </p:sp>
      <p:sp>
        <p:nvSpPr>
          <p:cNvPr id="15" name="Shape 10"/>
          <p:cNvSpPr/>
          <p:nvPr/>
        </p:nvSpPr>
        <p:spPr>
          <a:xfrm>
            <a:off x="685800" y="3300984"/>
            <a:ext cx="7040880" cy="676656"/>
          </a:xfrm>
          <a:prstGeom prst="roundRect">
            <a:avLst>
              <a:gd name="adj" fmla="val 10811"/>
            </a:avLst>
          </a:prstGeom>
          <a:solidFill>
            <a:srgbClr val="2E3554"/>
          </a:solidFill>
          <a:ln/>
        </p:spPr>
      </p:sp>
      <p:pic>
        <p:nvPicPr>
          <p:cNvPr id="16" name="Image 3" descr="preencoded.png">    </p:cNvPr>
          <p:cNvPicPr>
            <a:picLocks noChangeAspect="1"/>
          </p:cNvPicPr>
          <p:nvPr/>
        </p:nvPicPr>
        <p:blipFill>
          <a:blip r:embed="rId4"/>
          <a:stretch>
            <a:fillRect/>
          </a:stretch>
        </p:blipFill>
        <p:spPr>
          <a:xfrm>
            <a:off x="914400" y="3502152"/>
            <a:ext cx="274320" cy="274320"/>
          </a:xfrm>
          <a:prstGeom prst="rect">
            <a:avLst/>
          </a:prstGeom>
        </p:spPr>
      </p:pic>
      <p:sp>
        <p:nvSpPr>
          <p:cNvPr id="17" name="Text 11"/>
          <p:cNvSpPr/>
          <p:nvPr/>
        </p:nvSpPr>
        <p:spPr>
          <a:xfrm>
            <a:off x="1371600" y="3300984"/>
            <a:ext cx="210312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Operate</a:t>
            </a:r>
            <a:endParaRPr lang="en-US" sz="1300" dirty="0"/>
          </a:p>
        </p:txBody>
      </p:sp>
      <p:sp>
        <p:nvSpPr>
          <p:cNvPr id="18" name="Text 12"/>
          <p:cNvSpPr/>
          <p:nvPr/>
        </p:nvSpPr>
        <p:spPr>
          <a:xfrm>
            <a:off x="3520440" y="3300984"/>
            <a:ext cx="411480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Health status observation, resource limits, and right-sizing from measured consumption.</a:t>
            </a:r>
            <a:endParaRPr lang="en-US" sz="1050" dirty="0"/>
          </a:p>
        </p:txBody>
      </p:sp>
      <p:sp>
        <p:nvSpPr>
          <p:cNvPr id="19" name="Shape 13"/>
          <p:cNvSpPr/>
          <p:nvPr/>
        </p:nvSpPr>
        <p:spPr>
          <a:xfrm>
            <a:off x="685800" y="4105656"/>
            <a:ext cx="7040880" cy="676656"/>
          </a:xfrm>
          <a:prstGeom prst="roundRect">
            <a:avLst>
              <a:gd name="adj" fmla="val 10811"/>
            </a:avLst>
          </a:prstGeom>
          <a:solidFill>
            <a:srgbClr val="2E3554"/>
          </a:solidFill>
          <a:ln/>
        </p:spPr>
      </p:sp>
      <p:pic>
        <p:nvPicPr>
          <p:cNvPr id="20" name="Image 4" descr="preencoded.png">    </p:cNvPr>
          <p:cNvPicPr>
            <a:picLocks noChangeAspect="1"/>
          </p:cNvPicPr>
          <p:nvPr/>
        </p:nvPicPr>
        <p:blipFill>
          <a:blip r:embed="rId5"/>
          <a:stretch>
            <a:fillRect/>
          </a:stretch>
        </p:blipFill>
        <p:spPr>
          <a:xfrm>
            <a:off x="914400" y="4306824"/>
            <a:ext cx="274320" cy="274320"/>
          </a:xfrm>
          <a:prstGeom prst="rect">
            <a:avLst/>
          </a:prstGeom>
        </p:spPr>
      </p:pic>
      <p:sp>
        <p:nvSpPr>
          <p:cNvPr id="21" name="Text 14"/>
          <p:cNvSpPr/>
          <p:nvPr/>
        </p:nvSpPr>
        <p:spPr>
          <a:xfrm>
            <a:off x="1371600" y="4105656"/>
            <a:ext cx="210312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Scale</a:t>
            </a:r>
            <a:endParaRPr lang="en-US" sz="1300" dirty="0"/>
          </a:p>
        </p:txBody>
      </p:sp>
      <p:sp>
        <p:nvSpPr>
          <p:cNvPr id="22" name="Text 15"/>
          <p:cNvSpPr/>
          <p:nvPr/>
        </p:nvSpPr>
        <p:spPr>
          <a:xfrm>
            <a:off x="3520440" y="4105656"/>
            <a:ext cx="411480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Replicas and their memory cost; manual scaling as the mechanism cloud autoscalers automate.</a:t>
            </a:r>
            <a:endParaRPr lang="en-US" sz="1050" dirty="0"/>
          </a:p>
        </p:txBody>
      </p:sp>
      <p:sp>
        <p:nvSpPr>
          <p:cNvPr id="23" name="Shape 16"/>
          <p:cNvSpPr/>
          <p:nvPr/>
        </p:nvSpPr>
        <p:spPr>
          <a:xfrm>
            <a:off x="685800" y="4910328"/>
            <a:ext cx="7040880" cy="676656"/>
          </a:xfrm>
          <a:prstGeom prst="roundRect">
            <a:avLst>
              <a:gd name="adj" fmla="val 10811"/>
            </a:avLst>
          </a:prstGeom>
          <a:solidFill>
            <a:srgbClr val="2E3554"/>
          </a:solidFill>
          <a:ln/>
        </p:spPr>
      </p:sp>
      <p:pic>
        <p:nvPicPr>
          <p:cNvPr id="24" name="Image 5" descr="preencoded.png">    </p:cNvPr>
          <p:cNvPicPr>
            <a:picLocks noChangeAspect="1"/>
          </p:cNvPicPr>
          <p:nvPr/>
        </p:nvPicPr>
        <p:blipFill>
          <a:blip r:embed="rId6"/>
          <a:stretch>
            <a:fillRect/>
          </a:stretch>
        </p:blipFill>
        <p:spPr>
          <a:xfrm>
            <a:off x="914400" y="5111496"/>
            <a:ext cx="274320" cy="274320"/>
          </a:xfrm>
          <a:prstGeom prst="rect">
            <a:avLst/>
          </a:prstGeom>
        </p:spPr>
      </p:pic>
      <p:sp>
        <p:nvSpPr>
          <p:cNvPr id="25" name="Text 17"/>
          <p:cNvSpPr/>
          <p:nvPr/>
        </p:nvSpPr>
        <p:spPr>
          <a:xfrm>
            <a:off x="1371600" y="4910328"/>
            <a:ext cx="210312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Map to cloud</a:t>
            </a:r>
            <a:endParaRPr lang="en-US" sz="1300" dirty="0"/>
          </a:p>
        </p:txBody>
      </p:sp>
      <p:sp>
        <p:nvSpPr>
          <p:cNvPr id="26" name="Text 18"/>
          <p:cNvSpPr/>
          <p:nvPr/>
        </p:nvSpPr>
        <p:spPr>
          <a:xfrm>
            <a:off x="3520440" y="4910328"/>
            <a:ext cx="411480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Managed runtimes, probes, secret managers and autoscaling economics — understood in theory, ready for practice.</a:t>
            </a:r>
            <a:endParaRPr lang="en-US" sz="1050" dirty="0"/>
          </a:p>
        </p:txBody>
      </p:sp>
      <p:sp>
        <p:nvSpPr>
          <p:cNvPr id="27" name="Shape 19"/>
          <p:cNvSpPr/>
          <p:nvPr/>
        </p:nvSpPr>
        <p:spPr>
          <a:xfrm>
            <a:off x="8092440" y="1691640"/>
            <a:ext cx="3429000" cy="4023360"/>
          </a:xfrm>
          <a:prstGeom prst="roundRect">
            <a:avLst>
              <a:gd name="adj" fmla="val 2400"/>
            </a:avLst>
          </a:prstGeom>
          <a:solidFill>
            <a:srgbClr val="2E3554"/>
          </a:solidFill>
          <a:ln/>
          <a:effectLst>
            <a:outerShdw sx="100000" sy="100000" kx="0" ky="0" algn="bl" rotWithShape="0" blurRad="76200" dist="25400" dir="5400000">
              <a:srgbClr val="9AA4B8">
                <a:alpha val="35000"/>
              </a:srgbClr>
            </a:outerShdw>
          </a:effectLst>
        </p:spPr>
      </p:sp>
      <p:sp>
        <p:nvSpPr>
          <p:cNvPr id="28" name="Text 20"/>
          <p:cNvSpPr/>
          <p:nvPr/>
        </p:nvSpPr>
        <p:spPr>
          <a:xfrm>
            <a:off x="8321040" y="1874520"/>
            <a:ext cx="2926080" cy="320040"/>
          </a:xfrm>
          <a:prstGeom prst="rect">
            <a:avLst/>
          </a:prstGeom>
          <a:noFill/>
          <a:ln/>
        </p:spPr>
        <p:txBody>
          <a:bodyPr wrap="square" lIns="0" tIns="0" rIns="0" bIns="0" rtlCol="0" anchor="ctr"/>
          <a:lstStyle/>
          <a:p>
            <a:pPr indent="0" marL="0">
              <a:buNone/>
            </a:pPr>
            <a:r>
              <a:rPr lang="en-US" sz="1200" b="1" spc="150" kern="0" dirty="0">
                <a:solidFill>
                  <a:srgbClr val="E8871E"/>
                </a:solidFill>
                <a:latin typeface="Arial" pitchFamily="34" charset="0"/>
                <a:ea typeface="Arial" pitchFamily="34" charset="-122"/>
                <a:cs typeface="Arial" pitchFamily="34" charset="-120"/>
              </a:rPr>
              <a:t>Next session</a:t>
            </a:r>
            <a:endParaRPr lang="en-US" sz="1200" dirty="0"/>
          </a:p>
        </p:txBody>
      </p:sp>
      <p:sp>
        <p:nvSpPr>
          <p:cNvPr id="29" name="Text 21"/>
          <p:cNvSpPr/>
          <p:nvPr/>
        </p:nvSpPr>
        <p:spPr>
          <a:xfrm>
            <a:off x="8321040" y="2194560"/>
            <a:ext cx="3017520" cy="6858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CI/CD with Evaluation Gates</a:t>
            </a:r>
            <a:endParaRPr lang="en-US" sz="1700" dirty="0"/>
          </a:p>
        </p:txBody>
      </p:sp>
      <p:sp>
        <p:nvSpPr>
          <p:cNvPr id="30" name="Text 22"/>
          <p:cNvSpPr/>
          <p:nvPr/>
        </p:nvSpPr>
        <p:spPr>
          <a:xfrm>
            <a:off x="8321040" y="2926080"/>
            <a:ext cx="3017520" cy="17373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Today's build and verification steps were performed manually. Session 3 automates them: every commit builds the image, runs evaluation gates, releases through a canary deployment, and rolls back automatically on regression.</a:t>
            </a:r>
            <a:endParaRPr lang="en-US" sz="1150" dirty="0"/>
          </a:p>
        </p:txBody>
      </p:sp>
      <p:sp>
        <p:nvSpPr>
          <p:cNvPr id="31" name="Text 23"/>
          <p:cNvSpPr/>
          <p:nvPr/>
        </p:nvSpPr>
        <p:spPr>
          <a:xfrm>
            <a:off x="8321040" y="4800600"/>
            <a:ext cx="3017520" cy="822960"/>
          </a:xfrm>
          <a:prstGeom prst="rect">
            <a:avLst/>
          </a:prstGeom>
          <a:noFill/>
          <a:ln/>
        </p:spPr>
        <p:txBody>
          <a:bodyPr wrap="square" lIns="0" tIns="0" rIns="0" bIns="0" rtlCol="0" anchor="ctr"/>
          <a:lstStyle/>
          <a:p>
            <a:pPr indent="0" marL="0">
              <a:buNone/>
            </a:pPr>
            <a:r>
              <a:rPr lang="en-US" sz="1150" i="1" dirty="0">
                <a:solidFill>
                  <a:srgbClr val="F5B971"/>
                </a:solidFill>
                <a:latin typeface="Calibri" pitchFamily="34" charset="0"/>
                <a:ea typeface="Calibri" pitchFamily="34" charset="-122"/>
                <a:cs typeface="Calibri" pitchFamily="34" charset="-120"/>
              </a:rPr>
              <a:t>Retain the lab02 directory and the built image — Session 3's pipeline builds directly on them.</a:t>
            </a:r>
            <a:endParaRPr lang="en-US" sz="1150" dirty="0"/>
          </a:p>
        </p:txBody>
      </p:sp>
      <p:sp>
        <p:nvSpPr>
          <p:cNvPr id="32" name="Text 24"/>
          <p:cNvSpPr/>
          <p:nvPr/>
        </p:nvSpPr>
        <p:spPr>
          <a:xfrm>
            <a:off x="685800" y="6355080"/>
            <a:ext cx="8229600" cy="274320"/>
          </a:xfrm>
          <a:prstGeom prst="rect">
            <a:avLst/>
          </a:prstGeom>
          <a:noFill/>
          <a:ln/>
        </p:spPr>
        <p:txBody>
          <a:bodyPr wrap="square" lIns="0" tIns="0" rIns="0" bIns="0" rtlCol="0" anchor="ctr"/>
          <a:lstStyle/>
          <a:p>
            <a:pPr indent="0" marL="0">
              <a:buNone/>
            </a:pPr>
            <a:r>
              <a:rPr lang="en-US" sz="900" dirty="0">
                <a:solidFill>
                  <a:srgbClr val="9AA7C7"/>
                </a:solidFill>
                <a:latin typeface="Calibri" pitchFamily="34" charset="0"/>
                <a:ea typeface="Calibri" pitchFamily="34" charset="-122"/>
                <a:cs typeface="Calibri" pitchFamily="34" charset="-120"/>
              </a:rPr>
              <a:t>EXL AI Services · Track 2.A · Session 2 — Containers &amp; Cloud Deployment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2026-07-22T05:07:10Z</dcterms:created>
  <dcterms:modified xsi:type="dcterms:W3CDTF">2026-07-22T05:07:10Z</dcterms:modified>
</cp:coreProperties>
</file>