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to Session 8. Session 7 made the provider a routing decision behind a LiteLLM proxy. Today ClaimAssist v3 addresses the knowledge problem: the model cannot answer policy questions it was never trained on, and worse, it will confidently invent answers. Retrieval-augmented generation grounds every answer in the actual policy documents, and the product surfaces evidence — clause-id citations, a retrieval-derived confidence level, and an explicit honest state when the corpus has no answer. The second theme is multimodal intake: a vision-capable model extracts structured fields from uploaded claim documents, with a deliberately designed local fallback because the 0.5B lab model is text-only. Everything runs locally; a cloud key upgrades intake to real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Theory covers why product features need retrieval (frozen knowledge, hallucination risk), the eight-stage RAG pipeline mapped to the actual lab files, clause-level chunking as a citation strategy, the grounded prompt with its NOT_IN_POLICY escape, citation extraction and rendering, confidence from retrieval distance, and multimodal intake with a capability-aware local fallback. The lab ingests the policies, proves a cited answer for CLM-1003, runs the honesty test, watches confidence drop on vague questions, exercises the UI and the upload tab, and ties faithfulness back to the Session 3 promptfoo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continuing-product slide. v2 (Session 7): two UIs, the API, the LiteLLM proxy, local model with optional cloud exits — answers grounded only in the selected claim record. v3 adds three things, marked NEW: a RAG store (chromadb over the clause-chunked policy documents, embedded in the API process), citations + confidence + the honest not-found state on /ask, and a multimodal /intake endpoint. Emphasise what did NOT change: the proxy tier, the model tier, the ports, the data files. Sessions compose — each layer keeps its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failures that no amount of prompting fixes. Frozen knowledge: the model's parameters were fixed at training time — it has never seen your policy documents, this quarter's clause revisions, or any private corpus; fine-tuning is slow, expensive and wrong for content that changes. Hallucination risk: an LLM is trained to continue plausibly, so when it lacks the answer it produces something answer-shaped; in most domains that is embarrassing, in insurance a fabricated clause is actionable harm — a customer decision, an audit finding, a regulatory exposure. Ask the room: what happens when ClaimAssist invents 'clause M-9.9' in a rejection dispute?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fix before the pipeline. Closed-book: the model answers from parameters alone — no source, no traceability, hallucination on out-of-knowledge questions. Open-book: the application retrieves the relevant passages at request time and instructs the model to answer ONLY from them. Three consequences follow: updating knowledge becomes re-ingesting documents (minutes, not a training run); answers become attributable because the context is known and numbered; and refusal becomes possible because 'not in the provided context' is now a checkable condition. Session 6 already grounded /ask in one claim record — RAG generalises that to a corpus with search in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eight stages twice: once as concepts, once as the file and function that implements each. Ingest and chunk live in rag/ingest.py; the chunk boundary is the clause regex. Embed and store: chromadb's default ONNX embedding model writes a persistent index under rag/chroma with metadata {doc, clause_id}. Retrieve, ground, generate, cite live in api/app.py: retrieve_clauses pulls the top-4, build_grounded_messages assembles the numbered context, call_llm goes through the LiteLLM proxy from Session 7 unchanged, and extract_citations turns bracketed ids back into verified evidence objects. Stress the symmetry: citations only work because chunking made clause ids the unit of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decision of the session. Fixed-size chunking (500 chars, 50 overlap) is the generic default: it works on any text but cuts clauses in half and merges neighbours, so a citation can only say 'somewhere in chunk 7'. Clause chunking exploits document structure: one chunk per numbered clause means chunk id = clause id = citation unit — [M-2.3] resolves to one quotable passage, which is what regulatory traceability demands (rejection letters legally cite clauses; the AI must match that grain). Trade-offs are real: it requires structured documents, a corpus-specific splitter, and a very long clause can exceed the chunk budget. Generalise: contracts by clause, manuals by procedure step, tickets by field — the domain defines the retrieval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actual lab file. The clause regex anchors on line starts: prefix letter, dotted number, short title, colon — everything until the next clause or section heading belongs to that chunk. PersistentClient writes the index to rag/chroma so the API container can mount and query the same directory. Delete-then-recreate makes the script idempotent — stale chunks from an edited document are a silent correctness bug, so rebuilds are total. No embedding_function argument means chromadb's default ONNX MiniLM model, downloaded once (~80 MB) and cached. The ids are the clause ids — that single line is what makes citations resolvable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artefact of the session, from api/app.py verbatim. Three instructions in priority order: ONLY from the numbered context (grounding beats the model's training data and its urge to help beyond its evidence); cite clause ids in brackets (machine-parseable — the API regexes them out); and the escape hatch — if the answer is not present, reply exactly NOT_IN_POLICY. Without an explicit escape, a model asked about pet insurance will invent a pet-insurance clause, because refusing was never made an option. Downstream the API converts NOT_IN_POLICY into a structured honest response: fixed answer text, empty citations, low confidence, not_found true. Refusal is a designed, testable product state — in insurance it is the difference between a feature and a 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Post-processing turns bracketed ids into evidence objects. The regex finds every [X-n.n]; dict.fromkeys deduplicates preserving order. Each id must resolve to a stored chunk: first against the retrieved top-4, then a direct store lookup for legitimate citations outside the retrieval window — and an id matching NO chunk is dropped, which is itself a faithfulness signal worth logging. Each citation carries clause_id, source doc and a 200-character snippet: enough for a human to verify without opening the source. The UI renders them as expander chips — collapsed evidence handles under the answer, clause text inside — and badges confidence beside them. The contract: a cited clause is always a real clause; the model cannot fabricate evidence past the post-processor.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v3 derives its confidence field. The retrieval query returns a distance per chunk (L2 over MiniLM embeddings here — smaller is closer); the BEST distance measures how well the corpus matches the question, and that maps to high / medium / low through two thresholds that live in code as reviewed constants. Show the bar: below 1.0 a near-direct clause hit, 1.0-1.4 related but inexact, beyond 1.4 the retriever is guessing. Be explicit about the caveat: these numbers are corpus-specific — different embedding model, chunk length or distance metric moves them — so production systems calibrate against a labelled question set and monitor for drift. The UX principle: expose uncertainty honestly; a medium badge invites verification, which is exactly the behaviour an insurance product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Cloud-capability slide. Modern frontier models — the GPT-4o family, Claude, Gemini — accept images alongside text in the same chat request: the user message content becomes an array of parts, text plus image_url. Two transports: a base64 data URL (self-contained, no hosting, payload grows ~33%) or an https URL (lean requests, but the image must be reachable by the provider — a data-governance question for claim documents). The product pattern is extraction, not description: the prompt demands ONLY a JSON object, and the API validates it into a Pydantic IntakeResult {document_type, key_fields} — the same structured-output discipline as Session 6, applied to pixels. LiteLLM forwards the OpenAI-format image parts to whichever vision provider is configured — the proxy tier from Session 7 needs no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/intake has two paths. Qwen2.5-0.5B is text-only — no amount of prompting gives it eyes. The naive responses are both wrong: skip the feature locally (then the pattern is never taught) or pretend (fake extraction teaches a lie). The engineered answer: substitute the PERCEPTION step only — the sidecar .txt carries the same content as the PNG, and the same extraction prompt, the same Pydantic schema and the same endpoint run over text. The fallback is clearly logged ('local text fallback — 0.5B model is text-only'), so nobody mistakes it for vision. This is capability-aware product design: degrade the capability, keep the contract, label the degradation. The same discipline returns in Session 9, where the 0.5B model's unreliable function calling gets a deterministic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theory block by connecting to the CI gate built in Session 3. RAG introduces failure modes ordinary output checks miss: an answer can be fluent, on-topic and WRONG about what the corpus says — uncited, miscited, or answered from model memory when the corpus is silent. The gate therefore gains faithfulness assertions: a question with a KNOWN governing clause must cite it (string check on [M-2.3] plus a javascript check that the API's verified citations array contains it), and an out-of-corpus question must set not_found. Every prompt tweak, chunking change or model swap now has to keep citations and honesty intact to reach main. Industry RAG eval suites (faithfulness, answer relevance, retrieval recall) are this same idea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pairs as previous sessions, session8_lab handout. The pack is standalone: model server, API and litellm proxy from Sessions 6-7 plus the v3 additions (rag/, /intake, UI v3, sample generator). Everything runs locally; a cloud key upgrades intake to real vision extraction in Step 5. Note the one-time ~80 MB embedding-model download in Steps 0-2 — slow venue networks should pre-pull during Step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before commands. Compose runs the same three services as v2 — model 8090, litellm 4000, api 8000. There is deliberately NO vector-store container: chroma is embedded in the API process, and the index directory rag/chroma is written by the ingest script on the host and bind-mounted into the api container. The Streamlit UI runs on the host as usual. Two host-side scripts matter: scripts/make_samples.py generates the intake sample documents (PNG + text sidecar pairs), and rag/ingest.py builds the index. The cloud exit for vision rides the existing proxy — enabling it is configuration, not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Housekeeping with one real teaching beat. The host venv needs chromadb (for the ingest script), streamlit, requests and pillow (for the sample generator). make_samples.py renders the two intake documents — a garage estimate for CLM-1001 and a discharge summary for CLM-1005 — as PNGs with matching .txt sidecars; open one PNG so participants see what they will upload later. Flag the download: chromadb's default embedding function pulls a small ONNX model (~80 MB) on first use, once on the host and once in the api container (persisted in a compose volume). On slow venue networks, run rag/ingest.py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ingest and read its output line by line: 15 clauses per document, 45 chunks total, five sample chunks printed with their ids. Then two inspection beats. One: open rag/ingest.py and find the clause regex — the chunk boundary is the heading pattern, not a character count; this is where citation precision is manufactured. Two: re-run the script and observe the same count — delete-plus-recreate makes ingestion idempotent, so an edited policy document can never leave stale chunks behind. If the ONNX download did not happen in Step 0 it happens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up the three services and check /health — rag_chunks: 45 proves the api container sees the index built on the host. Then the question this session exists for: why was CLM-1003 rejected? The claim's notes say licence expired; the POLICY says why that matters — clause M-2.3. Read the response JSON slowly: answer text containing [M-2.3]; a citations array whose entry carries clause_id, doc and the 200-char snippet; confidence from the best retrieval distance. Warn about the first-question latency (the container's one-time ONNX download) and about small-model wording — clumsy phrasing is fine, the citation is regex-verified against the store, so a cited clause is always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pet insurance — nothing in the corpus covers it. The retriever still returns four nearest clauses (retrieval ALWAYS returns something; that is why grounding alone is insufficient), the model obeys its escape hatch, and the API returns the structured honest state: fixed answer text, empty citations, low confidence, not_found true. Then hold the two-minute discussion: why does refusing beat hallucinating in insurance? An invented clause is acted on by customers, requested by auditors and cited in disputes — refusal is a feature with a legal dollar value. Also be honest about the mechanism: it is the small model FOLLOWING an instruction, which can fail — that is precisely why Step 6 pins this behaviour with an 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one field under observation. The licence-validity question is nearly the text of clause M-2.3 — best distance small, confidence high. The vague question ('what generally happens with my stuff and the paperwork') still retrieves four clauses, but the best distance is larger — confidence drops. Then open api/app.py at CONF_HIGH_MAX / CONF_MEDIUM_MAX: thresholds are constants with a comment explaining they are corpus-specific and need calibration against a labelled set. Optional experiment: change 1.0 to 0.5, rebuild the api container, re-ask — the label flips with no behaviour change upstream, which is exactly why uncalibrated thresholds are dangerous and why the pitfalls slide bans always-high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Streamlit app and repeat the three scenarios visually. CLM-1003 rejection: answer, coloured confidence badge, and citation chips — expanders labelled [M-2.3] — motor_policy.md with the clause text inside; evidence on demand, collapsed by default. Pet insurance: the deliberate info-styled not-in-policy state — visibly a designed behaviour, not an error box. Then the Upload document tab with the garage-estimate PNG: without VISION_MODEL, the API takes the local path — the UI banner and the api logs both announce the text-sidecar fallback (the 0.5B model is text-only), and the extracted document_type and key_fields render as JSON. That extraction JSON is deliverable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pairs with an OpenAI key. Uncomment gpt-4o-mini in litellm/config.yaml, set the key and VISION_MODEL=gpt-4o-mini in .env, recreate litellm and api. Upload the same PNG: this time the API base64-encodes the image into an image_url content part and the vision model reads the pixels — no sidecar involved; move or rename the sidecar to prove it. The UI banner flips to 'Extracted by vision model: gpt-4o-mini' and key_fields is typically richer and more accurate. The teaching point is the seam: same endpoint, same prompt, same Pydantic schema — only the perception step changed. Arrange one pair per room to demonstrate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Session 3. Add the two faithfulness tests to the promptfoo gate: the known-clause question must contain [M-2.3] AND carry it in the verified citations array; the pet-insurance question must set not_found true. From now on a prompt tweak, a chunking change or a model swap that silently breaks citations or honesty cannot reach main. Then compose down, keeping both named volumes: hf_cache holds the model weights, chroma_cache the embedding model. Keep the directory itself — Session 9's search_policy MCP tool queries this exact chroma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table. Embedded chroma grows into a vector database service the moment a second replica needs the index — pgvector inside an existing Postgres estate, or a managed vector DB. Clause chunking generalises to domain-aware chunking: the retrieval unit is whatever the domain cites. The default ONNX embedder becomes a pinned, versioned embedding model whose upgrade is a managed re-embedding migration. Threshold constants become calibrated scoring with drift monitoring. The NOT_IN_POLICY escape becomes refusal policy enforced by guardrails and evals. The intake endpoint becomes a document-AI pipeline with OCR, schema validation and human review queues. And the faithfulness asserts become a full RAG eval suite gating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items. Item 1 is the cited answer — UI screenshot or curl JSON, as long as [M-2.3] and its citations entry are visible. Item 2 is the honesty proof: the pet-insurance JSON with not_found true. Item 3 accepts either intake path — the local text fallback or the cloud vision extraction — but the write-up must name which. Item 4 is the judgement question on chunking: a sound answer names citation precision and regulatory traceability as the gains, and notes the costs — structured documents required, a domain-specific splitter to maintain, and the failure mode when a single clause exceeds the context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pitfalls, each traceable to something exercised today. Wrong chunk size: too large and retrieval drags in noise while citations lose precision; too small and clauses lose the context that makes them answerable — today's answer was semantic units. Answers without citations are unverifiable assertions; make citations a schema field and assert them in CI. Dumping all retrieved text into the answer buries the user in policy prose — retrieve wide, answer narrow, cite precisely. Uncalibrated confidence that always reads high is worse than none: it trains users to ignore the signal. Answering out-of-corpus from model memory is the hallucination path RAG exists to close — it needs the explicit escape hatch plus an eval. And skipping faithfulness evals means every prompt or chunking change can silently break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five capabilities: semantic chunking, grounded generation, verified citations, honest refusal, and structured document intake with a capability-aware fallback. Remind pairs to retain session8_lab: Session 9 wraps this same claim data and chroma store in MCP tools and gives the model agency over which to call — with the safety patterns that agency demands.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9509760" y="-1645920"/>
            <a:ext cx="4937760" cy="4937760"/>
          </a:xfrm>
          <a:prstGeom prst="ellipse">
            <a:avLst/>
          </a:prstGeom>
          <a:solidFill>
            <a:srgbClr val="2E3554"/>
          </a:solidFill>
          <a:ln/>
        </p:spPr>
      </p:sp>
      <p:sp>
        <p:nvSpPr>
          <p:cNvPr id="3" name="Shape 1"/>
          <p:cNvSpPr/>
          <p:nvPr/>
        </p:nvSpPr>
        <p:spPr>
          <a:xfrm>
            <a:off x="-1463040" y="4937760"/>
            <a:ext cx="4023360" cy="4023360"/>
          </a:xfrm>
          <a:prstGeom prst="ellipse">
            <a:avLst/>
          </a:prstGeom>
          <a:solidFill>
            <a:srgbClr val="2E3554"/>
          </a:solidFill>
          <a:ln/>
        </p:spPr>
      </p:sp>
      <p:sp>
        <p:nvSpPr>
          <p:cNvPr id="4" name="Shape 2"/>
          <p:cNvSpPr/>
          <p:nvPr/>
        </p:nvSpPr>
        <p:spPr>
          <a:xfrm>
            <a:off x="685800" y="777240"/>
            <a:ext cx="777240" cy="777240"/>
          </a:xfrm>
          <a:prstGeom prst="ellipse">
            <a:avLst/>
          </a:prstGeom>
          <a:solidFill>
            <a:srgbClr val="E8871E"/>
          </a:solidFill>
          <a:ln/>
        </p:spPr>
      </p:sp>
      <p:pic>
        <p:nvPicPr>
          <p:cNvPr id="5" name="Image 0" descr="preencoded.png">    </p:cNvPr>
          <p:cNvPicPr>
            <a:picLocks noChangeAspect="1"/>
          </p:cNvPicPr>
          <p:nvPr/>
        </p:nvPicPr>
        <p:blipFill>
          <a:blip r:embed="rId1"/>
          <a:stretch>
            <a:fillRect/>
          </a:stretch>
        </p:blipFill>
        <p:spPr>
          <a:xfrm>
            <a:off x="887882" y="979322"/>
            <a:ext cx="373075" cy="373075"/>
          </a:xfrm>
          <a:prstGeom prst="rect">
            <a:avLst/>
          </a:prstGeom>
        </p:spPr>
      </p:pic>
      <p:sp>
        <p:nvSpPr>
          <p:cNvPr id="6" name="Text 3"/>
          <p:cNvSpPr/>
          <p:nvPr/>
        </p:nvSpPr>
        <p:spPr>
          <a:xfrm>
            <a:off x="685800" y="1920240"/>
            <a:ext cx="10515600" cy="365760"/>
          </a:xfrm>
          <a:prstGeom prst="rect">
            <a:avLst/>
          </a:prstGeom>
          <a:noFill/>
          <a:ln/>
        </p:spPr>
        <p:txBody>
          <a:bodyPr wrap="square" lIns="0" tIns="0" rIns="0" bIns="0" rtlCol="0" anchor="ctr"/>
          <a:lstStyle/>
          <a:p>
            <a:pPr indent="0" marL="0">
              <a:buNone/>
            </a:pPr>
            <a:r>
              <a:rPr lang="en-US" sz="1300" b="1" spc="200" kern="0" dirty="0">
                <a:solidFill>
                  <a:srgbClr val="E8871E"/>
                </a:solidFill>
                <a:latin typeface="Arial" pitchFamily="34" charset="0"/>
                <a:ea typeface="Arial" pitchFamily="34" charset="-122"/>
                <a:cs typeface="Arial" pitchFamily="34" charset="-120"/>
              </a:rPr>
              <a:t>AI FULL-STACK &amp; DEPLOYMENT ENGINEER · TRACK 2.B · SESSION 8</a:t>
            </a:r>
            <a:endParaRPr lang="en-US" sz="1300" dirty="0"/>
          </a:p>
        </p:txBody>
      </p:sp>
      <p:sp>
        <p:nvSpPr>
          <p:cNvPr id="7" name="Text 4"/>
          <p:cNvSpPr/>
          <p:nvPr/>
        </p:nvSpPr>
        <p:spPr>
          <a:xfrm>
            <a:off x="658368" y="2286000"/>
            <a:ext cx="11338560" cy="914400"/>
          </a:xfrm>
          <a:prstGeom prst="rect">
            <a:avLst/>
          </a:prstGeom>
          <a:noFill/>
          <a:ln/>
        </p:spPr>
        <p:txBody>
          <a:bodyPr wrap="square" lIns="0" tIns="0" rIns="0" bIns="0" rtlCol="0" anchor="ctr"/>
          <a:lstStyle/>
          <a:p>
            <a:pPr indent="0" marL="0">
              <a:buNone/>
            </a:pPr>
            <a:r>
              <a:rPr lang="en-US" sz="3700" b="1" dirty="0">
                <a:solidFill>
                  <a:srgbClr val="FFFFFF"/>
                </a:solidFill>
                <a:latin typeface="Arial" pitchFamily="34" charset="0"/>
                <a:ea typeface="Arial" pitchFamily="34" charset="-122"/>
                <a:cs typeface="Arial" pitchFamily="34" charset="-120"/>
              </a:rPr>
              <a:t>Multimodal Input &amp; RAG-Backed Features</a:t>
            </a:r>
            <a:endParaRPr lang="en-US" sz="3700" dirty="0"/>
          </a:p>
        </p:txBody>
      </p:sp>
      <p:sp>
        <p:nvSpPr>
          <p:cNvPr id="8" name="Text 5"/>
          <p:cNvSpPr/>
          <p:nvPr/>
        </p:nvSpPr>
        <p:spPr>
          <a:xfrm>
            <a:off x="685800" y="3291840"/>
            <a:ext cx="10607040" cy="8686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ClaimAssist v3: answers grounded in the policy documents and cited by clause id — [M-2.3] — with an honest NOT_IN_POLICY state, calibrated confidence, and a document-intake endpoint that reads uploaded claim paperwork</a:t>
            </a:r>
            <a:endParaRPr lang="en-US" sz="1600" dirty="0"/>
          </a:p>
        </p:txBody>
      </p:sp>
      <p:sp>
        <p:nvSpPr>
          <p:cNvPr id="9" name="Text 6"/>
          <p:cNvSpPr/>
          <p:nvPr/>
        </p:nvSpPr>
        <p:spPr>
          <a:xfrm>
            <a:off x="685800" y="4434840"/>
            <a:ext cx="1088136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Clause-level chunking  ·  chromadb store  ·  Grounded prompting  ·  Citations &amp; confidence  ·  NOT_IN_POLICY honesty  ·  Vision intake  ·  Faithfulness evals</a:t>
            </a:r>
            <a:endParaRPr lang="en-US" sz="1350" dirty="0"/>
          </a:p>
        </p:txBody>
      </p:sp>
      <p:sp>
        <p:nvSpPr>
          <p:cNvPr id="10" name="Text 7"/>
          <p:cNvSpPr/>
          <p:nvPr/>
        </p:nvSpPr>
        <p:spPr>
          <a:xfrm>
            <a:off x="685800" y="5029200"/>
            <a:ext cx="10241280" cy="320040"/>
          </a:xfrm>
          <a:prstGeom prst="rect">
            <a:avLst/>
          </a:prstGeom>
          <a:noFill/>
          <a:ln/>
        </p:spPr>
        <p:txBody>
          <a:bodyPr wrap="square" lIns="0" tIns="0" rIns="0" bIns="0" rtlCol="0" anchor="ctr"/>
          <a:lstStyle/>
          <a:p>
            <a:pPr indent="0" marL="0">
              <a:buNone/>
            </a:pPr>
            <a:r>
              <a:rPr lang="en-US" sz="1250" i="1" dirty="0">
                <a:solidFill>
                  <a:srgbClr val="F5B971"/>
                </a:solidFill>
                <a:latin typeface="Calibri" pitchFamily="34" charset="0"/>
                <a:ea typeface="Calibri" pitchFamily="34" charset="-122"/>
                <a:cs typeface="Calibri" pitchFamily="34" charset="-120"/>
              </a:rPr>
              <a:t>The lab runs entirely locally; a cloud key upgrades document intake to real vision extraction — same endpoint, same schema.</a:t>
            </a:r>
            <a:endParaRPr lang="en-US" sz="1250" dirty="0"/>
          </a:p>
        </p:txBody>
      </p:sp>
      <p:sp>
        <p:nvSpPr>
          <p:cNvPr id="11" name="Text 8"/>
          <p:cNvSpPr/>
          <p:nvPr/>
        </p:nvSpPr>
        <p:spPr>
          <a:xfrm>
            <a:off x="685800" y="6035040"/>
            <a:ext cx="9601200" cy="320040"/>
          </a:xfrm>
          <a:prstGeom prst="rect">
            <a:avLst/>
          </a:prstGeom>
          <a:noFill/>
          <a:ln/>
        </p:spPr>
        <p:txBody>
          <a:bodyPr wrap="square" lIns="0" tIns="0" rIns="0" bIns="0" rtlCol="0" anchor="ctr"/>
          <a:lstStyle/>
          <a:p>
            <a:pPr indent="0" marL="0">
              <a:buNone/>
            </a:pPr>
            <a:r>
              <a:rPr lang="en-US" sz="1300" dirty="0">
                <a:solidFill>
                  <a:srgbClr val="9AA7C7"/>
                </a:solidFill>
                <a:latin typeface="Calibri" pitchFamily="34" charset="0"/>
                <a:ea typeface="Calibri" pitchFamily="34" charset="-122"/>
                <a:cs typeface="Calibri" pitchFamily="34" charset="-120"/>
              </a:rPr>
              <a:t>Day 8 · 2 hours · concepts 45 min + lab 60 min + review 15 min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SESSION 8 · AGENDA</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Session agenda</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54480"/>
            <a:ext cx="10881360" cy="1188720"/>
          </a:xfrm>
          <a:prstGeom prst="roundRect">
            <a:avLst>
              <a:gd name="adj" fmla="val 6923"/>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868680" y="185623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45 min</a:t>
            </a:r>
            <a:endParaRPr lang="en-US" sz="2200" dirty="0"/>
          </a:p>
        </p:txBody>
      </p:sp>
      <p:sp>
        <p:nvSpPr>
          <p:cNvPr id="10" name="Shape 6"/>
          <p:cNvSpPr/>
          <p:nvPr/>
        </p:nvSpPr>
        <p:spPr>
          <a:xfrm>
            <a:off x="2286000" y="1883664"/>
            <a:ext cx="502920" cy="502920"/>
          </a:xfrm>
          <a:prstGeom prst="ellipse">
            <a:avLst/>
          </a:prstGeom>
          <a:solidFill>
            <a:srgbClr val="232946"/>
          </a:solidFill>
          <a:ln/>
        </p:spPr>
      </p:sp>
      <p:pic>
        <p:nvPicPr>
          <p:cNvPr id="11" name="Image 1" descr="preencoded.png">    </p:cNvPr>
          <p:cNvPicPr>
            <a:picLocks noChangeAspect="1"/>
          </p:cNvPicPr>
          <p:nvPr/>
        </p:nvPicPr>
        <p:blipFill>
          <a:blip r:embed="rId2"/>
          <a:stretch>
            <a:fillRect/>
          </a:stretch>
        </p:blipFill>
        <p:spPr>
          <a:xfrm>
            <a:off x="2416759" y="2014423"/>
            <a:ext cx="241402" cy="241402"/>
          </a:xfrm>
          <a:prstGeom prst="rect">
            <a:avLst/>
          </a:prstGeom>
        </p:spPr>
      </p:pic>
      <p:sp>
        <p:nvSpPr>
          <p:cNvPr id="12" name="Text 7"/>
          <p:cNvSpPr/>
          <p:nvPr/>
        </p:nvSpPr>
        <p:spPr>
          <a:xfrm>
            <a:off x="3017520" y="1682496"/>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Concepts &amp; code walkthrough</a:t>
            </a:r>
            <a:endParaRPr lang="en-US" sz="1600" dirty="0"/>
          </a:p>
        </p:txBody>
      </p:sp>
      <p:sp>
        <p:nvSpPr>
          <p:cNvPr id="13" name="Text 8"/>
          <p:cNvSpPr/>
          <p:nvPr/>
        </p:nvSpPr>
        <p:spPr>
          <a:xfrm>
            <a:off x="3017520" y="2029968"/>
            <a:ext cx="8138160" cy="65836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Why RAG is a product requirement; the ingest→chunk→embed→store→retrieve→ground→generate→cite pipeline in the lab files; chunking by clause; the grounded prompt and the honesty pattern; citations, confidence and multimodal intake.</a:t>
            </a:r>
            <a:endParaRPr lang="en-US" sz="1150" dirty="0"/>
          </a:p>
        </p:txBody>
      </p:sp>
      <p:sp>
        <p:nvSpPr>
          <p:cNvPr id="14" name="Shape 9"/>
          <p:cNvSpPr/>
          <p:nvPr/>
        </p:nvSpPr>
        <p:spPr>
          <a:xfrm>
            <a:off x="640080" y="2971800"/>
            <a:ext cx="10881360" cy="1188720"/>
          </a:xfrm>
          <a:prstGeom prst="roundRect">
            <a:avLst>
              <a:gd name="adj" fmla="val 6923"/>
            </a:avLst>
          </a:prstGeom>
          <a:solidFill>
            <a:srgbClr val="DDE6F5"/>
          </a:solidFill>
          <a:ln/>
          <a:effectLst>
            <a:outerShdw sx="100000" sy="100000" kx="0" ky="0" algn="bl" rotWithShape="0" blurRad="76200" dist="25400" dir="5400000">
              <a:srgbClr val="9AA4B8">
                <a:alpha val="35000"/>
              </a:srgbClr>
            </a:outerShdw>
          </a:effectLst>
        </p:spPr>
      </p:sp>
      <p:sp>
        <p:nvSpPr>
          <p:cNvPr id="15" name="Text 10"/>
          <p:cNvSpPr/>
          <p:nvPr/>
        </p:nvSpPr>
        <p:spPr>
          <a:xfrm>
            <a:off x="868680" y="327355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60 min</a:t>
            </a:r>
            <a:endParaRPr lang="en-US" sz="2200" dirty="0"/>
          </a:p>
        </p:txBody>
      </p:sp>
      <p:sp>
        <p:nvSpPr>
          <p:cNvPr id="16" name="Shape 11"/>
          <p:cNvSpPr/>
          <p:nvPr/>
        </p:nvSpPr>
        <p:spPr>
          <a:xfrm>
            <a:off x="2286000" y="3300984"/>
            <a:ext cx="502920" cy="502920"/>
          </a:xfrm>
          <a:prstGeom prst="ellipse">
            <a:avLst/>
          </a:prstGeom>
          <a:solidFill>
            <a:srgbClr val="232946"/>
          </a:solidFill>
          <a:ln/>
        </p:spPr>
      </p:sp>
      <p:pic>
        <p:nvPicPr>
          <p:cNvPr id="17" name="Image 2" descr="preencoded.png">    </p:cNvPr>
          <p:cNvPicPr>
            <a:picLocks noChangeAspect="1"/>
          </p:cNvPicPr>
          <p:nvPr/>
        </p:nvPicPr>
        <p:blipFill>
          <a:blip r:embed="rId3"/>
          <a:stretch>
            <a:fillRect/>
          </a:stretch>
        </p:blipFill>
        <p:spPr>
          <a:xfrm>
            <a:off x="2416759" y="3431743"/>
            <a:ext cx="241402" cy="241402"/>
          </a:xfrm>
          <a:prstGeom prst="rect">
            <a:avLst/>
          </a:prstGeom>
        </p:spPr>
      </p:pic>
      <p:sp>
        <p:nvSpPr>
          <p:cNvPr id="18" name="Text 12"/>
          <p:cNvSpPr/>
          <p:nvPr/>
        </p:nvSpPr>
        <p:spPr>
          <a:xfrm>
            <a:off x="3017520" y="3099816"/>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Lab — ClaimAssist v2 → v3</a:t>
            </a:r>
            <a:endParaRPr lang="en-US" sz="1600" dirty="0"/>
          </a:p>
        </p:txBody>
      </p:sp>
      <p:sp>
        <p:nvSpPr>
          <p:cNvPr id="19" name="Text 13"/>
          <p:cNvSpPr/>
          <p:nvPr/>
        </p:nvSpPr>
        <p:spPr>
          <a:xfrm>
            <a:off x="3017520" y="3447288"/>
            <a:ext cx="8138160" cy="65836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Ingest the policy corpus, get a cited answer for CLM-1003 ([M-2.3]), prove NOT_IN_POLICY honesty, watch confidence drop on vague questions, render citation chips and the upload tab, extend the promptfoo gate.</a:t>
            </a:r>
            <a:endParaRPr lang="en-US" sz="1150" dirty="0"/>
          </a:p>
        </p:txBody>
      </p:sp>
      <p:sp>
        <p:nvSpPr>
          <p:cNvPr id="20" name="Shape 14"/>
          <p:cNvSpPr/>
          <p:nvPr/>
        </p:nvSpPr>
        <p:spPr>
          <a:xfrm>
            <a:off x="640080" y="4389120"/>
            <a:ext cx="10881360" cy="1188720"/>
          </a:xfrm>
          <a:prstGeom prst="roundRect">
            <a:avLst>
              <a:gd name="adj" fmla="val 6923"/>
            </a:avLst>
          </a:prstGeom>
          <a:solidFill>
            <a:srgbClr val="EEF2FA"/>
          </a:solidFill>
          <a:ln/>
          <a:effectLst>
            <a:outerShdw sx="100000" sy="100000" kx="0" ky="0" algn="bl" rotWithShape="0" blurRad="76200" dist="25400" dir="5400000">
              <a:srgbClr val="9AA4B8">
                <a:alpha val="35000"/>
              </a:srgbClr>
            </a:outerShdw>
          </a:effectLst>
        </p:spPr>
      </p:sp>
      <p:sp>
        <p:nvSpPr>
          <p:cNvPr id="21" name="Text 15"/>
          <p:cNvSpPr/>
          <p:nvPr/>
        </p:nvSpPr>
        <p:spPr>
          <a:xfrm>
            <a:off x="868680" y="469087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15 min</a:t>
            </a:r>
            <a:endParaRPr lang="en-US" sz="2200" dirty="0"/>
          </a:p>
        </p:txBody>
      </p:sp>
      <p:sp>
        <p:nvSpPr>
          <p:cNvPr id="22" name="Shape 16"/>
          <p:cNvSpPr/>
          <p:nvPr/>
        </p:nvSpPr>
        <p:spPr>
          <a:xfrm>
            <a:off x="2286000" y="4718304"/>
            <a:ext cx="502920" cy="502920"/>
          </a:xfrm>
          <a:prstGeom prst="ellipse">
            <a:avLst/>
          </a:prstGeom>
          <a:solidFill>
            <a:srgbClr val="232946"/>
          </a:solidFill>
          <a:ln/>
        </p:spPr>
      </p:sp>
      <p:pic>
        <p:nvPicPr>
          <p:cNvPr id="23" name="Image 3" descr="preencoded.png">    </p:cNvPr>
          <p:cNvPicPr>
            <a:picLocks noChangeAspect="1"/>
          </p:cNvPicPr>
          <p:nvPr/>
        </p:nvPicPr>
        <p:blipFill>
          <a:blip r:embed="rId4"/>
          <a:stretch>
            <a:fillRect/>
          </a:stretch>
        </p:blipFill>
        <p:spPr>
          <a:xfrm>
            <a:off x="2416759" y="4849063"/>
            <a:ext cx="241402" cy="241402"/>
          </a:xfrm>
          <a:prstGeom prst="rect">
            <a:avLst/>
          </a:prstGeom>
        </p:spPr>
      </p:pic>
      <p:sp>
        <p:nvSpPr>
          <p:cNvPr id="24" name="Text 17"/>
          <p:cNvSpPr/>
          <p:nvPr/>
        </p:nvSpPr>
        <p:spPr>
          <a:xfrm>
            <a:off x="3017520" y="4517136"/>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Review &amp; wrap-up</a:t>
            </a:r>
            <a:endParaRPr lang="en-US" sz="1600" dirty="0"/>
          </a:p>
        </p:txBody>
      </p:sp>
      <p:sp>
        <p:nvSpPr>
          <p:cNvPr id="25" name="Text 18"/>
          <p:cNvSpPr/>
          <p:nvPr/>
        </p:nvSpPr>
        <p:spPr>
          <a:xfrm>
            <a:off x="3017520" y="4864608"/>
            <a:ext cx="8138160" cy="65836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Compare cited answers and honesty evidence, revisit the local-to-production mapping, and preview Session 9: MCP tool-use.</a:t>
            </a:r>
            <a:endParaRPr lang="en-US" sz="1150" dirty="0"/>
          </a:p>
        </p:txBody>
      </p:sp>
      <p:sp>
        <p:nvSpPr>
          <p:cNvPr id="26" name="Text 19"/>
          <p:cNvSpPr/>
          <p:nvPr/>
        </p:nvSpPr>
        <p:spPr>
          <a:xfrm>
            <a:off x="640080" y="5943600"/>
            <a:ext cx="10881360" cy="411480"/>
          </a:xfrm>
          <a:prstGeom prst="rect">
            <a:avLst/>
          </a:prstGeom>
          <a:noFill/>
          <a:ln/>
        </p:spPr>
        <p:txBody>
          <a:bodyPr wrap="square" lIns="0" tIns="0" rIns="0" bIns="0" rtlCol="0" anchor="ctr"/>
          <a:lstStyle/>
          <a:p>
            <a:pPr indent="0" marL="0">
              <a:buNone/>
            </a:pPr>
            <a:r>
              <a:rPr lang="en-US" sz="1350" b="1" dirty="0">
                <a:solidFill>
                  <a:srgbClr val="E8871E"/>
                </a:solidFill>
                <a:latin typeface="Calibri" pitchFamily="34" charset="0"/>
                <a:ea typeface="Calibri" pitchFamily="34" charset="-122"/>
                <a:cs typeface="Calibri" pitchFamily="34" charset="-120"/>
              </a:rPr>
              <a:t>Objective: </a:t>
            </a:r>
            <a:pPr indent="0" marL="0">
              <a:buNone/>
            </a:pPr>
            <a:r>
              <a:rPr lang="en-US" sz="1350" dirty="0">
                <a:solidFill>
                  <a:srgbClr val="232946"/>
                </a:solidFill>
                <a:latin typeface="Calibri" pitchFamily="34" charset="0"/>
                <a:ea typeface="Calibri" pitchFamily="34" charset="-122"/>
                <a:cs typeface="Calibri" pitchFamily="34" charset="-120"/>
              </a:rPr>
              <a:t>ship answers that carry their own evidence — retrieved, cited, confidence-scored and honest about their limits — and accept documents, not just text.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PRODUCT EVOLUTION</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ClaimAssist v2 → v3: a knowledge tier and a document door</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Text 4"/>
          <p:cNvSpPr/>
          <p:nvPr/>
        </p:nvSpPr>
        <p:spPr>
          <a:xfrm>
            <a:off x="640080" y="1444752"/>
            <a:ext cx="2377440" cy="274320"/>
          </a:xfrm>
          <a:prstGeom prst="rect">
            <a:avLst/>
          </a:prstGeom>
          <a:noFill/>
          <a:ln/>
        </p:spPr>
        <p:txBody>
          <a:bodyPr wrap="square" lIns="0" tIns="0" rIns="0" bIns="0" rtlCol="0" anchor="ctr"/>
          <a:lstStyle/>
          <a:p>
            <a:pPr indent="0" marL="0">
              <a:buNone/>
            </a:pPr>
            <a:r>
              <a:rPr lang="en-US" sz="1300" b="1" dirty="0">
                <a:solidFill>
                  <a:srgbClr val="5A6478"/>
                </a:solidFill>
                <a:latin typeface="Arial" pitchFamily="34" charset="0"/>
                <a:ea typeface="Arial" pitchFamily="34" charset="-122"/>
                <a:cs typeface="Arial" pitchFamily="34" charset="-120"/>
              </a:rPr>
              <a:t>v2 — Session 7</a:t>
            </a:r>
            <a:endParaRPr lang="en-US" sz="1300" dirty="0"/>
          </a:p>
        </p:txBody>
      </p:sp>
      <p:sp>
        <p:nvSpPr>
          <p:cNvPr id="9" name="Shape 5"/>
          <p:cNvSpPr/>
          <p:nvPr/>
        </p:nvSpPr>
        <p:spPr>
          <a:xfrm>
            <a:off x="640080" y="1773936"/>
            <a:ext cx="2834640" cy="914400"/>
          </a:xfrm>
          <a:prstGeom prst="roundRect">
            <a:avLst>
              <a:gd name="adj" fmla="val 9000"/>
            </a:avLst>
          </a:prstGeom>
          <a:solidFill>
            <a:srgbClr val="EEF2FA"/>
          </a:solidFill>
          <a:ln/>
          <a:effectLst>
            <a:outerShdw sx="100000" sy="100000" kx="0" ky="0" algn="bl" rotWithShape="0" blurRad="76200" dist="25400" dir="5400000">
              <a:srgbClr val="9AA4B8">
                <a:alpha val="35000"/>
              </a:srgbClr>
            </a:outerShdw>
          </a:effectLst>
        </p:spPr>
      </p:sp>
      <p:sp>
        <p:nvSpPr>
          <p:cNvPr id="10" name="Text 6"/>
          <p:cNvSpPr/>
          <p:nvPr/>
        </p:nvSpPr>
        <p:spPr>
          <a:xfrm>
            <a:off x="822960" y="1892808"/>
            <a:ext cx="2468880" cy="2743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UIs  :8501 / :3001</a:t>
            </a:r>
            <a:endParaRPr lang="en-US" sz="1250" dirty="0"/>
          </a:p>
        </p:txBody>
      </p:sp>
      <p:sp>
        <p:nvSpPr>
          <p:cNvPr id="11" name="Text 7"/>
          <p:cNvSpPr/>
          <p:nvPr/>
        </p:nvSpPr>
        <p:spPr>
          <a:xfrm>
            <a:off x="822960" y="2203704"/>
            <a:ext cx="2514600" cy="36576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Streamlit + Next.js chat</a:t>
            </a:r>
            <a:endParaRPr lang="en-US" sz="950" dirty="0"/>
          </a:p>
        </p:txBody>
      </p:sp>
      <p:sp>
        <p:nvSpPr>
          <p:cNvPr id="12" name="Shape 8"/>
          <p:cNvSpPr/>
          <p:nvPr/>
        </p:nvSpPr>
        <p:spPr>
          <a:xfrm>
            <a:off x="3520440" y="2231136"/>
            <a:ext cx="640080" cy="0"/>
          </a:xfrm>
          <a:prstGeom prst="line">
            <a:avLst/>
          </a:prstGeom>
          <a:noFill/>
          <a:ln w="31750">
            <a:solidFill>
              <a:srgbClr val="232946"/>
            </a:solidFill>
            <a:prstDash val="solid"/>
            <a:tailEnd type="triangle"/>
          </a:ln>
        </p:spPr>
      </p:sp>
      <p:sp>
        <p:nvSpPr>
          <p:cNvPr id="13" name="Shape 9"/>
          <p:cNvSpPr/>
          <p:nvPr/>
        </p:nvSpPr>
        <p:spPr>
          <a:xfrm>
            <a:off x="4206240" y="1773936"/>
            <a:ext cx="2834640" cy="914400"/>
          </a:xfrm>
          <a:prstGeom prst="roundRect">
            <a:avLst>
              <a:gd name="adj" fmla="val 9000"/>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4389120" y="1892808"/>
            <a:ext cx="2468880" cy="2743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ClaimAssist API  :8000</a:t>
            </a:r>
            <a:endParaRPr lang="en-US" sz="1250" dirty="0"/>
          </a:p>
        </p:txBody>
      </p:sp>
      <p:sp>
        <p:nvSpPr>
          <p:cNvPr id="15" name="Text 11"/>
          <p:cNvSpPr/>
          <p:nvPr/>
        </p:nvSpPr>
        <p:spPr>
          <a:xfrm>
            <a:off x="4389120" y="2203704"/>
            <a:ext cx="2514600" cy="36576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/ask grounded in ONE claim record</a:t>
            </a:r>
            <a:endParaRPr lang="en-US" sz="950" dirty="0"/>
          </a:p>
        </p:txBody>
      </p:sp>
      <p:sp>
        <p:nvSpPr>
          <p:cNvPr id="16" name="Shape 12"/>
          <p:cNvSpPr/>
          <p:nvPr/>
        </p:nvSpPr>
        <p:spPr>
          <a:xfrm>
            <a:off x="7086600" y="2231136"/>
            <a:ext cx="640080" cy="0"/>
          </a:xfrm>
          <a:prstGeom prst="line">
            <a:avLst/>
          </a:prstGeom>
          <a:noFill/>
          <a:ln w="31750">
            <a:solidFill>
              <a:srgbClr val="232946"/>
            </a:solidFill>
            <a:prstDash val="solid"/>
            <a:tailEnd type="triangle"/>
          </a:ln>
        </p:spPr>
      </p:sp>
      <p:sp>
        <p:nvSpPr>
          <p:cNvPr id="17" name="Shape 13"/>
          <p:cNvSpPr/>
          <p:nvPr/>
        </p:nvSpPr>
        <p:spPr>
          <a:xfrm>
            <a:off x="7772400" y="1773936"/>
            <a:ext cx="3749040" cy="914400"/>
          </a:xfrm>
          <a:prstGeom prst="roundRect">
            <a:avLst>
              <a:gd name="adj" fmla="val 9000"/>
            </a:avLst>
          </a:prstGeom>
          <a:solidFill>
            <a:srgbClr val="EEF2FA"/>
          </a:solidFill>
          <a:ln/>
          <a:effectLst>
            <a:outerShdw sx="100000" sy="100000" kx="0" ky="0" algn="bl" rotWithShape="0" blurRad="76200" dist="25400" dir="5400000">
              <a:srgbClr val="9AA4B8">
                <a:alpha val="35000"/>
              </a:srgbClr>
            </a:outerShdw>
          </a:effectLst>
        </p:spPr>
      </p:sp>
      <p:sp>
        <p:nvSpPr>
          <p:cNvPr id="18" name="Text 14"/>
          <p:cNvSpPr/>
          <p:nvPr/>
        </p:nvSpPr>
        <p:spPr>
          <a:xfrm>
            <a:off x="7955280" y="1892808"/>
            <a:ext cx="3474720" cy="274320"/>
          </a:xfrm>
          <a:prstGeom prst="rect">
            <a:avLst/>
          </a:prstGeom>
          <a:noFill/>
          <a:ln/>
        </p:spPr>
        <p:txBody>
          <a:bodyPr wrap="square" lIns="0" tIns="0" rIns="0" bIns="0" rtlCol="0" anchor="ctr"/>
          <a:lstStyle/>
          <a:p>
            <a:pPr indent="0" marL="0">
              <a:buNone/>
            </a:pPr>
            <a:r>
              <a:rPr lang="en-US" sz="1200" b="1" dirty="0">
                <a:solidFill>
                  <a:srgbClr val="232946"/>
                </a:solidFill>
                <a:latin typeface="Arial" pitchFamily="34" charset="0"/>
                <a:ea typeface="Arial" pitchFamily="34" charset="-122"/>
                <a:cs typeface="Arial" pitchFamily="34" charset="-120"/>
              </a:rPr>
              <a:t>litellm :4000 → model :8090 / cloud</a:t>
            </a:r>
            <a:endParaRPr lang="en-US" sz="1200" dirty="0"/>
          </a:p>
        </p:txBody>
      </p:sp>
      <p:sp>
        <p:nvSpPr>
          <p:cNvPr id="19" name="Text 15"/>
          <p:cNvSpPr/>
          <p:nvPr/>
        </p:nvSpPr>
        <p:spPr>
          <a:xfrm>
            <a:off x="7955280" y="2203704"/>
            <a:ext cx="3474720" cy="36576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routing, retries, fallbacks (v2, unchanged)</a:t>
            </a:r>
            <a:endParaRPr lang="en-US" sz="950" dirty="0"/>
          </a:p>
        </p:txBody>
      </p:sp>
      <p:sp>
        <p:nvSpPr>
          <p:cNvPr id="20" name="Text 16"/>
          <p:cNvSpPr/>
          <p:nvPr/>
        </p:nvSpPr>
        <p:spPr>
          <a:xfrm>
            <a:off x="640080" y="3017520"/>
            <a:ext cx="2377440" cy="274320"/>
          </a:xfrm>
          <a:prstGeom prst="rect">
            <a:avLst/>
          </a:prstGeom>
          <a:noFill/>
          <a:ln/>
        </p:spPr>
        <p:txBody>
          <a:bodyPr wrap="square" lIns="0" tIns="0" rIns="0" bIns="0" rtlCol="0" anchor="ctr"/>
          <a:lstStyle/>
          <a:p>
            <a:pPr indent="0" marL="0">
              <a:buNone/>
            </a:pPr>
            <a:r>
              <a:rPr lang="en-US" sz="1300" b="1" dirty="0">
                <a:solidFill>
                  <a:srgbClr val="E8871E"/>
                </a:solidFill>
                <a:latin typeface="Arial" pitchFamily="34" charset="0"/>
                <a:ea typeface="Arial" pitchFamily="34" charset="-122"/>
                <a:cs typeface="Arial" pitchFamily="34" charset="-120"/>
              </a:rPr>
              <a:t>v3 — today</a:t>
            </a:r>
            <a:endParaRPr lang="en-US" sz="1300" dirty="0"/>
          </a:p>
        </p:txBody>
      </p:sp>
      <p:sp>
        <p:nvSpPr>
          <p:cNvPr id="21" name="Shape 17"/>
          <p:cNvSpPr/>
          <p:nvPr/>
        </p:nvSpPr>
        <p:spPr>
          <a:xfrm>
            <a:off x="640080" y="3346704"/>
            <a:ext cx="2697480" cy="1737360"/>
          </a:xfrm>
          <a:prstGeom prst="roundRect">
            <a:avLst>
              <a:gd name="adj" fmla="val 4737"/>
            </a:avLst>
          </a:prstGeom>
          <a:solidFill>
            <a:srgbClr val="DDE6F5"/>
          </a:solidFill>
          <a:ln/>
          <a:effectLst>
            <a:outerShdw sx="100000" sy="100000" kx="0" ky="0" algn="bl" rotWithShape="0" blurRad="76200" dist="25400" dir="5400000">
              <a:srgbClr val="9AA4B8">
                <a:alpha val="35000"/>
              </a:srgbClr>
            </a:outerShdw>
          </a:effectLst>
        </p:spPr>
      </p:sp>
      <p:sp>
        <p:nvSpPr>
          <p:cNvPr id="22" name="Text 18"/>
          <p:cNvSpPr/>
          <p:nvPr/>
        </p:nvSpPr>
        <p:spPr>
          <a:xfrm>
            <a:off x="804672" y="3456432"/>
            <a:ext cx="1828800" cy="274320"/>
          </a:xfrm>
          <a:prstGeom prst="rect">
            <a:avLst/>
          </a:prstGeom>
          <a:noFill/>
          <a:ln/>
        </p:spPr>
        <p:txBody>
          <a:bodyPr wrap="square" lIns="0" tIns="0" rIns="0" bIns="0" rtlCol="0" anchor="ctr"/>
          <a:lstStyle/>
          <a:p>
            <a:pPr indent="0" marL="0">
              <a:buNone/>
            </a:pPr>
            <a:r>
              <a:rPr lang="en-US" sz="1200" b="1" dirty="0">
                <a:solidFill>
                  <a:srgbClr val="232946"/>
                </a:solidFill>
                <a:latin typeface="Arial" pitchFamily="34" charset="0"/>
                <a:ea typeface="Arial" pitchFamily="34" charset="-122"/>
                <a:cs typeface="Arial" pitchFamily="34" charset="-120"/>
              </a:rPr>
              <a:t>UI v3  :8501</a:t>
            </a:r>
            <a:endParaRPr lang="en-US" sz="1200" dirty="0"/>
          </a:p>
        </p:txBody>
      </p:sp>
      <p:sp>
        <p:nvSpPr>
          <p:cNvPr id="23" name="Text 19"/>
          <p:cNvSpPr/>
          <p:nvPr/>
        </p:nvSpPr>
        <p:spPr>
          <a:xfrm>
            <a:off x="804672" y="3767328"/>
            <a:ext cx="2377440" cy="118872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Citation chips (expanders) · coloured confidence badge · not-in-policy state · Upload document tab</a:t>
            </a:r>
            <a:endParaRPr lang="en-US" sz="900" dirty="0"/>
          </a:p>
        </p:txBody>
      </p:sp>
      <p:sp>
        <p:nvSpPr>
          <p:cNvPr id="24" name="Shape 20"/>
          <p:cNvSpPr/>
          <p:nvPr/>
        </p:nvSpPr>
        <p:spPr>
          <a:xfrm>
            <a:off x="3429000" y="4169664"/>
            <a:ext cx="548640" cy="0"/>
          </a:xfrm>
          <a:prstGeom prst="line">
            <a:avLst/>
          </a:prstGeom>
          <a:noFill/>
          <a:ln w="31750">
            <a:solidFill>
              <a:srgbClr val="232946"/>
            </a:solidFill>
            <a:prstDash val="solid"/>
            <a:tailEnd type="triangle"/>
          </a:ln>
        </p:spPr>
      </p:sp>
      <p:sp>
        <p:nvSpPr>
          <p:cNvPr id="25" name="Shape 21"/>
          <p:cNvSpPr/>
          <p:nvPr/>
        </p:nvSpPr>
        <p:spPr>
          <a:xfrm>
            <a:off x="4023360" y="3346704"/>
            <a:ext cx="3291840" cy="1737360"/>
          </a:xfrm>
          <a:prstGeom prst="roundRect">
            <a:avLst>
              <a:gd name="adj" fmla="val 4737"/>
            </a:avLst>
          </a:prstGeom>
          <a:solidFill>
            <a:srgbClr val="FBF1E3"/>
          </a:solidFill>
          <a:ln/>
          <a:effectLst>
            <a:outerShdw sx="100000" sy="100000" kx="0" ky="0" algn="bl" rotWithShape="0" blurRad="76200" dist="25400" dir="5400000">
              <a:srgbClr val="9AA4B8">
                <a:alpha val="35000"/>
              </a:srgbClr>
            </a:outerShdw>
          </a:effectLst>
        </p:spPr>
      </p:sp>
      <p:sp>
        <p:nvSpPr>
          <p:cNvPr id="26" name="Shape 22"/>
          <p:cNvSpPr/>
          <p:nvPr/>
        </p:nvSpPr>
        <p:spPr>
          <a:xfrm>
            <a:off x="6492240" y="3456432"/>
            <a:ext cx="713232" cy="237744"/>
          </a:xfrm>
          <a:prstGeom prst="roundRect">
            <a:avLst>
              <a:gd name="adj" fmla="val 50000"/>
            </a:avLst>
          </a:prstGeom>
          <a:solidFill>
            <a:srgbClr val="E8871E"/>
          </a:solidFill>
          <a:ln/>
        </p:spPr>
      </p:sp>
      <p:sp>
        <p:nvSpPr>
          <p:cNvPr id="27" name="Text 23"/>
          <p:cNvSpPr/>
          <p:nvPr/>
        </p:nvSpPr>
        <p:spPr>
          <a:xfrm>
            <a:off x="6492240" y="3456432"/>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NEW</a:t>
            </a:r>
            <a:endParaRPr lang="en-US" sz="850" dirty="0"/>
          </a:p>
        </p:txBody>
      </p:sp>
      <p:sp>
        <p:nvSpPr>
          <p:cNvPr id="28" name="Text 24"/>
          <p:cNvSpPr/>
          <p:nvPr/>
        </p:nvSpPr>
        <p:spPr>
          <a:xfrm>
            <a:off x="4187952" y="3456432"/>
            <a:ext cx="2194560" cy="274320"/>
          </a:xfrm>
          <a:prstGeom prst="rect">
            <a:avLst/>
          </a:prstGeom>
          <a:noFill/>
          <a:ln/>
        </p:spPr>
        <p:txBody>
          <a:bodyPr wrap="square" lIns="0" tIns="0" rIns="0" bIns="0" rtlCol="0" anchor="ctr"/>
          <a:lstStyle/>
          <a:p>
            <a:pPr indent="0" marL="0">
              <a:buNone/>
            </a:pPr>
            <a:r>
              <a:rPr lang="en-US" sz="1200" b="1" dirty="0">
                <a:solidFill>
                  <a:srgbClr val="232946"/>
                </a:solidFill>
                <a:latin typeface="Arial" pitchFamily="34" charset="0"/>
                <a:ea typeface="Arial" pitchFamily="34" charset="-122"/>
                <a:cs typeface="Arial" pitchFamily="34" charset="-120"/>
              </a:rPr>
              <a:t>API v3  :8000</a:t>
            </a:r>
            <a:endParaRPr lang="en-US" sz="1200" dirty="0"/>
          </a:p>
        </p:txBody>
      </p:sp>
      <p:sp>
        <p:nvSpPr>
          <p:cNvPr id="29" name="Text 25"/>
          <p:cNvSpPr/>
          <p:nvPr/>
        </p:nvSpPr>
        <p:spPr>
          <a:xfrm>
            <a:off x="4187952" y="3767328"/>
            <a:ext cx="2971800" cy="1234440"/>
          </a:xfrm>
          <a:prstGeom prst="rect">
            <a:avLst/>
          </a:prstGeom>
          <a:noFill/>
          <a:ln/>
        </p:spPr>
        <p:txBody>
          <a:bodyPr wrap="square" lIns="0" tIns="0" rIns="0" bIns="0" rtlCol="0" anchor="ctr"/>
          <a:lstStyle/>
          <a:p>
            <a:pPr indent="0" marL="0">
              <a:buNone/>
            </a:pPr>
            <a:r>
              <a:rPr lang="en-US" sz="900" dirty="0">
                <a:solidFill>
                  <a:srgbClr val="232946"/>
                </a:solidFill>
                <a:latin typeface="Calibri" pitchFamily="34" charset="0"/>
                <a:ea typeface="Calibri" pitchFamily="34" charset="-122"/>
                <a:cs typeface="Calibri" pitchFamily="34" charset="-120"/>
              </a:rPr>
              <a:t>/ask → retrieve top-4 clauses, grounded prompt, citations + confidence + not_found</a:t>
            </a:r>
            <a:endParaRPr lang="en-US" sz="900" dirty="0"/>
          </a:p>
          <a:p>
            <a:pPr indent="0" marL="0">
              <a:buNone/>
            </a:pPr>
            <a:r>
              <a:rPr lang="en-US" sz="900" dirty="0">
                <a:solidFill>
                  <a:srgbClr val="232946"/>
                </a:solidFill>
                <a:latin typeface="Calibri" pitchFamily="34" charset="0"/>
                <a:ea typeface="Calibri" pitchFamily="34" charset="-122"/>
                <a:cs typeface="Calibri" pitchFamily="34" charset="-120"/>
              </a:rPr>
              <a:t>/intake → image upload, structured extraction</a:t>
            </a:r>
            <a:endParaRPr lang="en-US" sz="900" dirty="0"/>
          </a:p>
        </p:txBody>
      </p:sp>
      <p:sp>
        <p:nvSpPr>
          <p:cNvPr id="30" name="Shape 26"/>
          <p:cNvSpPr/>
          <p:nvPr/>
        </p:nvSpPr>
        <p:spPr>
          <a:xfrm>
            <a:off x="7406640" y="3895344"/>
            <a:ext cx="548640" cy="0"/>
          </a:xfrm>
          <a:prstGeom prst="line">
            <a:avLst/>
          </a:prstGeom>
          <a:noFill/>
          <a:ln w="31750">
            <a:solidFill>
              <a:srgbClr val="232946"/>
            </a:solidFill>
            <a:prstDash val="solid"/>
            <a:tailEnd type="triangle"/>
          </a:ln>
        </p:spPr>
      </p:sp>
      <p:sp>
        <p:nvSpPr>
          <p:cNvPr id="31" name="Shape 27"/>
          <p:cNvSpPr/>
          <p:nvPr/>
        </p:nvSpPr>
        <p:spPr>
          <a:xfrm>
            <a:off x="8001000" y="3300984"/>
            <a:ext cx="3520440" cy="868680"/>
          </a:xfrm>
          <a:prstGeom prst="roundRect">
            <a:avLst>
              <a:gd name="adj" fmla="val 9474"/>
            </a:avLst>
          </a:prstGeom>
          <a:solidFill>
            <a:srgbClr val="EEF2FA"/>
          </a:solidFill>
          <a:ln/>
          <a:effectLst>
            <a:outerShdw sx="100000" sy="100000" kx="0" ky="0" algn="bl" rotWithShape="0" blurRad="76200" dist="25400" dir="5400000">
              <a:srgbClr val="9AA4B8">
                <a:alpha val="35000"/>
              </a:srgbClr>
            </a:outerShdw>
          </a:effectLst>
        </p:spPr>
      </p:sp>
      <p:sp>
        <p:nvSpPr>
          <p:cNvPr id="32" name="Text 28"/>
          <p:cNvSpPr/>
          <p:nvPr/>
        </p:nvSpPr>
        <p:spPr>
          <a:xfrm>
            <a:off x="8138160" y="3410712"/>
            <a:ext cx="3291840" cy="274320"/>
          </a:xfrm>
          <a:prstGeom prst="rect">
            <a:avLst/>
          </a:prstGeom>
          <a:noFill/>
          <a:ln/>
        </p:spPr>
        <p:txBody>
          <a:bodyPr wrap="square" lIns="0" tIns="0" rIns="0" bIns="0" rtlCol="0" anchor="ctr"/>
          <a:lstStyle/>
          <a:p>
            <a:pPr indent="0" marL="0">
              <a:buNone/>
            </a:pPr>
            <a:r>
              <a:rPr lang="en-US" sz="1100" b="1" dirty="0">
                <a:solidFill>
                  <a:srgbClr val="232946"/>
                </a:solidFill>
                <a:latin typeface="Arial" pitchFamily="34" charset="0"/>
                <a:ea typeface="Arial" pitchFamily="34" charset="-122"/>
                <a:cs typeface="Arial" pitchFamily="34" charset="-120"/>
              </a:rPr>
              <a:t>litellm :4000 → model :8090 / cloud</a:t>
            </a:r>
            <a:endParaRPr lang="en-US" sz="1100" dirty="0"/>
          </a:p>
        </p:txBody>
      </p:sp>
      <p:sp>
        <p:nvSpPr>
          <p:cNvPr id="33" name="Text 29"/>
          <p:cNvSpPr/>
          <p:nvPr/>
        </p:nvSpPr>
        <p:spPr>
          <a:xfrm>
            <a:off x="8138160" y="3694176"/>
            <a:ext cx="3291840" cy="274320"/>
          </a:xfrm>
          <a:prstGeom prst="rect">
            <a:avLst/>
          </a:prstGeom>
          <a:noFill/>
          <a:ln/>
        </p:spPr>
        <p:txBody>
          <a:bodyPr wrap="square" lIns="0" tIns="0" rIns="0" bIns="0" rtlCol="0" anchor="ctr"/>
          <a:lstStyle/>
          <a:p>
            <a:pPr indent="0" marL="0">
              <a:buNone/>
            </a:pPr>
            <a:r>
              <a:rPr lang="en-US" sz="900" dirty="0">
                <a:solidFill>
                  <a:srgbClr val="2C7A4B"/>
                </a:solidFill>
                <a:latin typeface="Calibri" pitchFamily="34" charset="0"/>
                <a:ea typeface="Calibri" pitchFamily="34" charset="-122"/>
                <a:cs typeface="Calibri" pitchFamily="34" charset="-120"/>
              </a:rPr>
              <a:t>UNCHANGED — vision calls ride the same proxy</a:t>
            </a:r>
            <a:endParaRPr lang="en-US" sz="900" dirty="0"/>
          </a:p>
        </p:txBody>
      </p:sp>
      <p:sp>
        <p:nvSpPr>
          <p:cNvPr id="34" name="Shape 30"/>
          <p:cNvSpPr/>
          <p:nvPr/>
        </p:nvSpPr>
        <p:spPr>
          <a:xfrm>
            <a:off x="5669280" y="5129784"/>
            <a:ext cx="0" cy="365760"/>
          </a:xfrm>
          <a:prstGeom prst="line">
            <a:avLst/>
          </a:prstGeom>
          <a:noFill/>
          <a:ln w="31750">
            <a:solidFill>
              <a:srgbClr val="E8871E"/>
            </a:solidFill>
            <a:prstDash val="solid"/>
            <a:tailEnd type="triangle"/>
          </a:ln>
        </p:spPr>
      </p:sp>
      <p:sp>
        <p:nvSpPr>
          <p:cNvPr id="35" name="Shape 31"/>
          <p:cNvSpPr/>
          <p:nvPr/>
        </p:nvSpPr>
        <p:spPr>
          <a:xfrm>
            <a:off x="4023360" y="5541264"/>
            <a:ext cx="3291840" cy="822960"/>
          </a:xfrm>
          <a:prstGeom prst="roundRect">
            <a:avLst>
              <a:gd name="adj" fmla="val 10000"/>
            </a:avLst>
          </a:prstGeom>
          <a:solidFill>
            <a:srgbClr val="FBF1E3"/>
          </a:solidFill>
          <a:ln/>
          <a:effectLst>
            <a:outerShdw sx="100000" sy="100000" kx="0" ky="0" algn="bl" rotWithShape="0" blurRad="76200" dist="25400" dir="5400000">
              <a:srgbClr val="9AA4B8">
                <a:alpha val="35000"/>
              </a:srgbClr>
            </a:outerShdw>
          </a:effectLst>
        </p:spPr>
      </p:sp>
      <p:sp>
        <p:nvSpPr>
          <p:cNvPr id="36" name="Shape 32"/>
          <p:cNvSpPr/>
          <p:nvPr/>
        </p:nvSpPr>
        <p:spPr>
          <a:xfrm>
            <a:off x="6492240" y="5632704"/>
            <a:ext cx="713232" cy="237744"/>
          </a:xfrm>
          <a:prstGeom prst="roundRect">
            <a:avLst>
              <a:gd name="adj" fmla="val 50000"/>
            </a:avLst>
          </a:prstGeom>
          <a:solidFill>
            <a:srgbClr val="E8871E"/>
          </a:solidFill>
          <a:ln/>
        </p:spPr>
      </p:sp>
      <p:sp>
        <p:nvSpPr>
          <p:cNvPr id="37" name="Text 33"/>
          <p:cNvSpPr/>
          <p:nvPr/>
        </p:nvSpPr>
        <p:spPr>
          <a:xfrm>
            <a:off x="6492240" y="5632704"/>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NEW</a:t>
            </a:r>
            <a:endParaRPr lang="en-US" sz="850" dirty="0"/>
          </a:p>
        </p:txBody>
      </p:sp>
      <p:sp>
        <p:nvSpPr>
          <p:cNvPr id="38" name="Text 34"/>
          <p:cNvSpPr/>
          <p:nvPr/>
        </p:nvSpPr>
        <p:spPr>
          <a:xfrm>
            <a:off x="4187952" y="5632704"/>
            <a:ext cx="2286000" cy="256032"/>
          </a:xfrm>
          <a:prstGeom prst="rect">
            <a:avLst/>
          </a:prstGeom>
          <a:noFill/>
          <a:ln/>
        </p:spPr>
        <p:txBody>
          <a:bodyPr wrap="square" lIns="0" tIns="0" rIns="0" bIns="0" rtlCol="0" anchor="ctr"/>
          <a:lstStyle/>
          <a:p>
            <a:pPr indent="0" marL="0">
              <a:buNone/>
            </a:pPr>
            <a:r>
              <a:rPr lang="en-US" sz="1100" b="1" dirty="0">
                <a:solidFill>
                  <a:srgbClr val="232946"/>
                </a:solidFill>
                <a:latin typeface="Arial" pitchFamily="34" charset="0"/>
                <a:ea typeface="Arial" pitchFamily="34" charset="-122"/>
                <a:cs typeface="Arial" pitchFamily="34" charset="-120"/>
              </a:rPr>
              <a:t>RAG store — rag/chroma/</a:t>
            </a:r>
            <a:endParaRPr lang="en-US" sz="1100" dirty="0"/>
          </a:p>
        </p:txBody>
      </p:sp>
      <p:sp>
        <p:nvSpPr>
          <p:cNvPr id="39" name="Text 35"/>
          <p:cNvSpPr/>
          <p:nvPr/>
        </p:nvSpPr>
        <p:spPr>
          <a:xfrm>
            <a:off x="4187952" y="5888736"/>
            <a:ext cx="3017520" cy="411480"/>
          </a:xfrm>
          <a:prstGeom prst="rect">
            <a:avLst/>
          </a:prstGeom>
          <a:noFill/>
          <a:ln/>
        </p:spPr>
        <p:txBody>
          <a:bodyPr wrap="square" lIns="0" tIns="0" rIns="0" bIns="0" rtlCol="0" anchor="ctr"/>
          <a:lstStyle/>
          <a:p>
            <a:pPr indent="0" marL="0">
              <a:buNone/>
            </a:pPr>
            <a:r>
              <a:rPr lang="en-US" sz="850" dirty="0">
                <a:solidFill>
                  <a:srgbClr val="5A6478"/>
                </a:solidFill>
                <a:latin typeface="Calibri" pitchFamily="34" charset="0"/>
                <a:ea typeface="Calibri" pitchFamily="34" charset="-122"/>
                <a:cs typeface="Calibri" pitchFamily="34" charset="-120"/>
              </a:rPr>
              <a:t>45 clause chunks · metadata {doc, clause_id} · embedded chromadb</a:t>
            </a:r>
            <a:endParaRPr lang="en-US" sz="850" dirty="0"/>
          </a:p>
        </p:txBody>
      </p:sp>
      <p:sp>
        <p:nvSpPr>
          <p:cNvPr id="40" name="Shape 36"/>
          <p:cNvSpPr/>
          <p:nvPr/>
        </p:nvSpPr>
        <p:spPr>
          <a:xfrm>
            <a:off x="8001000" y="5541264"/>
            <a:ext cx="3520440" cy="822960"/>
          </a:xfrm>
          <a:prstGeom prst="roundRect">
            <a:avLst>
              <a:gd name="adj" fmla="val 10000"/>
            </a:avLst>
          </a:prstGeom>
          <a:solidFill>
            <a:srgbClr val="EEF2FA"/>
          </a:solidFill>
          <a:ln/>
          <a:effectLst>
            <a:outerShdw sx="100000" sy="100000" kx="0" ky="0" algn="bl" rotWithShape="0" blurRad="76200" dist="25400" dir="5400000">
              <a:srgbClr val="9AA4B8">
                <a:alpha val="35000"/>
              </a:srgbClr>
            </a:outerShdw>
          </a:effectLst>
        </p:spPr>
      </p:sp>
      <p:sp>
        <p:nvSpPr>
          <p:cNvPr id="41" name="Text 37"/>
          <p:cNvSpPr/>
          <p:nvPr/>
        </p:nvSpPr>
        <p:spPr>
          <a:xfrm>
            <a:off x="8138160" y="5632704"/>
            <a:ext cx="3291840" cy="256032"/>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data/policies/*.md — clause-numbered</a:t>
            </a:r>
            <a:endParaRPr lang="en-US" sz="1050" dirty="0"/>
          </a:p>
        </p:txBody>
      </p:sp>
      <p:sp>
        <p:nvSpPr>
          <p:cNvPr id="42" name="Text 38"/>
          <p:cNvSpPr/>
          <p:nvPr/>
        </p:nvSpPr>
        <p:spPr>
          <a:xfrm>
            <a:off x="8138160" y="5888736"/>
            <a:ext cx="3291840" cy="365760"/>
          </a:xfrm>
          <a:prstGeom prst="rect">
            <a:avLst/>
          </a:prstGeom>
          <a:noFill/>
          <a:ln/>
        </p:spPr>
        <p:txBody>
          <a:bodyPr wrap="square" lIns="0" tIns="0" rIns="0" bIns="0" rtlCol="0" anchor="ctr"/>
          <a:lstStyle/>
          <a:p>
            <a:pPr indent="0" marL="0">
              <a:buNone/>
            </a:pPr>
            <a:r>
              <a:rPr lang="en-US" sz="850" dirty="0">
                <a:solidFill>
                  <a:srgbClr val="5A6478"/>
                </a:solidFill>
                <a:latin typeface="Calibri" pitchFamily="34" charset="0"/>
                <a:ea typeface="Calibri" pitchFamily="34" charset="-122"/>
                <a:cs typeface="Calibri" pitchFamily="34" charset="-120"/>
              </a:rPr>
              <a:t>ingested by rag/ingest.py (idempotent rebuild)</a:t>
            </a:r>
            <a:endParaRPr lang="en-US" sz="850" dirty="0"/>
          </a:p>
        </p:txBody>
      </p:sp>
      <p:sp>
        <p:nvSpPr>
          <p:cNvPr id="43" name="Shape 39"/>
          <p:cNvSpPr/>
          <p:nvPr/>
        </p:nvSpPr>
        <p:spPr>
          <a:xfrm>
            <a:off x="640080" y="5806440"/>
            <a:ext cx="10881360" cy="566928"/>
          </a:xfrm>
          <a:prstGeom prst="roundRect">
            <a:avLst>
              <a:gd name="adj" fmla="val 14516"/>
            </a:avLst>
          </a:prstGeom>
          <a:solidFill>
            <a:srgbClr val="232946"/>
          </a:solidFill>
          <a:ln/>
          <a:effectLst>
            <a:outerShdw sx="100000" sy="100000" kx="0" ky="0" algn="bl" rotWithShape="0" blurRad="76200" dist="25400" dir="5400000">
              <a:srgbClr val="9AA4B8">
                <a:alpha val="35000"/>
              </a:srgbClr>
            </a:outerShdw>
          </a:effectLst>
        </p:spPr>
      </p:sp>
      <p:sp>
        <p:nvSpPr>
          <p:cNvPr id="44" name="Text 40"/>
          <p:cNvSpPr/>
          <p:nvPr/>
        </p:nvSpPr>
        <p:spPr>
          <a:xfrm>
            <a:off x="868680" y="5852160"/>
            <a:ext cx="10424160" cy="475488"/>
          </a:xfrm>
          <a:prstGeom prst="rect">
            <a:avLst/>
          </a:prstGeom>
          <a:noFill/>
          <a:ln/>
        </p:spPr>
        <p:txBody>
          <a:bodyPr wrap="square" lIns="0" tIns="0" rIns="0" bIns="0" rtlCol="0" anchor="ctr"/>
          <a:lstStyle/>
          <a:p>
            <a:pPr indent="0" marL="0">
              <a:buNone/>
            </a:pPr>
            <a:r>
              <a:rPr lang="en-US" sz="1250" b="1" dirty="0">
                <a:solidFill>
                  <a:srgbClr val="F5B971"/>
                </a:solidFill>
                <a:latin typeface="Calibri" pitchFamily="34" charset="0"/>
                <a:ea typeface="Calibri" pitchFamily="34" charset="-122"/>
                <a:cs typeface="Calibri" pitchFamily="34" charset="-120"/>
              </a:rPr>
              <a:t>The point of v3:  </a:t>
            </a:r>
            <a:pPr indent="0" marL="0">
              <a:buNone/>
            </a:pPr>
            <a:r>
              <a:rPr lang="en-US" sz="1250" dirty="0">
                <a:solidFill>
                  <a:srgbClr val="FFFFFF"/>
                </a:solidFill>
                <a:latin typeface="Calibri" pitchFamily="34" charset="0"/>
                <a:ea typeface="Calibri" pitchFamily="34" charset="-122"/>
                <a:cs typeface="Calibri" pitchFamily="34" charset="-120"/>
              </a:rPr>
              <a:t>the answer is no longer the product — the answer plus its evidence is. Citations, confidence and honest refusal are API fields, not UI decoration.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THE BUSINESS CASE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Why product features need retrieval: two structural failures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54480"/>
            <a:ext cx="5349240" cy="3017520"/>
          </a:xfrm>
          <a:prstGeom prst="roundRect">
            <a:avLst>
              <a:gd name="adj" fmla="val 2727"/>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68680" y="1783080"/>
            <a:ext cx="502920" cy="502920"/>
          </a:xfrm>
          <a:prstGeom prst="ellipse">
            <a:avLst/>
          </a:prstGeom>
          <a:solidFill>
            <a:srgbClr val="232946"/>
          </a:solidFill>
          <a:ln/>
        </p:spPr>
      </p:sp>
      <p:pic>
        <p:nvPicPr>
          <p:cNvPr id="10" name="Image 1" descr="preencoded.png">    </p:cNvPr>
          <p:cNvPicPr>
            <a:picLocks noChangeAspect="1"/>
          </p:cNvPicPr>
          <p:nvPr/>
        </p:nvPicPr>
        <p:blipFill>
          <a:blip r:embed="rId2"/>
          <a:stretch>
            <a:fillRect/>
          </a:stretch>
        </p:blipFill>
        <p:spPr>
          <a:xfrm>
            <a:off x="999439" y="1913839"/>
            <a:ext cx="241402" cy="241402"/>
          </a:xfrm>
          <a:prstGeom prst="rect">
            <a:avLst/>
          </a:prstGeom>
        </p:spPr>
      </p:pic>
      <p:sp>
        <p:nvSpPr>
          <p:cNvPr id="11" name="Text 6"/>
          <p:cNvSpPr/>
          <p:nvPr/>
        </p:nvSpPr>
        <p:spPr>
          <a:xfrm>
            <a:off x="1554480" y="1828800"/>
            <a:ext cx="420624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Frozen knowledge</a:t>
            </a:r>
            <a:endParaRPr lang="en-US" sz="1600" dirty="0"/>
          </a:p>
        </p:txBody>
      </p:sp>
      <p:sp>
        <p:nvSpPr>
          <p:cNvPr id="12" name="Text 7"/>
          <p:cNvSpPr/>
          <p:nvPr/>
        </p:nvSpPr>
        <p:spPr>
          <a:xfrm>
            <a:off x="868680" y="2331720"/>
            <a:ext cx="4937760" cy="21945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Model parameters are fixed at training time — the model has never read YOUR policy documents, and never will by itself.</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Private, current and fast-changing content (clause revisions, new products) cannot live in weights.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Fine-tuning is the wrong tool for facts: slow, costly, and stale on the next document edit.</a:t>
            </a:r>
            <a:endParaRPr lang="en-US" sz="1150" dirty="0"/>
          </a:p>
        </p:txBody>
      </p:sp>
      <p:sp>
        <p:nvSpPr>
          <p:cNvPr id="13" name="Shape 8"/>
          <p:cNvSpPr/>
          <p:nvPr/>
        </p:nvSpPr>
        <p:spPr>
          <a:xfrm>
            <a:off x="6172200" y="1554480"/>
            <a:ext cx="5349240" cy="3017520"/>
          </a:xfrm>
          <a:prstGeom prst="roundRect">
            <a:avLst>
              <a:gd name="adj" fmla="val 2727"/>
            </a:avLst>
          </a:prstGeom>
          <a:solidFill>
            <a:srgbClr val="DDE6F5"/>
          </a:solidFill>
          <a:ln/>
          <a:effectLst>
            <a:outerShdw sx="100000" sy="100000" kx="0" ky="0" algn="bl" rotWithShape="0" blurRad="76200" dist="25400" dir="5400000">
              <a:srgbClr val="9AA4B8">
                <a:alpha val="35000"/>
              </a:srgbClr>
            </a:outerShdw>
          </a:effectLst>
        </p:spPr>
      </p:sp>
      <p:sp>
        <p:nvSpPr>
          <p:cNvPr id="14" name="Shape 9"/>
          <p:cNvSpPr/>
          <p:nvPr/>
        </p:nvSpPr>
        <p:spPr>
          <a:xfrm>
            <a:off x="6400800" y="1783080"/>
            <a:ext cx="502920" cy="502920"/>
          </a:xfrm>
          <a:prstGeom prst="ellipse">
            <a:avLst/>
          </a:prstGeom>
          <a:solidFill>
            <a:srgbClr val="B3402A"/>
          </a:solidFill>
          <a:ln/>
        </p:spPr>
      </p:sp>
      <p:pic>
        <p:nvPicPr>
          <p:cNvPr id="15" name="Image 2" descr="preencoded.png">    </p:cNvPr>
          <p:cNvPicPr>
            <a:picLocks noChangeAspect="1"/>
          </p:cNvPicPr>
          <p:nvPr/>
        </p:nvPicPr>
        <p:blipFill>
          <a:blip r:embed="rId3"/>
          <a:stretch>
            <a:fillRect/>
          </a:stretch>
        </p:blipFill>
        <p:spPr>
          <a:xfrm>
            <a:off x="6531559" y="1913839"/>
            <a:ext cx="241402" cy="241402"/>
          </a:xfrm>
          <a:prstGeom prst="rect">
            <a:avLst/>
          </a:prstGeom>
        </p:spPr>
      </p:pic>
      <p:sp>
        <p:nvSpPr>
          <p:cNvPr id="16" name="Text 10"/>
          <p:cNvSpPr/>
          <p:nvPr/>
        </p:nvSpPr>
        <p:spPr>
          <a:xfrm>
            <a:off x="7086600" y="1828800"/>
            <a:ext cx="420624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Hallucination risk</a:t>
            </a:r>
            <a:endParaRPr lang="en-US" sz="1600" dirty="0"/>
          </a:p>
        </p:txBody>
      </p:sp>
      <p:sp>
        <p:nvSpPr>
          <p:cNvPr id="17" name="Text 11"/>
          <p:cNvSpPr/>
          <p:nvPr/>
        </p:nvSpPr>
        <p:spPr>
          <a:xfrm>
            <a:off x="6400800" y="2331720"/>
            <a:ext cx="4937760" cy="21945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LLMs are trained to continue plausibly — asked beyond their knowledge, they produce something answer-shaped, fluently.</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In insurance, an invented clause is not a wrong answer; it is a liability: customers act on it, auditors ask for it, regulators cite it.</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Confidence of tone carries no information about correctness — the product must derive confidence from evidence.</a:t>
            </a:r>
            <a:endParaRPr lang="en-US" sz="1150" dirty="0"/>
          </a:p>
        </p:txBody>
      </p:sp>
      <p:sp>
        <p:nvSpPr>
          <p:cNvPr id="18" name="Shape 12"/>
          <p:cNvSpPr/>
          <p:nvPr/>
        </p:nvSpPr>
        <p:spPr>
          <a:xfrm>
            <a:off x="640080" y="4892040"/>
            <a:ext cx="10881360" cy="1371600"/>
          </a:xfrm>
          <a:prstGeom prst="roundRect">
            <a:avLst>
              <a:gd name="adj" fmla="val 6000"/>
            </a:avLst>
          </a:prstGeom>
          <a:solidFill>
            <a:srgbClr val="232946"/>
          </a:solidFill>
          <a:ln/>
          <a:effectLst>
            <a:outerShdw sx="100000" sy="100000" kx="0" ky="0" algn="bl" rotWithShape="0" blurRad="76200" dist="25400" dir="5400000">
              <a:srgbClr val="9AA4B8">
                <a:alpha val="35000"/>
              </a:srgbClr>
            </a:outerShdw>
          </a:effectLst>
        </p:spPr>
      </p:sp>
      <p:sp>
        <p:nvSpPr>
          <p:cNvPr id="19" name="Text 13"/>
          <p:cNvSpPr/>
          <p:nvPr/>
        </p:nvSpPr>
        <p:spPr>
          <a:xfrm>
            <a:off x="868680" y="5047488"/>
            <a:ext cx="4572000" cy="292608"/>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The product requirement</a:t>
            </a:r>
            <a:endParaRPr lang="en-US" sz="1300" dirty="0"/>
          </a:p>
        </p:txBody>
      </p:sp>
      <p:sp>
        <p:nvSpPr>
          <p:cNvPr id="20" name="Text 14"/>
          <p:cNvSpPr/>
          <p:nvPr/>
        </p:nvSpPr>
        <p:spPr>
          <a:xfrm>
            <a:off x="868680" y="5376672"/>
            <a:ext cx="1042416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Every answer must be traceable to a source the business controls — and when no source exists, the system must say so. That is retrieval-augmented generation plus an honesty contract, and both are testable.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GROUNDING</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Grounding: move the knowledge from weights into the prompt</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54480"/>
            <a:ext cx="5349240" cy="2331720"/>
          </a:xfrm>
          <a:prstGeom prst="roundRect">
            <a:avLst>
              <a:gd name="adj" fmla="val 3529"/>
            </a:avLst>
          </a:prstGeom>
          <a:solidFill>
            <a:srgbClr val="F8ECE8"/>
          </a:solidFill>
          <a:ln/>
          <a:effectLst>
            <a:outerShdw sx="100000" sy="100000" kx="0" ky="0" algn="bl" rotWithShape="0" blurRad="76200" dist="25400" dir="5400000">
              <a:srgbClr val="9AA4B8">
                <a:alpha val="35000"/>
              </a:srgbClr>
            </a:outerShdw>
          </a:effectLst>
        </p:spPr>
      </p:sp>
      <p:sp>
        <p:nvSpPr>
          <p:cNvPr id="9" name="Text 5"/>
          <p:cNvSpPr/>
          <p:nvPr/>
        </p:nvSpPr>
        <p:spPr>
          <a:xfrm>
            <a:off x="868680" y="1700784"/>
            <a:ext cx="4846320" cy="320040"/>
          </a:xfrm>
          <a:prstGeom prst="rect">
            <a:avLst/>
          </a:prstGeom>
          <a:noFill/>
          <a:ln/>
        </p:spPr>
        <p:txBody>
          <a:bodyPr wrap="square" lIns="0" tIns="0" rIns="0" bIns="0" rtlCol="0" anchor="ctr"/>
          <a:lstStyle/>
          <a:p>
            <a:pPr indent="0" marL="0">
              <a:buNone/>
            </a:pPr>
            <a:r>
              <a:rPr lang="en-US" sz="1400" b="1" dirty="0">
                <a:solidFill>
                  <a:srgbClr val="B3402A"/>
                </a:solidFill>
                <a:latin typeface="Arial" pitchFamily="34" charset="0"/>
                <a:ea typeface="Arial" pitchFamily="34" charset="-122"/>
                <a:cs typeface="Arial" pitchFamily="34" charset="-120"/>
              </a:rPr>
              <a:t>Closed-book (v2 for policy questions)</a:t>
            </a:r>
            <a:endParaRPr lang="en-US" sz="1400" dirty="0"/>
          </a:p>
        </p:txBody>
      </p:sp>
      <p:sp>
        <p:nvSpPr>
          <p:cNvPr id="10" name="Text 6"/>
          <p:cNvSpPr/>
          <p:nvPr/>
        </p:nvSpPr>
        <p:spPr>
          <a:xfrm>
            <a:off x="868680" y="2084832"/>
            <a:ext cx="4846320" cy="274320"/>
          </a:xfrm>
          <a:prstGeom prst="rect">
            <a:avLst/>
          </a:prstGeom>
          <a:noFill/>
          <a:ln/>
        </p:spPr>
        <p:txBody>
          <a:bodyPr wrap="square" lIns="0" tIns="0" rIns="0" bIns="0" rtlCol="0" anchor="ctr"/>
          <a:lstStyle/>
          <a:p>
            <a:pPr indent="0" marL="0">
              <a:buNone/>
            </a:pPr>
            <a:r>
              <a:rPr lang="en-US" sz="1100" dirty="0">
                <a:solidFill>
                  <a:srgbClr val="232946"/>
                </a:solidFill>
                <a:latin typeface="Courier New" pitchFamily="34" charset="0"/>
                <a:ea typeface="Courier New" pitchFamily="34" charset="-122"/>
                <a:cs typeface="Courier New" pitchFamily="34" charset="-120"/>
              </a:rPr>
              <a:t>question → model parameters → answer</a:t>
            </a:r>
            <a:endParaRPr lang="en-US" sz="1100" dirty="0"/>
          </a:p>
        </p:txBody>
      </p:sp>
      <p:sp>
        <p:nvSpPr>
          <p:cNvPr id="11" name="Text 7"/>
          <p:cNvSpPr/>
          <p:nvPr/>
        </p:nvSpPr>
        <p:spPr>
          <a:xfrm>
            <a:off x="868680" y="2450592"/>
            <a:ext cx="4937760" cy="13716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No source: the answer cannot be attributed or audited</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No update path short of retraining</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Out-of-knowledge questions produce confident fabrication</a:t>
            </a:r>
            <a:endParaRPr lang="en-US" sz="1100" dirty="0"/>
          </a:p>
        </p:txBody>
      </p:sp>
      <p:sp>
        <p:nvSpPr>
          <p:cNvPr id="12" name="Shape 8"/>
          <p:cNvSpPr/>
          <p:nvPr/>
        </p:nvSpPr>
        <p:spPr>
          <a:xfrm>
            <a:off x="6172200" y="1554480"/>
            <a:ext cx="5349240" cy="2331720"/>
          </a:xfrm>
          <a:prstGeom prst="roundRect">
            <a:avLst>
              <a:gd name="adj" fmla="val 3529"/>
            </a:avLst>
          </a:prstGeom>
          <a:solidFill>
            <a:srgbClr val="EAF4EC"/>
          </a:solidFill>
          <a:ln/>
          <a:effectLst>
            <a:outerShdw sx="100000" sy="100000" kx="0" ky="0" algn="bl" rotWithShape="0" blurRad="76200" dist="25400" dir="5400000">
              <a:srgbClr val="9AA4B8">
                <a:alpha val="35000"/>
              </a:srgbClr>
            </a:outerShdw>
          </a:effectLst>
        </p:spPr>
      </p:sp>
      <p:sp>
        <p:nvSpPr>
          <p:cNvPr id="13" name="Text 9"/>
          <p:cNvSpPr/>
          <p:nvPr/>
        </p:nvSpPr>
        <p:spPr>
          <a:xfrm>
            <a:off x="6400800" y="1700784"/>
            <a:ext cx="4846320" cy="320040"/>
          </a:xfrm>
          <a:prstGeom prst="rect">
            <a:avLst/>
          </a:prstGeom>
          <a:noFill/>
          <a:ln/>
        </p:spPr>
        <p:txBody>
          <a:bodyPr wrap="square" lIns="0" tIns="0" rIns="0" bIns="0" rtlCol="0" anchor="ctr"/>
          <a:lstStyle/>
          <a:p>
            <a:pPr indent="0" marL="0">
              <a:buNone/>
            </a:pPr>
            <a:r>
              <a:rPr lang="en-US" sz="1400" b="1" dirty="0">
                <a:solidFill>
                  <a:srgbClr val="2C7A4B"/>
                </a:solidFill>
                <a:latin typeface="Arial" pitchFamily="34" charset="0"/>
                <a:ea typeface="Arial" pitchFamily="34" charset="-122"/>
                <a:cs typeface="Arial" pitchFamily="34" charset="-120"/>
              </a:rPr>
              <a:t>Open-book (v3)</a:t>
            </a:r>
            <a:endParaRPr lang="en-US" sz="1400" dirty="0"/>
          </a:p>
        </p:txBody>
      </p:sp>
      <p:sp>
        <p:nvSpPr>
          <p:cNvPr id="14" name="Text 10"/>
          <p:cNvSpPr/>
          <p:nvPr/>
        </p:nvSpPr>
        <p:spPr>
          <a:xfrm>
            <a:off x="6400800" y="2084832"/>
            <a:ext cx="4937760" cy="457200"/>
          </a:xfrm>
          <a:prstGeom prst="rect">
            <a:avLst/>
          </a:prstGeom>
          <a:noFill/>
          <a:ln/>
        </p:spPr>
        <p:txBody>
          <a:bodyPr wrap="square" lIns="0" tIns="0" rIns="0" bIns="0" rtlCol="0" anchor="ctr"/>
          <a:lstStyle/>
          <a:p>
            <a:pPr indent="0" marL="0">
              <a:buNone/>
            </a:pPr>
            <a:r>
              <a:rPr lang="en-US" sz="1000" dirty="0">
                <a:solidFill>
                  <a:srgbClr val="232946"/>
                </a:solidFill>
                <a:latin typeface="Courier New" pitchFamily="34" charset="0"/>
                <a:ea typeface="Courier New" pitchFamily="34" charset="-122"/>
                <a:cs typeface="Courier New" pitchFamily="34" charset="-120"/>
              </a:rPr>
              <a:t>question → retrieve clauses → answer ONLY</a:t>
            </a:r>
            <a:endParaRPr lang="en-US" sz="1000" dirty="0"/>
          </a:p>
          <a:p>
            <a:pPr indent="0" marL="0">
              <a:buNone/>
            </a:pPr>
            <a:r>
              <a:rPr lang="en-US" sz="1000" dirty="0">
                <a:solidFill>
                  <a:srgbClr val="232946"/>
                </a:solidFill>
                <a:latin typeface="Courier New" pitchFamily="34" charset="0"/>
                <a:ea typeface="Courier New" pitchFamily="34" charset="-122"/>
                <a:cs typeface="Courier New" pitchFamily="34" charset="-120"/>
              </a:rPr>
              <a:t>from them, citing ids — or NOT_IN_POLICY</a:t>
            </a:r>
            <a:endParaRPr lang="en-US" sz="1000" dirty="0"/>
          </a:p>
        </p:txBody>
      </p:sp>
      <p:sp>
        <p:nvSpPr>
          <p:cNvPr id="15" name="Text 11"/>
          <p:cNvSpPr/>
          <p:nvPr/>
        </p:nvSpPr>
        <p:spPr>
          <a:xfrm>
            <a:off x="6400800" y="2606040"/>
            <a:ext cx="4937760" cy="12344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Every answer traceable to numbered context</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Knowledge update = re-run ingest (minutes)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Refusal is checkable: 'not in the context' is a condition, not a feeling</a:t>
            </a:r>
            <a:endParaRPr lang="en-US" sz="1100" dirty="0"/>
          </a:p>
        </p:txBody>
      </p:sp>
      <p:sp>
        <p:nvSpPr>
          <p:cNvPr id="16" name="Shape 12"/>
          <p:cNvSpPr/>
          <p:nvPr/>
        </p:nvSpPr>
        <p:spPr>
          <a:xfrm>
            <a:off x="640080" y="4160520"/>
            <a:ext cx="10881360" cy="2103120"/>
          </a:xfrm>
          <a:prstGeom prst="roundRect">
            <a:avLst>
              <a:gd name="adj" fmla="val 3913"/>
            </a:avLst>
          </a:prstGeom>
          <a:solidFill>
            <a:srgbClr val="EEF2FA"/>
          </a:solidFill>
          <a:ln/>
          <a:effectLst>
            <a:outerShdw sx="100000" sy="100000" kx="0" ky="0" algn="bl" rotWithShape="0" blurRad="76200" dist="25400" dir="5400000">
              <a:srgbClr val="9AA4B8">
                <a:alpha val="35000"/>
              </a:srgbClr>
            </a:outerShdw>
          </a:effectLst>
        </p:spPr>
      </p:sp>
      <p:sp>
        <p:nvSpPr>
          <p:cNvPr id="17" name="Text 13"/>
          <p:cNvSpPr/>
          <p:nvPr/>
        </p:nvSpPr>
        <p:spPr>
          <a:xfrm>
            <a:off x="868680" y="4297680"/>
            <a:ext cx="548640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The grounded prompt anatomy (v3 /ask)</a:t>
            </a:r>
            <a:endParaRPr lang="en-US" sz="1350" dirty="0"/>
          </a:p>
        </p:txBody>
      </p:sp>
      <p:sp>
        <p:nvSpPr>
          <p:cNvPr id="18" name="Shape 14"/>
          <p:cNvSpPr/>
          <p:nvPr/>
        </p:nvSpPr>
        <p:spPr>
          <a:xfrm>
            <a:off x="868680" y="4709160"/>
            <a:ext cx="2560320" cy="1325880"/>
          </a:xfrm>
          <a:prstGeom prst="roundRect">
            <a:avLst>
              <a:gd name="adj" fmla="val 5517"/>
            </a:avLst>
          </a:prstGeom>
          <a:solidFill>
            <a:srgbClr val="FFFFFF"/>
          </a:solidFill>
          <a:ln w="9525">
            <a:solidFill>
              <a:srgbClr val="C9D3E6"/>
            </a:solidFill>
            <a:prstDash val="solid"/>
          </a:ln>
        </p:spPr>
      </p:sp>
      <p:sp>
        <p:nvSpPr>
          <p:cNvPr id="19" name="Text 15"/>
          <p:cNvSpPr/>
          <p:nvPr/>
        </p:nvSpPr>
        <p:spPr>
          <a:xfrm>
            <a:off x="978408" y="4809744"/>
            <a:ext cx="2340864" cy="274320"/>
          </a:xfrm>
          <a:prstGeom prst="rect">
            <a:avLst/>
          </a:prstGeom>
          <a:noFill/>
          <a:ln/>
        </p:spPr>
        <p:txBody>
          <a:bodyPr wrap="square" lIns="0" tIns="0" rIns="0" bIns="0" rtlCol="0" anchor="ctr"/>
          <a:lstStyle/>
          <a:p>
            <a:pPr indent="0" marL="0">
              <a:buNone/>
            </a:pPr>
            <a:r>
              <a:rPr lang="en-US" sz="1100" b="1" dirty="0">
                <a:solidFill>
                  <a:srgbClr val="E8871E"/>
                </a:solidFill>
                <a:latin typeface="Arial" pitchFamily="34" charset="0"/>
                <a:ea typeface="Arial" pitchFamily="34" charset="-122"/>
                <a:cs typeface="Arial" pitchFamily="34" charset="-120"/>
              </a:rPr>
              <a:t>1 · Instruction</a:t>
            </a:r>
            <a:endParaRPr lang="en-US" sz="1100" dirty="0"/>
          </a:p>
        </p:txBody>
      </p:sp>
      <p:sp>
        <p:nvSpPr>
          <p:cNvPr id="20" name="Text 16"/>
          <p:cNvSpPr/>
          <p:nvPr/>
        </p:nvSpPr>
        <p:spPr>
          <a:xfrm>
            <a:off x="978408" y="5102352"/>
            <a:ext cx="2340864" cy="86868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answer ONLY from the context; cite clause ids; NOT_IN_POLICY escape</a:t>
            </a:r>
            <a:endParaRPr lang="en-US" sz="950" dirty="0"/>
          </a:p>
        </p:txBody>
      </p:sp>
      <p:sp>
        <p:nvSpPr>
          <p:cNvPr id="21" name="Shape 17"/>
          <p:cNvSpPr/>
          <p:nvPr/>
        </p:nvSpPr>
        <p:spPr>
          <a:xfrm>
            <a:off x="3566160" y="4709160"/>
            <a:ext cx="2560320" cy="1325880"/>
          </a:xfrm>
          <a:prstGeom prst="roundRect">
            <a:avLst>
              <a:gd name="adj" fmla="val 5517"/>
            </a:avLst>
          </a:prstGeom>
          <a:solidFill>
            <a:srgbClr val="FFFFFF"/>
          </a:solidFill>
          <a:ln w="9525">
            <a:solidFill>
              <a:srgbClr val="C9D3E6"/>
            </a:solidFill>
            <a:prstDash val="solid"/>
          </a:ln>
        </p:spPr>
      </p:sp>
      <p:sp>
        <p:nvSpPr>
          <p:cNvPr id="22" name="Text 18"/>
          <p:cNvSpPr/>
          <p:nvPr/>
        </p:nvSpPr>
        <p:spPr>
          <a:xfrm>
            <a:off x="3675888" y="4809744"/>
            <a:ext cx="2340864" cy="274320"/>
          </a:xfrm>
          <a:prstGeom prst="rect">
            <a:avLst/>
          </a:prstGeom>
          <a:noFill/>
          <a:ln/>
        </p:spPr>
        <p:txBody>
          <a:bodyPr wrap="square" lIns="0" tIns="0" rIns="0" bIns="0" rtlCol="0" anchor="ctr"/>
          <a:lstStyle/>
          <a:p>
            <a:pPr indent="0" marL="0">
              <a:buNone/>
            </a:pPr>
            <a:r>
              <a:rPr lang="en-US" sz="1100" b="1" dirty="0">
                <a:solidFill>
                  <a:srgbClr val="232946"/>
                </a:solidFill>
                <a:latin typeface="Arial" pitchFamily="34" charset="0"/>
                <a:ea typeface="Arial" pitchFamily="34" charset="-122"/>
                <a:cs typeface="Arial" pitchFamily="34" charset="-120"/>
              </a:rPr>
              <a:t>2 · Numbered context</a:t>
            </a:r>
            <a:endParaRPr lang="en-US" sz="1100" dirty="0"/>
          </a:p>
        </p:txBody>
      </p:sp>
      <p:sp>
        <p:nvSpPr>
          <p:cNvPr id="23" name="Text 19"/>
          <p:cNvSpPr/>
          <p:nvPr/>
        </p:nvSpPr>
        <p:spPr>
          <a:xfrm>
            <a:off x="3675888" y="5102352"/>
            <a:ext cx="2340864" cy="86868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top-4 retrieved clauses, each prefixed [M-2.3] (doc)</a:t>
            </a:r>
            <a:endParaRPr lang="en-US" sz="950" dirty="0"/>
          </a:p>
        </p:txBody>
      </p:sp>
      <p:sp>
        <p:nvSpPr>
          <p:cNvPr id="24" name="Shape 20"/>
          <p:cNvSpPr/>
          <p:nvPr/>
        </p:nvSpPr>
        <p:spPr>
          <a:xfrm>
            <a:off x="6263640" y="4709160"/>
            <a:ext cx="2560320" cy="1325880"/>
          </a:xfrm>
          <a:prstGeom prst="roundRect">
            <a:avLst>
              <a:gd name="adj" fmla="val 5517"/>
            </a:avLst>
          </a:prstGeom>
          <a:solidFill>
            <a:srgbClr val="FFFFFF"/>
          </a:solidFill>
          <a:ln w="9525">
            <a:solidFill>
              <a:srgbClr val="C9D3E6"/>
            </a:solidFill>
            <a:prstDash val="solid"/>
          </a:ln>
        </p:spPr>
      </p:sp>
      <p:sp>
        <p:nvSpPr>
          <p:cNvPr id="25" name="Text 21"/>
          <p:cNvSpPr/>
          <p:nvPr/>
        </p:nvSpPr>
        <p:spPr>
          <a:xfrm>
            <a:off x="6373368" y="4809744"/>
            <a:ext cx="2340864" cy="274320"/>
          </a:xfrm>
          <a:prstGeom prst="rect">
            <a:avLst/>
          </a:prstGeom>
          <a:noFill/>
          <a:ln/>
        </p:spPr>
        <p:txBody>
          <a:bodyPr wrap="square" lIns="0" tIns="0" rIns="0" bIns="0" rtlCol="0" anchor="ctr"/>
          <a:lstStyle/>
          <a:p>
            <a:pPr indent="0" marL="0">
              <a:buNone/>
            </a:pPr>
            <a:r>
              <a:rPr lang="en-US" sz="1100" b="1" dirty="0">
                <a:solidFill>
                  <a:srgbClr val="232946"/>
                </a:solidFill>
                <a:latin typeface="Arial" pitchFamily="34" charset="0"/>
                <a:ea typeface="Arial" pitchFamily="34" charset="-122"/>
                <a:cs typeface="Arial" pitchFamily="34" charset="-120"/>
              </a:rPr>
              <a:t>3 · Claim record</a:t>
            </a:r>
            <a:endParaRPr lang="en-US" sz="1100" dirty="0"/>
          </a:p>
        </p:txBody>
      </p:sp>
      <p:sp>
        <p:nvSpPr>
          <p:cNvPr id="26" name="Text 22"/>
          <p:cNvSpPr/>
          <p:nvPr/>
        </p:nvSpPr>
        <p:spPr>
          <a:xfrm>
            <a:off x="6373368" y="5102352"/>
            <a:ext cx="2340864" cy="86868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the selected claim JSON — record facts stay grounded too</a:t>
            </a:r>
            <a:endParaRPr lang="en-US" sz="950" dirty="0"/>
          </a:p>
        </p:txBody>
      </p:sp>
      <p:sp>
        <p:nvSpPr>
          <p:cNvPr id="27" name="Shape 23"/>
          <p:cNvSpPr/>
          <p:nvPr/>
        </p:nvSpPr>
        <p:spPr>
          <a:xfrm>
            <a:off x="8961120" y="4709160"/>
            <a:ext cx="2560320" cy="1325880"/>
          </a:xfrm>
          <a:prstGeom prst="roundRect">
            <a:avLst>
              <a:gd name="adj" fmla="val 5517"/>
            </a:avLst>
          </a:prstGeom>
          <a:solidFill>
            <a:srgbClr val="FFFFFF"/>
          </a:solidFill>
          <a:ln w="9525">
            <a:solidFill>
              <a:srgbClr val="C9D3E6"/>
            </a:solidFill>
            <a:prstDash val="solid"/>
          </a:ln>
        </p:spPr>
      </p:sp>
      <p:sp>
        <p:nvSpPr>
          <p:cNvPr id="28" name="Text 24"/>
          <p:cNvSpPr/>
          <p:nvPr/>
        </p:nvSpPr>
        <p:spPr>
          <a:xfrm>
            <a:off x="9070848" y="4809744"/>
            <a:ext cx="2340864" cy="274320"/>
          </a:xfrm>
          <a:prstGeom prst="rect">
            <a:avLst/>
          </a:prstGeom>
          <a:noFill/>
          <a:ln/>
        </p:spPr>
        <p:txBody>
          <a:bodyPr wrap="square" lIns="0" tIns="0" rIns="0" bIns="0" rtlCol="0" anchor="ctr"/>
          <a:lstStyle/>
          <a:p>
            <a:pPr indent="0" marL="0">
              <a:buNone/>
            </a:pPr>
            <a:r>
              <a:rPr lang="en-US" sz="1100" b="1" dirty="0">
                <a:solidFill>
                  <a:srgbClr val="232946"/>
                </a:solidFill>
                <a:latin typeface="Arial" pitchFamily="34" charset="0"/>
                <a:ea typeface="Arial" pitchFamily="34" charset="-122"/>
                <a:cs typeface="Arial" pitchFamily="34" charset="-120"/>
              </a:rPr>
              <a:t>4 · Question</a:t>
            </a:r>
            <a:endParaRPr lang="en-US" sz="1100" dirty="0"/>
          </a:p>
        </p:txBody>
      </p:sp>
      <p:sp>
        <p:nvSpPr>
          <p:cNvPr id="29" name="Text 25"/>
          <p:cNvSpPr/>
          <p:nvPr/>
        </p:nvSpPr>
        <p:spPr>
          <a:xfrm>
            <a:off x="9070848" y="5102352"/>
            <a:ext cx="2340864" cy="86868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the customer's words, untouched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RAG ANATOMY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eight-stage pipeline — mapped to today's lab files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600200"/>
            <a:ext cx="2606040" cy="1645920"/>
          </a:xfrm>
          <a:prstGeom prst="roundRect">
            <a:avLst>
              <a:gd name="adj" fmla="val 5000"/>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786384" y="1709928"/>
            <a:ext cx="233172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1 · Ingest</a:t>
            </a:r>
            <a:endParaRPr lang="en-US" sz="1250" dirty="0"/>
          </a:p>
        </p:txBody>
      </p:sp>
      <p:sp>
        <p:nvSpPr>
          <p:cNvPr id="10" name="Text 6"/>
          <p:cNvSpPr/>
          <p:nvPr/>
        </p:nvSpPr>
        <p:spPr>
          <a:xfrm>
            <a:off x="786384" y="2039112"/>
            <a:ext cx="2331720" cy="68580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read data/policies/*.md</a:t>
            </a:r>
            <a:endParaRPr lang="en-US" sz="1000" dirty="0"/>
          </a:p>
        </p:txBody>
      </p:sp>
      <p:sp>
        <p:nvSpPr>
          <p:cNvPr id="11" name="Shape 7"/>
          <p:cNvSpPr/>
          <p:nvPr/>
        </p:nvSpPr>
        <p:spPr>
          <a:xfrm>
            <a:off x="786384" y="2770632"/>
            <a:ext cx="2313432" cy="329184"/>
          </a:xfrm>
          <a:prstGeom prst="roundRect">
            <a:avLst>
              <a:gd name="adj" fmla="val 16667"/>
            </a:avLst>
          </a:prstGeom>
          <a:solidFill>
            <a:srgbClr val="1B2130"/>
          </a:solidFill>
          <a:ln/>
        </p:spPr>
      </p:sp>
      <p:sp>
        <p:nvSpPr>
          <p:cNvPr id="12" name="Text 8"/>
          <p:cNvSpPr/>
          <p:nvPr/>
        </p:nvSpPr>
        <p:spPr>
          <a:xfrm>
            <a:off x="877824" y="2770632"/>
            <a:ext cx="2194560" cy="329184"/>
          </a:xfrm>
          <a:prstGeom prst="rect">
            <a:avLst/>
          </a:prstGeom>
          <a:noFill/>
          <a:ln/>
        </p:spPr>
        <p:txBody>
          <a:bodyPr wrap="square" lIns="0" tIns="0" rIns="0" bIns="0" rtlCol="0" anchor="ctr"/>
          <a:lstStyle/>
          <a:p>
            <a:pPr indent="0" marL="0">
              <a:buNone/>
            </a:pPr>
            <a:r>
              <a:rPr lang="en-US" sz="850" dirty="0">
                <a:solidFill>
                  <a:srgbClr val="F5B971"/>
                </a:solidFill>
                <a:latin typeface="Courier New" pitchFamily="34" charset="0"/>
                <a:ea typeface="Courier New" pitchFamily="34" charset="-122"/>
                <a:cs typeface="Courier New" pitchFamily="34" charset="-120"/>
              </a:rPr>
              <a:t>rag/ingest.py</a:t>
            </a:r>
            <a:endParaRPr lang="en-US" sz="850" dirty="0"/>
          </a:p>
        </p:txBody>
      </p:sp>
      <p:sp>
        <p:nvSpPr>
          <p:cNvPr id="13" name="Shape 9"/>
          <p:cNvSpPr/>
          <p:nvPr/>
        </p:nvSpPr>
        <p:spPr>
          <a:xfrm>
            <a:off x="3273552" y="2423160"/>
            <a:ext cx="192024" cy="0"/>
          </a:xfrm>
          <a:prstGeom prst="line">
            <a:avLst/>
          </a:prstGeom>
          <a:noFill/>
          <a:ln w="31750">
            <a:solidFill>
              <a:srgbClr val="E8871E"/>
            </a:solidFill>
            <a:prstDash val="solid"/>
            <a:tailEnd type="triangle"/>
          </a:ln>
        </p:spPr>
      </p:sp>
      <p:sp>
        <p:nvSpPr>
          <p:cNvPr id="14" name="Shape 10"/>
          <p:cNvSpPr/>
          <p:nvPr/>
        </p:nvSpPr>
        <p:spPr>
          <a:xfrm>
            <a:off x="3493008" y="1600200"/>
            <a:ext cx="2606040" cy="1645920"/>
          </a:xfrm>
          <a:prstGeom prst="roundRect">
            <a:avLst>
              <a:gd name="adj" fmla="val 5000"/>
            </a:avLst>
          </a:prstGeom>
          <a:solidFill>
            <a:srgbClr val="EEF2FA"/>
          </a:solidFill>
          <a:ln/>
          <a:effectLst>
            <a:outerShdw sx="100000" sy="100000" kx="0" ky="0" algn="bl" rotWithShape="0" blurRad="76200" dist="25400" dir="5400000">
              <a:srgbClr val="9AA4B8">
                <a:alpha val="35000"/>
              </a:srgbClr>
            </a:outerShdw>
          </a:effectLst>
        </p:spPr>
      </p:sp>
      <p:sp>
        <p:nvSpPr>
          <p:cNvPr id="15" name="Text 11"/>
          <p:cNvSpPr/>
          <p:nvPr/>
        </p:nvSpPr>
        <p:spPr>
          <a:xfrm>
            <a:off x="3639312" y="1709928"/>
            <a:ext cx="233172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2 · Chunk</a:t>
            </a:r>
            <a:endParaRPr lang="en-US" sz="1250" dirty="0"/>
          </a:p>
        </p:txBody>
      </p:sp>
      <p:sp>
        <p:nvSpPr>
          <p:cNvPr id="16" name="Text 12"/>
          <p:cNvSpPr/>
          <p:nvPr/>
        </p:nvSpPr>
        <p:spPr>
          <a:xfrm>
            <a:off x="3639312" y="2039112"/>
            <a:ext cx="2331720" cy="68580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split BY CLAUSE — regex on M-x.y headings</a:t>
            </a:r>
            <a:endParaRPr lang="en-US" sz="1000" dirty="0"/>
          </a:p>
        </p:txBody>
      </p:sp>
      <p:sp>
        <p:nvSpPr>
          <p:cNvPr id="17" name="Shape 13"/>
          <p:cNvSpPr/>
          <p:nvPr/>
        </p:nvSpPr>
        <p:spPr>
          <a:xfrm>
            <a:off x="3639312" y="2770632"/>
            <a:ext cx="2313432" cy="329184"/>
          </a:xfrm>
          <a:prstGeom prst="roundRect">
            <a:avLst>
              <a:gd name="adj" fmla="val 16667"/>
            </a:avLst>
          </a:prstGeom>
          <a:solidFill>
            <a:srgbClr val="1B2130"/>
          </a:solidFill>
          <a:ln/>
        </p:spPr>
      </p:sp>
      <p:sp>
        <p:nvSpPr>
          <p:cNvPr id="18" name="Text 14"/>
          <p:cNvSpPr/>
          <p:nvPr/>
        </p:nvSpPr>
        <p:spPr>
          <a:xfrm>
            <a:off x="3730752" y="2770632"/>
            <a:ext cx="2194560" cy="329184"/>
          </a:xfrm>
          <a:prstGeom prst="rect">
            <a:avLst/>
          </a:prstGeom>
          <a:noFill/>
          <a:ln/>
        </p:spPr>
        <p:txBody>
          <a:bodyPr wrap="square" lIns="0" tIns="0" rIns="0" bIns="0" rtlCol="0" anchor="ctr"/>
          <a:lstStyle/>
          <a:p>
            <a:pPr indent="0" marL="0">
              <a:buNone/>
            </a:pPr>
            <a:r>
              <a:rPr lang="en-US" sz="850" dirty="0">
                <a:solidFill>
                  <a:srgbClr val="F5B971"/>
                </a:solidFill>
                <a:latin typeface="Courier New" pitchFamily="34" charset="0"/>
                <a:ea typeface="Courier New" pitchFamily="34" charset="-122"/>
                <a:cs typeface="Courier New" pitchFamily="34" charset="-120"/>
              </a:rPr>
              <a:t>split_by_clause()</a:t>
            </a:r>
            <a:endParaRPr lang="en-US" sz="850" dirty="0"/>
          </a:p>
        </p:txBody>
      </p:sp>
      <p:sp>
        <p:nvSpPr>
          <p:cNvPr id="19" name="Shape 15"/>
          <p:cNvSpPr/>
          <p:nvPr/>
        </p:nvSpPr>
        <p:spPr>
          <a:xfrm>
            <a:off x="6126480" y="2423160"/>
            <a:ext cx="192024" cy="0"/>
          </a:xfrm>
          <a:prstGeom prst="line">
            <a:avLst/>
          </a:prstGeom>
          <a:noFill/>
          <a:ln w="31750">
            <a:solidFill>
              <a:srgbClr val="E8871E"/>
            </a:solidFill>
            <a:prstDash val="solid"/>
            <a:tailEnd type="triangle"/>
          </a:ln>
        </p:spPr>
      </p:sp>
      <p:sp>
        <p:nvSpPr>
          <p:cNvPr id="20" name="Shape 16"/>
          <p:cNvSpPr/>
          <p:nvPr/>
        </p:nvSpPr>
        <p:spPr>
          <a:xfrm>
            <a:off x="6345936" y="1600200"/>
            <a:ext cx="2606040" cy="1645920"/>
          </a:xfrm>
          <a:prstGeom prst="roundRect">
            <a:avLst>
              <a:gd name="adj" fmla="val 5000"/>
            </a:avLst>
          </a:prstGeom>
          <a:solidFill>
            <a:srgbClr val="EEF2FA"/>
          </a:solidFill>
          <a:ln/>
          <a:effectLst>
            <a:outerShdw sx="100000" sy="100000" kx="0" ky="0" algn="bl" rotWithShape="0" blurRad="76200" dist="25400" dir="5400000">
              <a:srgbClr val="9AA4B8">
                <a:alpha val="35000"/>
              </a:srgbClr>
            </a:outerShdw>
          </a:effectLst>
        </p:spPr>
      </p:sp>
      <p:sp>
        <p:nvSpPr>
          <p:cNvPr id="21" name="Text 17"/>
          <p:cNvSpPr/>
          <p:nvPr/>
        </p:nvSpPr>
        <p:spPr>
          <a:xfrm>
            <a:off x="6492240" y="1709928"/>
            <a:ext cx="233172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3 · Embed</a:t>
            </a:r>
            <a:endParaRPr lang="en-US" sz="1250" dirty="0"/>
          </a:p>
        </p:txBody>
      </p:sp>
      <p:sp>
        <p:nvSpPr>
          <p:cNvPr id="22" name="Text 18"/>
          <p:cNvSpPr/>
          <p:nvPr/>
        </p:nvSpPr>
        <p:spPr>
          <a:xfrm>
            <a:off x="6492240" y="2039112"/>
            <a:ext cx="2331720" cy="68580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default ONNX MiniLM (~80 MB, cached)</a:t>
            </a:r>
            <a:endParaRPr lang="en-US" sz="1000" dirty="0"/>
          </a:p>
        </p:txBody>
      </p:sp>
      <p:sp>
        <p:nvSpPr>
          <p:cNvPr id="23" name="Shape 19"/>
          <p:cNvSpPr/>
          <p:nvPr/>
        </p:nvSpPr>
        <p:spPr>
          <a:xfrm>
            <a:off x="6492240" y="2770632"/>
            <a:ext cx="2313432" cy="329184"/>
          </a:xfrm>
          <a:prstGeom prst="roundRect">
            <a:avLst>
              <a:gd name="adj" fmla="val 16667"/>
            </a:avLst>
          </a:prstGeom>
          <a:solidFill>
            <a:srgbClr val="1B2130"/>
          </a:solidFill>
          <a:ln/>
        </p:spPr>
      </p:sp>
      <p:sp>
        <p:nvSpPr>
          <p:cNvPr id="24" name="Text 20"/>
          <p:cNvSpPr/>
          <p:nvPr/>
        </p:nvSpPr>
        <p:spPr>
          <a:xfrm>
            <a:off x="6583680" y="2770632"/>
            <a:ext cx="2194560" cy="329184"/>
          </a:xfrm>
          <a:prstGeom prst="rect">
            <a:avLst/>
          </a:prstGeom>
          <a:noFill/>
          <a:ln/>
        </p:spPr>
        <p:txBody>
          <a:bodyPr wrap="square" lIns="0" tIns="0" rIns="0" bIns="0" rtlCol="0" anchor="ctr"/>
          <a:lstStyle/>
          <a:p>
            <a:pPr indent="0" marL="0">
              <a:buNone/>
            </a:pPr>
            <a:r>
              <a:rPr lang="en-US" sz="850" dirty="0">
                <a:solidFill>
                  <a:srgbClr val="F5B971"/>
                </a:solidFill>
                <a:latin typeface="Courier New" pitchFamily="34" charset="0"/>
                <a:ea typeface="Courier New" pitchFamily="34" charset="-122"/>
                <a:cs typeface="Courier New" pitchFamily="34" charset="-120"/>
              </a:rPr>
              <a:t>chromadb default EF</a:t>
            </a:r>
            <a:endParaRPr lang="en-US" sz="850" dirty="0"/>
          </a:p>
        </p:txBody>
      </p:sp>
      <p:sp>
        <p:nvSpPr>
          <p:cNvPr id="25" name="Shape 21"/>
          <p:cNvSpPr/>
          <p:nvPr/>
        </p:nvSpPr>
        <p:spPr>
          <a:xfrm>
            <a:off x="8979408" y="2423160"/>
            <a:ext cx="192024" cy="0"/>
          </a:xfrm>
          <a:prstGeom prst="line">
            <a:avLst/>
          </a:prstGeom>
          <a:noFill/>
          <a:ln w="31750">
            <a:solidFill>
              <a:srgbClr val="E8871E"/>
            </a:solidFill>
            <a:prstDash val="solid"/>
            <a:tailEnd type="triangle"/>
          </a:ln>
        </p:spPr>
      </p:sp>
      <p:sp>
        <p:nvSpPr>
          <p:cNvPr id="26" name="Shape 22"/>
          <p:cNvSpPr/>
          <p:nvPr/>
        </p:nvSpPr>
        <p:spPr>
          <a:xfrm>
            <a:off x="9198864" y="1600200"/>
            <a:ext cx="2606040" cy="1645920"/>
          </a:xfrm>
          <a:prstGeom prst="roundRect">
            <a:avLst>
              <a:gd name="adj" fmla="val 5000"/>
            </a:avLst>
          </a:prstGeom>
          <a:solidFill>
            <a:srgbClr val="EEF2FA"/>
          </a:solidFill>
          <a:ln/>
          <a:effectLst>
            <a:outerShdw sx="100000" sy="100000" kx="0" ky="0" algn="bl" rotWithShape="0" blurRad="76200" dist="25400" dir="5400000">
              <a:srgbClr val="9AA4B8">
                <a:alpha val="35000"/>
              </a:srgbClr>
            </a:outerShdw>
          </a:effectLst>
        </p:spPr>
      </p:sp>
      <p:sp>
        <p:nvSpPr>
          <p:cNvPr id="27" name="Text 23"/>
          <p:cNvSpPr/>
          <p:nvPr/>
        </p:nvSpPr>
        <p:spPr>
          <a:xfrm>
            <a:off x="9345168" y="1709928"/>
            <a:ext cx="233172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4 · Store</a:t>
            </a:r>
            <a:endParaRPr lang="en-US" sz="1250" dirty="0"/>
          </a:p>
        </p:txBody>
      </p:sp>
      <p:sp>
        <p:nvSpPr>
          <p:cNvPr id="28" name="Text 24"/>
          <p:cNvSpPr/>
          <p:nvPr/>
        </p:nvSpPr>
        <p:spPr>
          <a:xfrm>
            <a:off x="9345168" y="2039112"/>
            <a:ext cx="2331720" cy="68580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persistent index + {doc, clause_id}</a:t>
            </a:r>
            <a:endParaRPr lang="en-US" sz="1000" dirty="0"/>
          </a:p>
        </p:txBody>
      </p:sp>
      <p:sp>
        <p:nvSpPr>
          <p:cNvPr id="29" name="Shape 25"/>
          <p:cNvSpPr/>
          <p:nvPr/>
        </p:nvSpPr>
        <p:spPr>
          <a:xfrm>
            <a:off x="9345168" y="2770632"/>
            <a:ext cx="2313432" cy="329184"/>
          </a:xfrm>
          <a:prstGeom prst="roundRect">
            <a:avLst>
              <a:gd name="adj" fmla="val 16667"/>
            </a:avLst>
          </a:prstGeom>
          <a:solidFill>
            <a:srgbClr val="1B2130"/>
          </a:solidFill>
          <a:ln/>
        </p:spPr>
      </p:sp>
      <p:sp>
        <p:nvSpPr>
          <p:cNvPr id="30" name="Text 26"/>
          <p:cNvSpPr/>
          <p:nvPr/>
        </p:nvSpPr>
        <p:spPr>
          <a:xfrm>
            <a:off x="9436608" y="2770632"/>
            <a:ext cx="2194560" cy="329184"/>
          </a:xfrm>
          <a:prstGeom prst="rect">
            <a:avLst/>
          </a:prstGeom>
          <a:noFill/>
          <a:ln/>
        </p:spPr>
        <p:txBody>
          <a:bodyPr wrap="square" lIns="0" tIns="0" rIns="0" bIns="0" rtlCol="0" anchor="ctr"/>
          <a:lstStyle/>
          <a:p>
            <a:pPr indent="0" marL="0">
              <a:buNone/>
            </a:pPr>
            <a:r>
              <a:rPr lang="en-US" sz="850" dirty="0">
                <a:solidFill>
                  <a:srgbClr val="F5B971"/>
                </a:solidFill>
                <a:latin typeface="Courier New" pitchFamily="34" charset="0"/>
                <a:ea typeface="Courier New" pitchFamily="34" charset="-122"/>
                <a:cs typeface="Courier New" pitchFamily="34" charset="-120"/>
              </a:rPr>
              <a:t>rag/chroma/</a:t>
            </a:r>
            <a:endParaRPr lang="en-US" sz="850" dirty="0"/>
          </a:p>
        </p:txBody>
      </p:sp>
      <p:sp>
        <p:nvSpPr>
          <p:cNvPr id="31" name="Shape 27"/>
          <p:cNvSpPr/>
          <p:nvPr/>
        </p:nvSpPr>
        <p:spPr>
          <a:xfrm>
            <a:off x="640080" y="3566160"/>
            <a:ext cx="2606040" cy="1645920"/>
          </a:xfrm>
          <a:prstGeom prst="roundRect">
            <a:avLst>
              <a:gd name="adj" fmla="val 5000"/>
            </a:avLst>
          </a:prstGeom>
          <a:solidFill>
            <a:srgbClr val="DDE6F5"/>
          </a:solidFill>
          <a:ln/>
          <a:effectLst>
            <a:outerShdw sx="100000" sy="100000" kx="0" ky="0" algn="bl" rotWithShape="0" blurRad="76200" dist="25400" dir="5400000">
              <a:srgbClr val="9AA4B8">
                <a:alpha val="35000"/>
              </a:srgbClr>
            </a:outerShdw>
          </a:effectLst>
        </p:spPr>
      </p:sp>
      <p:sp>
        <p:nvSpPr>
          <p:cNvPr id="32" name="Text 28"/>
          <p:cNvSpPr/>
          <p:nvPr/>
        </p:nvSpPr>
        <p:spPr>
          <a:xfrm>
            <a:off x="786384" y="3675888"/>
            <a:ext cx="233172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5 · Retrieve</a:t>
            </a:r>
            <a:endParaRPr lang="en-US" sz="1250" dirty="0"/>
          </a:p>
        </p:txBody>
      </p:sp>
      <p:sp>
        <p:nvSpPr>
          <p:cNvPr id="33" name="Text 29"/>
          <p:cNvSpPr/>
          <p:nvPr/>
        </p:nvSpPr>
        <p:spPr>
          <a:xfrm>
            <a:off x="786384" y="4005072"/>
            <a:ext cx="2331720" cy="68580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top-4 nearest clauses per question</a:t>
            </a:r>
            <a:endParaRPr lang="en-US" sz="1000" dirty="0"/>
          </a:p>
        </p:txBody>
      </p:sp>
      <p:sp>
        <p:nvSpPr>
          <p:cNvPr id="34" name="Shape 30"/>
          <p:cNvSpPr/>
          <p:nvPr/>
        </p:nvSpPr>
        <p:spPr>
          <a:xfrm>
            <a:off x="786384" y="4736592"/>
            <a:ext cx="2313432" cy="329184"/>
          </a:xfrm>
          <a:prstGeom prst="roundRect">
            <a:avLst>
              <a:gd name="adj" fmla="val 16667"/>
            </a:avLst>
          </a:prstGeom>
          <a:solidFill>
            <a:srgbClr val="1B2130"/>
          </a:solidFill>
          <a:ln/>
        </p:spPr>
      </p:sp>
      <p:sp>
        <p:nvSpPr>
          <p:cNvPr id="35" name="Text 31"/>
          <p:cNvSpPr/>
          <p:nvPr/>
        </p:nvSpPr>
        <p:spPr>
          <a:xfrm>
            <a:off x="877824" y="4736592"/>
            <a:ext cx="2194560" cy="329184"/>
          </a:xfrm>
          <a:prstGeom prst="rect">
            <a:avLst/>
          </a:prstGeom>
          <a:noFill/>
          <a:ln/>
        </p:spPr>
        <p:txBody>
          <a:bodyPr wrap="square" lIns="0" tIns="0" rIns="0" bIns="0" rtlCol="0" anchor="ctr"/>
          <a:lstStyle/>
          <a:p>
            <a:pPr indent="0" marL="0">
              <a:buNone/>
            </a:pPr>
            <a:r>
              <a:rPr lang="en-US" sz="850" dirty="0">
                <a:solidFill>
                  <a:srgbClr val="F5B971"/>
                </a:solidFill>
                <a:latin typeface="Courier New" pitchFamily="34" charset="0"/>
                <a:ea typeface="Courier New" pitchFamily="34" charset="-122"/>
                <a:cs typeface="Courier New" pitchFamily="34" charset="-120"/>
              </a:rPr>
              <a:t>retrieve_clauses()</a:t>
            </a:r>
            <a:endParaRPr lang="en-US" sz="850" dirty="0"/>
          </a:p>
        </p:txBody>
      </p:sp>
      <p:sp>
        <p:nvSpPr>
          <p:cNvPr id="36" name="Shape 32"/>
          <p:cNvSpPr/>
          <p:nvPr/>
        </p:nvSpPr>
        <p:spPr>
          <a:xfrm>
            <a:off x="3273552" y="4389120"/>
            <a:ext cx="192024" cy="0"/>
          </a:xfrm>
          <a:prstGeom prst="line">
            <a:avLst/>
          </a:prstGeom>
          <a:noFill/>
          <a:ln w="31750">
            <a:solidFill>
              <a:srgbClr val="E8871E"/>
            </a:solidFill>
            <a:prstDash val="solid"/>
            <a:tailEnd type="triangle"/>
          </a:ln>
        </p:spPr>
      </p:sp>
      <p:sp>
        <p:nvSpPr>
          <p:cNvPr id="37" name="Shape 33"/>
          <p:cNvSpPr/>
          <p:nvPr/>
        </p:nvSpPr>
        <p:spPr>
          <a:xfrm>
            <a:off x="3493008" y="3566160"/>
            <a:ext cx="2606040" cy="1645920"/>
          </a:xfrm>
          <a:prstGeom prst="roundRect">
            <a:avLst>
              <a:gd name="adj" fmla="val 5000"/>
            </a:avLst>
          </a:prstGeom>
          <a:solidFill>
            <a:srgbClr val="DDE6F5"/>
          </a:solidFill>
          <a:ln/>
          <a:effectLst>
            <a:outerShdw sx="100000" sy="100000" kx="0" ky="0" algn="bl" rotWithShape="0" blurRad="76200" dist="25400" dir="5400000">
              <a:srgbClr val="9AA4B8">
                <a:alpha val="35000"/>
              </a:srgbClr>
            </a:outerShdw>
          </a:effectLst>
        </p:spPr>
      </p:sp>
      <p:sp>
        <p:nvSpPr>
          <p:cNvPr id="38" name="Text 34"/>
          <p:cNvSpPr/>
          <p:nvPr/>
        </p:nvSpPr>
        <p:spPr>
          <a:xfrm>
            <a:off x="3639312" y="3675888"/>
            <a:ext cx="233172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6 · Ground</a:t>
            </a:r>
            <a:endParaRPr lang="en-US" sz="1250" dirty="0"/>
          </a:p>
        </p:txBody>
      </p:sp>
      <p:sp>
        <p:nvSpPr>
          <p:cNvPr id="39" name="Text 35"/>
          <p:cNvSpPr/>
          <p:nvPr/>
        </p:nvSpPr>
        <p:spPr>
          <a:xfrm>
            <a:off x="3639312" y="4005072"/>
            <a:ext cx="2331720" cy="68580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numbered context into the system prompt</a:t>
            </a:r>
            <a:endParaRPr lang="en-US" sz="1000" dirty="0"/>
          </a:p>
        </p:txBody>
      </p:sp>
      <p:sp>
        <p:nvSpPr>
          <p:cNvPr id="40" name="Shape 36"/>
          <p:cNvSpPr/>
          <p:nvPr/>
        </p:nvSpPr>
        <p:spPr>
          <a:xfrm>
            <a:off x="3639312" y="4736592"/>
            <a:ext cx="2313432" cy="329184"/>
          </a:xfrm>
          <a:prstGeom prst="roundRect">
            <a:avLst>
              <a:gd name="adj" fmla="val 16667"/>
            </a:avLst>
          </a:prstGeom>
          <a:solidFill>
            <a:srgbClr val="1B2130"/>
          </a:solidFill>
          <a:ln/>
        </p:spPr>
      </p:sp>
      <p:sp>
        <p:nvSpPr>
          <p:cNvPr id="41" name="Text 37"/>
          <p:cNvSpPr/>
          <p:nvPr/>
        </p:nvSpPr>
        <p:spPr>
          <a:xfrm>
            <a:off x="3730752" y="4736592"/>
            <a:ext cx="2194560" cy="329184"/>
          </a:xfrm>
          <a:prstGeom prst="rect">
            <a:avLst/>
          </a:prstGeom>
          <a:noFill/>
          <a:ln/>
        </p:spPr>
        <p:txBody>
          <a:bodyPr wrap="square" lIns="0" tIns="0" rIns="0" bIns="0" rtlCol="0" anchor="ctr"/>
          <a:lstStyle/>
          <a:p>
            <a:pPr indent="0" marL="0">
              <a:buNone/>
            </a:pPr>
            <a:r>
              <a:rPr lang="en-US" sz="850" dirty="0">
                <a:solidFill>
                  <a:srgbClr val="F5B971"/>
                </a:solidFill>
                <a:latin typeface="Courier New" pitchFamily="34" charset="0"/>
                <a:ea typeface="Courier New" pitchFamily="34" charset="-122"/>
                <a:cs typeface="Courier New" pitchFamily="34" charset="-120"/>
              </a:rPr>
              <a:t>build_grounded_messages()</a:t>
            </a:r>
            <a:endParaRPr lang="en-US" sz="850" dirty="0"/>
          </a:p>
        </p:txBody>
      </p:sp>
      <p:sp>
        <p:nvSpPr>
          <p:cNvPr id="42" name="Shape 38"/>
          <p:cNvSpPr/>
          <p:nvPr/>
        </p:nvSpPr>
        <p:spPr>
          <a:xfrm>
            <a:off x="6126480" y="4389120"/>
            <a:ext cx="192024" cy="0"/>
          </a:xfrm>
          <a:prstGeom prst="line">
            <a:avLst/>
          </a:prstGeom>
          <a:noFill/>
          <a:ln w="31750">
            <a:solidFill>
              <a:srgbClr val="E8871E"/>
            </a:solidFill>
            <a:prstDash val="solid"/>
            <a:tailEnd type="triangle"/>
          </a:ln>
        </p:spPr>
      </p:sp>
      <p:sp>
        <p:nvSpPr>
          <p:cNvPr id="43" name="Shape 39"/>
          <p:cNvSpPr/>
          <p:nvPr/>
        </p:nvSpPr>
        <p:spPr>
          <a:xfrm>
            <a:off x="6345936" y="3566160"/>
            <a:ext cx="2606040" cy="1645920"/>
          </a:xfrm>
          <a:prstGeom prst="roundRect">
            <a:avLst>
              <a:gd name="adj" fmla="val 5000"/>
            </a:avLst>
          </a:prstGeom>
          <a:solidFill>
            <a:srgbClr val="DDE6F5"/>
          </a:solidFill>
          <a:ln/>
          <a:effectLst>
            <a:outerShdw sx="100000" sy="100000" kx="0" ky="0" algn="bl" rotWithShape="0" blurRad="76200" dist="25400" dir="5400000">
              <a:srgbClr val="9AA4B8">
                <a:alpha val="35000"/>
              </a:srgbClr>
            </a:outerShdw>
          </a:effectLst>
        </p:spPr>
      </p:sp>
      <p:sp>
        <p:nvSpPr>
          <p:cNvPr id="44" name="Text 40"/>
          <p:cNvSpPr/>
          <p:nvPr/>
        </p:nvSpPr>
        <p:spPr>
          <a:xfrm>
            <a:off x="6492240" y="3675888"/>
            <a:ext cx="233172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7 · Generate</a:t>
            </a:r>
            <a:endParaRPr lang="en-US" sz="1250" dirty="0"/>
          </a:p>
        </p:txBody>
      </p:sp>
      <p:sp>
        <p:nvSpPr>
          <p:cNvPr id="45" name="Text 41"/>
          <p:cNvSpPr/>
          <p:nvPr/>
        </p:nvSpPr>
        <p:spPr>
          <a:xfrm>
            <a:off x="6492240" y="4005072"/>
            <a:ext cx="2331720" cy="68580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LLM via the LiteLLM proxy (v2, unchanged)</a:t>
            </a:r>
            <a:endParaRPr lang="en-US" sz="1000" dirty="0"/>
          </a:p>
        </p:txBody>
      </p:sp>
      <p:sp>
        <p:nvSpPr>
          <p:cNvPr id="46" name="Shape 42"/>
          <p:cNvSpPr/>
          <p:nvPr/>
        </p:nvSpPr>
        <p:spPr>
          <a:xfrm>
            <a:off x="6492240" y="4736592"/>
            <a:ext cx="2313432" cy="329184"/>
          </a:xfrm>
          <a:prstGeom prst="roundRect">
            <a:avLst>
              <a:gd name="adj" fmla="val 16667"/>
            </a:avLst>
          </a:prstGeom>
          <a:solidFill>
            <a:srgbClr val="1B2130"/>
          </a:solidFill>
          <a:ln/>
        </p:spPr>
      </p:sp>
      <p:sp>
        <p:nvSpPr>
          <p:cNvPr id="47" name="Text 43"/>
          <p:cNvSpPr/>
          <p:nvPr/>
        </p:nvSpPr>
        <p:spPr>
          <a:xfrm>
            <a:off x="6583680" y="4736592"/>
            <a:ext cx="2194560" cy="329184"/>
          </a:xfrm>
          <a:prstGeom prst="rect">
            <a:avLst/>
          </a:prstGeom>
          <a:noFill/>
          <a:ln/>
        </p:spPr>
        <p:txBody>
          <a:bodyPr wrap="square" lIns="0" tIns="0" rIns="0" bIns="0" rtlCol="0" anchor="ctr"/>
          <a:lstStyle/>
          <a:p>
            <a:pPr indent="0" marL="0">
              <a:buNone/>
            </a:pPr>
            <a:r>
              <a:rPr lang="en-US" sz="850" dirty="0">
                <a:solidFill>
                  <a:srgbClr val="F5B971"/>
                </a:solidFill>
                <a:latin typeface="Courier New" pitchFamily="34" charset="0"/>
                <a:ea typeface="Courier New" pitchFamily="34" charset="-122"/>
                <a:cs typeface="Courier New" pitchFamily="34" charset="-120"/>
              </a:rPr>
              <a:t>call_llm()</a:t>
            </a:r>
            <a:endParaRPr lang="en-US" sz="850" dirty="0"/>
          </a:p>
        </p:txBody>
      </p:sp>
      <p:sp>
        <p:nvSpPr>
          <p:cNvPr id="48" name="Shape 44"/>
          <p:cNvSpPr/>
          <p:nvPr/>
        </p:nvSpPr>
        <p:spPr>
          <a:xfrm>
            <a:off x="8979408" y="4389120"/>
            <a:ext cx="192024" cy="0"/>
          </a:xfrm>
          <a:prstGeom prst="line">
            <a:avLst/>
          </a:prstGeom>
          <a:noFill/>
          <a:ln w="31750">
            <a:solidFill>
              <a:srgbClr val="E8871E"/>
            </a:solidFill>
            <a:prstDash val="solid"/>
            <a:tailEnd type="triangle"/>
          </a:ln>
        </p:spPr>
      </p:sp>
      <p:sp>
        <p:nvSpPr>
          <p:cNvPr id="49" name="Shape 45"/>
          <p:cNvSpPr/>
          <p:nvPr/>
        </p:nvSpPr>
        <p:spPr>
          <a:xfrm>
            <a:off x="9198864" y="3566160"/>
            <a:ext cx="2606040" cy="1645920"/>
          </a:xfrm>
          <a:prstGeom prst="roundRect">
            <a:avLst>
              <a:gd name="adj" fmla="val 5000"/>
            </a:avLst>
          </a:prstGeom>
          <a:solidFill>
            <a:srgbClr val="DDE6F5"/>
          </a:solidFill>
          <a:ln/>
          <a:effectLst>
            <a:outerShdw sx="100000" sy="100000" kx="0" ky="0" algn="bl" rotWithShape="0" blurRad="76200" dist="25400" dir="5400000">
              <a:srgbClr val="9AA4B8">
                <a:alpha val="35000"/>
              </a:srgbClr>
            </a:outerShdw>
          </a:effectLst>
        </p:spPr>
      </p:sp>
      <p:sp>
        <p:nvSpPr>
          <p:cNvPr id="50" name="Text 46"/>
          <p:cNvSpPr/>
          <p:nvPr/>
        </p:nvSpPr>
        <p:spPr>
          <a:xfrm>
            <a:off x="9345168" y="3675888"/>
            <a:ext cx="233172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8 · Cite</a:t>
            </a:r>
            <a:endParaRPr lang="en-US" sz="1250" dirty="0"/>
          </a:p>
        </p:txBody>
      </p:sp>
      <p:sp>
        <p:nvSpPr>
          <p:cNvPr id="51" name="Text 47"/>
          <p:cNvSpPr/>
          <p:nvPr/>
        </p:nvSpPr>
        <p:spPr>
          <a:xfrm>
            <a:off x="9345168" y="4005072"/>
            <a:ext cx="2331720" cy="68580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regex-extract [M-2.3] → verified citations</a:t>
            </a:r>
            <a:endParaRPr lang="en-US" sz="1000" dirty="0"/>
          </a:p>
        </p:txBody>
      </p:sp>
      <p:sp>
        <p:nvSpPr>
          <p:cNvPr id="52" name="Shape 48"/>
          <p:cNvSpPr/>
          <p:nvPr/>
        </p:nvSpPr>
        <p:spPr>
          <a:xfrm>
            <a:off x="9345168" y="4736592"/>
            <a:ext cx="2313432" cy="329184"/>
          </a:xfrm>
          <a:prstGeom prst="roundRect">
            <a:avLst>
              <a:gd name="adj" fmla="val 16667"/>
            </a:avLst>
          </a:prstGeom>
          <a:solidFill>
            <a:srgbClr val="1B2130"/>
          </a:solidFill>
          <a:ln/>
        </p:spPr>
      </p:sp>
      <p:sp>
        <p:nvSpPr>
          <p:cNvPr id="53" name="Text 49"/>
          <p:cNvSpPr/>
          <p:nvPr/>
        </p:nvSpPr>
        <p:spPr>
          <a:xfrm>
            <a:off x="9436608" y="4736592"/>
            <a:ext cx="2194560" cy="329184"/>
          </a:xfrm>
          <a:prstGeom prst="rect">
            <a:avLst/>
          </a:prstGeom>
          <a:noFill/>
          <a:ln/>
        </p:spPr>
        <p:txBody>
          <a:bodyPr wrap="square" lIns="0" tIns="0" rIns="0" bIns="0" rtlCol="0" anchor="ctr"/>
          <a:lstStyle/>
          <a:p>
            <a:pPr indent="0" marL="0">
              <a:buNone/>
            </a:pPr>
            <a:r>
              <a:rPr lang="en-US" sz="850" dirty="0">
                <a:solidFill>
                  <a:srgbClr val="F5B971"/>
                </a:solidFill>
                <a:latin typeface="Courier New" pitchFamily="34" charset="0"/>
                <a:ea typeface="Courier New" pitchFamily="34" charset="-122"/>
                <a:cs typeface="Courier New" pitchFamily="34" charset="-120"/>
              </a:rPr>
              <a:t>extract_citations()</a:t>
            </a:r>
            <a:endParaRPr lang="en-US" sz="850" dirty="0"/>
          </a:p>
        </p:txBody>
      </p:sp>
      <p:sp>
        <p:nvSpPr>
          <p:cNvPr id="54" name="Shape 50"/>
          <p:cNvSpPr/>
          <p:nvPr/>
        </p:nvSpPr>
        <p:spPr>
          <a:xfrm>
            <a:off x="11384280" y="2423160"/>
            <a:ext cx="0" cy="1783080"/>
          </a:xfrm>
          <a:prstGeom prst="line">
            <a:avLst/>
          </a:prstGeom>
          <a:noFill/>
          <a:ln w="31750">
            <a:solidFill>
              <a:srgbClr val="E8871E"/>
            </a:solidFill>
            <a:prstDash val="solid"/>
          </a:ln>
        </p:spPr>
      </p:sp>
      <p:sp>
        <p:nvSpPr>
          <p:cNvPr id="55" name="Shape 51"/>
          <p:cNvSpPr/>
          <p:nvPr/>
        </p:nvSpPr>
        <p:spPr>
          <a:xfrm>
            <a:off x="11384280" y="4206240"/>
            <a:ext cx="-7863840" cy="0"/>
          </a:xfrm>
          <a:prstGeom prst="line">
            <a:avLst/>
          </a:prstGeom>
          <a:noFill/>
          <a:ln w="31750">
            <a:solidFill>
              <a:srgbClr val="E8871E"/>
            </a:solidFill>
            <a:prstDash val="solid"/>
            <a:tailEnd type="triangle"/>
          </a:ln>
        </p:spPr>
      </p:sp>
      <p:sp>
        <p:nvSpPr>
          <p:cNvPr id="56" name="Shape 52"/>
          <p:cNvSpPr/>
          <p:nvPr/>
        </p:nvSpPr>
        <p:spPr>
          <a:xfrm>
            <a:off x="640080" y="5623560"/>
            <a:ext cx="10881360" cy="685800"/>
          </a:xfrm>
          <a:prstGeom prst="roundRect">
            <a:avLst>
              <a:gd name="adj" fmla="val 12000"/>
            </a:avLst>
          </a:prstGeom>
          <a:solidFill>
            <a:srgbClr val="232946"/>
          </a:solidFill>
          <a:ln/>
          <a:effectLst>
            <a:outerShdw sx="100000" sy="100000" kx="0" ky="0" algn="bl" rotWithShape="0" blurRad="76200" dist="25400" dir="5400000">
              <a:srgbClr val="9AA4B8">
                <a:alpha val="35000"/>
              </a:srgbClr>
            </a:outerShdw>
          </a:effectLst>
        </p:spPr>
      </p:sp>
      <p:sp>
        <p:nvSpPr>
          <p:cNvPr id="57" name="Text 53"/>
          <p:cNvSpPr/>
          <p:nvPr/>
        </p:nvSpPr>
        <p:spPr>
          <a:xfrm>
            <a:off x="868680" y="5678424"/>
            <a:ext cx="10424160" cy="576072"/>
          </a:xfrm>
          <a:prstGeom prst="rect">
            <a:avLst/>
          </a:prstGeom>
          <a:noFill/>
          <a:ln/>
        </p:spPr>
        <p:txBody>
          <a:bodyPr wrap="square" lIns="0" tIns="0" rIns="0" bIns="0" rtlCol="0" anchor="ctr"/>
          <a:lstStyle/>
          <a:p>
            <a:pPr indent="0" marL="0">
              <a:buNone/>
            </a:pPr>
            <a:r>
              <a:rPr lang="en-US" sz="1200" b="1" dirty="0">
                <a:solidFill>
                  <a:srgbClr val="F5B971"/>
                </a:solidFill>
                <a:latin typeface="Calibri" pitchFamily="34" charset="0"/>
                <a:ea typeface="Calibri" pitchFamily="34" charset="-122"/>
                <a:cs typeface="Calibri" pitchFamily="34" charset="-120"/>
              </a:rPr>
              <a:t>Stages 1-4 run offline (once per corpus change); stages 5-8 run per request.  </a:t>
            </a:r>
            <a:pPr indent="0" marL="0">
              <a:buNone/>
            </a:pPr>
            <a:r>
              <a:rPr lang="en-US" sz="1200" dirty="0">
                <a:solidFill>
                  <a:srgbClr val="FFFFFF"/>
                </a:solidFill>
                <a:latin typeface="Calibri" pitchFamily="34" charset="0"/>
                <a:ea typeface="Calibri" pitchFamily="34" charset="-122"/>
                <a:cs typeface="Calibri" pitchFamily="34" charset="-120"/>
              </a:rPr>
              <a:t>The offline half is a data pipeline; the online half is your API's request path — they meet at the store.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CHUNKING STRATEGY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Why chunk BY CLAUSE — chunking strategy IS citation strategy</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463040"/>
            <a:ext cx="2011680" cy="365760"/>
          </a:xfrm>
          <a:prstGeom prst="rect">
            <a:avLst/>
          </a:prstGeom>
          <a:solidFill>
            <a:srgbClr val="FFFFFF"/>
          </a:solidFill>
          <a:ln/>
        </p:spPr>
      </p:sp>
      <p:sp>
        <p:nvSpPr>
          <p:cNvPr id="9" name="Text 5"/>
          <p:cNvSpPr/>
          <p:nvPr/>
        </p:nvSpPr>
        <p:spPr>
          <a:xfrm>
            <a:off x="749808" y="1463040"/>
            <a:ext cx="1828800" cy="365760"/>
          </a:xfrm>
          <a:prstGeom prst="rect">
            <a:avLst/>
          </a:prstGeom>
          <a:noFill/>
          <a:ln/>
        </p:spPr>
        <p:txBody>
          <a:bodyPr wrap="square" lIns="0" tIns="0" rIns="0" bIns="0" rtlCol="0" anchor="ctr"/>
          <a:lstStyle/>
          <a:p>
            <a:pPr indent="0" marL="0">
              <a:buNone/>
            </a:pPr>
            <a:endParaRPr lang="en-US" sz="1150" dirty="0"/>
          </a:p>
        </p:txBody>
      </p:sp>
      <p:sp>
        <p:nvSpPr>
          <p:cNvPr id="10" name="Shape 6"/>
          <p:cNvSpPr/>
          <p:nvPr/>
        </p:nvSpPr>
        <p:spPr>
          <a:xfrm>
            <a:off x="2651760" y="1463040"/>
            <a:ext cx="4663440" cy="365760"/>
          </a:xfrm>
          <a:prstGeom prst="rect">
            <a:avLst/>
          </a:prstGeom>
          <a:solidFill>
            <a:srgbClr val="232946"/>
          </a:solidFill>
          <a:ln/>
        </p:spPr>
      </p:sp>
      <p:sp>
        <p:nvSpPr>
          <p:cNvPr id="11" name="Text 7"/>
          <p:cNvSpPr/>
          <p:nvPr/>
        </p:nvSpPr>
        <p:spPr>
          <a:xfrm>
            <a:off x="2761488" y="1463040"/>
            <a:ext cx="4480560"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Fixed-size window (generic default)</a:t>
            </a:r>
            <a:endParaRPr lang="en-US" sz="1150" dirty="0"/>
          </a:p>
        </p:txBody>
      </p:sp>
      <p:sp>
        <p:nvSpPr>
          <p:cNvPr id="12" name="Shape 8"/>
          <p:cNvSpPr/>
          <p:nvPr/>
        </p:nvSpPr>
        <p:spPr>
          <a:xfrm>
            <a:off x="7315200" y="1463040"/>
            <a:ext cx="4233672" cy="365760"/>
          </a:xfrm>
          <a:prstGeom prst="rect">
            <a:avLst/>
          </a:prstGeom>
          <a:solidFill>
            <a:srgbClr val="E8871E"/>
          </a:solidFill>
          <a:ln/>
        </p:spPr>
      </p:sp>
      <p:sp>
        <p:nvSpPr>
          <p:cNvPr id="13" name="Text 9"/>
          <p:cNvSpPr/>
          <p:nvPr/>
        </p:nvSpPr>
        <p:spPr>
          <a:xfrm>
            <a:off x="7424928" y="1463040"/>
            <a:ext cx="4050792"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By clause (today's choice)</a:t>
            </a:r>
            <a:endParaRPr lang="en-US" sz="1150" dirty="0"/>
          </a:p>
        </p:txBody>
      </p:sp>
      <p:sp>
        <p:nvSpPr>
          <p:cNvPr id="14" name="Shape 10"/>
          <p:cNvSpPr/>
          <p:nvPr/>
        </p:nvSpPr>
        <p:spPr>
          <a:xfrm>
            <a:off x="640080" y="1847088"/>
            <a:ext cx="2011680" cy="768096"/>
          </a:xfrm>
          <a:prstGeom prst="rect">
            <a:avLst/>
          </a:prstGeom>
          <a:solidFill>
            <a:srgbClr val="EEF2FA"/>
          </a:solidFill>
          <a:ln w="9525">
            <a:solidFill>
              <a:srgbClr val="C9D3E6"/>
            </a:solidFill>
            <a:prstDash val="solid"/>
          </a:ln>
        </p:spPr>
      </p:sp>
      <p:sp>
        <p:nvSpPr>
          <p:cNvPr id="15" name="Text 11"/>
          <p:cNvSpPr/>
          <p:nvPr/>
        </p:nvSpPr>
        <p:spPr>
          <a:xfrm>
            <a:off x="749808" y="1847088"/>
            <a:ext cx="1828800" cy="768096"/>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Boundary</a:t>
            </a:r>
            <a:endParaRPr lang="en-US" sz="1050" dirty="0"/>
          </a:p>
        </p:txBody>
      </p:sp>
      <p:sp>
        <p:nvSpPr>
          <p:cNvPr id="16" name="Shape 12"/>
          <p:cNvSpPr/>
          <p:nvPr/>
        </p:nvSpPr>
        <p:spPr>
          <a:xfrm>
            <a:off x="2651760" y="1847088"/>
            <a:ext cx="4663440" cy="768096"/>
          </a:xfrm>
          <a:prstGeom prst="rect">
            <a:avLst/>
          </a:prstGeom>
          <a:solidFill>
            <a:srgbClr val="EEF2FA"/>
          </a:solidFill>
          <a:ln w="9525">
            <a:solidFill>
              <a:srgbClr val="C9D3E6"/>
            </a:solidFill>
            <a:prstDash val="solid"/>
          </a:ln>
        </p:spPr>
      </p:sp>
      <p:sp>
        <p:nvSpPr>
          <p:cNvPr id="17" name="Text 13"/>
          <p:cNvSpPr/>
          <p:nvPr/>
        </p:nvSpPr>
        <p:spPr>
          <a:xfrm>
            <a:off x="2761488" y="1847088"/>
            <a:ext cx="4480560"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Every N characters, with overlap</a:t>
            </a:r>
            <a:endParaRPr lang="en-US" sz="950" dirty="0"/>
          </a:p>
        </p:txBody>
      </p:sp>
      <p:sp>
        <p:nvSpPr>
          <p:cNvPr id="18" name="Shape 14"/>
          <p:cNvSpPr/>
          <p:nvPr/>
        </p:nvSpPr>
        <p:spPr>
          <a:xfrm>
            <a:off x="7315200" y="1847088"/>
            <a:ext cx="4233672" cy="768096"/>
          </a:xfrm>
          <a:prstGeom prst="rect">
            <a:avLst/>
          </a:prstGeom>
          <a:solidFill>
            <a:srgbClr val="FBF1E3"/>
          </a:solidFill>
          <a:ln w="9525">
            <a:solidFill>
              <a:srgbClr val="C9D3E6"/>
            </a:solidFill>
            <a:prstDash val="solid"/>
          </a:ln>
        </p:spPr>
      </p:sp>
      <p:sp>
        <p:nvSpPr>
          <p:cNvPr id="19" name="Text 15"/>
          <p:cNvSpPr/>
          <p:nvPr/>
        </p:nvSpPr>
        <p:spPr>
          <a:xfrm>
            <a:off x="7424928" y="1847088"/>
            <a:ext cx="4050792"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The clause heading regex: ^[MHP]-x.y Title:</a:t>
            </a:r>
            <a:endParaRPr lang="en-US" sz="950" dirty="0"/>
          </a:p>
        </p:txBody>
      </p:sp>
      <p:sp>
        <p:nvSpPr>
          <p:cNvPr id="20" name="Shape 16"/>
          <p:cNvSpPr/>
          <p:nvPr/>
        </p:nvSpPr>
        <p:spPr>
          <a:xfrm>
            <a:off x="640080" y="2633472"/>
            <a:ext cx="2011680" cy="768096"/>
          </a:xfrm>
          <a:prstGeom prst="rect">
            <a:avLst/>
          </a:prstGeom>
          <a:solidFill>
            <a:srgbClr val="FFFFFF"/>
          </a:solidFill>
          <a:ln w="9525">
            <a:solidFill>
              <a:srgbClr val="C9D3E6"/>
            </a:solidFill>
            <a:prstDash val="solid"/>
          </a:ln>
        </p:spPr>
      </p:sp>
      <p:sp>
        <p:nvSpPr>
          <p:cNvPr id="21" name="Text 17"/>
          <p:cNvSpPr/>
          <p:nvPr/>
        </p:nvSpPr>
        <p:spPr>
          <a:xfrm>
            <a:off x="749808" y="2633472"/>
            <a:ext cx="1828800" cy="768096"/>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Citation grain</a:t>
            </a:r>
            <a:endParaRPr lang="en-US" sz="1050" dirty="0"/>
          </a:p>
        </p:txBody>
      </p:sp>
      <p:sp>
        <p:nvSpPr>
          <p:cNvPr id="22" name="Shape 18"/>
          <p:cNvSpPr/>
          <p:nvPr/>
        </p:nvSpPr>
        <p:spPr>
          <a:xfrm>
            <a:off x="2651760" y="2633472"/>
            <a:ext cx="4663440" cy="768096"/>
          </a:xfrm>
          <a:prstGeom prst="rect">
            <a:avLst/>
          </a:prstGeom>
          <a:solidFill>
            <a:srgbClr val="FFFFFF"/>
          </a:solidFill>
          <a:ln w="9525">
            <a:solidFill>
              <a:srgbClr val="C9D3E6"/>
            </a:solidFill>
            <a:prstDash val="solid"/>
          </a:ln>
        </p:spPr>
      </p:sp>
      <p:sp>
        <p:nvSpPr>
          <p:cNvPr id="23" name="Text 19"/>
          <p:cNvSpPr/>
          <p:nvPr/>
        </p:nvSpPr>
        <p:spPr>
          <a:xfrm>
            <a:off x="2761488" y="2633472"/>
            <a:ext cx="4480560"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“Somewhere in chunk 7” — not quotable</a:t>
            </a:r>
            <a:endParaRPr lang="en-US" sz="950" dirty="0"/>
          </a:p>
        </p:txBody>
      </p:sp>
      <p:sp>
        <p:nvSpPr>
          <p:cNvPr id="24" name="Shape 20"/>
          <p:cNvSpPr/>
          <p:nvPr/>
        </p:nvSpPr>
        <p:spPr>
          <a:xfrm>
            <a:off x="7315200" y="2633472"/>
            <a:ext cx="4233672" cy="768096"/>
          </a:xfrm>
          <a:prstGeom prst="rect">
            <a:avLst/>
          </a:prstGeom>
          <a:solidFill>
            <a:srgbClr val="FBF1E3"/>
          </a:solidFill>
          <a:ln w="9525">
            <a:solidFill>
              <a:srgbClr val="C9D3E6"/>
            </a:solidFill>
            <a:prstDash val="solid"/>
          </a:ln>
        </p:spPr>
      </p:sp>
      <p:sp>
        <p:nvSpPr>
          <p:cNvPr id="25" name="Text 21"/>
          <p:cNvSpPr/>
          <p:nvPr/>
        </p:nvSpPr>
        <p:spPr>
          <a:xfrm>
            <a:off x="7424928" y="2633472"/>
            <a:ext cx="4050792"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[M-2.3] → exactly one quotable clause</a:t>
            </a:r>
            <a:endParaRPr lang="en-US" sz="950" dirty="0"/>
          </a:p>
        </p:txBody>
      </p:sp>
      <p:sp>
        <p:nvSpPr>
          <p:cNvPr id="26" name="Shape 22"/>
          <p:cNvSpPr/>
          <p:nvPr/>
        </p:nvSpPr>
        <p:spPr>
          <a:xfrm>
            <a:off x="640080" y="3419856"/>
            <a:ext cx="2011680" cy="768096"/>
          </a:xfrm>
          <a:prstGeom prst="rect">
            <a:avLst/>
          </a:prstGeom>
          <a:solidFill>
            <a:srgbClr val="EEF2FA"/>
          </a:solidFill>
          <a:ln w="9525">
            <a:solidFill>
              <a:srgbClr val="C9D3E6"/>
            </a:solidFill>
            <a:prstDash val="solid"/>
          </a:ln>
        </p:spPr>
      </p:sp>
      <p:sp>
        <p:nvSpPr>
          <p:cNvPr id="27" name="Text 23"/>
          <p:cNvSpPr/>
          <p:nvPr/>
        </p:nvSpPr>
        <p:spPr>
          <a:xfrm>
            <a:off x="749808" y="3419856"/>
            <a:ext cx="1828800" cy="768096"/>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Regulatory traceability</a:t>
            </a:r>
            <a:endParaRPr lang="en-US" sz="1050" dirty="0"/>
          </a:p>
        </p:txBody>
      </p:sp>
      <p:sp>
        <p:nvSpPr>
          <p:cNvPr id="28" name="Shape 24"/>
          <p:cNvSpPr/>
          <p:nvPr/>
        </p:nvSpPr>
        <p:spPr>
          <a:xfrm>
            <a:off x="2651760" y="3419856"/>
            <a:ext cx="4663440" cy="768096"/>
          </a:xfrm>
          <a:prstGeom prst="rect">
            <a:avLst/>
          </a:prstGeom>
          <a:solidFill>
            <a:srgbClr val="EEF2FA"/>
          </a:solidFill>
          <a:ln w="9525">
            <a:solidFill>
              <a:srgbClr val="C9D3E6"/>
            </a:solidFill>
            <a:prstDash val="solid"/>
          </a:ln>
        </p:spPr>
      </p:sp>
      <p:sp>
        <p:nvSpPr>
          <p:cNvPr id="29" name="Text 25"/>
          <p:cNvSpPr/>
          <p:nvPr/>
        </p:nvSpPr>
        <p:spPr>
          <a:xfrm>
            <a:off x="2761488" y="3419856"/>
            <a:ext cx="4480560"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Weak: audit must re-search the source</a:t>
            </a:r>
            <a:endParaRPr lang="en-US" sz="950" dirty="0"/>
          </a:p>
        </p:txBody>
      </p:sp>
      <p:sp>
        <p:nvSpPr>
          <p:cNvPr id="30" name="Shape 26"/>
          <p:cNvSpPr/>
          <p:nvPr/>
        </p:nvSpPr>
        <p:spPr>
          <a:xfrm>
            <a:off x="7315200" y="3419856"/>
            <a:ext cx="4233672" cy="768096"/>
          </a:xfrm>
          <a:prstGeom prst="rect">
            <a:avLst/>
          </a:prstGeom>
          <a:solidFill>
            <a:srgbClr val="FBF1E3"/>
          </a:solidFill>
          <a:ln w="9525">
            <a:solidFill>
              <a:srgbClr val="C9D3E6"/>
            </a:solidFill>
            <a:prstDash val="solid"/>
          </a:ln>
        </p:spPr>
      </p:sp>
      <p:sp>
        <p:nvSpPr>
          <p:cNvPr id="31" name="Text 27"/>
          <p:cNvSpPr/>
          <p:nvPr/>
        </p:nvSpPr>
        <p:spPr>
          <a:xfrm>
            <a:off x="7424928" y="3419856"/>
            <a:ext cx="4050792"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Strong: matches how rejection letters cite policy</a:t>
            </a:r>
            <a:endParaRPr lang="en-US" sz="950" dirty="0"/>
          </a:p>
        </p:txBody>
      </p:sp>
      <p:sp>
        <p:nvSpPr>
          <p:cNvPr id="32" name="Shape 28"/>
          <p:cNvSpPr/>
          <p:nvPr/>
        </p:nvSpPr>
        <p:spPr>
          <a:xfrm>
            <a:off x="640080" y="4206240"/>
            <a:ext cx="2011680" cy="768096"/>
          </a:xfrm>
          <a:prstGeom prst="rect">
            <a:avLst/>
          </a:prstGeom>
          <a:solidFill>
            <a:srgbClr val="FFFFFF"/>
          </a:solidFill>
          <a:ln w="9525">
            <a:solidFill>
              <a:srgbClr val="C9D3E6"/>
            </a:solidFill>
            <a:prstDash val="solid"/>
          </a:ln>
        </p:spPr>
      </p:sp>
      <p:sp>
        <p:nvSpPr>
          <p:cNvPr id="33" name="Text 29"/>
          <p:cNvSpPr/>
          <p:nvPr/>
        </p:nvSpPr>
        <p:spPr>
          <a:xfrm>
            <a:off x="749808" y="4206240"/>
            <a:ext cx="1828800" cy="768096"/>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Retrieval quality</a:t>
            </a:r>
            <a:endParaRPr lang="en-US" sz="1050" dirty="0"/>
          </a:p>
        </p:txBody>
      </p:sp>
      <p:sp>
        <p:nvSpPr>
          <p:cNvPr id="34" name="Shape 30"/>
          <p:cNvSpPr/>
          <p:nvPr/>
        </p:nvSpPr>
        <p:spPr>
          <a:xfrm>
            <a:off x="2651760" y="4206240"/>
            <a:ext cx="4663440" cy="768096"/>
          </a:xfrm>
          <a:prstGeom prst="rect">
            <a:avLst/>
          </a:prstGeom>
          <a:solidFill>
            <a:srgbClr val="FFFFFF"/>
          </a:solidFill>
          <a:ln w="9525">
            <a:solidFill>
              <a:srgbClr val="C9D3E6"/>
            </a:solidFill>
            <a:prstDash val="solid"/>
          </a:ln>
        </p:spPr>
      </p:sp>
      <p:sp>
        <p:nvSpPr>
          <p:cNvPr id="35" name="Text 31"/>
          <p:cNvSpPr/>
          <p:nvPr/>
        </p:nvSpPr>
        <p:spPr>
          <a:xfrm>
            <a:off x="2761488" y="4206240"/>
            <a:ext cx="4480560"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Clauses cut mid-sentence; neighbours merged</a:t>
            </a:r>
            <a:endParaRPr lang="en-US" sz="950" dirty="0"/>
          </a:p>
        </p:txBody>
      </p:sp>
      <p:sp>
        <p:nvSpPr>
          <p:cNvPr id="36" name="Shape 32"/>
          <p:cNvSpPr/>
          <p:nvPr/>
        </p:nvSpPr>
        <p:spPr>
          <a:xfrm>
            <a:off x="7315200" y="4206240"/>
            <a:ext cx="4233672" cy="768096"/>
          </a:xfrm>
          <a:prstGeom prst="rect">
            <a:avLst/>
          </a:prstGeom>
          <a:solidFill>
            <a:srgbClr val="FBF1E3"/>
          </a:solidFill>
          <a:ln w="9525">
            <a:solidFill>
              <a:srgbClr val="C9D3E6"/>
            </a:solidFill>
            <a:prstDash val="solid"/>
          </a:ln>
        </p:spPr>
      </p:sp>
      <p:sp>
        <p:nvSpPr>
          <p:cNvPr id="37" name="Text 33"/>
          <p:cNvSpPr/>
          <p:nvPr/>
        </p:nvSpPr>
        <p:spPr>
          <a:xfrm>
            <a:off x="7424928" y="4206240"/>
            <a:ext cx="4050792"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Semantically complete units, no bleed</a:t>
            </a:r>
            <a:endParaRPr lang="en-US" sz="950" dirty="0"/>
          </a:p>
        </p:txBody>
      </p:sp>
      <p:sp>
        <p:nvSpPr>
          <p:cNvPr id="38" name="Shape 34"/>
          <p:cNvSpPr/>
          <p:nvPr/>
        </p:nvSpPr>
        <p:spPr>
          <a:xfrm>
            <a:off x="640080" y="4992624"/>
            <a:ext cx="2011680" cy="768096"/>
          </a:xfrm>
          <a:prstGeom prst="rect">
            <a:avLst/>
          </a:prstGeom>
          <a:solidFill>
            <a:srgbClr val="EEF2FA"/>
          </a:solidFill>
          <a:ln w="9525">
            <a:solidFill>
              <a:srgbClr val="C9D3E6"/>
            </a:solidFill>
            <a:prstDash val="solid"/>
          </a:ln>
        </p:spPr>
      </p:sp>
      <p:sp>
        <p:nvSpPr>
          <p:cNvPr id="39" name="Text 35"/>
          <p:cNvSpPr/>
          <p:nvPr/>
        </p:nvSpPr>
        <p:spPr>
          <a:xfrm>
            <a:off x="749808" y="4992624"/>
            <a:ext cx="1828800" cy="768096"/>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Cost / limits</a:t>
            </a:r>
            <a:endParaRPr lang="en-US" sz="1050" dirty="0"/>
          </a:p>
        </p:txBody>
      </p:sp>
      <p:sp>
        <p:nvSpPr>
          <p:cNvPr id="40" name="Shape 36"/>
          <p:cNvSpPr/>
          <p:nvPr/>
        </p:nvSpPr>
        <p:spPr>
          <a:xfrm>
            <a:off x="2651760" y="4992624"/>
            <a:ext cx="4663440" cy="768096"/>
          </a:xfrm>
          <a:prstGeom prst="rect">
            <a:avLst/>
          </a:prstGeom>
          <a:solidFill>
            <a:srgbClr val="EEF2FA"/>
          </a:solidFill>
          <a:ln w="9525">
            <a:solidFill>
              <a:srgbClr val="C9D3E6"/>
            </a:solidFill>
            <a:prstDash val="solid"/>
          </a:ln>
        </p:spPr>
      </p:sp>
      <p:sp>
        <p:nvSpPr>
          <p:cNvPr id="41" name="Text 37"/>
          <p:cNvSpPr/>
          <p:nvPr/>
        </p:nvSpPr>
        <p:spPr>
          <a:xfrm>
            <a:off x="2761488" y="4992624"/>
            <a:ext cx="4480560"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Works on ANY text, no parsing needed</a:t>
            </a:r>
            <a:endParaRPr lang="en-US" sz="950" dirty="0"/>
          </a:p>
        </p:txBody>
      </p:sp>
      <p:sp>
        <p:nvSpPr>
          <p:cNvPr id="42" name="Shape 38"/>
          <p:cNvSpPr/>
          <p:nvPr/>
        </p:nvSpPr>
        <p:spPr>
          <a:xfrm>
            <a:off x="7315200" y="4992624"/>
            <a:ext cx="4233672" cy="768096"/>
          </a:xfrm>
          <a:prstGeom prst="rect">
            <a:avLst/>
          </a:prstGeom>
          <a:solidFill>
            <a:srgbClr val="FBF1E3"/>
          </a:solidFill>
          <a:ln w="9525">
            <a:solidFill>
              <a:srgbClr val="C9D3E6"/>
            </a:solidFill>
            <a:prstDash val="solid"/>
          </a:ln>
        </p:spPr>
      </p:sp>
      <p:sp>
        <p:nvSpPr>
          <p:cNvPr id="43" name="Text 39"/>
          <p:cNvSpPr/>
          <p:nvPr/>
        </p:nvSpPr>
        <p:spPr>
          <a:xfrm>
            <a:off x="7424928" y="4992624"/>
            <a:ext cx="4050792" cy="768096"/>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Needs structured documents + a domain splitter; very long clauses can exceed the budget</a:t>
            </a:r>
            <a:endParaRPr lang="en-US" sz="950" dirty="0"/>
          </a:p>
        </p:txBody>
      </p:sp>
      <p:sp>
        <p:nvSpPr>
          <p:cNvPr id="44" name="Shape 40"/>
          <p:cNvSpPr/>
          <p:nvPr/>
        </p:nvSpPr>
        <p:spPr>
          <a:xfrm>
            <a:off x="640080" y="5943600"/>
            <a:ext cx="10881360" cy="475488"/>
          </a:xfrm>
          <a:prstGeom prst="roundRect">
            <a:avLst>
              <a:gd name="adj" fmla="val 17308"/>
            </a:avLst>
          </a:prstGeom>
          <a:solidFill>
            <a:srgbClr val="232946"/>
          </a:solidFill>
          <a:ln/>
          <a:effectLst>
            <a:outerShdw sx="100000" sy="100000" kx="0" ky="0" algn="bl" rotWithShape="0" blurRad="76200" dist="25400" dir="5400000">
              <a:srgbClr val="9AA4B8">
                <a:alpha val="35000"/>
              </a:srgbClr>
            </a:outerShdw>
          </a:effectLst>
        </p:spPr>
      </p:sp>
      <p:sp>
        <p:nvSpPr>
          <p:cNvPr id="45" name="Text 41"/>
          <p:cNvSpPr/>
          <p:nvPr/>
        </p:nvSpPr>
        <p:spPr>
          <a:xfrm>
            <a:off x="868680" y="5971032"/>
            <a:ext cx="10424160" cy="420624"/>
          </a:xfrm>
          <a:prstGeom prst="rect">
            <a:avLst/>
          </a:prstGeom>
          <a:noFill/>
          <a:ln/>
        </p:spPr>
        <p:txBody>
          <a:bodyPr wrap="square" lIns="0" tIns="0" rIns="0" bIns="0" rtlCol="0" anchor="ctr"/>
          <a:lstStyle/>
          <a:p>
            <a:pPr indent="0" marL="0">
              <a:buNone/>
            </a:pPr>
            <a:r>
              <a:rPr lang="en-US" sz="1150" b="1" dirty="0">
                <a:solidFill>
                  <a:srgbClr val="F5B971"/>
                </a:solidFill>
                <a:latin typeface="Calibri" pitchFamily="34" charset="0"/>
                <a:ea typeface="Calibri" pitchFamily="34" charset="-122"/>
                <a:cs typeface="Calibri" pitchFamily="34" charset="-120"/>
              </a:rPr>
              <a:t>Generalisation:  </a:t>
            </a:r>
            <a:pPr indent="0" marL="0">
              <a:buNone/>
            </a:pPr>
            <a:r>
              <a:rPr lang="en-US" sz="1150" dirty="0">
                <a:solidFill>
                  <a:srgbClr val="FFFFFF"/>
                </a:solidFill>
                <a:latin typeface="Calibri" pitchFamily="34" charset="0"/>
                <a:ea typeface="Calibri" pitchFamily="34" charset="-122"/>
                <a:cs typeface="Calibri" pitchFamily="34" charset="-120"/>
              </a:rPr>
              <a:t>the retrieval unit should be the unit your domain cites — clauses in policies, steps in manuals, fields in tickets. Chunking is a product decision, not a preprocessing detail.</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RAG ANATOMY · CODE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rag/ingest.py — the offline half, abbreviated</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463040"/>
            <a:ext cx="6812280" cy="4892040"/>
          </a:xfrm>
          <a:prstGeom prst="roundRect">
            <a:avLst>
              <a:gd name="adj" fmla="val 1495"/>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572768"/>
            <a:ext cx="6409944" cy="467258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CLAUSE_RE = re.compile(</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r"^(?P&lt;id&gt;[MHP]-\d+\.\d+)\s+(?P&lt;title&gt;[^:\n]+):",</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re.MULTILINE)   # 'M-2.3 Licence validity:'</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one chunk per clause: heading -&gt; next heading</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for i, m in enumerate(matches):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end = matches[i+1].start() if i+1 &lt; len(matches)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chunks.append({"id": m.group("id"), …})</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client = chromadb.PersistentClient(path="rag/chroma")</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client.delete_collection("policy_clauses")  # idempotent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collection = client.create_collection("policy_clauses")</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no embedding_function =&gt; default ONNX MiniLM (~80 MB,</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downloaded on first run, cached in ~/.cache/chroma)</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collection.add(</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ids=[c["id"] for c in all_chunks],  # id IS clause id</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documents=[c["text"] for c in all_chunks],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metadatas=[{"doc": c["doc"],</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"clause_id": c["id"]} for c in all_chunks],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 motor 15 · health 15 · process 15 = 45 chunks</a:t>
            </a:r>
            <a:endParaRPr lang="en-US" sz="1000" dirty="0"/>
          </a:p>
        </p:txBody>
      </p:sp>
      <p:sp>
        <p:nvSpPr>
          <p:cNvPr id="10" name="Shape 6"/>
          <p:cNvSpPr/>
          <p:nvPr/>
        </p:nvSpPr>
        <p:spPr>
          <a:xfrm>
            <a:off x="7680960" y="1463040"/>
            <a:ext cx="3886200" cy="2880360"/>
          </a:xfrm>
          <a:prstGeom prst="roundRect">
            <a:avLst>
              <a:gd name="adj" fmla="val 2857"/>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7909560" y="1600200"/>
            <a:ext cx="3383280" cy="292608"/>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Design notes</a:t>
            </a:r>
            <a:endParaRPr lang="en-US" sz="1300" dirty="0"/>
          </a:p>
        </p:txBody>
      </p:sp>
      <p:sp>
        <p:nvSpPr>
          <p:cNvPr id="12" name="Text 8"/>
          <p:cNvSpPr/>
          <p:nvPr/>
        </p:nvSpPr>
        <p:spPr>
          <a:xfrm>
            <a:off x="7909560" y="1938528"/>
            <a:ext cx="3474720" cy="22860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chunk id IS the clause id — [M-2.3] in an answer resolves to one stored chunk</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delete + recreate on every run: re-ingesting an edited policy never leaves stale chunks</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PersistentClient = a directory on disk; the api container bind-mounts the same path</a:t>
            </a:r>
            <a:endParaRPr lang="en-US" sz="1050" dirty="0"/>
          </a:p>
        </p:txBody>
      </p:sp>
      <p:sp>
        <p:nvSpPr>
          <p:cNvPr id="13" name="Shape 9"/>
          <p:cNvSpPr/>
          <p:nvPr/>
        </p:nvSpPr>
        <p:spPr>
          <a:xfrm>
            <a:off x="7680960" y="4526280"/>
            <a:ext cx="3886200" cy="1828800"/>
          </a:xfrm>
          <a:prstGeom prst="roundRect">
            <a:avLst>
              <a:gd name="adj" fmla="val 4500"/>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7909560" y="4663440"/>
            <a:ext cx="338328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Requirements note</a:t>
            </a:r>
            <a:endParaRPr lang="en-US" sz="1250" dirty="0"/>
          </a:p>
        </p:txBody>
      </p:sp>
      <p:sp>
        <p:nvSpPr>
          <p:cNvPr id="15" name="Text 11"/>
          <p:cNvSpPr/>
          <p:nvPr/>
        </p:nvSpPr>
        <p:spPr>
          <a:xfrm>
            <a:off x="7909560" y="4983480"/>
            <a:ext cx="3474720" cy="128016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chromadb==0.5.23 (pinned 0.5.x). First embed/query downloads the small ONNX embedding model (~80 MB) — once on the host, once in the api container (persisted in a compose volume).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THE HONESTY PATTERN</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grounded prompt — honesty as a product feature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463040"/>
            <a:ext cx="6400800" cy="2880360"/>
          </a:xfrm>
          <a:prstGeom prst="roundRect">
            <a:avLst>
              <a:gd name="adj" fmla="val 2540"/>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572768"/>
            <a:ext cx="5998464" cy="266090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GROUNDED_SYSTEM = (</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"You are ClaimAssist, an insurance claims-status</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assistant.\n"</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"Answer the customer's question ONLY from the</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numbered context below. "</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"Cite the clause ids you used in square brackets,</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like [M-2.3]. "</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"If the answer is not present in the context,</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reply with exactly NOT_IN_POLICY and nothing</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else. Never invent clauses, amounts or dates."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a:t>
            </a:r>
            <a:endParaRPr lang="en-US" sz="1000" dirty="0"/>
          </a:p>
        </p:txBody>
      </p:sp>
      <p:sp>
        <p:nvSpPr>
          <p:cNvPr id="10" name="Shape 6"/>
          <p:cNvSpPr/>
          <p:nvPr/>
        </p:nvSpPr>
        <p:spPr>
          <a:xfrm>
            <a:off x="640080" y="4526280"/>
            <a:ext cx="6400800" cy="1828800"/>
          </a:xfrm>
          <a:prstGeom prst="roundRect">
            <a:avLst>
              <a:gd name="adj" fmla="val 4000"/>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4636008"/>
            <a:ext cx="5998464" cy="160934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if "NOT_IN_POLICY" in raw:   # the honest path</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return AskResponse(</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answer="This is not covered in the policy</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documents I have access to.",</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citations=[], confidence="low",</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not_found=True, …)</a:t>
            </a:r>
            <a:endParaRPr lang="en-US" sz="1000" dirty="0"/>
          </a:p>
        </p:txBody>
      </p:sp>
      <p:sp>
        <p:nvSpPr>
          <p:cNvPr id="12" name="Shape 8"/>
          <p:cNvSpPr/>
          <p:nvPr/>
        </p:nvSpPr>
        <p:spPr>
          <a:xfrm>
            <a:off x="7269480" y="1463040"/>
            <a:ext cx="4297680" cy="4892040"/>
          </a:xfrm>
          <a:prstGeom prst="roundRect">
            <a:avLst>
              <a:gd name="adj" fmla="val 1915"/>
            </a:avLst>
          </a:prstGeom>
          <a:solidFill>
            <a:srgbClr val="EEF2FA"/>
          </a:solidFill>
          <a:ln/>
          <a:effectLst>
            <a:outerShdw sx="100000" sy="100000" kx="0" ky="0" algn="bl" rotWithShape="0" blurRad="76200" dist="25400" dir="5400000">
              <a:srgbClr val="9AA4B8">
                <a:alpha val="35000"/>
              </a:srgbClr>
            </a:outerShdw>
          </a:effectLst>
        </p:spPr>
      </p:sp>
      <p:sp>
        <p:nvSpPr>
          <p:cNvPr id="13" name="Text 9"/>
          <p:cNvSpPr/>
          <p:nvPr/>
        </p:nvSpPr>
        <p:spPr>
          <a:xfrm>
            <a:off x="7498080" y="1618488"/>
            <a:ext cx="384048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Why each line exists</a:t>
            </a:r>
            <a:endParaRPr lang="en-US" sz="1350" dirty="0"/>
          </a:p>
        </p:txBody>
      </p:sp>
      <p:sp>
        <p:nvSpPr>
          <p:cNvPr id="14" name="Text 10"/>
          <p:cNvSpPr/>
          <p:nvPr/>
        </p:nvSpPr>
        <p:spPr>
          <a:xfrm>
            <a:off x="7498080" y="2011680"/>
            <a:ext cx="3886200" cy="42062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b="1" dirty="0">
                <a:solidFill>
                  <a:srgbClr val="232946"/>
                </a:solidFill>
                <a:latin typeface="Calibri" pitchFamily="34" charset="0"/>
                <a:ea typeface="Calibri" pitchFamily="34" charset="-122"/>
                <a:cs typeface="Calibri" pitchFamily="34" charset="-120"/>
              </a:rPr>
              <a:t>“ONLY from the numbered context” — grounding overrides frozen training data and the model's urge to be helpful beyond its evidence.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“cite clause ids like [M-2.3]” — a machine-parseable citation format; the API extracts it with one regex and verifies it against the store.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“reply NOT_IN_POLICY” — the escape hatch. Without an allowed refusal, the model will invent a clause rather than admit absence.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API converts the sentinel into a STRUCTURED state: fixed answer, empty citations, confidence low, not_found true — the UI renders it deliberately, not as an error.</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Because it is structured, it is testable: the Step 6 promptfoo assertion checks not_found on out-of-corpus questions.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CITATIONS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Citations: extracted, verified, rendered</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463040"/>
            <a:ext cx="6583680" cy="3291840"/>
          </a:xfrm>
          <a:prstGeom prst="roundRect">
            <a:avLst>
              <a:gd name="adj" fmla="val 2222"/>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572768"/>
            <a:ext cx="6181344" cy="307238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CITATION_RE = re.compile(r"\[([MHP]-\d+\.\d+)\]")</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def extract_citations(answer, retrieved):</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by_id = {c["clause_id"]: c for c in retrieved}</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for cid in dict.fromkeys(CITATION_RE.findall(answer)):</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chunk = by_id.get(cid)</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if chunk is None:              # cited, not in top-4</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got = collection.get(ids=[cid])  # store lookup</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if not got["ids"]:</a:t>
            </a:r>
            <a:endParaRPr lang="en-US" sz="1000" dirty="0"/>
          </a:p>
          <a:p>
            <a:pPr indent="0" marL="0">
              <a:lnSpc>
                <a:spcPct val="112000"/>
              </a:lnSpc>
              <a:buNone/>
            </a:pPr>
            <a:r>
              <a:rPr lang="en-US" sz="1000" dirty="0">
                <a:solidFill>
                  <a:srgbClr val="F0937A"/>
                </a:solidFill>
                <a:latin typeface="Courier New" pitchFamily="34" charset="0"/>
                <a:ea typeface="Courier New" pitchFamily="34" charset="-122"/>
                <a:cs typeface="Courier New" pitchFamily="34" charset="-120"/>
              </a:rPr>
              <a:t>                continue               # invented id: DROP it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citations.append(Citation(</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clause_id=cid, doc=chunk["doc"],</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snippet=chunk["text"][:200]))  # verifiable</a:t>
            </a:r>
            <a:endParaRPr lang="en-US" sz="1000" dirty="0"/>
          </a:p>
        </p:txBody>
      </p:sp>
      <p:sp>
        <p:nvSpPr>
          <p:cNvPr id="10" name="Shape 6"/>
          <p:cNvSpPr/>
          <p:nvPr/>
        </p:nvSpPr>
        <p:spPr>
          <a:xfrm>
            <a:off x="7452360" y="1463040"/>
            <a:ext cx="4114800" cy="3291840"/>
          </a:xfrm>
          <a:prstGeom prst="roundRect">
            <a:avLst>
              <a:gd name="adj" fmla="val 2500"/>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7680960" y="1618488"/>
            <a:ext cx="3657600" cy="320040"/>
          </a:xfrm>
          <a:prstGeom prst="rect">
            <a:avLst/>
          </a:prstGeom>
          <a:noFill/>
          <a:ln/>
        </p:spPr>
        <p:txBody>
          <a:bodyPr wrap="square" lIns="0" tIns="0" rIns="0" bIns="0" rtlCol="0" anchor="ctr"/>
          <a:lstStyle/>
          <a:p>
            <a:pPr indent="0" marL="0">
              <a:buNone/>
            </a:pPr>
            <a:r>
              <a:rPr lang="en-US" sz="1350" b="1" dirty="0">
                <a:solidFill>
                  <a:srgbClr val="232946"/>
                </a:solidFill>
                <a:latin typeface="Arial" pitchFamily="34" charset="0"/>
                <a:ea typeface="Arial" pitchFamily="34" charset="-122"/>
                <a:cs typeface="Arial" pitchFamily="34" charset="-120"/>
              </a:rPr>
              <a:t>Rendering in the UI</a:t>
            </a:r>
            <a:endParaRPr lang="en-US" sz="1350" dirty="0"/>
          </a:p>
        </p:txBody>
      </p:sp>
      <p:sp>
        <p:nvSpPr>
          <p:cNvPr id="12" name="Text 8"/>
          <p:cNvSpPr/>
          <p:nvPr/>
        </p:nvSpPr>
        <p:spPr>
          <a:xfrm>
            <a:off x="7680960" y="2011680"/>
            <a:ext cx="3703320" cy="26517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b="1" dirty="0">
                <a:solidFill>
                  <a:srgbClr val="232946"/>
                </a:solidFill>
                <a:latin typeface="Calibri" pitchFamily="34" charset="0"/>
                <a:ea typeface="Calibri" pitchFamily="34" charset="-122"/>
                <a:cs typeface="Calibri" pitchFamily="34" charset="-120"/>
              </a:rPr>
              <a:t>Each citation becomes an st.expander chip under the answer: “[M-2.3] — motor_policy.md” on the handle, the clause snippet inside.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Collapsed by default: evidence on demand, not a wall of quoted policy.</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confidence badge sits beside the answer — green / orange / red.</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not_found renders as a deliberate info state, never an error box.</a:t>
            </a:r>
            <a:endParaRPr lang="en-US" sz="1050" dirty="0"/>
          </a:p>
        </p:txBody>
      </p:sp>
      <p:sp>
        <p:nvSpPr>
          <p:cNvPr id="13" name="Shape 9"/>
          <p:cNvSpPr/>
          <p:nvPr/>
        </p:nvSpPr>
        <p:spPr>
          <a:xfrm>
            <a:off x="640080" y="4983480"/>
            <a:ext cx="10881360" cy="1371600"/>
          </a:xfrm>
          <a:prstGeom prst="roundRect">
            <a:avLst>
              <a:gd name="adj" fmla="val 6000"/>
            </a:avLst>
          </a:prstGeom>
          <a:solidFill>
            <a:srgbClr val="232946"/>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5120640"/>
            <a:ext cx="4572000" cy="292608"/>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The citation contract</a:t>
            </a:r>
            <a:endParaRPr lang="en-US" sz="1300" dirty="0"/>
          </a:p>
        </p:txBody>
      </p:sp>
      <p:sp>
        <p:nvSpPr>
          <p:cNvPr id="15" name="Text 11"/>
          <p:cNvSpPr/>
          <p:nvPr/>
        </p:nvSpPr>
        <p:spPr>
          <a:xfrm>
            <a:off x="868680" y="5440680"/>
            <a:ext cx="10424160" cy="7772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 cited clause is always a real clause: ids are regex-extracted, verified against the store, and invented ids are dropped (and worth alerting on). The model proposes citations; the post-processor decides which survive.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CONFIDENCE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Confidence from retrieval distance — not from model tone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822960" y="1783080"/>
            <a:ext cx="3995928" cy="502920"/>
          </a:xfrm>
          <a:prstGeom prst="rect">
            <a:avLst/>
          </a:prstGeom>
          <a:solidFill>
            <a:srgbClr val="EAF4EC"/>
          </a:solidFill>
          <a:ln/>
        </p:spPr>
      </p:sp>
      <p:sp>
        <p:nvSpPr>
          <p:cNvPr id="9" name="Shape 5"/>
          <p:cNvSpPr/>
          <p:nvPr/>
        </p:nvSpPr>
        <p:spPr>
          <a:xfrm>
            <a:off x="4818888" y="1783080"/>
            <a:ext cx="2523744" cy="502920"/>
          </a:xfrm>
          <a:prstGeom prst="rect">
            <a:avLst/>
          </a:prstGeom>
          <a:solidFill>
            <a:srgbClr val="FBF1E3"/>
          </a:solidFill>
          <a:ln/>
        </p:spPr>
      </p:sp>
      <p:sp>
        <p:nvSpPr>
          <p:cNvPr id="10" name="Shape 6"/>
          <p:cNvSpPr/>
          <p:nvPr/>
        </p:nvSpPr>
        <p:spPr>
          <a:xfrm>
            <a:off x="7342632" y="1783080"/>
            <a:ext cx="3995928" cy="502920"/>
          </a:xfrm>
          <a:prstGeom prst="rect">
            <a:avLst/>
          </a:prstGeom>
          <a:solidFill>
            <a:srgbClr val="F8ECE8"/>
          </a:solidFill>
          <a:ln/>
        </p:spPr>
      </p:sp>
      <p:sp>
        <p:nvSpPr>
          <p:cNvPr id="11" name="Text 7"/>
          <p:cNvSpPr/>
          <p:nvPr/>
        </p:nvSpPr>
        <p:spPr>
          <a:xfrm>
            <a:off x="822960" y="1783080"/>
            <a:ext cx="3995928" cy="502920"/>
          </a:xfrm>
          <a:prstGeom prst="rect">
            <a:avLst/>
          </a:prstGeom>
          <a:noFill/>
          <a:ln/>
        </p:spPr>
        <p:txBody>
          <a:bodyPr wrap="square" lIns="0" tIns="0" rIns="0" bIns="0" rtlCol="0" anchor="ctr"/>
          <a:lstStyle/>
          <a:p>
            <a:pPr algn="ctr" indent="0" marL="0">
              <a:buNone/>
            </a:pPr>
            <a:r>
              <a:rPr lang="en-US" sz="1200" b="1" dirty="0">
                <a:solidFill>
                  <a:srgbClr val="2C7A4B"/>
                </a:solidFill>
                <a:latin typeface="Arial" pitchFamily="34" charset="0"/>
                <a:ea typeface="Arial" pitchFamily="34" charset="-122"/>
                <a:cs typeface="Arial" pitchFamily="34" charset="-120"/>
              </a:rPr>
              <a:t>HIGH — best distance &lt; 1.0</a:t>
            </a:r>
            <a:endParaRPr lang="en-US" sz="1200" dirty="0"/>
          </a:p>
        </p:txBody>
      </p:sp>
      <p:sp>
        <p:nvSpPr>
          <p:cNvPr id="12" name="Text 8"/>
          <p:cNvSpPr/>
          <p:nvPr/>
        </p:nvSpPr>
        <p:spPr>
          <a:xfrm>
            <a:off x="4818888" y="1783080"/>
            <a:ext cx="2523744" cy="502920"/>
          </a:xfrm>
          <a:prstGeom prst="rect">
            <a:avLst/>
          </a:prstGeom>
          <a:noFill/>
          <a:ln/>
        </p:spPr>
        <p:txBody>
          <a:bodyPr wrap="square" lIns="0" tIns="0" rIns="0" bIns="0" rtlCol="0" anchor="ctr"/>
          <a:lstStyle/>
          <a:p>
            <a:pPr algn="ctr" indent="0" marL="0">
              <a:buNone/>
            </a:pPr>
            <a:r>
              <a:rPr lang="en-US" sz="1200" b="1" dirty="0">
                <a:solidFill>
                  <a:srgbClr val="B8860B"/>
                </a:solidFill>
                <a:latin typeface="Arial" pitchFamily="34" charset="0"/>
                <a:ea typeface="Arial" pitchFamily="34" charset="-122"/>
                <a:cs typeface="Arial" pitchFamily="34" charset="-120"/>
              </a:rPr>
              <a:t>MEDIUM — &lt; 1.4</a:t>
            </a:r>
            <a:endParaRPr lang="en-US" sz="1200" dirty="0"/>
          </a:p>
        </p:txBody>
      </p:sp>
      <p:sp>
        <p:nvSpPr>
          <p:cNvPr id="13" name="Text 9"/>
          <p:cNvSpPr/>
          <p:nvPr/>
        </p:nvSpPr>
        <p:spPr>
          <a:xfrm>
            <a:off x="7342632" y="1783080"/>
            <a:ext cx="3995928" cy="502920"/>
          </a:xfrm>
          <a:prstGeom prst="rect">
            <a:avLst/>
          </a:prstGeom>
          <a:noFill/>
          <a:ln/>
        </p:spPr>
        <p:txBody>
          <a:bodyPr wrap="square" lIns="0" tIns="0" rIns="0" bIns="0" rtlCol="0" anchor="ctr"/>
          <a:lstStyle/>
          <a:p>
            <a:pPr algn="ctr" indent="0" marL="0">
              <a:buNone/>
            </a:pPr>
            <a:r>
              <a:rPr lang="en-US" sz="1200" b="1" dirty="0">
                <a:solidFill>
                  <a:srgbClr val="B3402A"/>
                </a:solidFill>
                <a:latin typeface="Arial" pitchFamily="34" charset="0"/>
                <a:ea typeface="Arial" pitchFamily="34" charset="-122"/>
                <a:cs typeface="Arial" pitchFamily="34" charset="-120"/>
              </a:rPr>
              <a:t>LOW — ≥ 1.4 (retrieval is guessing)</a:t>
            </a:r>
            <a:endParaRPr lang="en-US" sz="1200" dirty="0"/>
          </a:p>
        </p:txBody>
      </p:sp>
      <p:sp>
        <p:nvSpPr>
          <p:cNvPr id="14" name="Text 10"/>
          <p:cNvSpPr/>
          <p:nvPr/>
        </p:nvSpPr>
        <p:spPr>
          <a:xfrm>
            <a:off x="822960" y="2331720"/>
            <a:ext cx="10515600" cy="256032"/>
          </a:xfrm>
          <a:prstGeom prst="rect">
            <a:avLst/>
          </a:prstGeom>
          <a:noFill/>
          <a:ln/>
        </p:spPr>
        <p:txBody>
          <a:bodyPr wrap="square" lIns="0" tIns="0" rIns="0" bIns="0" rtlCol="0" anchor="ctr"/>
          <a:lstStyle/>
          <a:p>
            <a:pPr algn="ctr" indent="0" marL="0">
              <a:buNone/>
            </a:pPr>
            <a:r>
              <a:rPr lang="en-US" sz="1000" i="1" dirty="0">
                <a:solidFill>
                  <a:srgbClr val="5A6478"/>
                </a:solidFill>
                <a:latin typeface="Calibri" pitchFamily="34" charset="0"/>
                <a:ea typeface="Calibri" pitchFamily="34" charset="-122"/>
                <a:cs typeface="Calibri" pitchFamily="34" charset="-120"/>
              </a:rPr>
              <a:t>0 ← closer (L2 distance over MiniLM embeddings) → farther</a:t>
            </a:r>
            <a:endParaRPr lang="en-US" sz="1000" dirty="0"/>
          </a:p>
        </p:txBody>
      </p:sp>
      <p:sp>
        <p:nvSpPr>
          <p:cNvPr id="15" name="Shape 11"/>
          <p:cNvSpPr/>
          <p:nvPr/>
        </p:nvSpPr>
        <p:spPr>
          <a:xfrm>
            <a:off x="640080" y="2834640"/>
            <a:ext cx="5760720" cy="2011680"/>
          </a:xfrm>
          <a:prstGeom prst="roundRect">
            <a:avLst>
              <a:gd name="adj" fmla="val 3636"/>
            </a:avLst>
          </a:prstGeom>
          <a:solidFill>
            <a:srgbClr val="1B2130"/>
          </a:solidFill>
          <a:ln/>
          <a:effectLst>
            <a:outerShdw sx="100000" sy="100000" kx="0" ky="0" algn="bl" rotWithShape="0" blurRad="76200" dist="25400" dir="5400000">
              <a:srgbClr val="9AA4B8">
                <a:alpha val="35000"/>
              </a:srgbClr>
            </a:outerShdw>
          </a:effectLst>
        </p:spPr>
      </p:sp>
      <p:sp>
        <p:nvSpPr>
          <p:cNvPr id="16" name="Text 12"/>
          <p:cNvSpPr/>
          <p:nvPr/>
        </p:nvSpPr>
        <p:spPr>
          <a:xfrm>
            <a:off x="841248" y="2944368"/>
            <a:ext cx="5358384" cy="179222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api/app.py — thresholds are CODE, therefore reviewed</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CONF_HIGH_MAX = 1.0    # best distance below -&gt; high</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CONF_MEDIUM_MAX = 1.4  # below -&gt; medium; else low</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best = clauses[0]["distance"]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confidence = confidence_from_distance(best)</a:t>
            </a:r>
            <a:endParaRPr lang="en-US" sz="1000" dirty="0"/>
          </a:p>
        </p:txBody>
      </p:sp>
      <p:sp>
        <p:nvSpPr>
          <p:cNvPr id="17" name="Shape 13"/>
          <p:cNvSpPr/>
          <p:nvPr/>
        </p:nvSpPr>
        <p:spPr>
          <a:xfrm>
            <a:off x="6629400" y="2834640"/>
            <a:ext cx="493776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18" name="Text 14"/>
          <p:cNvSpPr/>
          <p:nvPr/>
        </p:nvSpPr>
        <p:spPr>
          <a:xfrm>
            <a:off x="6858000" y="2971800"/>
            <a:ext cx="4480560" cy="292608"/>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Calibration caveat</a:t>
            </a:r>
            <a:endParaRPr lang="en-US" sz="1300" dirty="0"/>
          </a:p>
        </p:txBody>
      </p:sp>
      <p:sp>
        <p:nvSpPr>
          <p:cNvPr id="19" name="Text 15"/>
          <p:cNvSpPr/>
          <p:nvPr/>
        </p:nvSpPr>
        <p:spPr>
          <a:xfrm>
            <a:off x="6858000" y="3310128"/>
            <a:ext cx="4526280" cy="14630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Thresholds are corpus-specific: embedding model, chunk length and metric all move them</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Production: calibrate against a labelled question set; re-calibrate on any embedding change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Lab Step 4 flips a label live by editing one constant</a:t>
            </a:r>
            <a:endParaRPr lang="en-US" sz="1050" dirty="0"/>
          </a:p>
        </p:txBody>
      </p:sp>
      <p:sp>
        <p:nvSpPr>
          <p:cNvPr id="20" name="Shape 16"/>
          <p:cNvSpPr/>
          <p:nvPr/>
        </p:nvSpPr>
        <p:spPr>
          <a:xfrm>
            <a:off x="640080" y="5074920"/>
            <a:ext cx="10881360" cy="1280160"/>
          </a:xfrm>
          <a:prstGeom prst="roundRect">
            <a:avLst>
              <a:gd name="adj" fmla="val 6429"/>
            </a:avLst>
          </a:prstGeom>
          <a:solidFill>
            <a:srgbClr val="232946"/>
          </a:solidFill>
          <a:ln/>
          <a:effectLst>
            <a:outerShdw sx="100000" sy="100000" kx="0" ky="0" algn="bl" rotWithShape="0" blurRad="76200" dist="25400" dir="5400000">
              <a:srgbClr val="9AA4B8">
                <a:alpha val="35000"/>
              </a:srgbClr>
            </a:outerShdw>
          </a:effectLst>
        </p:spPr>
      </p:sp>
      <p:sp>
        <p:nvSpPr>
          <p:cNvPr id="21" name="Text 17"/>
          <p:cNvSpPr/>
          <p:nvPr/>
        </p:nvSpPr>
        <p:spPr>
          <a:xfrm>
            <a:off x="868680" y="5212080"/>
            <a:ext cx="4572000" cy="292608"/>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Honest-uncertainty UX</a:t>
            </a:r>
            <a:endParaRPr lang="en-US" sz="1300" dirty="0"/>
          </a:p>
        </p:txBody>
      </p:sp>
      <p:sp>
        <p:nvSpPr>
          <p:cNvPr id="22" name="Text 18"/>
          <p:cNvSpPr/>
          <p:nvPr/>
        </p:nvSpPr>
        <p:spPr>
          <a:xfrm>
            <a:off x="868680" y="5522976"/>
            <a:ext cx="10424160" cy="7772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Confidence is a product surface, not telemetry: green invites trust, orange invites verification, red plus not_found invites escalation to a human. A system that is honest about uncertainty earns trust on the answers it does give — and always-high confidence is a bug the pitfalls slide returns to.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MULTIMODAL INTAKE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Vision-capable models: documents as input, schemas as output</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9144000" y="475488"/>
            <a:ext cx="24231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9235440" y="475488"/>
            <a:ext cx="22402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CLOUD PATH · OPTIONAL</a:t>
            </a:r>
            <a:endParaRPr lang="en-US" sz="850" dirty="0"/>
          </a:p>
        </p:txBody>
      </p:sp>
      <p:sp>
        <p:nvSpPr>
          <p:cNvPr id="10" name="Text 6"/>
          <p:cNvSpPr/>
          <p:nvPr/>
        </p:nvSpPr>
        <p:spPr>
          <a:xfrm>
            <a:off x="640080" y="1554480"/>
            <a:ext cx="5577840" cy="46634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Vision-capable chat models — GPT-4o family, Claude, Gemini — accept images IN the messages array: content becomes parts, text + image_url.</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base64 data URL: self-contained, no hosting, ~33% payload growth — right for one-off uploads like claim intake.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https URL: lean request, but the provider must fetch the image — a data-governance decision for customer documents.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Extraction, not description: the prompt demands ONLY a JSON object; Pydantic validates it into IntakeResult {document_type, key_fields}.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call rides the SAME LiteLLM proxy — vision is one more model_name in config.yaml, not a new integration.</a:t>
            </a:r>
            <a:endParaRPr lang="en-US" sz="1150" dirty="0"/>
          </a:p>
        </p:txBody>
      </p:sp>
      <p:sp>
        <p:nvSpPr>
          <p:cNvPr id="11" name="Shape 7"/>
          <p:cNvSpPr/>
          <p:nvPr/>
        </p:nvSpPr>
        <p:spPr>
          <a:xfrm>
            <a:off x="6400800" y="1554480"/>
            <a:ext cx="5166360" cy="3703320"/>
          </a:xfrm>
          <a:prstGeom prst="roundRect">
            <a:avLst>
              <a:gd name="adj" fmla="val 1975"/>
            </a:avLst>
          </a:prstGeom>
          <a:solidFill>
            <a:srgbClr val="1B2130"/>
          </a:solidFill>
          <a:ln/>
          <a:effectLst>
            <a:outerShdw sx="100000" sy="100000" kx="0" ky="0" algn="bl" rotWithShape="0" blurRad="76200" dist="25400" dir="5400000">
              <a:srgbClr val="9AA4B8">
                <a:alpha val="35000"/>
              </a:srgbClr>
            </a:outerShdw>
          </a:effectLst>
        </p:spPr>
      </p:sp>
      <p:sp>
        <p:nvSpPr>
          <p:cNvPr id="12" name="Text 8"/>
          <p:cNvSpPr/>
          <p:nvPr/>
        </p:nvSpPr>
        <p:spPr>
          <a:xfrm>
            <a:off x="6601968" y="1664208"/>
            <a:ext cx="4764024" cy="348386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POST /intake — CLOUD path (VISION_MODEL set)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b64 = base64.b64encode(image_bytes).decode()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messages =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"role": "user",</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"content":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{"type": "text",  "text": EXTRACTION_PROMPT},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{"type": "image_url",</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"image_url": {"url":</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f"data:image/png;base64,{b64}"}},</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raw = await call_llm(messages, model=VISION_MODEL)</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class IntakeResult(BaseModel):</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document_type: str      # "garage_estimate"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key_fields: dict        # claim id, amounts, dates</a:t>
            </a:r>
            <a:endParaRPr lang="en-US" sz="1000" dirty="0"/>
          </a:p>
        </p:txBody>
      </p:sp>
      <p:sp>
        <p:nvSpPr>
          <p:cNvPr id="13" name="Shape 9"/>
          <p:cNvSpPr/>
          <p:nvPr/>
        </p:nvSpPr>
        <p:spPr>
          <a:xfrm>
            <a:off x="6400800" y="5440680"/>
            <a:ext cx="5166360" cy="914400"/>
          </a:xfrm>
          <a:prstGeom prst="roundRect">
            <a:avLst>
              <a:gd name="adj" fmla="val 9000"/>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6583680" y="5486400"/>
            <a:ext cx="4800600" cy="822960"/>
          </a:xfrm>
          <a:prstGeom prst="rect">
            <a:avLst/>
          </a:prstGeom>
          <a:noFill/>
          <a:ln/>
        </p:spPr>
        <p:txBody>
          <a:bodyPr wrap="square" lIns="0" tIns="0" rIns="0" bIns="0" rtlCol="0" anchor="ctr"/>
          <a:lstStyle/>
          <a:p>
            <a:pPr indent="0" marL="0">
              <a:buNone/>
            </a:pPr>
            <a:r>
              <a:rPr lang="en-US" sz="1050" b="1" dirty="0">
                <a:solidFill>
                  <a:srgbClr val="E8871E"/>
                </a:solidFill>
                <a:latin typeface="Calibri" pitchFamily="34" charset="0"/>
                <a:ea typeface="Calibri" pitchFamily="34" charset="-122"/>
                <a:cs typeface="Calibri" pitchFamily="34" charset="-120"/>
              </a:rPr>
              <a:t>Enable it:  </a:t>
            </a:r>
            <a:pPr indent="0" marL="0">
              <a:buNone/>
            </a:pPr>
            <a:r>
              <a:rPr lang="en-US" sz="1050" dirty="0">
                <a:solidFill>
                  <a:srgbClr val="232946"/>
                </a:solidFill>
                <a:latin typeface="Calibri" pitchFamily="34" charset="0"/>
                <a:ea typeface="Calibri" pitchFamily="34" charset="-122"/>
                <a:cs typeface="Calibri" pitchFamily="34" charset="-120"/>
              </a:rPr>
              <a:t>VISION_MODEL=gpt-4o-mini in .env + the entry uncommented in litellm/config.yaml + a provider key. Same endpoint, same schema.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CAPABILITY-AWARE DESIGN</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local fallback: designing around what the model cannot do</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600200"/>
            <a:ext cx="2560320" cy="1371600"/>
          </a:xfrm>
          <a:prstGeom prst="roundRect">
            <a:avLst>
              <a:gd name="adj" fmla="val 6000"/>
            </a:avLst>
          </a:prstGeom>
          <a:solidFill>
            <a:srgbClr val="DDE6F5"/>
          </a:solidFill>
          <a:ln/>
          <a:effectLst>
            <a:outerShdw sx="100000" sy="100000" kx="0" ky="0" algn="bl" rotWithShape="0" blurRad="76200" dist="25400" dir="5400000">
              <a:srgbClr val="9AA4B8">
                <a:alpha val="35000"/>
              </a:srgbClr>
            </a:outerShdw>
          </a:effectLst>
        </p:spPr>
      </p:sp>
      <p:sp>
        <p:nvSpPr>
          <p:cNvPr id="9" name="Text 5"/>
          <p:cNvSpPr/>
          <p:nvPr/>
        </p:nvSpPr>
        <p:spPr>
          <a:xfrm>
            <a:off x="786384" y="1728216"/>
            <a:ext cx="2286000" cy="2743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Upload</a:t>
            </a:r>
            <a:endParaRPr lang="en-US" sz="1250" dirty="0"/>
          </a:p>
        </p:txBody>
      </p:sp>
      <p:sp>
        <p:nvSpPr>
          <p:cNvPr id="10" name="Text 6"/>
          <p:cNvSpPr/>
          <p:nvPr/>
        </p:nvSpPr>
        <p:spPr>
          <a:xfrm>
            <a:off x="786384" y="2029968"/>
            <a:ext cx="228600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PNG arrives at POST /intake</a:t>
            </a:r>
            <a:endParaRPr lang="en-US" sz="1000" dirty="0"/>
          </a:p>
        </p:txBody>
      </p:sp>
      <p:sp>
        <p:nvSpPr>
          <p:cNvPr id="11" name="Shape 7"/>
          <p:cNvSpPr/>
          <p:nvPr/>
        </p:nvSpPr>
        <p:spPr>
          <a:xfrm>
            <a:off x="3246120" y="2286000"/>
            <a:ext cx="548640" cy="0"/>
          </a:xfrm>
          <a:prstGeom prst="line">
            <a:avLst/>
          </a:prstGeom>
          <a:noFill/>
          <a:ln w="31750">
            <a:solidFill>
              <a:srgbClr val="232946"/>
            </a:solidFill>
            <a:prstDash val="solid"/>
            <a:tailEnd type="triangle"/>
          </a:ln>
        </p:spPr>
      </p:sp>
      <p:sp>
        <p:nvSpPr>
          <p:cNvPr id="12" name="Shape 8"/>
          <p:cNvSpPr/>
          <p:nvPr/>
        </p:nvSpPr>
        <p:spPr>
          <a:xfrm>
            <a:off x="3840480" y="1600200"/>
            <a:ext cx="2560320" cy="1371600"/>
          </a:xfrm>
          <a:prstGeom prst="roundRect">
            <a:avLst>
              <a:gd name="adj" fmla="val 6000"/>
            </a:avLst>
          </a:prstGeom>
          <a:solidFill>
            <a:srgbClr val="FBF1E3"/>
          </a:solidFill>
          <a:ln/>
          <a:effectLst>
            <a:outerShdw sx="100000" sy="100000" kx="0" ky="0" algn="bl" rotWithShape="0" blurRad="76200" dist="25400" dir="5400000">
              <a:srgbClr val="9AA4B8">
                <a:alpha val="35000"/>
              </a:srgbClr>
            </a:outerShdw>
          </a:effectLst>
        </p:spPr>
      </p:sp>
      <p:sp>
        <p:nvSpPr>
          <p:cNvPr id="13" name="Text 9"/>
          <p:cNvSpPr/>
          <p:nvPr/>
        </p:nvSpPr>
        <p:spPr>
          <a:xfrm>
            <a:off x="3986784" y="1728216"/>
            <a:ext cx="2286000" cy="274320"/>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VISION_MODEL set?</a:t>
            </a:r>
            <a:endParaRPr lang="en-US" sz="1250" dirty="0"/>
          </a:p>
        </p:txBody>
      </p:sp>
      <p:sp>
        <p:nvSpPr>
          <p:cNvPr id="14" name="Text 10"/>
          <p:cNvSpPr/>
          <p:nvPr/>
        </p:nvSpPr>
        <p:spPr>
          <a:xfrm>
            <a:off x="3986784" y="2029968"/>
            <a:ext cx="228600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the capability switch — one env var</a:t>
            </a:r>
            <a:endParaRPr lang="en-US" sz="1000" dirty="0"/>
          </a:p>
        </p:txBody>
      </p:sp>
      <p:sp>
        <p:nvSpPr>
          <p:cNvPr id="15" name="Shape 11"/>
          <p:cNvSpPr/>
          <p:nvPr/>
        </p:nvSpPr>
        <p:spPr>
          <a:xfrm>
            <a:off x="6446520" y="2011680"/>
            <a:ext cx="640080" cy="-228600"/>
          </a:xfrm>
          <a:prstGeom prst="line">
            <a:avLst/>
          </a:prstGeom>
          <a:noFill/>
          <a:ln w="31750">
            <a:solidFill>
              <a:srgbClr val="2C7A4B"/>
            </a:solidFill>
            <a:prstDash val="solid"/>
            <a:tailEnd type="triangle"/>
          </a:ln>
        </p:spPr>
      </p:sp>
      <p:sp>
        <p:nvSpPr>
          <p:cNvPr id="16" name="Shape 12"/>
          <p:cNvSpPr/>
          <p:nvPr/>
        </p:nvSpPr>
        <p:spPr>
          <a:xfrm>
            <a:off x="6446520" y="2606040"/>
            <a:ext cx="640080" cy="457200"/>
          </a:xfrm>
          <a:prstGeom prst="line">
            <a:avLst/>
          </a:prstGeom>
          <a:noFill/>
          <a:ln w="31750">
            <a:solidFill>
              <a:srgbClr val="E8871E"/>
            </a:solidFill>
            <a:prstDash val="solid"/>
            <a:tailEnd type="triangle"/>
          </a:ln>
        </p:spPr>
      </p:sp>
      <p:sp>
        <p:nvSpPr>
          <p:cNvPr id="17" name="Shape 13"/>
          <p:cNvSpPr/>
          <p:nvPr/>
        </p:nvSpPr>
        <p:spPr>
          <a:xfrm>
            <a:off x="7132320" y="1417320"/>
            <a:ext cx="4389120" cy="1234440"/>
          </a:xfrm>
          <a:prstGeom prst="roundRect">
            <a:avLst>
              <a:gd name="adj" fmla="val 6667"/>
            </a:avLst>
          </a:prstGeom>
          <a:solidFill>
            <a:srgbClr val="EAF4EC"/>
          </a:solidFill>
          <a:ln/>
          <a:effectLst>
            <a:outerShdw sx="100000" sy="100000" kx="0" ky="0" algn="bl" rotWithShape="0" blurRad="76200" dist="25400" dir="5400000">
              <a:srgbClr val="9AA4B8">
                <a:alpha val="35000"/>
              </a:srgbClr>
            </a:outerShdw>
          </a:effectLst>
        </p:spPr>
      </p:sp>
      <p:sp>
        <p:nvSpPr>
          <p:cNvPr id="18" name="Text 14"/>
          <p:cNvSpPr/>
          <p:nvPr/>
        </p:nvSpPr>
        <p:spPr>
          <a:xfrm>
            <a:off x="7278624" y="1536192"/>
            <a:ext cx="4114800" cy="274320"/>
          </a:xfrm>
          <a:prstGeom prst="rect">
            <a:avLst/>
          </a:prstGeom>
          <a:noFill/>
          <a:ln/>
        </p:spPr>
        <p:txBody>
          <a:bodyPr wrap="square" lIns="0" tIns="0" rIns="0" bIns="0" rtlCol="0" anchor="ctr"/>
          <a:lstStyle/>
          <a:p>
            <a:pPr indent="0" marL="0">
              <a:buNone/>
            </a:pPr>
            <a:r>
              <a:rPr lang="en-US" sz="1150" b="1" dirty="0">
                <a:solidFill>
                  <a:srgbClr val="2C7A4B"/>
                </a:solidFill>
                <a:latin typeface="Arial" pitchFamily="34" charset="0"/>
                <a:ea typeface="Arial" pitchFamily="34" charset="-122"/>
                <a:cs typeface="Arial" pitchFamily="34" charset="-120"/>
              </a:rPr>
              <a:t>Cloud: vision model   (CLOUD PATH · OPTIONAL)</a:t>
            </a:r>
            <a:endParaRPr lang="en-US" sz="1150" dirty="0"/>
          </a:p>
        </p:txBody>
      </p:sp>
      <p:sp>
        <p:nvSpPr>
          <p:cNvPr id="19" name="Text 15"/>
          <p:cNvSpPr/>
          <p:nvPr/>
        </p:nvSpPr>
        <p:spPr>
          <a:xfrm>
            <a:off x="7278624" y="1828800"/>
            <a:ext cx="4114800" cy="73152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base64 image via the proxy — reads pixels</a:t>
            </a:r>
            <a:endParaRPr lang="en-US" sz="1000" dirty="0"/>
          </a:p>
        </p:txBody>
      </p:sp>
      <p:sp>
        <p:nvSpPr>
          <p:cNvPr id="20" name="Shape 16"/>
          <p:cNvSpPr/>
          <p:nvPr/>
        </p:nvSpPr>
        <p:spPr>
          <a:xfrm>
            <a:off x="7132320" y="2788920"/>
            <a:ext cx="4389120" cy="1234440"/>
          </a:xfrm>
          <a:prstGeom prst="roundRect">
            <a:avLst>
              <a:gd name="adj" fmla="val 6667"/>
            </a:avLst>
          </a:prstGeom>
          <a:solidFill>
            <a:srgbClr val="EEF2FA"/>
          </a:solidFill>
          <a:ln/>
          <a:effectLst>
            <a:outerShdw sx="100000" sy="100000" kx="0" ky="0" algn="bl" rotWithShape="0" blurRad="76200" dist="25400" dir="5400000">
              <a:srgbClr val="9AA4B8">
                <a:alpha val="35000"/>
              </a:srgbClr>
            </a:outerShdw>
          </a:effectLst>
        </p:spPr>
      </p:sp>
      <p:sp>
        <p:nvSpPr>
          <p:cNvPr id="21" name="Text 17"/>
          <p:cNvSpPr/>
          <p:nvPr/>
        </p:nvSpPr>
        <p:spPr>
          <a:xfrm>
            <a:off x="7278624" y="2907792"/>
            <a:ext cx="4114800" cy="274320"/>
          </a:xfrm>
          <a:prstGeom prst="rect">
            <a:avLst/>
          </a:prstGeom>
          <a:noFill/>
          <a:ln/>
        </p:spPr>
        <p:txBody>
          <a:bodyPr wrap="square" lIns="0" tIns="0" rIns="0" bIns="0" rtlCol="0" anchor="ctr"/>
          <a:lstStyle/>
          <a:p>
            <a:pPr indent="0" marL="0">
              <a:buNone/>
            </a:pPr>
            <a:r>
              <a:rPr lang="en-US" sz="1150" b="1" dirty="0">
                <a:solidFill>
                  <a:srgbClr val="232946"/>
                </a:solidFill>
                <a:latin typeface="Arial" pitchFamily="34" charset="0"/>
                <a:ea typeface="Arial" pitchFamily="34" charset="-122"/>
                <a:cs typeface="Arial" pitchFamily="34" charset="-120"/>
              </a:rPr>
              <a:t>Local: text sidecar   (default)</a:t>
            </a:r>
            <a:endParaRPr lang="en-US" sz="1150" dirty="0"/>
          </a:p>
        </p:txBody>
      </p:sp>
      <p:sp>
        <p:nvSpPr>
          <p:cNvPr id="22" name="Text 18"/>
          <p:cNvSpPr/>
          <p:nvPr/>
        </p:nvSpPr>
        <p:spPr>
          <a:xfrm>
            <a:off x="7278624" y="3200400"/>
            <a:ext cx="4114800" cy="73152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data/samples/&lt;name&gt;.txt + same prompt — logged as fallback</a:t>
            </a:r>
            <a:endParaRPr lang="en-US" sz="1000" dirty="0"/>
          </a:p>
        </p:txBody>
      </p:sp>
      <p:sp>
        <p:nvSpPr>
          <p:cNvPr id="23" name="Text 19"/>
          <p:cNvSpPr/>
          <p:nvPr/>
        </p:nvSpPr>
        <p:spPr>
          <a:xfrm>
            <a:off x="640080" y="4160520"/>
            <a:ext cx="10881360" cy="292608"/>
          </a:xfrm>
          <a:prstGeom prst="rect">
            <a:avLst/>
          </a:prstGeom>
          <a:noFill/>
          <a:ln/>
        </p:spPr>
        <p:txBody>
          <a:bodyPr wrap="square" lIns="0" tIns="0" rIns="0" bIns="0" rtlCol="0" anchor="ctr"/>
          <a:lstStyle/>
          <a:p>
            <a:pPr algn="ctr" indent="0" marL="0">
              <a:buNone/>
            </a:pPr>
            <a:r>
              <a:rPr lang="en-US" sz="1050" b="1" dirty="0">
                <a:solidFill>
                  <a:srgbClr val="232946"/>
                </a:solidFill>
                <a:latin typeface="Courier New" pitchFamily="34" charset="0"/>
                <a:ea typeface="Courier New" pitchFamily="34" charset="-122"/>
                <a:cs typeface="Courier New" pitchFamily="34" charset="-120"/>
              </a:rPr>
              <a:t>→ both paths end in the SAME Pydantic IntakeResult {document_type, key_fields, source, model}</a:t>
            </a:r>
            <a:endParaRPr lang="en-US" sz="1050" dirty="0"/>
          </a:p>
        </p:txBody>
      </p:sp>
      <p:sp>
        <p:nvSpPr>
          <p:cNvPr id="24" name="Shape 20"/>
          <p:cNvSpPr/>
          <p:nvPr/>
        </p:nvSpPr>
        <p:spPr>
          <a:xfrm>
            <a:off x="640080" y="4617720"/>
            <a:ext cx="5349240" cy="1737360"/>
          </a:xfrm>
          <a:prstGeom prst="roundRect">
            <a:avLst>
              <a:gd name="adj" fmla="val 4737"/>
            </a:avLst>
          </a:prstGeom>
          <a:solidFill>
            <a:srgbClr val="EEF2FA"/>
          </a:solidFill>
          <a:ln/>
          <a:effectLst>
            <a:outerShdw sx="100000" sy="100000" kx="0" ky="0" algn="bl" rotWithShape="0" blurRad="76200" dist="25400" dir="5400000">
              <a:srgbClr val="9AA4B8">
                <a:alpha val="35000"/>
              </a:srgbClr>
            </a:outerShdw>
          </a:effectLst>
        </p:spPr>
      </p:sp>
      <p:sp>
        <p:nvSpPr>
          <p:cNvPr id="25" name="Text 21"/>
          <p:cNvSpPr/>
          <p:nvPr/>
        </p:nvSpPr>
        <p:spPr>
          <a:xfrm>
            <a:off x="868680" y="4754880"/>
            <a:ext cx="4846320" cy="292608"/>
          </a:xfrm>
          <a:prstGeom prst="rect">
            <a:avLst/>
          </a:prstGeom>
          <a:noFill/>
          <a:ln/>
        </p:spPr>
        <p:txBody>
          <a:bodyPr wrap="square" lIns="0" tIns="0" rIns="0" bIns="0" rtlCol="0" anchor="ctr"/>
          <a:lstStyle/>
          <a:p>
            <a:pPr indent="0" marL="0">
              <a:buNone/>
            </a:pPr>
            <a:r>
              <a:rPr lang="en-US" sz="1250" b="1" dirty="0">
                <a:solidFill>
                  <a:srgbClr val="B3402A"/>
                </a:solidFill>
                <a:latin typeface="Arial" pitchFamily="34" charset="0"/>
                <a:ea typeface="Arial" pitchFamily="34" charset="-122"/>
                <a:cs typeface="Arial" pitchFamily="34" charset="-120"/>
              </a:rPr>
              <a:t>The two naive answers — both wrong</a:t>
            </a:r>
            <a:endParaRPr lang="en-US" sz="1250" dirty="0"/>
          </a:p>
        </p:txBody>
      </p:sp>
      <p:sp>
        <p:nvSpPr>
          <p:cNvPr id="26" name="Text 22"/>
          <p:cNvSpPr/>
          <p:nvPr/>
        </p:nvSpPr>
        <p:spPr>
          <a:xfrm>
            <a:off x="868680" y="5084064"/>
            <a:ext cx="4937760" cy="11887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Skip the feature locally → the pattern is never taught or tested</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Pretend the small model can see → a demo that lies about capability</a:t>
            </a:r>
            <a:endParaRPr lang="en-US" sz="1050" dirty="0"/>
          </a:p>
        </p:txBody>
      </p:sp>
      <p:sp>
        <p:nvSpPr>
          <p:cNvPr id="27" name="Shape 23"/>
          <p:cNvSpPr/>
          <p:nvPr/>
        </p:nvSpPr>
        <p:spPr>
          <a:xfrm>
            <a:off x="6172200" y="4617720"/>
            <a:ext cx="5349240" cy="1737360"/>
          </a:xfrm>
          <a:prstGeom prst="roundRect">
            <a:avLst>
              <a:gd name="adj" fmla="val 4737"/>
            </a:avLst>
          </a:prstGeom>
          <a:solidFill>
            <a:srgbClr val="EAF4EC"/>
          </a:solidFill>
          <a:ln/>
          <a:effectLst>
            <a:outerShdw sx="100000" sy="100000" kx="0" ky="0" algn="bl" rotWithShape="0" blurRad="76200" dist="25400" dir="5400000">
              <a:srgbClr val="9AA4B8">
                <a:alpha val="35000"/>
              </a:srgbClr>
            </a:outerShdw>
          </a:effectLst>
        </p:spPr>
      </p:sp>
      <p:sp>
        <p:nvSpPr>
          <p:cNvPr id="28" name="Text 24"/>
          <p:cNvSpPr/>
          <p:nvPr/>
        </p:nvSpPr>
        <p:spPr>
          <a:xfrm>
            <a:off x="6400800" y="4754880"/>
            <a:ext cx="4846320" cy="292608"/>
          </a:xfrm>
          <a:prstGeom prst="rect">
            <a:avLst/>
          </a:prstGeom>
          <a:noFill/>
          <a:ln/>
        </p:spPr>
        <p:txBody>
          <a:bodyPr wrap="square" lIns="0" tIns="0" rIns="0" bIns="0" rtlCol="0" anchor="ctr"/>
          <a:lstStyle/>
          <a:p>
            <a:pPr indent="0" marL="0">
              <a:buNone/>
            </a:pPr>
            <a:r>
              <a:rPr lang="en-US" sz="1250" b="1" dirty="0">
                <a:solidFill>
                  <a:srgbClr val="2C7A4B"/>
                </a:solidFill>
                <a:latin typeface="Arial" pitchFamily="34" charset="0"/>
                <a:ea typeface="Arial" pitchFamily="34" charset="-122"/>
                <a:cs typeface="Arial" pitchFamily="34" charset="-120"/>
              </a:rPr>
              <a:t>The engineered answer</a:t>
            </a:r>
            <a:endParaRPr lang="en-US" sz="1250" dirty="0"/>
          </a:p>
        </p:txBody>
      </p:sp>
      <p:sp>
        <p:nvSpPr>
          <p:cNvPr id="29" name="Text 25"/>
          <p:cNvSpPr/>
          <p:nvPr/>
        </p:nvSpPr>
        <p:spPr>
          <a:xfrm>
            <a:off x="6400800" y="5084064"/>
            <a:ext cx="4937760" cy="11887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Substitute only the perception step; keep prompt, schema, endpoint identical</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Label the degradation loudly in logs and UI — honesty again, this time about capability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EVALUATION</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Faithfulness: RAG's new failure class joins the Session 3 gate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08760"/>
            <a:ext cx="6720840" cy="4206240"/>
          </a:xfrm>
          <a:prstGeom prst="roundRect">
            <a:avLst>
              <a:gd name="adj" fmla="val 1739"/>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6318504" cy="3986784"/>
          </a:xfrm>
          <a:prstGeom prst="rect">
            <a:avLst/>
          </a:prstGeom>
          <a:noFill/>
          <a:ln/>
        </p:spPr>
        <p:txBody>
          <a:bodyPr wrap="square" lIns="0" tIns="0" rIns="0" bIns="0" rtlCol="0" anchor="t"/>
          <a:lstStyle/>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promptfooconfig.yaml — add to the Session 3 gate</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tests:</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 description: "faithfulness: CLM-1003 cites M-2.3"</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vars:</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question: "Why was claim CLM-1003 rejected?"</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assert:</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 type: contains        # citation in the text</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value: "[M-2.3]"</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 type: javascript      # AND verified by the API</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value: JSON.parse(context.response)</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.citations.some(c =&gt;</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c.clause_id === "M-2.3")</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 description: "honesty: out-of-corpus refuses"</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vars:</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question: "Does my policy cover pet insurance?"</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assert: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type: javascript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value: JSON.parse(context.response)</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.not_found === true</a:t>
            </a:r>
            <a:endParaRPr lang="en-US" sz="950" dirty="0"/>
          </a:p>
        </p:txBody>
      </p:sp>
      <p:sp>
        <p:nvSpPr>
          <p:cNvPr id="10" name="Shape 6"/>
          <p:cNvSpPr/>
          <p:nvPr/>
        </p:nvSpPr>
        <p:spPr>
          <a:xfrm>
            <a:off x="7589520" y="1508760"/>
            <a:ext cx="3977640" cy="2834640"/>
          </a:xfrm>
          <a:prstGeom prst="roundRect">
            <a:avLst>
              <a:gd name="adj" fmla="val 2903"/>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7818120" y="1645920"/>
            <a:ext cx="3520440" cy="292608"/>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What ordinary checks miss</a:t>
            </a:r>
            <a:endParaRPr lang="en-US" sz="1300" dirty="0"/>
          </a:p>
        </p:txBody>
      </p:sp>
      <p:sp>
        <p:nvSpPr>
          <p:cNvPr id="12" name="Text 8"/>
          <p:cNvSpPr/>
          <p:nvPr/>
        </p:nvSpPr>
        <p:spPr>
          <a:xfrm>
            <a:off x="7818120" y="1984248"/>
            <a:ext cx="3566160" cy="22860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Fluent, on-topic — and unfaithful to the corpus</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Correct answer, missing or wrong citation</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Out-of-corpus question answered from model memory</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A chunking change that silently degrades retrieval</a:t>
            </a:r>
            <a:endParaRPr lang="en-US" sz="1050" dirty="0"/>
          </a:p>
        </p:txBody>
      </p:sp>
      <p:sp>
        <p:nvSpPr>
          <p:cNvPr id="13" name="Shape 9"/>
          <p:cNvSpPr/>
          <p:nvPr/>
        </p:nvSpPr>
        <p:spPr>
          <a:xfrm>
            <a:off x="7589520" y="4526280"/>
            <a:ext cx="3977640" cy="1783080"/>
          </a:xfrm>
          <a:prstGeom prst="roundRect">
            <a:avLst>
              <a:gd name="adj" fmla="val 4615"/>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7818120" y="4663440"/>
            <a:ext cx="3520440" cy="292608"/>
          </a:xfrm>
          <a:prstGeom prst="rect">
            <a:avLst/>
          </a:prstGeom>
          <a:noFill/>
          <a:ln/>
        </p:spPr>
        <p:txBody>
          <a:bodyPr wrap="square" lIns="0" tIns="0" rIns="0" bIns="0" rtlCol="0" anchor="ctr"/>
          <a:lstStyle/>
          <a:p>
            <a:pPr indent="0" marL="0">
              <a:buNone/>
            </a:pPr>
            <a:r>
              <a:rPr lang="en-US" sz="1300" b="1" dirty="0">
                <a:solidFill>
                  <a:srgbClr val="E8871E"/>
                </a:solidFill>
                <a:latin typeface="Arial" pitchFamily="34" charset="0"/>
                <a:ea typeface="Arial" pitchFamily="34" charset="-122"/>
                <a:cs typeface="Arial" pitchFamily="34" charset="-120"/>
              </a:rPr>
              <a:t>The gate, extended</a:t>
            </a:r>
            <a:endParaRPr lang="en-US" sz="1300" dirty="0"/>
          </a:p>
        </p:txBody>
      </p:sp>
      <p:sp>
        <p:nvSpPr>
          <p:cNvPr id="15" name="Text 11"/>
          <p:cNvSpPr/>
          <p:nvPr/>
        </p:nvSpPr>
        <p:spPr>
          <a:xfrm>
            <a:off x="7818120" y="4983480"/>
            <a:ext cx="3566160" cy="128016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Session 3: no prompt change merges without passing evals. Session 8 adds: no prompt, chunking or model change merges if a known-clause question loses its citation or an out-of-corpus question stops refusing.</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9692640" y="4206240"/>
            <a:ext cx="4389120" cy="4389120"/>
          </a:xfrm>
          <a:prstGeom prst="ellipse">
            <a:avLst/>
          </a:prstGeom>
          <a:solidFill>
            <a:srgbClr val="2E3554"/>
          </a:solidFill>
          <a:ln/>
        </p:spPr>
      </p:sp>
      <p:sp>
        <p:nvSpPr>
          <p:cNvPr id="3" name="Shape 1"/>
          <p:cNvSpPr/>
          <p:nvPr/>
        </p:nvSpPr>
        <p:spPr>
          <a:xfrm>
            <a:off x="-1280160" y="-1645920"/>
            <a:ext cx="3840480" cy="3840480"/>
          </a:xfrm>
          <a:prstGeom prst="ellipse">
            <a:avLst/>
          </a:prstGeom>
          <a:solidFill>
            <a:srgbClr val="2E3554"/>
          </a:solidFill>
          <a:ln/>
        </p:spPr>
      </p:sp>
      <p:sp>
        <p:nvSpPr>
          <p:cNvPr id="4" name="Shape 2"/>
          <p:cNvSpPr/>
          <p:nvPr/>
        </p:nvSpPr>
        <p:spPr>
          <a:xfrm>
            <a:off x="685800" y="1371600"/>
            <a:ext cx="822960" cy="822960"/>
          </a:xfrm>
          <a:prstGeom prst="ellipse">
            <a:avLst/>
          </a:prstGeom>
          <a:solidFill>
            <a:srgbClr val="E8871E"/>
          </a:solidFill>
          <a:ln/>
        </p:spPr>
      </p:sp>
      <p:pic>
        <p:nvPicPr>
          <p:cNvPr id="5" name="Image 0" descr="preencoded.png">    </p:cNvPr>
          <p:cNvPicPr>
            <a:picLocks noChangeAspect="1"/>
          </p:cNvPicPr>
          <p:nvPr/>
        </p:nvPicPr>
        <p:blipFill>
          <a:blip r:embed="rId1"/>
          <a:stretch>
            <a:fillRect/>
          </a:stretch>
        </p:blipFill>
        <p:spPr>
          <a:xfrm>
            <a:off x="899770" y="1585570"/>
            <a:ext cx="395021" cy="395021"/>
          </a:xfrm>
          <a:prstGeom prst="rect">
            <a:avLst/>
          </a:prstGeom>
        </p:spPr>
      </p:pic>
      <p:sp>
        <p:nvSpPr>
          <p:cNvPr id="6" name="Text 3"/>
          <p:cNvSpPr/>
          <p:nvPr/>
        </p:nvSpPr>
        <p:spPr>
          <a:xfrm>
            <a:off x="685800" y="2514600"/>
            <a:ext cx="10058400" cy="365760"/>
          </a:xfrm>
          <a:prstGeom prst="rect">
            <a:avLst/>
          </a:prstGeom>
          <a:noFill/>
          <a:ln/>
        </p:spPr>
        <p:txBody>
          <a:bodyPr wrap="square" lIns="0" tIns="0" rIns="0" bIns="0" rtlCol="0" anchor="ctr"/>
          <a:lstStyle/>
          <a:p>
            <a:pPr indent="0" marL="0">
              <a:buNone/>
            </a:pPr>
            <a:r>
              <a:rPr lang="en-US" sz="1300" b="1" spc="200" kern="0" dirty="0">
                <a:solidFill>
                  <a:srgbClr val="E8871E"/>
                </a:solidFill>
                <a:latin typeface="Arial" pitchFamily="34" charset="0"/>
                <a:ea typeface="Arial" pitchFamily="34" charset="-122"/>
                <a:cs typeface="Arial" pitchFamily="34" charset="-120"/>
              </a:rPr>
              <a:t>HANDS-ON LAB · 60 MINUTES · LOCAL, WITH AN OPTIONAL CLOUD PATH</a:t>
            </a:r>
            <a:endParaRPr lang="en-US" sz="1300" dirty="0"/>
          </a:p>
        </p:txBody>
      </p:sp>
      <p:sp>
        <p:nvSpPr>
          <p:cNvPr id="7" name="Text 4"/>
          <p:cNvSpPr/>
          <p:nvPr/>
        </p:nvSpPr>
        <p:spPr>
          <a:xfrm>
            <a:off x="658368" y="2880360"/>
            <a:ext cx="1078992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ClaimAssist v2 → v3</a:t>
            </a:r>
            <a:endParaRPr lang="en-US" sz="4000" dirty="0"/>
          </a:p>
        </p:txBody>
      </p:sp>
      <p:sp>
        <p:nvSpPr>
          <p:cNvPr id="8" name="Text 5"/>
          <p:cNvSpPr/>
          <p:nvPr/>
        </p:nvSpPr>
        <p:spPr>
          <a:xfrm>
            <a:off x="685800" y="3703320"/>
            <a:ext cx="10789920" cy="457200"/>
          </a:xfrm>
          <a:prstGeom prst="rect">
            <a:avLst/>
          </a:prstGeom>
          <a:noFill/>
          <a:ln/>
        </p:spPr>
        <p:txBody>
          <a:bodyPr wrap="square" lIns="0" tIns="0" rIns="0" bIns="0" rtlCol="0" anchor="ctr"/>
          <a:lstStyle/>
          <a:p>
            <a:pPr indent="0" marL="0">
              <a:buNone/>
            </a:pPr>
            <a:r>
              <a:rPr lang="en-US" sz="2100" b="1" dirty="0">
                <a:solidFill>
                  <a:srgbClr val="F5B971"/>
                </a:solidFill>
                <a:latin typeface="Arial" pitchFamily="34" charset="0"/>
                <a:ea typeface="Arial" pitchFamily="34" charset="-122"/>
                <a:cs typeface="Arial" pitchFamily="34" charset="-120"/>
              </a:rPr>
              <a:t>Clause-level RAG with citations, honest refusal, and multimodal intake</a:t>
            </a:r>
            <a:endParaRPr lang="en-US" sz="2100" dirty="0"/>
          </a:p>
        </p:txBody>
      </p:sp>
      <p:sp>
        <p:nvSpPr>
          <p:cNvPr id="9" name="Text 6"/>
          <p:cNvSpPr/>
          <p:nvPr/>
        </p:nvSpPr>
        <p:spPr>
          <a:xfrm>
            <a:off x="685800" y="4434840"/>
            <a:ext cx="10424160" cy="100584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You will chunk the policy corpus by clause into a persistent chroma store, get an answer that cites [M-2.3] for the rejected claim, prove the system refuses out-of-corpus questions, watch confidence drop on vague ones, render citation chips and the upload tab — and, with a cloud key, extract fields from a document image with a real vision model.</a:t>
            </a:r>
            <a:endParaRPr lang="en-US" sz="1500" dirty="0"/>
          </a:p>
        </p:txBody>
      </p:sp>
      <p:sp>
        <p:nvSpPr>
          <p:cNvPr id="10" name="Text 7"/>
          <p:cNvSpPr/>
          <p:nvPr/>
        </p:nvSpPr>
        <p:spPr>
          <a:xfrm>
            <a:off x="685800" y="5669280"/>
            <a:ext cx="10789920" cy="365760"/>
          </a:xfrm>
          <a:prstGeom prst="rect">
            <a:avLst/>
          </a:prstGeom>
          <a:noFill/>
          <a:ln/>
        </p:spPr>
        <p:txBody>
          <a:bodyPr wrap="square" lIns="0" tIns="0" rIns="0" bIns="0" rtlCol="0" anchor="ctr"/>
          <a:lstStyle/>
          <a:p>
            <a:pPr indent="0" marL="0">
              <a:buNone/>
            </a:pPr>
            <a:r>
              <a:rPr lang="en-US" sz="1250" dirty="0">
                <a:solidFill>
                  <a:srgbClr val="9AA7C7"/>
                </a:solidFill>
                <a:latin typeface="Calibri" pitchFamily="34" charset="0"/>
                <a:ea typeface="Calibri" pitchFamily="34" charset="-122"/>
                <a:cs typeface="Calibri" pitchFamily="34" charset="-120"/>
              </a:rPr>
              <a:t>Step 0 setup · Step 1 ingest · Step 2 cited answer · Step 3 honesty test · Step 4 confidence · Step 5 UI + intake · Step 6 eval tie-back &amp; cleanup</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ARCHITECTURE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v3 stack: three containers, one embedded vector store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645920"/>
            <a:ext cx="2651760" cy="1234440"/>
          </a:xfrm>
          <a:prstGeom prst="roundRect">
            <a:avLst>
              <a:gd name="adj" fmla="val 6667"/>
            </a:avLst>
          </a:prstGeom>
          <a:solidFill>
            <a:srgbClr val="DDE6F5"/>
          </a:solidFill>
          <a:ln/>
          <a:effectLst>
            <a:outerShdw sx="100000" sy="100000" kx="0" ky="0" algn="bl" rotWithShape="0" blurRad="76200" dist="25400" dir="5400000">
              <a:srgbClr val="9AA4B8">
                <a:alpha val="35000"/>
              </a:srgbClr>
            </a:outerShdw>
          </a:effectLst>
        </p:spPr>
      </p:sp>
      <p:sp>
        <p:nvSpPr>
          <p:cNvPr id="9" name="Text 5"/>
          <p:cNvSpPr/>
          <p:nvPr/>
        </p:nvSpPr>
        <p:spPr>
          <a:xfrm>
            <a:off x="822960" y="1783080"/>
            <a:ext cx="2377440" cy="274320"/>
          </a:xfrm>
          <a:prstGeom prst="rect">
            <a:avLst/>
          </a:prstGeom>
          <a:noFill/>
          <a:ln/>
        </p:spPr>
        <p:txBody>
          <a:bodyPr wrap="square" lIns="0" tIns="0" rIns="0" bIns="0" rtlCol="0" anchor="ctr"/>
          <a:lstStyle/>
          <a:p>
            <a:pPr indent="0" marL="0">
              <a:buNone/>
            </a:pPr>
            <a:r>
              <a:rPr lang="en-US" sz="1150" b="1" dirty="0">
                <a:solidFill>
                  <a:srgbClr val="232946"/>
                </a:solidFill>
                <a:latin typeface="Arial" pitchFamily="34" charset="0"/>
                <a:ea typeface="Arial" pitchFamily="34" charset="-122"/>
                <a:cs typeface="Arial" pitchFamily="34" charset="-120"/>
              </a:rPr>
              <a:t>Streamlit  :8501 (host)</a:t>
            </a:r>
            <a:endParaRPr lang="en-US" sz="1150" dirty="0"/>
          </a:p>
        </p:txBody>
      </p:sp>
      <p:sp>
        <p:nvSpPr>
          <p:cNvPr id="10" name="Text 6"/>
          <p:cNvSpPr/>
          <p:nvPr/>
        </p:nvSpPr>
        <p:spPr>
          <a:xfrm>
            <a:off x="822960" y="2084832"/>
            <a:ext cx="2377440" cy="64008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chat + citation chips +</a:t>
            </a:r>
            <a:endParaRPr lang="en-US" sz="950" dirty="0"/>
          </a:p>
          <a:p>
            <a:pPr indent="0" marL="0">
              <a:buNone/>
            </a:pPr>
            <a:r>
              <a:rPr lang="en-US" sz="950" dirty="0">
                <a:solidFill>
                  <a:srgbClr val="5A6478"/>
                </a:solidFill>
                <a:latin typeface="Calibri" pitchFamily="34" charset="0"/>
                <a:ea typeface="Calibri" pitchFamily="34" charset="-122"/>
                <a:cs typeface="Calibri" pitchFamily="34" charset="-120"/>
              </a:rPr>
              <a:t>confidence badge + upload tab</a:t>
            </a:r>
            <a:endParaRPr lang="en-US" sz="950" dirty="0"/>
          </a:p>
        </p:txBody>
      </p:sp>
      <p:sp>
        <p:nvSpPr>
          <p:cNvPr id="11" name="Shape 7"/>
          <p:cNvSpPr/>
          <p:nvPr/>
        </p:nvSpPr>
        <p:spPr>
          <a:xfrm>
            <a:off x="3337560" y="2240280"/>
            <a:ext cx="640080" cy="411480"/>
          </a:xfrm>
          <a:prstGeom prst="line">
            <a:avLst/>
          </a:prstGeom>
          <a:noFill/>
          <a:ln w="31750">
            <a:solidFill>
              <a:srgbClr val="232946"/>
            </a:solidFill>
            <a:prstDash val="solid"/>
            <a:tailEnd type="triangle"/>
          </a:ln>
        </p:spPr>
      </p:sp>
      <p:sp>
        <p:nvSpPr>
          <p:cNvPr id="12" name="Shape 8"/>
          <p:cNvSpPr/>
          <p:nvPr/>
        </p:nvSpPr>
        <p:spPr>
          <a:xfrm>
            <a:off x="4023360" y="2377440"/>
            <a:ext cx="3200400" cy="1691640"/>
          </a:xfrm>
          <a:prstGeom prst="roundRect">
            <a:avLst>
              <a:gd name="adj" fmla="val 4865"/>
            </a:avLst>
          </a:prstGeom>
          <a:solidFill>
            <a:srgbClr val="232946"/>
          </a:solidFill>
          <a:ln/>
          <a:effectLst>
            <a:outerShdw sx="100000" sy="100000" kx="0" ky="0" algn="bl" rotWithShape="0" blurRad="76200" dist="25400" dir="5400000">
              <a:srgbClr val="9AA4B8">
                <a:alpha val="35000"/>
              </a:srgbClr>
            </a:outerShdw>
          </a:effectLst>
        </p:spPr>
      </p:sp>
      <p:sp>
        <p:nvSpPr>
          <p:cNvPr id="13" name="Text 9"/>
          <p:cNvSpPr/>
          <p:nvPr/>
        </p:nvSpPr>
        <p:spPr>
          <a:xfrm>
            <a:off x="4224528" y="2514600"/>
            <a:ext cx="265176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api  :8000</a:t>
            </a:r>
            <a:endParaRPr lang="en-US" sz="1350" dirty="0"/>
          </a:p>
        </p:txBody>
      </p:sp>
      <p:sp>
        <p:nvSpPr>
          <p:cNvPr id="14" name="Text 10"/>
          <p:cNvSpPr/>
          <p:nvPr/>
        </p:nvSpPr>
        <p:spPr>
          <a:xfrm>
            <a:off x="4224528" y="2816352"/>
            <a:ext cx="2834640" cy="256032"/>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/ask (RAG) · /intake · /claims</a:t>
            </a:r>
            <a:endParaRPr lang="en-US" sz="950" dirty="0"/>
          </a:p>
        </p:txBody>
      </p:sp>
      <p:sp>
        <p:nvSpPr>
          <p:cNvPr id="15" name="Shape 11"/>
          <p:cNvSpPr/>
          <p:nvPr/>
        </p:nvSpPr>
        <p:spPr>
          <a:xfrm>
            <a:off x="4224528" y="3127248"/>
            <a:ext cx="2788920" cy="777240"/>
          </a:xfrm>
          <a:prstGeom prst="roundRect">
            <a:avLst>
              <a:gd name="adj" fmla="val 9412"/>
            </a:avLst>
          </a:prstGeom>
          <a:solidFill>
            <a:srgbClr val="2E3554"/>
          </a:solidFill>
          <a:ln/>
        </p:spPr>
      </p:sp>
      <p:sp>
        <p:nvSpPr>
          <p:cNvPr id="16" name="Text 12"/>
          <p:cNvSpPr/>
          <p:nvPr/>
        </p:nvSpPr>
        <p:spPr>
          <a:xfrm>
            <a:off x="4315968" y="3127248"/>
            <a:ext cx="2651760" cy="777240"/>
          </a:xfrm>
          <a:prstGeom prst="rect">
            <a:avLst/>
          </a:prstGeom>
          <a:noFill/>
          <a:ln/>
        </p:spPr>
        <p:txBody>
          <a:bodyPr wrap="square" lIns="0" tIns="0" rIns="0" bIns="0" rtlCol="0" anchor="ctr"/>
          <a:lstStyle/>
          <a:p>
            <a:pPr indent="0" marL="0">
              <a:buNone/>
            </a:pPr>
            <a:r>
              <a:rPr lang="en-US" sz="800" dirty="0">
                <a:solidFill>
                  <a:srgbClr val="F5B971"/>
                </a:solidFill>
                <a:latin typeface="Courier New" pitchFamily="34" charset="0"/>
                <a:ea typeface="Courier New" pitchFamily="34" charset="-122"/>
                <a:cs typeface="Courier New" pitchFamily="34" charset="-120"/>
              </a:rPr>
              <a:t>chromadb embedded in-process</a:t>
            </a:r>
            <a:endParaRPr lang="en-US" sz="800" dirty="0"/>
          </a:p>
          <a:p>
            <a:pPr indent="0" marL="0">
              <a:buNone/>
            </a:pPr>
            <a:r>
              <a:rPr lang="en-US" sz="800" dirty="0">
                <a:solidFill>
                  <a:srgbClr val="F5B971"/>
                </a:solidFill>
                <a:latin typeface="Courier New" pitchFamily="34" charset="0"/>
                <a:ea typeface="Courier New" pitchFamily="34" charset="-122"/>
                <a:cs typeface="Courier New" pitchFamily="34" charset="-120"/>
              </a:rPr>
              <a:t>./rag/chroma bind-mounted (rw)</a:t>
            </a:r>
            <a:endParaRPr lang="en-US" sz="800" dirty="0"/>
          </a:p>
        </p:txBody>
      </p:sp>
      <p:sp>
        <p:nvSpPr>
          <p:cNvPr id="17" name="Shape 13"/>
          <p:cNvSpPr/>
          <p:nvPr/>
        </p:nvSpPr>
        <p:spPr>
          <a:xfrm>
            <a:off x="7269480" y="3200400"/>
            <a:ext cx="822960" cy="0"/>
          </a:xfrm>
          <a:prstGeom prst="line">
            <a:avLst/>
          </a:prstGeom>
          <a:noFill/>
          <a:ln w="31750">
            <a:solidFill>
              <a:srgbClr val="232946"/>
            </a:solidFill>
            <a:prstDash val="solid"/>
            <a:tailEnd type="triangle"/>
          </a:ln>
        </p:spPr>
      </p:sp>
      <p:sp>
        <p:nvSpPr>
          <p:cNvPr id="18" name="Shape 14"/>
          <p:cNvSpPr/>
          <p:nvPr/>
        </p:nvSpPr>
        <p:spPr>
          <a:xfrm>
            <a:off x="8138160" y="2697480"/>
            <a:ext cx="3429000" cy="1005840"/>
          </a:xfrm>
          <a:prstGeom prst="roundRect">
            <a:avLst>
              <a:gd name="adj" fmla="val 8182"/>
            </a:avLst>
          </a:prstGeom>
          <a:solidFill>
            <a:srgbClr val="EEF2FA"/>
          </a:solidFill>
          <a:ln/>
          <a:effectLst>
            <a:outerShdw sx="100000" sy="100000" kx="0" ky="0" algn="bl" rotWithShape="0" blurRad="76200" dist="25400" dir="5400000">
              <a:srgbClr val="9AA4B8">
                <a:alpha val="35000"/>
              </a:srgbClr>
            </a:outerShdw>
          </a:effectLst>
        </p:spPr>
      </p:sp>
      <p:sp>
        <p:nvSpPr>
          <p:cNvPr id="19" name="Text 15"/>
          <p:cNvSpPr/>
          <p:nvPr/>
        </p:nvSpPr>
        <p:spPr>
          <a:xfrm>
            <a:off x="8321040" y="2816352"/>
            <a:ext cx="3017520" cy="274320"/>
          </a:xfrm>
          <a:prstGeom prst="rect">
            <a:avLst/>
          </a:prstGeom>
          <a:noFill/>
          <a:ln/>
        </p:spPr>
        <p:txBody>
          <a:bodyPr wrap="square" lIns="0" tIns="0" rIns="0" bIns="0" rtlCol="0" anchor="ctr"/>
          <a:lstStyle/>
          <a:p>
            <a:pPr indent="0" marL="0">
              <a:buNone/>
            </a:pPr>
            <a:r>
              <a:rPr lang="en-US" sz="1200" b="1" dirty="0">
                <a:solidFill>
                  <a:srgbClr val="232946"/>
                </a:solidFill>
                <a:latin typeface="Arial" pitchFamily="34" charset="0"/>
                <a:ea typeface="Arial" pitchFamily="34" charset="-122"/>
                <a:cs typeface="Arial" pitchFamily="34" charset="-120"/>
              </a:rPr>
              <a:t>litellm  :4000</a:t>
            </a:r>
            <a:endParaRPr lang="en-US" sz="1200" dirty="0"/>
          </a:p>
        </p:txBody>
      </p:sp>
      <p:sp>
        <p:nvSpPr>
          <p:cNvPr id="20" name="Text 16"/>
          <p:cNvSpPr/>
          <p:nvPr/>
        </p:nvSpPr>
        <p:spPr>
          <a:xfrm>
            <a:off x="8321040" y="3108960"/>
            <a:ext cx="3108960" cy="502920"/>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v2 config unchanged; vision = one more model_name</a:t>
            </a:r>
            <a:endParaRPr lang="en-US" sz="950" dirty="0"/>
          </a:p>
        </p:txBody>
      </p:sp>
      <p:sp>
        <p:nvSpPr>
          <p:cNvPr id="21" name="Shape 17"/>
          <p:cNvSpPr/>
          <p:nvPr/>
        </p:nvSpPr>
        <p:spPr>
          <a:xfrm>
            <a:off x="9784080" y="3749040"/>
            <a:ext cx="-502920" cy="594360"/>
          </a:xfrm>
          <a:prstGeom prst="line">
            <a:avLst/>
          </a:prstGeom>
          <a:noFill/>
          <a:ln w="31750">
            <a:solidFill>
              <a:srgbClr val="2C7A4B"/>
            </a:solidFill>
            <a:prstDash val="solid"/>
            <a:tailEnd type="triangle"/>
          </a:ln>
        </p:spPr>
      </p:sp>
      <p:sp>
        <p:nvSpPr>
          <p:cNvPr id="22" name="Shape 18"/>
          <p:cNvSpPr/>
          <p:nvPr/>
        </p:nvSpPr>
        <p:spPr>
          <a:xfrm>
            <a:off x="10195560" y="3749040"/>
            <a:ext cx="502920" cy="594360"/>
          </a:xfrm>
          <a:prstGeom prst="line">
            <a:avLst/>
          </a:prstGeom>
          <a:noFill/>
          <a:ln w="31750">
            <a:solidFill>
              <a:srgbClr val="E8871E"/>
            </a:solidFill>
            <a:prstDash val="dash"/>
            <a:tailEnd type="triangle"/>
          </a:ln>
        </p:spPr>
      </p:sp>
      <p:sp>
        <p:nvSpPr>
          <p:cNvPr id="23" name="Shape 19"/>
          <p:cNvSpPr/>
          <p:nvPr/>
        </p:nvSpPr>
        <p:spPr>
          <a:xfrm>
            <a:off x="7635240" y="4434840"/>
            <a:ext cx="1965960" cy="1051560"/>
          </a:xfrm>
          <a:prstGeom prst="roundRect">
            <a:avLst>
              <a:gd name="adj" fmla="val 7826"/>
            </a:avLst>
          </a:prstGeom>
          <a:solidFill>
            <a:srgbClr val="EAF4EC"/>
          </a:solidFill>
          <a:ln/>
          <a:effectLst>
            <a:outerShdw sx="100000" sy="100000" kx="0" ky="0" algn="bl" rotWithShape="0" blurRad="76200" dist="25400" dir="5400000">
              <a:srgbClr val="9AA4B8">
                <a:alpha val="35000"/>
              </a:srgbClr>
            </a:outerShdw>
          </a:effectLst>
        </p:spPr>
      </p:sp>
      <p:sp>
        <p:nvSpPr>
          <p:cNvPr id="24" name="Text 20"/>
          <p:cNvSpPr/>
          <p:nvPr/>
        </p:nvSpPr>
        <p:spPr>
          <a:xfrm>
            <a:off x="7772400" y="4544568"/>
            <a:ext cx="1737360" cy="256032"/>
          </a:xfrm>
          <a:prstGeom prst="rect">
            <a:avLst/>
          </a:prstGeom>
          <a:noFill/>
          <a:ln/>
        </p:spPr>
        <p:txBody>
          <a:bodyPr wrap="square" lIns="0" tIns="0" rIns="0" bIns="0" rtlCol="0" anchor="ctr"/>
          <a:lstStyle/>
          <a:p>
            <a:pPr indent="0" marL="0">
              <a:buNone/>
            </a:pPr>
            <a:r>
              <a:rPr lang="en-US" sz="1100" b="1" dirty="0">
                <a:solidFill>
                  <a:srgbClr val="2C7A4B"/>
                </a:solidFill>
                <a:latin typeface="Arial" pitchFamily="34" charset="0"/>
                <a:ea typeface="Arial" pitchFamily="34" charset="-122"/>
                <a:cs typeface="Arial" pitchFamily="34" charset="-120"/>
              </a:rPr>
              <a:t>model :8090</a:t>
            </a:r>
            <a:endParaRPr lang="en-US" sz="1100" dirty="0"/>
          </a:p>
        </p:txBody>
      </p:sp>
      <p:sp>
        <p:nvSpPr>
          <p:cNvPr id="25" name="Text 21"/>
          <p:cNvSpPr/>
          <p:nvPr/>
        </p:nvSpPr>
        <p:spPr>
          <a:xfrm>
            <a:off x="7772400" y="4818888"/>
            <a:ext cx="1737360" cy="548640"/>
          </a:xfrm>
          <a:prstGeom prst="rect">
            <a:avLst/>
          </a:prstGeom>
          <a:noFill/>
          <a:ln/>
        </p:spPr>
        <p:txBody>
          <a:bodyPr wrap="square" lIns="0" tIns="0" rIns="0" bIns="0" rtlCol="0" anchor="ctr"/>
          <a:lstStyle/>
          <a:p>
            <a:pPr indent="0" marL="0">
              <a:buNone/>
            </a:pPr>
            <a:r>
              <a:rPr lang="en-US" sz="900" dirty="0">
                <a:solidFill>
                  <a:srgbClr val="232946"/>
                </a:solidFill>
                <a:latin typeface="Calibri" pitchFamily="34" charset="0"/>
                <a:ea typeface="Calibri" pitchFamily="34" charset="-122"/>
                <a:cs typeface="Calibri" pitchFamily="34" charset="-120"/>
              </a:rPr>
              <a:t>Qwen 0.5B — text-only</a:t>
            </a:r>
            <a:endParaRPr lang="en-US" sz="900" dirty="0"/>
          </a:p>
        </p:txBody>
      </p:sp>
      <p:sp>
        <p:nvSpPr>
          <p:cNvPr id="26" name="Shape 22"/>
          <p:cNvSpPr/>
          <p:nvPr/>
        </p:nvSpPr>
        <p:spPr>
          <a:xfrm>
            <a:off x="9784080" y="4434840"/>
            <a:ext cx="1783080" cy="1051560"/>
          </a:xfrm>
          <a:prstGeom prst="roundRect">
            <a:avLst>
              <a:gd name="adj" fmla="val 7826"/>
            </a:avLst>
          </a:prstGeom>
          <a:solidFill>
            <a:srgbClr val="FBF1E3"/>
          </a:solidFill>
          <a:ln/>
          <a:effectLst>
            <a:outerShdw sx="100000" sy="100000" kx="0" ky="0" algn="bl" rotWithShape="0" blurRad="76200" dist="25400" dir="5400000">
              <a:srgbClr val="9AA4B8">
                <a:alpha val="35000"/>
              </a:srgbClr>
            </a:outerShdw>
          </a:effectLst>
        </p:spPr>
      </p:sp>
      <p:sp>
        <p:nvSpPr>
          <p:cNvPr id="27" name="Text 23"/>
          <p:cNvSpPr/>
          <p:nvPr/>
        </p:nvSpPr>
        <p:spPr>
          <a:xfrm>
            <a:off x="9921240" y="4544568"/>
            <a:ext cx="1554480" cy="256032"/>
          </a:xfrm>
          <a:prstGeom prst="rect">
            <a:avLst/>
          </a:prstGeom>
          <a:noFill/>
          <a:ln/>
        </p:spPr>
        <p:txBody>
          <a:bodyPr wrap="square" lIns="0" tIns="0" rIns="0" bIns="0" rtlCol="0" anchor="ctr"/>
          <a:lstStyle/>
          <a:p>
            <a:pPr indent="0" marL="0">
              <a:buNone/>
            </a:pPr>
            <a:r>
              <a:rPr lang="en-US" sz="1100" b="1" dirty="0">
                <a:solidFill>
                  <a:srgbClr val="E8871E"/>
                </a:solidFill>
                <a:latin typeface="Arial" pitchFamily="34" charset="0"/>
                <a:ea typeface="Arial" pitchFamily="34" charset="-122"/>
                <a:cs typeface="Arial" pitchFamily="34" charset="-120"/>
              </a:rPr>
              <a:t>cloud vision</a:t>
            </a:r>
            <a:endParaRPr lang="en-US" sz="1100" dirty="0"/>
          </a:p>
        </p:txBody>
      </p:sp>
      <p:sp>
        <p:nvSpPr>
          <p:cNvPr id="28" name="Text 24"/>
          <p:cNvSpPr/>
          <p:nvPr/>
        </p:nvSpPr>
        <p:spPr>
          <a:xfrm>
            <a:off x="9921240" y="4818888"/>
            <a:ext cx="1554480" cy="548640"/>
          </a:xfrm>
          <a:prstGeom prst="rect">
            <a:avLst/>
          </a:prstGeom>
          <a:noFill/>
          <a:ln/>
        </p:spPr>
        <p:txBody>
          <a:bodyPr wrap="square" lIns="0" tIns="0" rIns="0" bIns="0" rtlCol="0" anchor="ctr"/>
          <a:lstStyle/>
          <a:p>
            <a:pPr indent="0" marL="0">
              <a:buNone/>
            </a:pPr>
            <a:r>
              <a:rPr lang="en-US" sz="900" dirty="0">
                <a:solidFill>
                  <a:srgbClr val="232946"/>
                </a:solidFill>
                <a:latin typeface="Calibri" pitchFamily="34" charset="0"/>
                <a:ea typeface="Calibri" pitchFamily="34" charset="-122"/>
                <a:cs typeface="Calibri" pitchFamily="34" charset="-120"/>
              </a:rPr>
              <a:t>gpt-4o-mini etc. (optional)</a:t>
            </a:r>
            <a:endParaRPr lang="en-US" sz="900" dirty="0"/>
          </a:p>
        </p:txBody>
      </p:sp>
      <p:sp>
        <p:nvSpPr>
          <p:cNvPr id="29" name="Shape 25"/>
          <p:cNvSpPr/>
          <p:nvPr/>
        </p:nvSpPr>
        <p:spPr>
          <a:xfrm>
            <a:off x="640080" y="3291840"/>
            <a:ext cx="3017520" cy="2194560"/>
          </a:xfrm>
          <a:prstGeom prst="roundRect">
            <a:avLst>
              <a:gd name="adj" fmla="val 3750"/>
            </a:avLst>
          </a:prstGeom>
          <a:solidFill>
            <a:srgbClr val="EEF2FA"/>
          </a:solidFill>
          <a:ln/>
          <a:effectLst>
            <a:outerShdw sx="100000" sy="100000" kx="0" ky="0" algn="bl" rotWithShape="0" blurRad="76200" dist="25400" dir="5400000">
              <a:srgbClr val="9AA4B8">
                <a:alpha val="35000"/>
              </a:srgbClr>
            </a:outerShdw>
          </a:effectLst>
        </p:spPr>
      </p:sp>
      <p:sp>
        <p:nvSpPr>
          <p:cNvPr id="30" name="Text 26"/>
          <p:cNvSpPr/>
          <p:nvPr/>
        </p:nvSpPr>
        <p:spPr>
          <a:xfrm>
            <a:off x="822960" y="3401568"/>
            <a:ext cx="2651760" cy="256032"/>
          </a:xfrm>
          <a:prstGeom prst="rect">
            <a:avLst/>
          </a:prstGeom>
          <a:noFill/>
          <a:ln/>
        </p:spPr>
        <p:txBody>
          <a:bodyPr wrap="square" lIns="0" tIns="0" rIns="0" bIns="0" rtlCol="0" anchor="ctr"/>
          <a:lstStyle/>
          <a:p>
            <a:pPr indent="0" marL="0">
              <a:buNone/>
            </a:pPr>
            <a:r>
              <a:rPr lang="en-US" sz="1100" b="1" dirty="0">
                <a:solidFill>
                  <a:srgbClr val="E8871E"/>
                </a:solidFill>
                <a:latin typeface="Arial" pitchFamily="34" charset="0"/>
                <a:ea typeface="Arial" pitchFamily="34" charset="-122"/>
                <a:cs typeface="Arial" pitchFamily="34" charset="-120"/>
              </a:rPr>
              <a:t>host-side, once</a:t>
            </a:r>
            <a:endParaRPr lang="en-US" sz="1100" dirty="0"/>
          </a:p>
        </p:txBody>
      </p:sp>
      <p:sp>
        <p:nvSpPr>
          <p:cNvPr id="31" name="Text 27"/>
          <p:cNvSpPr/>
          <p:nvPr/>
        </p:nvSpPr>
        <p:spPr>
          <a:xfrm>
            <a:off x="822960" y="3675888"/>
            <a:ext cx="2743200" cy="1737360"/>
          </a:xfrm>
          <a:prstGeom prst="rect">
            <a:avLst/>
          </a:prstGeom>
          <a:noFill/>
          <a:ln/>
        </p:spPr>
        <p:txBody>
          <a:bodyPr wrap="square" lIns="0" tIns="0" rIns="0" bIns="0" rtlCol="0" anchor="ctr"/>
          <a:lstStyle/>
          <a:p>
            <a:pPr indent="0" marL="0">
              <a:buNone/>
            </a:pPr>
            <a:r>
              <a:rPr lang="en-US" sz="900" dirty="0">
                <a:solidFill>
                  <a:srgbClr val="232946"/>
                </a:solidFill>
                <a:latin typeface="Courier New" pitchFamily="34" charset="0"/>
                <a:ea typeface="Courier New" pitchFamily="34" charset="-122"/>
                <a:cs typeface="Courier New" pitchFamily="34" charset="-120"/>
              </a:rPr>
              <a:t>python rag/ingest.py</a:t>
            </a:r>
            <a:endParaRPr lang="en-US" sz="900" dirty="0"/>
          </a:p>
          <a:p>
            <a:pPr indent="0" marL="0">
              <a:buNone/>
            </a:pPr>
            <a:r>
              <a:rPr lang="en-US" sz="900" dirty="0">
                <a:solidFill>
                  <a:srgbClr val="232946"/>
                </a:solidFill>
                <a:latin typeface="Courier New" pitchFamily="34" charset="0"/>
                <a:ea typeface="Courier New" pitchFamily="34" charset="-122"/>
                <a:cs typeface="Courier New" pitchFamily="34" charset="-120"/>
              </a:rPr>
              <a:t>→ writes rag/chroma/</a:t>
            </a:r>
            <a:endParaRPr lang="en-US" sz="900" dirty="0"/>
          </a:p>
          <a:p>
            <a:pPr indent="0" marL="0">
              <a:buNone/>
            </a:pPr>
            <a:endParaRPr lang="en-US" sz="900" dirty="0"/>
          </a:p>
          <a:p>
            <a:pPr indent="0" marL="0">
              <a:buNone/>
            </a:pPr>
            <a:r>
              <a:rPr lang="en-US" sz="900" dirty="0">
                <a:solidFill>
                  <a:srgbClr val="232946"/>
                </a:solidFill>
                <a:latin typeface="Courier New" pitchFamily="34" charset="0"/>
                <a:ea typeface="Courier New" pitchFamily="34" charset="-122"/>
                <a:cs typeface="Courier New" pitchFamily="34" charset="-120"/>
              </a:rPr>
              <a:t>python scripts/make_samples.py</a:t>
            </a:r>
            <a:endParaRPr lang="en-US" sz="900" dirty="0"/>
          </a:p>
          <a:p>
            <a:pPr indent="0" marL="0">
              <a:buNone/>
            </a:pPr>
            <a:r>
              <a:rPr lang="en-US" sz="900" dirty="0">
                <a:solidFill>
                  <a:srgbClr val="232946"/>
                </a:solidFill>
                <a:latin typeface="Courier New" pitchFamily="34" charset="0"/>
                <a:ea typeface="Courier New" pitchFamily="34" charset="-122"/>
                <a:cs typeface="Courier New" pitchFamily="34" charset="-120"/>
              </a:rPr>
              <a:t>→ data/samples/*.png + .txt</a:t>
            </a:r>
            <a:endParaRPr lang="en-US" sz="900" dirty="0"/>
          </a:p>
        </p:txBody>
      </p:sp>
      <p:sp>
        <p:nvSpPr>
          <p:cNvPr id="32" name="Shape 28"/>
          <p:cNvSpPr/>
          <p:nvPr/>
        </p:nvSpPr>
        <p:spPr>
          <a:xfrm>
            <a:off x="640080" y="5715000"/>
            <a:ext cx="10881360" cy="658368"/>
          </a:xfrm>
          <a:prstGeom prst="roundRect">
            <a:avLst>
              <a:gd name="adj" fmla="val 12500"/>
            </a:avLst>
          </a:prstGeom>
          <a:solidFill>
            <a:srgbClr val="232946"/>
          </a:solidFill>
          <a:ln/>
          <a:effectLst>
            <a:outerShdw sx="100000" sy="100000" kx="0" ky="0" algn="bl" rotWithShape="0" blurRad="76200" dist="25400" dir="5400000">
              <a:srgbClr val="9AA4B8">
                <a:alpha val="35000"/>
              </a:srgbClr>
            </a:outerShdw>
          </a:effectLst>
        </p:spPr>
      </p:sp>
      <p:sp>
        <p:nvSpPr>
          <p:cNvPr id="33" name="Text 29"/>
          <p:cNvSpPr/>
          <p:nvPr/>
        </p:nvSpPr>
        <p:spPr>
          <a:xfrm>
            <a:off x="868680" y="5769864"/>
            <a:ext cx="10424160" cy="548640"/>
          </a:xfrm>
          <a:prstGeom prst="rect">
            <a:avLst/>
          </a:prstGeom>
          <a:noFill/>
          <a:ln/>
        </p:spPr>
        <p:txBody>
          <a:bodyPr wrap="square" lIns="0" tIns="0" rIns="0" bIns="0" rtlCol="0" anchor="ctr"/>
          <a:lstStyle/>
          <a:p>
            <a:pPr indent="0" marL="0">
              <a:buNone/>
            </a:pPr>
            <a:r>
              <a:rPr lang="en-US" sz="1150" b="1" dirty="0">
                <a:solidFill>
                  <a:srgbClr val="F5B971"/>
                </a:solidFill>
                <a:latin typeface="Calibri" pitchFamily="34" charset="0"/>
                <a:ea typeface="Calibri" pitchFamily="34" charset="-122"/>
                <a:cs typeface="Calibri" pitchFamily="34" charset="-120"/>
              </a:rPr>
              <a:t>No vector-store container:  </a:t>
            </a:r>
            <a:pPr indent="0" marL="0">
              <a:buNone/>
            </a:pPr>
            <a:r>
              <a:rPr lang="en-US" sz="1150" dirty="0">
                <a:solidFill>
                  <a:srgbClr val="FFFFFF"/>
                </a:solidFill>
                <a:latin typeface="Calibri" pitchFamily="34" charset="0"/>
                <a:ea typeface="Calibri" pitchFamily="34" charset="-122"/>
                <a:cs typeface="Calibri" pitchFamily="34" charset="-120"/>
              </a:rPr>
              <a:t>chroma is a library inside the API process reading a mounted directory. The moment two replicas need the index, it becomes a service — that is the mapping-table row for pgvector and managed vector DBs.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0</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Setup: venv, samples, one honest download warning (8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08760"/>
            <a:ext cx="5760720" cy="3291840"/>
          </a:xfrm>
          <a:prstGeom prst="roundRect">
            <a:avLst>
              <a:gd name="adj" fmla="val 2222"/>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3072384"/>
          </a:xfrm>
          <a:prstGeom prst="rect">
            <a:avLst/>
          </a:prstGeom>
          <a:noFill/>
          <a:ln/>
        </p:spPr>
        <p:txBody>
          <a:bodyPr wrap="square" lIns="0" tIns="0" rIns="0" bIns="0" rtlCol="0" anchor="t"/>
          <a:lstStyle/>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cd session8_lab</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cp .env.example .env</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Windows PowerShell: Copy-Item .env.example .env</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python3 -m venv .venv</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source .venv/bin/activate</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pip install chromadb==0.5.23 streamlit \</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            requests pillow</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generate the intake sample documents</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python scripts/make_samples.py</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ls data/samples/   # 2 PNGs + 2 .txt sidecars</a:t>
            </a:r>
            <a:endParaRPr lang="en-US" sz="1050" dirty="0"/>
          </a:p>
        </p:txBody>
      </p:sp>
      <p:sp>
        <p:nvSpPr>
          <p:cNvPr id="10" name="Shape 6"/>
          <p:cNvSpPr/>
          <p:nvPr/>
        </p:nvSpPr>
        <p:spPr>
          <a:xfrm>
            <a:off x="6629400" y="1508760"/>
            <a:ext cx="4937760" cy="3291840"/>
          </a:xfrm>
          <a:prstGeom prst="roundRect">
            <a:avLst>
              <a:gd name="adj" fmla="val 2500"/>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Verification notes</a:t>
            </a:r>
            <a:endParaRPr lang="en-US" sz="1350" dirty="0"/>
          </a:p>
        </p:txBody>
      </p:sp>
      <p:sp>
        <p:nvSpPr>
          <p:cNvPr id="12" name="Text 8"/>
          <p:cNvSpPr/>
          <p:nvPr/>
        </p:nvSpPr>
        <p:spPr>
          <a:xfrm>
            <a:off x="6858000" y="2057400"/>
            <a:ext cx="4526280" cy="26517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First-run download: chromadb's default embedding function pulls ~80 MB of ONNX embedding model to ~/.cache/chroma — once on the host, once in the api container (compose persists it in a volume).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Open a generated PNG: a plain rendered document — a garage estimate for CLM-1001, a discharge summary for CLM-1005 — each with a .txt sidecar carrying the same content.</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sidecars ARE the local intake path; keep the filenames unchanged.</a:t>
            </a:r>
            <a:endParaRPr lang="en-US" sz="1100" dirty="0"/>
          </a:p>
        </p:txBody>
      </p:sp>
      <p:sp>
        <p:nvSpPr>
          <p:cNvPr id="13" name="Shape 9"/>
          <p:cNvSpPr/>
          <p:nvPr/>
        </p:nvSpPr>
        <p:spPr>
          <a:xfrm>
            <a:off x="640080" y="5074920"/>
            <a:ext cx="10881360" cy="1234440"/>
          </a:xfrm>
          <a:prstGeom prst="roundRect">
            <a:avLst>
              <a:gd name="adj" fmla="val 6667"/>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5212080"/>
            <a:ext cx="5212080" cy="292608"/>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What is in the handout</a:t>
            </a:r>
            <a:endParaRPr lang="en-US" sz="1300" dirty="0"/>
          </a:p>
        </p:txBody>
      </p:sp>
      <p:sp>
        <p:nvSpPr>
          <p:cNvPr id="15" name="Text 11"/>
          <p:cNvSpPr/>
          <p:nvPr/>
        </p:nvSpPr>
        <p:spPr>
          <a:xfrm>
            <a:off x="868680" y="5532120"/>
            <a:ext cx="10424160" cy="73152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model_server/ + litellm/ + docker-compose.yml (v2 stack, unchanged wiring) · api/app.py v3 (RAG /ask + /intake) · rag/ingest.py · scripts/make_samples.py · ui/chat_app.py v3 · data/ (six claims, three clause-numbered policy documents, samples) · .env.example (VISION_MODEL commented) · README.md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1</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Ingest: 45 clauses become 45 chunks (8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08760"/>
            <a:ext cx="5989320" cy="2834640"/>
          </a:xfrm>
          <a:prstGeom prst="roundRect">
            <a:avLst>
              <a:gd name="adj" fmla="val 2581"/>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586984" cy="261518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python rag/ingest.py</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claims_process.md: 15 clauses</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health_policy.md:  15 clauses</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motor_policy.md:   15 clauses</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Stored 45 clause chunks in rag/chroma/</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Sample chunks (id · doc · first 90 chars):</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P-1.1 · claims_process.md · P-1.1 Intimation…</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python rag/ingest.py   # again → same 45, no dupes</a:t>
            </a:r>
            <a:endParaRPr lang="en-US" sz="1000" dirty="0"/>
          </a:p>
        </p:txBody>
      </p:sp>
      <p:sp>
        <p:nvSpPr>
          <p:cNvPr id="10" name="Shape 6"/>
          <p:cNvSpPr/>
          <p:nvPr/>
        </p:nvSpPr>
        <p:spPr>
          <a:xfrm>
            <a:off x="6858000" y="1508760"/>
            <a:ext cx="4709160" cy="4800600"/>
          </a:xfrm>
          <a:prstGeom prst="roundRect">
            <a:avLst>
              <a:gd name="adj" fmla="val 1748"/>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7086600" y="1664208"/>
            <a:ext cx="42519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Peek: chunking → citations</a:t>
            </a:r>
            <a:endParaRPr lang="en-US" sz="1350" dirty="0"/>
          </a:p>
        </p:txBody>
      </p:sp>
      <p:sp>
        <p:nvSpPr>
          <p:cNvPr id="12" name="Text 8"/>
          <p:cNvSpPr/>
          <p:nvPr/>
        </p:nvSpPr>
        <p:spPr>
          <a:xfrm>
            <a:off x="7086600" y="2057400"/>
            <a:ext cx="42976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Find CLAUSE_RE in rag/ingest.py: the chunk boundary is the clause HEADING — this line is where citation precision comes from.</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Each chunk's id is its clause id and its metadata is {doc, clause_id} — when the model later writes [M-2.3], the API resolves it to exactly this chunk.</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Idempotency proof: the second run deletes and rebuilds — same 45 chunks. Appending blindly would double the corpus; stale chunks are a silent RAG bug.</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rag/chroma/ now exists on disk — the api container bind-mounts this exact directory in Step 2.</a:t>
            </a:r>
            <a:endParaRPr lang="en-US" sz="1100" dirty="0"/>
          </a:p>
        </p:txBody>
      </p:sp>
      <p:sp>
        <p:nvSpPr>
          <p:cNvPr id="13" name="Shape 9"/>
          <p:cNvSpPr/>
          <p:nvPr/>
        </p:nvSpPr>
        <p:spPr>
          <a:xfrm>
            <a:off x="640080" y="4617720"/>
            <a:ext cx="5989320" cy="1691640"/>
          </a:xfrm>
          <a:prstGeom prst="roundRect">
            <a:avLst>
              <a:gd name="adj" fmla="val 4865"/>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4690872"/>
            <a:ext cx="5577840" cy="154533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Checkpoint:  </a:t>
            </a:r>
            <a:pPr indent="0" marL="0">
              <a:buNone/>
            </a:pPr>
            <a:r>
              <a:rPr lang="en-US" sz="1150" dirty="0">
                <a:solidFill>
                  <a:srgbClr val="5A6478"/>
                </a:solidFill>
                <a:latin typeface="Calibri" pitchFamily="34" charset="0"/>
                <a:ea typeface="Calibri" pitchFamily="34" charset="-122"/>
                <a:cs typeface="Calibri" pitchFamily="34" charset="-120"/>
              </a:rPr>
              <a:t>45 chunks stored, ids = clause ids, re-run is idempotent. The offline half of the pipeline (stages 1-4) is done.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Start the stack; the answer that cites [M-2.3] (12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08760"/>
            <a:ext cx="5989320" cy="3931920"/>
          </a:xfrm>
          <a:prstGeom prst="roundRect">
            <a:avLst>
              <a:gd name="adj" fmla="val 1860"/>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586984" cy="3712464"/>
          </a:xfrm>
          <a:prstGeom prst="rect">
            <a:avLst/>
          </a:prstGeom>
          <a:noFill/>
          <a:ln/>
        </p:spPr>
        <p:txBody>
          <a:bodyPr wrap="square" lIns="0" tIns="0" rIns="0" bIns="0" rtlCol="0" anchor="t"/>
          <a:lstStyle/>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docker compose up -d --build</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docker compose ps        # 3 × (healthy)</a:t>
            </a:r>
            <a:endParaRPr lang="en-US" sz="950" dirty="0"/>
          </a:p>
          <a:p>
            <a:pPr indent="0" marL="0">
              <a:lnSpc>
                <a:spcPct val="112000"/>
              </a:lnSpc>
              <a:buNone/>
            </a:pP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curl -s localhost:8000/health | python3 -m json.tool</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 "rag_chunks": 45</a:t>
            </a:r>
            <a:endParaRPr lang="en-US" sz="950" dirty="0"/>
          </a:p>
          <a:p>
            <a:pPr indent="0" marL="0">
              <a:lnSpc>
                <a:spcPct val="112000"/>
              </a:lnSpc>
              <a:buNone/>
            </a:pP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curl -s localhost:8000/ask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-H "Content-Type: application/json" \</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-d '{"question":"Why was claim CLM-1003</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rejected?","claim_id":"CLM-1003"}'</a:t>
            </a:r>
            <a:endParaRPr lang="en-US" sz="950" dirty="0"/>
          </a:p>
          <a:p>
            <a:pPr indent="0" marL="0">
              <a:lnSpc>
                <a:spcPct val="112000"/>
              </a:lnSpc>
              <a:buNone/>
            </a:pP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{"answer": "… licence had expired on the</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accident date [M-2.3] …",</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"citations": [{"clause_id": "M-2.3",</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"doc": "motor_policy.md",</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"snippet": "M-2.3 Licence validity: …"}],</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"confidence": "high", "not_found": false}</a:t>
            </a:r>
            <a:endParaRPr lang="en-US" sz="950" dirty="0"/>
          </a:p>
        </p:txBody>
      </p:sp>
      <p:sp>
        <p:nvSpPr>
          <p:cNvPr id="10" name="Shape 6"/>
          <p:cNvSpPr/>
          <p:nvPr/>
        </p:nvSpPr>
        <p:spPr>
          <a:xfrm>
            <a:off x="6858000" y="1508760"/>
            <a:ext cx="4709160" cy="3931920"/>
          </a:xfrm>
          <a:prstGeom prst="roundRect">
            <a:avLst>
              <a:gd name="adj" fmla="val 2093"/>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7086600" y="1664208"/>
            <a:ext cx="42519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interpret</a:t>
            </a:r>
            <a:endParaRPr lang="en-US" sz="1350" dirty="0"/>
          </a:p>
        </p:txBody>
      </p:sp>
      <p:sp>
        <p:nvSpPr>
          <p:cNvPr id="12" name="Text 8"/>
          <p:cNvSpPr/>
          <p:nvPr/>
        </p:nvSpPr>
        <p:spPr>
          <a:xfrm>
            <a:off x="7086600" y="2057400"/>
            <a:ext cx="4297680" cy="32918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b="1" dirty="0">
                <a:solidFill>
                  <a:srgbClr val="232946"/>
                </a:solidFill>
                <a:latin typeface="Calibri" pitchFamily="34" charset="0"/>
                <a:ea typeface="Calibri" pitchFamily="34" charset="-122"/>
                <a:cs typeface="Calibri" pitchFamily="34" charset="-120"/>
              </a:rPr>
              <a:t>The claim record says WHAT (licence expired); the cited clause says WHY IT MATTERS (M-2.3: claims rejected in full). Record + policy — both groundings at work.</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citation snippet is the verification affordance: 200 chars of the real clause, attached to the answer.</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First question is slow: the api container downloads its ONNX embedding model once. Watch docker compose logs api.</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0.5B model may word things clumsily — but citation ids are regex-extracted and verified against the store.</a:t>
            </a:r>
            <a:endParaRPr lang="en-US" sz="1050" dirty="0"/>
          </a:p>
        </p:txBody>
      </p:sp>
      <p:sp>
        <p:nvSpPr>
          <p:cNvPr id="13" name="Shape 9"/>
          <p:cNvSpPr/>
          <p:nvPr/>
        </p:nvSpPr>
        <p:spPr>
          <a:xfrm>
            <a:off x="640080" y="5669280"/>
            <a:ext cx="10881360" cy="640080"/>
          </a:xfrm>
          <a:prstGeom prst="roundRect">
            <a:avLst>
              <a:gd name="adj" fmla="val 12857"/>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5715000"/>
            <a:ext cx="10424160" cy="548640"/>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Checkpoint:  </a:t>
            </a:r>
            <a:pPr indent="0" marL="0">
              <a:buNone/>
            </a:pPr>
            <a:r>
              <a:rPr lang="en-US" sz="1150" dirty="0">
                <a:solidFill>
                  <a:srgbClr val="5A6478"/>
                </a:solidFill>
                <a:latin typeface="Calibri" pitchFamily="34" charset="0"/>
                <a:ea typeface="Calibri" pitchFamily="34" charset="-122"/>
                <a:cs typeface="Calibri" pitchFamily="34" charset="-120"/>
              </a:rPr>
              <a:t>the answer cites [M-2.3] and the citations array resolves it to motor_policy.md with a snippet. This screenshot is deliverable 1.</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3</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honesty test: NOT_IN_POLICY (8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08760"/>
            <a:ext cx="5989320" cy="3108960"/>
          </a:xfrm>
          <a:prstGeom prst="roundRect">
            <a:avLst>
              <a:gd name="adj" fmla="val 2353"/>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586984" cy="288950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curl -s localhost:8000/ask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-H "Content-Type: application/json" \</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-d '{"question":"Does my policy cover</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pet insurance?"}'</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"answer": "This is not covered in the policy</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documents I have access to.",</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"citations": [],</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"confidence": "low",</a:t>
            </a:r>
            <a:endParaRPr lang="en-US" sz="1000" dirty="0"/>
          </a:p>
          <a:p>
            <a:pPr indent="0" marL="0">
              <a:lnSpc>
                <a:spcPct val="112000"/>
              </a:lnSpc>
              <a:buNone/>
            </a:pPr>
            <a:r>
              <a:rPr lang="en-US" sz="1000" dirty="0">
                <a:solidFill>
                  <a:srgbClr val="F0937A"/>
                </a:solidFill>
                <a:latin typeface="Courier New" pitchFamily="34" charset="0"/>
                <a:ea typeface="Courier New" pitchFamily="34" charset="-122"/>
                <a:cs typeface="Courier New" pitchFamily="34" charset="-120"/>
              </a:rPr>
              <a:t>#   "not_found": true</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t>
            </a:r>
            <a:endParaRPr lang="en-US" sz="1000" dirty="0"/>
          </a:p>
        </p:txBody>
      </p:sp>
      <p:sp>
        <p:nvSpPr>
          <p:cNvPr id="10" name="Shape 6"/>
          <p:cNvSpPr/>
          <p:nvPr/>
        </p:nvSpPr>
        <p:spPr>
          <a:xfrm>
            <a:off x="6858000" y="1508760"/>
            <a:ext cx="4709160" cy="4800600"/>
          </a:xfrm>
          <a:prstGeom prst="roundRect">
            <a:avLst>
              <a:gd name="adj" fmla="val 1748"/>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7086600" y="1664208"/>
            <a:ext cx="42519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Discussion: why refusal wins</a:t>
            </a:r>
            <a:endParaRPr lang="en-US" sz="1350" dirty="0"/>
          </a:p>
        </p:txBody>
      </p:sp>
      <p:sp>
        <p:nvSpPr>
          <p:cNvPr id="12" name="Text 8"/>
          <p:cNvSpPr/>
          <p:nvPr/>
        </p:nvSpPr>
        <p:spPr>
          <a:xfrm>
            <a:off x="7086600" y="2057400"/>
            <a:ext cx="42976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b="1" dirty="0">
                <a:solidFill>
                  <a:srgbClr val="232946"/>
                </a:solidFill>
                <a:latin typeface="Calibri" pitchFamily="34" charset="0"/>
                <a:ea typeface="Calibri" pitchFamily="34" charset="-122"/>
                <a:cs typeface="Calibri" pitchFamily="34" charset="-120"/>
              </a:rPr>
              <a:t>Retrieval always returns SOMETHING — the four nearest clauses to “pet insurance” exist. The escape hatch, not the retriever, is what prevents an invented answer.</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An invented “pet clause P-9.4” would be acted on by a customer, requested by an auditor, cited in a dispute. Refusal has a legal dollar value.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not_found is a first-class API field: UIs render it deliberately, dashboards count it, evals assert it. “I don't know” became engineering.</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Mechanism honesty: this relies on the model following an instruction. It can fail — which is why Step 6 pins it with a CI assertion.</a:t>
            </a:r>
            <a:endParaRPr lang="en-US" sz="1050" dirty="0"/>
          </a:p>
        </p:txBody>
      </p:sp>
      <p:sp>
        <p:nvSpPr>
          <p:cNvPr id="13" name="Shape 9"/>
          <p:cNvSpPr/>
          <p:nvPr/>
        </p:nvSpPr>
        <p:spPr>
          <a:xfrm>
            <a:off x="640080" y="4892040"/>
            <a:ext cx="5989320" cy="1417320"/>
          </a:xfrm>
          <a:prstGeom prst="roundRect">
            <a:avLst>
              <a:gd name="adj" fmla="val 5806"/>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4965192"/>
            <a:ext cx="5577840" cy="127101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Checkpoint:  </a:t>
            </a:r>
            <a:pPr indent="0" marL="0">
              <a:buNone/>
            </a:pPr>
            <a:r>
              <a:rPr lang="en-US" sz="1150" dirty="0">
                <a:solidFill>
                  <a:srgbClr val="5A6478"/>
                </a:solidFill>
                <a:latin typeface="Calibri" pitchFamily="34" charset="0"/>
                <a:ea typeface="Calibri" pitchFamily="34" charset="-122"/>
                <a:cs typeface="Calibri" pitchFamily="34" charset="-120"/>
              </a:rPr>
              <a:t>not_found: true with empty citations. Save this JSON — it is deliverable 2, the honesty proof.</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4</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Confidence: precise vs vague, and where the thresholds live (8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08760"/>
            <a:ext cx="5989320" cy="3200400"/>
          </a:xfrm>
          <a:prstGeom prst="roundRect">
            <a:avLst>
              <a:gd name="adj" fmla="val 2286"/>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586984" cy="298094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precise — nearly the words of clause M-2.3</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curl -s localhost:8000/ask … -d '{"question":</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"What does the policy say about driving</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licence validity?"}' | grep confidence</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 "confidence": "high"</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vague — retrieval still returns SOMETHING</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curl -s localhost:8000/ask … -d '{"question":</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"What generally happens with my stuff and</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the paperwork?"}' | grep confidence</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 "confidence": "medium" (or "low")</a:t>
            </a:r>
            <a:endParaRPr lang="en-US" sz="1000" dirty="0"/>
          </a:p>
        </p:txBody>
      </p:sp>
      <p:sp>
        <p:nvSpPr>
          <p:cNvPr id="10" name="Shape 6"/>
          <p:cNvSpPr/>
          <p:nvPr/>
        </p:nvSpPr>
        <p:spPr>
          <a:xfrm>
            <a:off x="6858000" y="1508760"/>
            <a:ext cx="4709160" cy="4800600"/>
          </a:xfrm>
          <a:prstGeom prst="roundRect">
            <a:avLst>
              <a:gd name="adj" fmla="val 1748"/>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7086600" y="1664208"/>
            <a:ext cx="42519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Where the thresholds live</a:t>
            </a:r>
            <a:endParaRPr lang="en-US" sz="1350" dirty="0"/>
          </a:p>
        </p:txBody>
      </p:sp>
      <p:sp>
        <p:nvSpPr>
          <p:cNvPr id="12" name="Text 8"/>
          <p:cNvSpPr/>
          <p:nvPr/>
        </p:nvSpPr>
        <p:spPr>
          <a:xfrm>
            <a:off x="7086600" y="2057400"/>
            <a:ext cx="42976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b="1" dirty="0">
                <a:solidFill>
                  <a:srgbClr val="232946"/>
                </a:solidFill>
                <a:latin typeface="Calibri" pitchFamily="34" charset="0"/>
                <a:ea typeface="Calibri" pitchFamily="34" charset="-122"/>
                <a:cs typeface="Calibri" pitchFamily="34" charset="-120"/>
              </a:rPr>
              <a:t>api/app.py: CONF_HIGH_MAX = 1.0, CONF_MEDIUM_MAX = 1.4 — constants with a comment block, in code review's line of sight, not folklore.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They are corpus-specific: change the embedding model, chunk length or distance metric and the numbers move.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Optional: edit a threshold, docker compose up -d --build api, re-ask — the label flips. That sensitivity IS the argument for calibration against a labelled question set.</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Production: calibrated scoring, monitored for drift, re-calibrated on every embedding change (mapping table).</a:t>
            </a:r>
            <a:endParaRPr lang="en-US" sz="1050" dirty="0"/>
          </a:p>
        </p:txBody>
      </p:sp>
      <p:sp>
        <p:nvSpPr>
          <p:cNvPr id="13" name="Shape 9"/>
          <p:cNvSpPr/>
          <p:nvPr/>
        </p:nvSpPr>
        <p:spPr>
          <a:xfrm>
            <a:off x="640080" y="4983480"/>
            <a:ext cx="5989320" cy="1325880"/>
          </a:xfrm>
          <a:prstGeom prst="roundRect">
            <a:avLst>
              <a:gd name="adj" fmla="val 6207"/>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5056632"/>
            <a:ext cx="5577840" cy="117957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Checkpoint:  </a:t>
            </a:r>
            <a:pPr indent="0" marL="0">
              <a:buNone/>
            </a:pPr>
            <a:r>
              <a:rPr lang="en-US" sz="1150" dirty="0">
                <a:solidFill>
                  <a:srgbClr val="5A6478"/>
                </a:solidFill>
                <a:latin typeface="Calibri" pitchFamily="34" charset="0"/>
                <a:ea typeface="Calibri" pitchFamily="34" charset="-122"/>
                <a:cs typeface="Calibri" pitchFamily="34" charset="-120"/>
              </a:rPr>
              <a:t>the same pipeline, two confidence labels — driven entirely by retrieval distance, not by the model's tone.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5 (1 OF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UI: citation chips, confidence badge, upload tab (12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08760"/>
            <a:ext cx="5760720" cy="1280160"/>
          </a:xfrm>
          <a:prstGeom prst="roundRect">
            <a:avLst>
              <a:gd name="adj" fmla="val 5714"/>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1060704"/>
          </a:xfrm>
          <a:prstGeom prst="rect">
            <a:avLst/>
          </a:prstGeom>
          <a:noFill/>
          <a:ln/>
        </p:spPr>
        <p:txBody>
          <a:bodyPr wrap="square" lIns="0" tIns="0" rIns="0" bIns="0" rtlCol="0" anchor="t"/>
          <a:lstStyle/>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source .venv/bin/activate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streamlit run ui/chat_app.py   # :8501</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docker compose logs -f api     # watch intake path</a:t>
            </a:r>
            <a:endParaRPr lang="en-US" sz="1000" dirty="0"/>
          </a:p>
        </p:txBody>
      </p:sp>
      <p:sp>
        <p:nvSpPr>
          <p:cNvPr id="10" name="Shape 6"/>
          <p:cNvSpPr/>
          <p:nvPr/>
        </p:nvSpPr>
        <p:spPr>
          <a:xfrm>
            <a:off x="640080" y="2971800"/>
            <a:ext cx="5760720" cy="3337560"/>
          </a:xfrm>
          <a:prstGeom prst="roundRect">
            <a:avLst>
              <a:gd name="adj" fmla="val 2466"/>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868680" y="3108960"/>
            <a:ext cx="521208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Three scenarios to render</a:t>
            </a:r>
            <a:endParaRPr lang="en-US" sz="1300" dirty="0"/>
          </a:p>
        </p:txBody>
      </p:sp>
      <p:sp>
        <p:nvSpPr>
          <p:cNvPr id="12" name="Text 8"/>
          <p:cNvSpPr/>
          <p:nvPr/>
        </p:nvSpPr>
        <p:spPr>
          <a:xfrm>
            <a:off x="868680" y="3456432"/>
            <a:ext cx="5349240" cy="27432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CLM-1003 → “Why was my claim rejected?” — answer + green/orange badge + chip “[M-2.3] — motor_policy.md”; expand it to read the clause.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“Does my policy cover pet insurance?” — the not-in-policy info state, deliberately styled, no citations, low badge.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Upload tab → garage_estimate_clm1001.png → Extract fields — banner: “Local text fallback (qwen-local is text-only)”; document_type + key_fields JSON.</a:t>
            </a:r>
            <a:endParaRPr lang="en-US" sz="1050" dirty="0"/>
          </a:p>
        </p:txBody>
      </p:sp>
      <p:sp>
        <p:nvSpPr>
          <p:cNvPr id="13" name="Shape 9"/>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What to point at</a:t>
            </a:r>
            <a:endParaRPr lang="en-US" sz="1350" dirty="0"/>
          </a:p>
        </p:txBody>
      </p:sp>
      <p:sp>
        <p:nvSpPr>
          <p:cNvPr id="15" name="Text 11"/>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The chips are the trust surface: every claim in the answer is one click from its source clause. This is what “citations as a product feature” looks like.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badge colours map the Step 4 thresholds: green high, orange medium, red low.</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not-found state is styled as information, not failure — refusal is a designed behaviour.</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In the api logs, find the line: [intake] LOCAL text fallback (0.5B model is text-only) — the capability degradation is labelled, never silent.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5 (2 OF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Cloud path: real vision extraction from the PNG</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9144000" y="475488"/>
            <a:ext cx="24231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9235440" y="475488"/>
            <a:ext cx="22402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CLOUD PATH · OPTIONAL</a:t>
            </a:r>
            <a:endParaRPr lang="en-US" sz="850" dirty="0"/>
          </a:p>
        </p:txBody>
      </p:sp>
      <p:sp>
        <p:nvSpPr>
          <p:cNvPr id="10" name="Shape 6"/>
          <p:cNvSpPr/>
          <p:nvPr/>
        </p:nvSpPr>
        <p:spPr>
          <a:xfrm>
            <a:off x="640080" y="1508760"/>
            <a:ext cx="5760720" cy="2743200"/>
          </a:xfrm>
          <a:prstGeom prst="roundRect">
            <a:avLst>
              <a:gd name="adj" fmla="val 2667"/>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1618488"/>
            <a:ext cx="5358384" cy="252374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litellm/config.yaml: uncomment gpt-4o-mini</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.env:</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OPENAI_API_KEY=sk-…</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VISION_MODEL=gpt-4o-mini</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compose up -d litellm api  # new env</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upload the SAME PNG in the UI …</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banner: Extracted by vision model: gpt-4o-mini</a:t>
            </a:r>
            <a:endParaRPr lang="en-US" sz="1000" dirty="0"/>
          </a:p>
        </p:txBody>
      </p:sp>
      <p:sp>
        <p:nvSpPr>
          <p:cNvPr id="12" name="Shape 8"/>
          <p:cNvSpPr/>
          <p:nvPr/>
        </p:nvSpPr>
        <p:spPr>
          <a:xfrm>
            <a:off x="640080" y="4434840"/>
            <a:ext cx="5760720" cy="1874520"/>
          </a:xfrm>
          <a:prstGeom prst="roundRect">
            <a:avLst>
              <a:gd name="adj" fmla="val 4390"/>
            </a:avLst>
          </a:prstGeom>
          <a:solidFill>
            <a:srgbClr val="EEF2FA"/>
          </a:solidFill>
          <a:ln/>
          <a:effectLst>
            <a:outerShdw sx="100000" sy="100000" kx="0" ky="0" algn="bl" rotWithShape="0" blurRad="76200" dist="25400" dir="5400000">
              <a:srgbClr val="9AA4B8">
                <a:alpha val="35000"/>
              </a:srgbClr>
            </a:outerShdw>
          </a:effectLst>
        </p:spPr>
      </p:sp>
      <p:sp>
        <p:nvSpPr>
          <p:cNvPr id="13" name="Text 9"/>
          <p:cNvSpPr/>
          <p:nvPr/>
        </p:nvSpPr>
        <p:spPr>
          <a:xfrm>
            <a:off x="868680" y="4572000"/>
            <a:ext cx="521208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Prove it is really vision</a:t>
            </a:r>
            <a:endParaRPr lang="en-US" sz="1250" dirty="0"/>
          </a:p>
        </p:txBody>
      </p:sp>
      <p:sp>
        <p:nvSpPr>
          <p:cNvPr id="14" name="Text 10"/>
          <p:cNvSpPr/>
          <p:nvPr/>
        </p:nvSpPr>
        <p:spPr>
          <a:xfrm>
            <a:off x="868680" y="4892040"/>
            <a:ext cx="5303520" cy="128016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Temporarily rename data/samples/garage_estimate_clm1001.txt and upload again: the cloud path still extracts (it reads pixels); the local path would have returned 422 asking for the sidecar. Restore the file afterwards.</a:t>
            </a:r>
            <a:endParaRPr lang="en-US" sz="1050" dirty="0"/>
          </a:p>
        </p:txBody>
      </p:sp>
      <p:sp>
        <p:nvSpPr>
          <p:cNvPr id="15" name="Shape 11"/>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6" name="Text 12"/>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Same seam, richer eyes</a:t>
            </a:r>
            <a:endParaRPr lang="en-US" sz="1350" dirty="0"/>
          </a:p>
        </p:txBody>
      </p:sp>
      <p:sp>
        <p:nvSpPr>
          <p:cNvPr id="17" name="Text 13"/>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Nothing changed but perception: same /intake, same extraction prompt, same IntakeResult schema — the response's source field flips from local_text_fallback to vision_model.</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key_fields is typically richer: the vision model reads amounts, dates and names straight off the rendered document.</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vision call rides the LiteLLM proxy — Session 7's tier absorbed a new modality with one config entry.</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Either path satisfies deliverable 3; the write-up should name which path produced it.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6</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Eval tie-back and cleanup (4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08760"/>
            <a:ext cx="5989320" cy="2880360"/>
          </a:xfrm>
          <a:prstGeom prst="roundRect">
            <a:avLst>
              <a:gd name="adj" fmla="val 2540"/>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586984" cy="2660904"/>
          </a:xfrm>
          <a:prstGeom prst="rect">
            <a:avLst/>
          </a:prstGeom>
          <a:noFill/>
          <a:ln/>
        </p:spPr>
        <p:txBody>
          <a:bodyPr wrap="square" lIns="0" tIns="0" rIns="0" bIns="0" rtlCol="0" anchor="t"/>
          <a:lstStyle/>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promptfooconfig.yaml — the two new gate tests</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description: "faithfulness: cites M-2.3"</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assert: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 type: contains, value: "[M-2.3]"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type: javascript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value: JSON.parse(context.response)</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.citations.some(c =&gt; c.clause_id==="M-2.3")</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description: "honesty: out-of-corpus refuses"</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assert: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type: javascript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value: JSON.parse(context.response)</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.not_found === true</a:t>
            </a:r>
            <a:endParaRPr lang="en-US" sz="950" dirty="0"/>
          </a:p>
        </p:txBody>
      </p:sp>
      <p:sp>
        <p:nvSpPr>
          <p:cNvPr id="10" name="Shape 6"/>
          <p:cNvSpPr/>
          <p:nvPr/>
        </p:nvSpPr>
        <p:spPr>
          <a:xfrm>
            <a:off x="640080" y="4572000"/>
            <a:ext cx="5989320" cy="1051560"/>
          </a:xfrm>
          <a:prstGeom prst="roundRect">
            <a:avLst>
              <a:gd name="adj" fmla="val 6957"/>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4681728"/>
            <a:ext cx="5586984" cy="832104"/>
          </a:xfrm>
          <a:prstGeom prst="rect">
            <a:avLst/>
          </a:prstGeom>
          <a:noFill/>
          <a:ln/>
        </p:spPr>
        <p:txBody>
          <a:bodyPr wrap="square" lIns="0" tIns="0" rIns="0" bIns="0" rtlCol="0" anchor="t"/>
          <a:lstStyle/>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docker compose down</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keep hf_cache + chroma_cache volumes — S9 reuses</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both the weights and this chroma store</a:t>
            </a:r>
            <a:endParaRPr lang="en-US" sz="950" dirty="0"/>
          </a:p>
        </p:txBody>
      </p:sp>
      <p:sp>
        <p:nvSpPr>
          <p:cNvPr id="12" name="Shape 8"/>
          <p:cNvSpPr/>
          <p:nvPr/>
        </p:nvSpPr>
        <p:spPr>
          <a:xfrm>
            <a:off x="6858000" y="1508760"/>
            <a:ext cx="4709160" cy="4114800"/>
          </a:xfrm>
          <a:prstGeom prst="roundRect">
            <a:avLst>
              <a:gd name="adj" fmla="val 2000"/>
            </a:avLst>
          </a:prstGeom>
          <a:solidFill>
            <a:srgbClr val="EEF2FA"/>
          </a:solidFill>
          <a:ln/>
          <a:effectLst>
            <a:outerShdw sx="100000" sy="100000" kx="0" ky="0" algn="bl" rotWithShape="0" blurRad="76200" dist="25400" dir="5400000">
              <a:srgbClr val="9AA4B8">
                <a:alpha val="35000"/>
              </a:srgbClr>
            </a:outerShdw>
          </a:effectLst>
        </p:spPr>
      </p:sp>
      <p:sp>
        <p:nvSpPr>
          <p:cNvPr id="13" name="Text 9"/>
          <p:cNvSpPr/>
          <p:nvPr/>
        </p:nvSpPr>
        <p:spPr>
          <a:xfrm>
            <a:off x="7086600" y="1664208"/>
            <a:ext cx="425196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Evaluation as a merge gate, extended</a:t>
            </a:r>
            <a:endParaRPr lang="en-US" sz="1300" dirty="0"/>
          </a:p>
        </p:txBody>
      </p:sp>
      <p:sp>
        <p:nvSpPr>
          <p:cNvPr id="14" name="Text 10"/>
          <p:cNvSpPr/>
          <p:nvPr/>
        </p:nvSpPr>
        <p:spPr>
          <a:xfrm>
            <a:off x="7086600" y="2057400"/>
            <a:ext cx="4297680" cy="34747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Session 3 gated prompt changes on eval results; Session 8 adds the RAG failure class: unfaithful answers and broken honesty.</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javascript asserts test the API's VERIFIED fields, not just answer text — the post-processor is part of the tested contract.</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Every future change — prompts, chunking, embeddings, model — replays these questions before merge.</a:t>
            </a:r>
            <a:endParaRPr lang="en-US" sz="1100" dirty="0"/>
          </a:p>
        </p:txBody>
      </p:sp>
      <p:sp>
        <p:nvSpPr>
          <p:cNvPr id="15" name="Shape 11"/>
          <p:cNvSpPr/>
          <p:nvPr/>
        </p:nvSpPr>
        <p:spPr>
          <a:xfrm>
            <a:off x="6858000" y="5806440"/>
            <a:ext cx="4709160" cy="502920"/>
          </a:xfrm>
          <a:prstGeom prst="roundRect">
            <a:avLst>
              <a:gd name="adj" fmla="val 16364"/>
            </a:avLst>
          </a:prstGeom>
          <a:solidFill>
            <a:srgbClr val="FBF1E3"/>
          </a:solidFill>
          <a:ln/>
          <a:effectLst>
            <a:outerShdw sx="100000" sy="100000" kx="0" ky="0" algn="bl" rotWithShape="0" blurRad="76200" dist="25400" dir="5400000">
              <a:srgbClr val="9AA4B8">
                <a:alpha val="35000"/>
              </a:srgbClr>
            </a:outerShdw>
          </a:effectLst>
        </p:spPr>
      </p:sp>
      <p:sp>
        <p:nvSpPr>
          <p:cNvPr id="16" name="Text 12"/>
          <p:cNvSpPr/>
          <p:nvPr/>
        </p:nvSpPr>
        <p:spPr>
          <a:xfrm>
            <a:off x="7040880" y="5843016"/>
            <a:ext cx="4389120" cy="429768"/>
          </a:xfrm>
          <a:prstGeom prst="rect">
            <a:avLst/>
          </a:prstGeom>
          <a:noFill/>
          <a:ln/>
        </p:spPr>
        <p:txBody>
          <a:bodyPr wrap="square" lIns="0" tIns="0" rIns="0" bIns="0" rtlCol="0" anchor="ctr"/>
          <a:lstStyle/>
          <a:p>
            <a:pPr indent="0" marL="0">
              <a:buNone/>
            </a:pPr>
            <a:r>
              <a:rPr lang="en-US" sz="1050" b="1" dirty="0">
                <a:solidFill>
                  <a:srgbClr val="E8871E"/>
                </a:solidFill>
                <a:latin typeface="Calibri" pitchFamily="34" charset="0"/>
                <a:ea typeface="Calibri" pitchFamily="34" charset="-122"/>
                <a:cs typeface="Calibri" pitchFamily="34" charset="-120"/>
              </a:rPr>
              <a:t>Keep session8_lab — Session 9's MCP tools query this chroma store.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SYNTHESIS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Mapping the local lab to production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417320"/>
            <a:ext cx="5394960" cy="384048"/>
          </a:xfrm>
          <a:prstGeom prst="rect">
            <a:avLst/>
          </a:prstGeom>
          <a:solidFill>
            <a:srgbClr val="232946"/>
          </a:solidFill>
          <a:ln/>
        </p:spPr>
      </p:sp>
      <p:sp>
        <p:nvSpPr>
          <p:cNvPr id="9" name="Text 5"/>
          <p:cNvSpPr/>
          <p:nvPr/>
        </p:nvSpPr>
        <p:spPr>
          <a:xfrm>
            <a:off x="777240" y="1417320"/>
            <a:ext cx="516636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Local mechanism — today's lab</a:t>
            </a:r>
            <a:endParaRPr lang="en-US" sz="1250" dirty="0"/>
          </a:p>
        </p:txBody>
      </p:sp>
      <p:sp>
        <p:nvSpPr>
          <p:cNvPr id="10" name="Shape 6"/>
          <p:cNvSpPr/>
          <p:nvPr/>
        </p:nvSpPr>
        <p:spPr>
          <a:xfrm>
            <a:off x="6108192" y="1417320"/>
            <a:ext cx="5440680" cy="384048"/>
          </a:xfrm>
          <a:prstGeom prst="rect">
            <a:avLst/>
          </a:prstGeom>
          <a:solidFill>
            <a:srgbClr val="E8871E"/>
          </a:solidFill>
          <a:ln/>
        </p:spPr>
      </p:sp>
      <p:sp>
        <p:nvSpPr>
          <p:cNvPr id="11" name="Text 7"/>
          <p:cNvSpPr/>
          <p:nvPr/>
        </p:nvSpPr>
        <p:spPr>
          <a:xfrm>
            <a:off x="6245352" y="1417320"/>
            <a:ext cx="52120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Production counterpart</a:t>
            </a:r>
            <a:endParaRPr lang="en-US" sz="1250" dirty="0"/>
          </a:p>
        </p:txBody>
      </p:sp>
      <p:sp>
        <p:nvSpPr>
          <p:cNvPr id="12" name="Shape 8"/>
          <p:cNvSpPr/>
          <p:nvPr/>
        </p:nvSpPr>
        <p:spPr>
          <a:xfrm>
            <a:off x="640080" y="1819656"/>
            <a:ext cx="5394960" cy="603504"/>
          </a:xfrm>
          <a:prstGeom prst="rect">
            <a:avLst/>
          </a:prstGeom>
          <a:solidFill>
            <a:srgbClr val="EEF2FA"/>
          </a:solidFill>
          <a:ln w="9525">
            <a:solidFill>
              <a:srgbClr val="C9D3E6"/>
            </a:solidFill>
            <a:prstDash val="solid"/>
          </a:ln>
        </p:spPr>
      </p:sp>
      <p:sp>
        <p:nvSpPr>
          <p:cNvPr id="13" name="Text 9"/>
          <p:cNvSpPr/>
          <p:nvPr/>
        </p:nvSpPr>
        <p:spPr>
          <a:xfrm>
            <a:off x="777240" y="1819656"/>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Embedded chromadb over rag/chroma/</a:t>
            </a:r>
            <a:endParaRPr lang="en-US" sz="950" dirty="0"/>
          </a:p>
        </p:txBody>
      </p:sp>
      <p:sp>
        <p:nvSpPr>
          <p:cNvPr id="14" name="Shape 10"/>
          <p:cNvSpPr/>
          <p:nvPr/>
        </p:nvSpPr>
        <p:spPr>
          <a:xfrm>
            <a:off x="6108192" y="1819656"/>
            <a:ext cx="5440680" cy="603504"/>
          </a:xfrm>
          <a:prstGeom prst="rect">
            <a:avLst/>
          </a:prstGeom>
          <a:solidFill>
            <a:srgbClr val="FBF1E3"/>
          </a:solidFill>
          <a:ln w="9525">
            <a:solidFill>
              <a:srgbClr val="C9D3E6"/>
            </a:solidFill>
            <a:prstDash val="solid"/>
          </a:ln>
        </p:spPr>
      </p:sp>
      <p:sp>
        <p:nvSpPr>
          <p:cNvPr id="15" name="Text 11"/>
          <p:cNvSpPr/>
          <p:nvPr/>
        </p:nvSpPr>
        <p:spPr>
          <a:xfrm>
            <a:off x="6245352" y="1819656"/>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 vector DB service shared by replicas: pgvector or a managed vector store</a:t>
            </a:r>
            <a:endParaRPr lang="en-US" sz="1050" dirty="0"/>
          </a:p>
        </p:txBody>
      </p:sp>
      <p:sp>
        <p:nvSpPr>
          <p:cNvPr id="16" name="Shape 12"/>
          <p:cNvSpPr/>
          <p:nvPr/>
        </p:nvSpPr>
        <p:spPr>
          <a:xfrm>
            <a:off x="640080" y="2441448"/>
            <a:ext cx="5394960" cy="603504"/>
          </a:xfrm>
          <a:prstGeom prst="rect">
            <a:avLst/>
          </a:prstGeom>
          <a:solidFill>
            <a:srgbClr val="FFFFFF"/>
          </a:solidFill>
          <a:ln w="9525">
            <a:solidFill>
              <a:srgbClr val="C9D3E6"/>
            </a:solidFill>
            <a:prstDash val="solid"/>
          </a:ln>
        </p:spPr>
      </p:sp>
      <p:sp>
        <p:nvSpPr>
          <p:cNvPr id="17" name="Text 13"/>
          <p:cNvSpPr/>
          <p:nvPr/>
        </p:nvSpPr>
        <p:spPr>
          <a:xfrm>
            <a:off x="777240" y="2441448"/>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Clause-regex chunking in ingest.py</a:t>
            </a:r>
            <a:endParaRPr lang="en-US" sz="950" dirty="0"/>
          </a:p>
        </p:txBody>
      </p:sp>
      <p:sp>
        <p:nvSpPr>
          <p:cNvPr id="18" name="Shape 14"/>
          <p:cNvSpPr/>
          <p:nvPr/>
        </p:nvSpPr>
        <p:spPr>
          <a:xfrm>
            <a:off x="6108192" y="2441448"/>
            <a:ext cx="5440680" cy="603504"/>
          </a:xfrm>
          <a:prstGeom prst="rect">
            <a:avLst/>
          </a:prstGeom>
          <a:solidFill>
            <a:srgbClr val="FFFFFF"/>
          </a:solidFill>
          <a:ln w="9525">
            <a:solidFill>
              <a:srgbClr val="C9D3E6"/>
            </a:solidFill>
            <a:prstDash val="solid"/>
          </a:ln>
        </p:spPr>
      </p:sp>
      <p:sp>
        <p:nvSpPr>
          <p:cNvPr id="19" name="Text 15"/>
          <p:cNvSpPr/>
          <p:nvPr/>
        </p:nvSpPr>
        <p:spPr>
          <a:xfrm>
            <a:off x="6245352" y="2441448"/>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Domain-aware chunking: clauses, procedure steps, table rows — the unit the domain cites</a:t>
            </a:r>
            <a:endParaRPr lang="en-US" sz="1050" dirty="0"/>
          </a:p>
        </p:txBody>
      </p:sp>
      <p:sp>
        <p:nvSpPr>
          <p:cNvPr id="20" name="Shape 16"/>
          <p:cNvSpPr/>
          <p:nvPr/>
        </p:nvSpPr>
        <p:spPr>
          <a:xfrm>
            <a:off x="640080" y="3063240"/>
            <a:ext cx="5394960" cy="603504"/>
          </a:xfrm>
          <a:prstGeom prst="rect">
            <a:avLst/>
          </a:prstGeom>
          <a:solidFill>
            <a:srgbClr val="EEF2FA"/>
          </a:solidFill>
          <a:ln w="9525">
            <a:solidFill>
              <a:srgbClr val="C9D3E6"/>
            </a:solidFill>
            <a:prstDash val="solid"/>
          </a:ln>
        </p:spPr>
      </p:sp>
      <p:sp>
        <p:nvSpPr>
          <p:cNvPr id="21" name="Text 17"/>
          <p:cNvSpPr/>
          <p:nvPr/>
        </p:nvSpPr>
        <p:spPr>
          <a:xfrm>
            <a:off x="777240" y="3063240"/>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Default ONNX MiniLM embeddings (~80 MB)</a:t>
            </a:r>
            <a:endParaRPr lang="en-US" sz="950" dirty="0"/>
          </a:p>
        </p:txBody>
      </p:sp>
      <p:sp>
        <p:nvSpPr>
          <p:cNvPr id="22" name="Shape 18"/>
          <p:cNvSpPr/>
          <p:nvPr/>
        </p:nvSpPr>
        <p:spPr>
          <a:xfrm>
            <a:off x="6108192" y="3063240"/>
            <a:ext cx="5440680" cy="603504"/>
          </a:xfrm>
          <a:prstGeom prst="rect">
            <a:avLst/>
          </a:prstGeom>
          <a:solidFill>
            <a:srgbClr val="FBF1E3"/>
          </a:solidFill>
          <a:ln w="9525">
            <a:solidFill>
              <a:srgbClr val="C9D3E6"/>
            </a:solidFill>
            <a:prstDash val="solid"/>
          </a:ln>
        </p:spPr>
      </p:sp>
      <p:sp>
        <p:nvSpPr>
          <p:cNvPr id="23" name="Text 19"/>
          <p:cNvSpPr/>
          <p:nvPr/>
        </p:nvSpPr>
        <p:spPr>
          <a:xfrm>
            <a:off x="6245352" y="3063240"/>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 pinned embedding-model version; upgrades run as re-embedding migrations</a:t>
            </a:r>
            <a:endParaRPr lang="en-US" sz="1050" dirty="0"/>
          </a:p>
        </p:txBody>
      </p:sp>
      <p:sp>
        <p:nvSpPr>
          <p:cNvPr id="24" name="Shape 20"/>
          <p:cNvSpPr/>
          <p:nvPr/>
        </p:nvSpPr>
        <p:spPr>
          <a:xfrm>
            <a:off x="640080" y="3685032"/>
            <a:ext cx="5394960" cy="603504"/>
          </a:xfrm>
          <a:prstGeom prst="rect">
            <a:avLst/>
          </a:prstGeom>
          <a:solidFill>
            <a:srgbClr val="FFFFFF"/>
          </a:solidFill>
          <a:ln w="9525">
            <a:solidFill>
              <a:srgbClr val="C9D3E6"/>
            </a:solidFill>
            <a:prstDash val="solid"/>
          </a:ln>
        </p:spPr>
      </p:sp>
      <p:sp>
        <p:nvSpPr>
          <p:cNvPr id="25" name="Text 21"/>
          <p:cNvSpPr/>
          <p:nvPr/>
        </p:nvSpPr>
        <p:spPr>
          <a:xfrm>
            <a:off x="777240" y="3685032"/>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CONF_HIGH_MAX / CONF_MEDIUM_MAX constants</a:t>
            </a:r>
            <a:endParaRPr lang="en-US" sz="950" dirty="0"/>
          </a:p>
        </p:txBody>
      </p:sp>
      <p:sp>
        <p:nvSpPr>
          <p:cNvPr id="26" name="Shape 22"/>
          <p:cNvSpPr/>
          <p:nvPr/>
        </p:nvSpPr>
        <p:spPr>
          <a:xfrm>
            <a:off x="6108192" y="3685032"/>
            <a:ext cx="5440680" cy="603504"/>
          </a:xfrm>
          <a:prstGeom prst="rect">
            <a:avLst/>
          </a:prstGeom>
          <a:solidFill>
            <a:srgbClr val="FFFFFF"/>
          </a:solidFill>
          <a:ln w="9525">
            <a:solidFill>
              <a:srgbClr val="C9D3E6"/>
            </a:solidFill>
            <a:prstDash val="solid"/>
          </a:ln>
        </p:spPr>
      </p:sp>
      <p:sp>
        <p:nvSpPr>
          <p:cNvPr id="27" name="Text 23"/>
          <p:cNvSpPr/>
          <p:nvPr/>
        </p:nvSpPr>
        <p:spPr>
          <a:xfrm>
            <a:off x="6245352" y="3685032"/>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Calibrated confidence scoring against labelled sets, monitored for drift</a:t>
            </a:r>
            <a:endParaRPr lang="en-US" sz="1050" dirty="0"/>
          </a:p>
        </p:txBody>
      </p:sp>
      <p:sp>
        <p:nvSpPr>
          <p:cNvPr id="28" name="Shape 24"/>
          <p:cNvSpPr/>
          <p:nvPr/>
        </p:nvSpPr>
        <p:spPr>
          <a:xfrm>
            <a:off x="640080" y="4306824"/>
            <a:ext cx="5394960" cy="603504"/>
          </a:xfrm>
          <a:prstGeom prst="rect">
            <a:avLst/>
          </a:prstGeom>
          <a:solidFill>
            <a:srgbClr val="EEF2FA"/>
          </a:solidFill>
          <a:ln w="9525">
            <a:solidFill>
              <a:srgbClr val="C9D3E6"/>
            </a:solidFill>
            <a:prstDash val="solid"/>
          </a:ln>
        </p:spPr>
      </p:sp>
      <p:sp>
        <p:nvSpPr>
          <p:cNvPr id="29" name="Text 25"/>
          <p:cNvSpPr/>
          <p:nvPr/>
        </p:nvSpPr>
        <p:spPr>
          <a:xfrm>
            <a:off x="777240" y="4306824"/>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NOT_IN_POLICY escape + not_found field</a:t>
            </a:r>
            <a:endParaRPr lang="en-US" sz="950" dirty="0"/>
          </a:p>
        </p:txBody>
      </p:sp>
      <p:sp>
        <p:nvSpPr>
          <p:cNvPr id="30" name="Shape 26"/>
          <p:cNvSpPr/>
          <p:nvPr/>
        </p:nvSpPr>
        <p:spPr>
          <a:xfrm>
            <a:off x="6108192" y="4306824"/>
            <a:ext cx="5440680" cy="603504"/>
          </a:xfrm>
          <a:prstGeom prst="rect">
            <a:avLst/>
          </a:prstGeom>
          <a:solidFill>
            <a:srgbClr val="FBF1E3"/>
          </a:solidFill>
          <a:ln w="9525">
            <a:solidFill>
              <a:srgbClr val="C9D3E6"/>
            </a:solidFill>
            <a:prstDash val="solid"/>
          </a:ln>
        </p:spPr>
      </p:sp>
      <p:sp>
        <p:nvSpPr>
          <p:cNvPr id="31" name="Text 27"/>
          <p:cNvSpPr/>
          <p:nvPr/>
        </p:nvSpPr>
        <p:spPr>
          <a:xfrm>
            <a:off x="6245352" y="4306824"/>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Refusal and grounding policy enforced by guardrails + evals (Session 10)</a:t>
            </a:r>
            <a:endParaRPr lang="en-US" sz="1050" dirty="0"/>
          </a:p>
        </p:txBody>
      </p:sp>
      <p:sp>
        <p:nvSpPr>
          <p:cNvPr id="32" name="Shape 28"/>
          <p:cNvSpPr/>
          <p:nvPr/>
        </p:nvSpPr>
        <p:spPr>
          <a:xfrm>
            <a:off x="640080" y="4928616"/>
            <a:ext cx="5394960" cy="603504"/>
          </a:xfrm>
          <a:prstGeom prst="rect">
            <a:avLst/>
          </a:prstGeom>
          <a:solidFill>
            <a:srgbClr val="FFFFFF"/>
          </a:solidFill>
          <a:ln w="9525">
            <a:solidFill>
              <a:srgbClr val="C9D3E6"/>
            </a:solidFill>
            <a:prstDash val="solid"/>
          </a:ln>
        </p:spPr>
      </p:sp>
      <p:sp>
        <p:nvSpPr>
          <p:cNvPr id="33" name="Text 29"/>
          <p:cNvSpPr/>
          <p:nvPr/>
        </p:nvSpPr>
        <p:spPr>
          <a:xfrm>
            <a:off x="777240" y="4928616"/>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/intake with the text-sidecar fallback</a:t>
            </a:r>
            <a:endParaRPr lang="en-US" sz="950" dirty="0"/>
          </a:p>
        </p:txBody>
      </p:sp>
      <p:sp>
        <p:nvSpPr>
          <p:cNvPr id="34" name="Shape 30"/>
          <p:cNvSpPr/>
          <p:nvPr/>
        </p:nvSpPr>
        <p:spPr>
          <a:xfrm>
            <a:off x="6108192" y="4928616"/>
            <a:ext cx="5440680" cy="603504"/>
          </a:xfrm>
          <a:prstGeom prst="rect">
            <a:avLst/>
          </a:prstGeom>
          <a:solidFill>
            <a:srgbClr val="FFFFFF"/>
          </a:solidFill>
          <a:ln w="9525">
            <a:solidFill>
              <a:srgbClr val="C9D3E6"/>
            </a:solidFill>
            <a:prstDash val="solid"/>
          </a:ln>
        </p:spPr>
      </p:sp>
      <p:sp>
        <p:nvSpPr>
          <p:cNvPr id="35" name="Text 31"/>
          <p:cNvSpPr/>
          <p:nvPr/>
        </p:nvSpPr>
        <p:spPr>
          <a:xfrm>
            <a:off x="6245352" y="4928616"/>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Document-AI pipelines: OCR/vision extraction, schema validation, human review queues</a:t>
            </a:r>
            <a:endParaRPr lang="en-US" sz="1050" dirty="0"/>
          </a:p>
        </p:txBody>
      </p:sp>
      <p:sp>
        <p:nvSpPr>
          <p:cNvPr id="36" name="Text 32"/>
          <p:cNvSpPr/>
          <p:nvPr/>
        </p:nvSpPr>
        <p:spPr>
          <a:xfrm>
            <a:off x="640080" y="598932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The pipeline shape, the citation contract and the honesty state transfer unchanged; only the infrastructure hardens.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DELIVERABLES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Evidence to submit at the end of the session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54480"/>
            <a:ext cx="534924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68680" y="1783080"/>
            <a:ext cx="548640" cy="548640"/>
          </a:xfrm>
          <a:prstGeom prst="ellipse">
            <a:avLst/>
          </a:prstGeom>
          <a:solidFill>
            <a:srgbClr val="E8871E"/>
          </a:solidFill>
          <a:ln/>
        </p:spPr>
      </p:sp>
      <p:sp>
        <p:nvSpPr>
          <p:cNvPr id="10" name="Text 6"/>
          <p:cNvSpPr/>
          <p:nvPr/>
        </p:nvSpPr>
        <p:spPr>
          <a:xfrm>
            <a:off x="868680" y="1783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1" name="Text 7"/>
          <p:cNvSpPr/>
          <p:nvPr/>
        </p:nvSpPr>
        <p:spPr>
          <a:xfrm>
            <a:off x="1600200" y="184708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Cited answer</a:t>
            </a:r>
            <a:endParaRPr lang="en-US" sz="1450" dirty="0"/>
          </a:p>
        </p:txBody>
      </p:sp>
      <p:sp>
        <p:nvSpPr>
          <p:cNvPr id="12" name="Text 8"/>
          <p:cNvSpPr/>
          <p:nvPr/>
        </p:nvSpPr>
        <p:spPr>
          <a:xfrm>
            <a:off x="868680" y="246888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Screenshot or JSON of the CLM-1003 answer citing [M-2.3], with the citations array showing clause_id, doc and snippet (Steps 2/5).</a:t>
            </a:r>
            <a:endParaRPr lang="en-US" sz="1100" dirty="0"/>
          </a:p>
        </p:txBody>
      </p:sp>
      <p:sp>
        <p:nvSpPr>
          <p:cNvPr id="13" name="Shape 9"/>
          <p:cNvSpPr/>
          <p:nvPr/>
        </p:nvSpPr>
        <p:spPr>
          <a:xfrm>
            <a:off x="6217920" y="1554480"/>
            <a:ext cx="5349240" cy="2011680"/>
          </a:xfrm>
          <a:prstGeom prst="roundRect">
            <a:avLst>
              <a:gd name="adj" fmla="val 4091"/>
            </a:avLst>
          </a:prstGeom>
          <a:solidFill>
            <a:srgbClr val="DDE6F5"/>
          </a:solidFill>
          <a:ln/>
          <a:effectLst>
            <a:outerShdw sx="100000" sy="100000" kx="0" ky="0" algn="bl" rotWithShape="0" blurRad="76200" dist="25400" dir="5400000">
              <a:srgbClr val="9AA4B8">
                <a:alpha val="35000"/>
              </a:srgbClr>
            </a:outerShdw>
          </a:effectLst>
        </p:spPr>
      </p:sp>
      <p:sp>
        <p:nvSpPr>
          <p:cNvPr id="14" name="Shape 10"/>
          <p:cNvSpPr/>
          <p:nvPr/>
        </p:nvSpPr>
        <p:spPr>
          <a:xfrm>
            <a:off x="6446520" y="1783080"/>
            <a:ext cx="548640" cy="548640"/>
          </a:xfrm>
          <a:prstGeom prst="ellipse">
            <a:avLst/>
          </a:prstGeom>
          <a:solidFill>
            <a:srgbClr val="E8871E"/>
          </a:solidFill>
          <a:ln/>
        </p:spPr>
      </p:sp>
      <p:sp>
        <p:nvSpPr>
          <p:cNvPr id="15" name="Text 11"/>
          <p:cNvSpPr/>
          <p:nvPr/>
        </p:nvSpPr>
        <p:spPr>
          <a:xfrm>
            <a:off x="6446520" y="1783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6" name="Text 12"/>
          <p:cNvSpPr/>
          <p:nvPr/>
        </p:nvSpPr>
        <p:spPr>
          <a:xfrm>
            <a:off x="7178040" y="184708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NOT_IN_POLICY proof</a:t>
            </a:r>
            <a:endParaRPr lang="en-US" sz="1450" dirty="0"/>
          </a:p>
        </p:txBody>
      </p:sp>
      <p:sp>
        <p:nvSpPr>
          <p:cNvPr id="17" name="Text 13"/>
          <p:cNvSpPr/>
          <p:nvPr/>
        </p:nvSpPr>
        <p:spPr>
          <a:xfrm>
            <a:off x="6446520" y="246888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pet-insurance response JSON: fixed honest answer, empty citations, confidence low, not_found true (Step 3).</a:t>
            </a:r>
            <a:endParaRPr lang="en-US" sz="1100" dirty="0"/>
          </a:p>
        </p:txBody>
      </p:sp>
      <p:sp>
        <p:nvSpPr>
          <p:cNvPr id="18" name="Shape 14"/>
          <p:cNvSpPr/>
          <p:nvPr/>
        </p:nvSpPr>
        <p:spPr>
          <a:xfrm>
            <a:off x="640080" y="3794760"/>
            <a:ext cx="534924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19" name="Shape 15"/>
          <p:cNvSpPr/>
          <p:nvPr/>
        </p:nvSpPr>
        <p:spPr>
          <a:xfrm>
            <a:off x="868680" y="4023360"/>
            <a:ext cx="548640" cy="548640"/>
          </a:xfrm>
          <a:prstGeom prst="ellipse">
            <a:avLst/>
          </a:prstGeom>
          <a:solidFill>
            <a:srgbClr val="E8871E"/>
          </a:solidFill>
          <a:ln/>
        </p:spPr>
      </p:sp>
      <p:sp>
        <p:nvSpPr>
          <p:cNvPr id="20" name="Text 16"/>
          <p:cNvSpPr/>
          <p:nvPr/>
        </p:nvSpPr>
        <p:spPr>
          <a:xfrm>
            <a:off x="868680" y="4023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1" name="Text 17"/>
          <p:cNvSpPr/>
          <p:nvPr/>
        </p:nvSpPr>
        <p:spPr>
          <a:xfrm>
            <a:off x="1600200" y="408736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Intake extraction</a:t>
            </a:r>
            <a:endParaRPr lang="en-US" sz="1450" dirty="0"/>
          </a:p>
        </p:txBody>
      </p:sp>
      <p:sp>
        <p:nvSpPr>
          <p:cNvPr id="22" name="Text 18"/>
          <p:cNvSpPr/>
          <p:nvPr/>
        </p:nvSpPr>
        <p:spPr>
          <a:xfrm>
            <a:off x="868680" y="470916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IntakeResult JSON for one sample document — local_text_fallback or vision_model — with the path named (Step 5).</a:t>
            </a:r>
            <a:endParaRPr lang="en-US" sz="1100" dirty="0"/>
          </a:p>
        </p:txBody>
      </p:sp>
      <p:sp>
        <p:nvSpPr>
          <p:cNvPr id="23" name="Shape 19"/>
          <p:cNvSpPr/>
          <p:nvPr/>
        </p:nvSpPr>
        <p:spPr>
          <a:xfrm>
            <a:off x="6217920" y="3794760"/>
            <a:ext cx="5349240" cy="2011680"/>
          </a:xfrm>
          <a:prstGeom prst="roundRect">
            <a:avLst>
              <a:gd name="adj" fmla="val 4091"/>
            </a:avLst>
          </a:prstGeom>
          <a:solidFill>
            <a:srgbClr val="DDE6F5"/>
          </a:solidFill>
          <a:ln/>
          <a:effectLst>
            <a:outerShdw sx="100000" sy="100000" kx="0" ky="0" algn="bl" rotWithShape="0" blurRad="76200" dist="25400" dir="5400000">
              <a:srgbClr val="9AA4B8">
                <a:alpha val="35000"/>
              </a:srgbClr>
            </a:outerShdw>
          </a:effectLst>
        </p:spPr>
      </p:sp>
      <p:sp>
        <p:nvSpPr>
          <p:cNvPr id="24" name="Shape 20"/>
          <p:cNvSpPr/>
          <p:nvPr/>
        </p:nvSpPr>
        <p:spPr>
          <a:xfrm>
            <a:off x="6446520" y="4023360"/>
            <a:ext cx="548640" cy="548640"/>
          </a:xfrm>
          <a:prstGeom prst="ellipse">
            <a:avLst/>
          </a:prstGeom>
          <a:solidFill>
            <a:srgbClr val="E8871E"/>
          </a:solidFill>
          <a:ln/>
        </p:spPr>
      </p:sp>
      <p:sp>
        <p:nvSpPr>
          <p:cNvPr id="25" name="Text 21"/>
          <p:cNvSpPr/>
          <p:nvPr/>
        </p:nvSpPr>
        <p:spPr>
          <a:xfrm>
            <a:off x="6446520" y="4023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6" name="Text 22"/>
          <p:cNvSpPr/>
          <p:nvPr/>
        </p:nvSpPr>
        <p:spPr>
          <a:xfrm>
            <a:off x="7178040" y="408736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Written answer</a:t>
            </a:r>
            <a:endParaRPr lang="en-US" sz="1450" dirty="0"/>
          </a:p>
        </p:txBody>
      </p:sp>
      <p:sp>
        <p:nvSpPr>
          <p:cNvPr id="27" name="Text 23"/>
          <p:cNvSpPr/>
          <p:nvPr/>
        </p:nvSpPr>
        <p:spPr>
          <a:xfrm>
            <a:off x="6446520" y="470916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One paragraph: what does chunking by clause buy over fixed-size chunks for policy documents — and what breaks when a clause outgrows the context budget?</a:t>
            </a:r>
            <a:endParaRPr lang="en-US" sz="1100" dirty="0"/>
          </a:p>
        </p:txBody>
      </p:sp>
      <p:sp>
        <p:nvSpPr>
          <p:cNvPr id="28" name="Text 24"/>
          <p:cNvSpPr/>
          <p:nvPr/>
        </p:nvSpPr>
        <p:spPr>
          <a:xfrm>
            <a:off x="640080" y="594360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Submission closes the lab block; the review compares cited answers and the chunking write-ups across pairs.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PITFALLS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Common failure modes in RAG-backed product features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2.B · Session 8 — Multimodal &amp; RAG Features</a:t>
            </a:r>
            <a:endParaRPr lang="en-US" sz="900" dirty="0"/>
          </a:p>
        </p:txBody>
      </p:sp>
      <p:sp>
        <p:nvSpPr>
          <p:cNvPr id="8" name="Shape 4"/>
          <p:cNvSpPr/>
          <p:nvPr/>
        </p:nvSpPr>
        <p:spPr>
          <a:xfrm>
            <a:off x="640080" y="1508760"/>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9" name="Shape 5"/>
          <p:cNvSpPr/>
          <p:nvPr/>
        </p:nvSpPr>
        <p:spPr>
          <a:xfrm>
            <a:off x="841248" y="1691640"/>
            <a:ext cx="384048" cy="384048"/>
          </a:xfrm>
          <a:prstGeom prst="ellipse">
            <a:avLst/>
          </a:prstGeom>
          <a:solidFill>
            <a:srgbClr val="B3402A"/>
          </a:solidFill>
          <a:ln/>
        </p:spPr>
      </p:sp>
      <p:pic>
        <p:nvPicPr>
          <p:cNvPr id="10" name="Image 1" descr="preencoded.png">    </p:cNvPr>
          <p:cNvPicPr>
            <a:picLocks noChangeAspect="1"/>
          </p:cNvPicPr>
          <p:nvPr/>
        </p:nvPicPr>
        <p:blipFill>
          <a:blip r:embed="rId2"/>
          <a:stretch>
            <a:fillRect/>
          </a:stretch>
        </p:blipFill>
        <p:spPr>
          <a:xfrm>
            <a:off x="941100" y="1791492"/>
            <a:ext cx="184343" cy="184343"/>
          </a:xfrm>
          <a:prstGeom prst="rect">
            <a:avLst/>
          </a:prstGeom>
        </p:spPr>
      </p:pic>
      <p:sp>
        <p:nvSpPr>
          <p:cNvPr id="11" name="Text 6"/>
          <p:cNvSpPr/>
          <p:nvPr/>
        </p:nvSpPr>
        <p:spPr>
          <a:xfrm>
            <a:off x="1371600" y="1636776"/>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Chunks too large or too small</a:t>
            </a:r>
            <a:endParaRPr lang="en-US" sz="1250" dirty="0"/>
          </a:p>
        </p:txBody>
      </p:sp>
      <p:sp>
        <p:nvSpPr>
          <p:cNvPr id="12" name="Text 7"/>
          <p:cNvSpPr/>
          <p:nvPr/>
        </p:nvSpPr>
        <p:spPr>
          <a:xfrm>
            <a:off x="1371600" y="2011680"/>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Oversized chunks retrieve noise and blur citations; undersized ones strip the context that makes a clause answerable. Chunk by the domain's semantic unit — today, the clause.</a:t>
            </a:r>
            <a:endParaRPr lang="en-US" sz="1000" dirty="0"/>
          </a:p>
        </p:txBody>
      </p:sp>
      <p:sp>
        <p:nvSpPr>
          <p:cNvPr id="13" name="Shape 8"/>
          <p:cNvSpPr/>
          <p:nvPr/>
        </p:nvSpPr>
        <p:spPr>
          <a:xfrm>
            <a:off x="6217920" y="1508760"/>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14" name="Shape 9"/>
          <p:cNvSpPr/>
          <p:nvPr/>
        </p:nvSpPr>
        <p:spPr>
          <a:xfrm>
            <a:off x="6419088" y="1691640"/>
            <a:ext cx="384048" cy="384048"/>
          </a:xfrm>
          <a:prstGeom prst="ellipse">
            <a:avLst/>
          </a:prstGeom>
          <a:solidFill>
            <a:srgbClr val="B3402A"/>
          </a:solidFill>
          <a:ln/>
        </p:spPr>
      </p:sp>
      <p:pic>
        <p:nvPicPr>
          <p:cNvPr id="15" name="Image 2" descr="preencoded.png">    </p:cNvPr>
          <p:cNvPicPr>
            <a:picLocks noChangeAspect="1"/>
          </p:cNvPicPr>
          <p:nvPr/>
        </p:nvPicPr>
        <p:blipFill>
          <a:blip r:embed="rId3"/>
          <a:stretch>
            <a:fillRect/>
          </a:stretch>
        </p:blipFill>
        <p:spPr>
          <a:xfrm>
            <a:off x="6518940" y="1791492"/>
            <a:ext cx="184343" cy="184343"/>
          </a:xfrm>
          <a:prstGeom prst="rect">
            <a:avLst/>
          </a:prstGeom>
        </p:spPr>
      </p:pic>
      <p:sp>
        <p:nvSpPr>
          <p:cNvPr id="16" name="Text 10"/>
          <p:cNvSpPr/>
          <p:nvPr/>
        </p:nvSpPr>
        <p:spPr>
          <a:xfrm>
            <a:off x="6949440" y="1636776"/>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Answers without citations</a:t>
            </a:r>
            <a:endParaRPr lang="en-US" sz="1250" dirty="0"/>
          </a:p>
        </p:txBody>
      </p:sp>
      <p:sp>
        <p:nvSpPr>
          <p:cNvPr id="17" name="Text 11"/>
          <p:cNvSpPr/>
          <p:nvPr/>
        </p:nvSpPr>
        <p:spPr>
          <a:xfrm>
            <a:off x="6949440" y="2011680"/>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An uncited RAG answer is an unverifiable assertion with better vocabulary. Citations are schema fields, extracted and verified server-side — and asserted in CI.</a:t>
            </a:r>
            <a:endParaRPr lang="en-US" sz="1000" dirty="0"/>
          </a:p>
        </p:txBody>
      </p:sp>
      <p:sp>
        <p:nvSpPr>
          <p:cNvPr id="18" name="Shape 12"/>
          <p:cNvSpPr/>
          <p:nvPr/>
        </p:nvSpPr>
        <p:spPr>
          <a:xfrm>
            <a:off x="640080" y="3044952"/>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19" name="Shape 13"/>
          <p:cNvSpPr/>
          <p:nvPr/>
        </p:nvSpPr>
        <p:spPr>
          <a:xfrm>
            <a:off x="841248" y="3227832"/>
            <a:ext cx="384048" cy="384048"/>
          </a:xfrm>
          <a:prstGeom prst="ellipse">
            <a:avLst/>
          </a:prstGeom>
          <a:solidFill>
            <a:srgbClr val="B3402A"/>
          </a:solidFill>
          <a:ln/>
        </p:spPr>
      </p:sp>
      <p:pic>
        <p:nvPicPr>
          <p:cNvPr id="20" name="Image 3" descr="preencoded.png">    </p:cNvPr>
          <p:cNvPicPr>
            <a:picLocks noChangeAspect="1"/>
          </p:cNvPicPr>
          <p:nvPr/>
        </p:nvPicPr>
        <p:blipFill>
          <a:blip r:embed="rId4"/>
          <a:stretch>
            <a:fillRect/>
          </a:stretch>
        </p:blipFill>
        <p:spPr>
          <a:xfrm>
            <a:off x="941100" y="3327684"/>
            <a:ext cx="184343" cy="184343"/>
          </a:xfrm>
          <a:prstGeom prst="rect">
            <a:avLst/>
          </a:prstGeom>
        </p:spPr>
      </p:pic>
      <p:sp>
        <p:nvSpPr>
          <p:cNvPr id="21" name="Text 14"/>
          <p:cNvSpPr/>
          <p:nvPr/>
        </p:nvSpPr>
        <p:spPr>
          <a:xfrm>
            <a:off x="1371600" y="3172968"/>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Dumping all retrieved text</a:t>
            </a:r>
            <a:endParaRPr lang="en-US" sz="1250" dirty="0"/>
          </a:p>
        </p:txBody>
      </p:sp>
      <p:sp>
        <p:nvSpPr>
          <p:cNvPr id="22" name="Text 15"/>
          <p:cNvSpPr/>
          <p:nvPr/>
        </p:nvSpPr>
        <p:spPr>
          <a:xfrm>
            <a:off x="1371600" y="3547872"/>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Returning every retrieved chunk regardless of relevance buries users in policy prose. Retrieve wide (top-4), answer narrowly, cite only what was used.</a:t>
            </a:r>
            <a:endParaRPr lang="en-US" sz="1000" dirty="0"/>
          </a:p>
        </p:txBody>
      </p:sp>
      <p:sp>
        <p:nvSpPr>
          <p:cNvPr id="23" name="Shape 16"/>
          <p:cNvSpPr/>
          <p:nvPr/>
        </p:nvSpPr>
        <p:spPr>
          <a:xfrm>
            <a:off x="6217920" y="3044952"/>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24" name="Shape 17"/>
          <p:cNvSpPr/>
          <p:nvPr/>
        </p:nvSpPr>
        <p:spPr>
          <a:xfrm>
            <a:off x="6419088" y="3227832"/>
            <a:ext cx="384048" cy="384048"/>
          </a:xfrm>
          <a:prstGeom prst="ellipse">
            <a:avLst/>
          </a:prstGeom>
          <a:solidFill>
            <a:srgbClr val="B3402A"/>
          </a:solidFill>
          <a:ln/>
        </p:spPr>
      </p:sp>
      <p:pic>
        <p:nvPicPr>
          <p:cNvPr id="25" name="Image 4" descr="preencoded.png">    </p:cNvPr>
          <p:cNvPicPr>
            <a:picLocks noChangeAspect="1"/>
          </p:cNvPicPr>
          <p:nvPr/>
        </p:nvPicPr>
        <p:blipFill>
          <a:blip r:embed="rId5"/>
          <a:stretch>
            <a:fillRect/>
          </a:stretch>
        </p:blipFill>
        <p:spPr>
          <a:xfrm>
            <a:off x="6518940" y="3327684"/>
            <a:ext cx="184343" cy="184343"/>
          </a:xfrm>
          <a:prstGeom prst="rect">
            <a:avLst/>
          </a:prstGeom>
        </p:spPr>
      </p:pic>
      <p:sp>
        <p:nvSpPr>
          <p:cNvPr id="26" name="Text 18"/>
          <p:cNvSpPr/>
          <p:nvPr/>
        </p:nvSpPr>
        <p:spPr>
          <a:xfrm>
            <a:off x="6949440" y="3172968"/>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Uncalibrated, always-high confidence</a:t>
            </a:r>
            <a:endParaRPr lang="en-US" sz="1250" dirty="0"/>
          </a:p>
        </p:txBody>
      </p:sp>
      <p:sp>
        <p:nvSpPr>
          <p:cNvPr id="27" name="Text 19"/>
          <p:cNvSpPr/>
          <p:nvPr/>
        </p:nvSpPr>
        <p:spPr>
          <a:xfrm>
            <a:off x="6949440" y="3547872"/>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 confidence badge that always reads high trains users to ignore it. Derive it from retrieval evidence and calibrate against labelled questions.</a:t>
            </a:r>
            <a:endParaRPr lang="en-US" sz="1000" dirty="0"/>
          </a:p>
        </p:txBody>
      </p:sp>
      <p:sp>
        <p:nvSpPr>
          <p:cNvPr id="28" name="Shape 20"/>
          <p:cNvSpPr/>
          <p:nvPr/>
        </p:nvSpPr>
        <p:spPr>
          <a:xfrm>
            <a:off x="640080" y="4581144"/>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29" name="Shape 21"/>
          <p:cNvSpPr/>
          <p:nvPr/>
        </p:nvSpPr>
        <p:spPr>
          <a:xfrm>
            <a:off x="841248" y="4764024"/>
            <a:ext cx="384048" cy="384048"/>
          </a:xfrm>
          <a:prstGeom prst="ellipse">
            <a:avLst/>
          </a:prstGeom>
          <a:solidFill>
            <a:srgbClr val="B3402A"/>
          </a:solidFill>
          <a:ln/>
        </p:spPr>
      </p:sp>
      <p:pic>
        <p:nvPicPr>
          <p:cNvPr id="30" name="Image 5" descr="preencoded.png">    </p:cNvPr>
          <p:cNvPicPr>
            <a:picLocks noChangeAspect="1"/>
          </p:cNvPicPr>
          <p:nvPr/>
        </p:nvPicPr>
        <p:blipFill>
          <a:blip r:embed="rId6"/>
          <a:stretch>
            <a:fillRect/>
          </a:stretch>
        </p:blipFill>
        <p:spPr>
          <a:xfrm>
            <a:off x="941100" y="4863876"/>
            <a:ext cx="184343" cy="184343"/>
          </a:xfrm>
          <a:prstGeom prst="rect">
            <a:avLst/>
          </a:prstGeom>
        </p:spPr>
      </p:pic>
      <p:sp>
        <p:nvSpPr>
          <p:cNvPr id="31" name="Text 22"/>
          <p:cNvSpPr/>
          <p:nvPr/>
        </p:nvSpPr>
        <p:spPr>
          <a:xfrm>
            <a:off x="1371600" y="4709160"/>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Answering out-of-corpus from memory</a:t>
            </a:r>
            <a:endParaRPr lang="en-US" sz="1250" dirty="0"/>
          </a:p>
        </p:txBody>
      </p:sp>
      <p:sp>
        <p:nvSpPr>
          <p:cNvPr id="32" name="Text 23"/>
          <p:cNvSpPr/>
          <p:nvPr/>
        </p:nvSpPr>
        <p:spPr>
          <a:xfrm>
            <a:off x="1371600" y="5084064"/>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Without an explicit escape hatch the model fills gaps from training data — fluently. NOT_IN_POLICY plus the not_found field close the path; an eval keeps it closed.</a:t>
            </a:r>
            <a:endParaRPr lang="en-US" sz="1000" dirty="0"/>
          </a:p>
        </p:txBody>
      </p:sp>
      <p:sp>
        <p:nvSpPr>
          <p:cNvPr id="33" name="Shape 24"/>
          <p:cNvSpPr/>
          <p:nvPr/>
        </p:nvSpPr>
        <p:spPr>
          <a:xfrm>
            <a:off x="6217920" y="4581144"/>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34" name="Shape 25"/>
          <p:cNvSpPr/>
          <p:nvPr/>
        </p:nvSpPr>
        <p:spPr>
          <a:xfrm>
            <a:off x="6419088" y="4764024"/>
            <a:ext cx="384048" cy="384048"/>
          </a:xfrm>
          <a:prstGeom prst="ellipse">
            <a:avLst/>
          </a:prstGeom>
          <a:solidFill>
            <a:srgbClr val="B3402A"/>
          </a:solidFill>
          <a:ln/>
        </p:spPr>
      </p:sp>
      <p:pic>
        <p:nvPicPr>
          <p:cNvPr id="35" name="Image 6" descr="preencoded.png">    </p:cNvPr>
          <p:cNvPicPr>
            <a:picLocks noChangeAspect="1"/>
          </p:cNvPicPr>
          <p:nvPr/>
        </p:nvPicPr>
        <p:blipFill>
          <a:blip r:embed="rId7"/>
          <a:stretch>
            <a:fillRect/>
          </a:stretch>
        </p:blipFill>
        <p:spPr>
          <a:xfrm>
            <a:off x="6518940" y="4863876"/>
            <a:ext cx="184343" cy="184343"/>
          </a:xfrm>
          <a:prstGeom prst="rect">
            <a:avLst/>
          </a:prstGeom>
        </p:spPr>
      </p:pic>
      <p:sp>
        <p:nvSpPr>
          <p:cNvPr id="36" name="Text 26"/>
          <p:cNvSpPr/>
          <p:nvPr/>
        </p:nvSpPr>
        <p:spPr>
          <a:xfrm>
            <a:off x="6949440" y="4709160"/>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Skipping faithfulness evals</a:t>
            </a:r>
            <a:endParaRPr lang="en-US" sz="1250" dirty="0"/>
          </a:p>
        </p:txBody>
      </p:sp>
      <p:sp>
        <p:nvSpPr>
          <p:cNvPr id="37" name="Text 27"/>
          <p:cNvSpPr/>
          <p:nvPr/>
        </p:nvSpPr>
        <p:spPr>
          <a:xfrm>
            <a:off x="6949440" y="5084064"/>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Prompt, chunking and model changes can each silently break grounding. Known-clause and out-of-corpus assertions in the CI gate catch it before merge.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10058400" y="-1463040"/>
            <a:ext cx="4206240" cy="4206240"/>
          </a:xfrm>
          <a:prstGeom prst="ellipse">
            <a:avLst/>
          </a:prstGeom>
          <a:solidFill>
            <a:srgbClr val="2E3554"/>
          </a:solidFill>
          <a:ln/>
        </p:spPr>
      </p:sp>
      <p:sp>
        <p:nvSpPr>
          <p:cNvPr id="3" name="Shape 1"/>
          <p:cNvSpPr/>
          <p:nvPr/>
        </p:nvSpPr>
        <p:spPr>
          <a:xfrm>
            <a:off x="685800" y="502920"/>
            <a:ext cx="640080" cy="640080"/>
          </a:xfrm>
          <a:prstGeom prst="ellipse">
            <a:avLst/>
          </a:prstGeom>
          <a:solidFill>
            <a:srgbClr val="E8871E"/>
          </a:solidFill>
          <a:ln/>
        </p:spPr>
      </p:sp>
      <p:pic>
        <p:nvPicPr>
          <p:cNvPr id="4" name="Image 0" descr="preencoded.png">    </p:cNvPr>
          <p:cNvPicPr>
            <a:picLocks noChangeAspect="1"/>
          </p:cNvPicPr>
          <p:nvPr/>
        </p:nvPicPr>
        <p:blipFill>
          <a:blip r:embed="rId1"/>
          <a:stretch>
            <a:fillRect/>
          </a:stretch>
        </p:blipFill>
        <p:spPr>
          <a:xfrm>
            <a:off x="852221" y="669341"/>
            <a:ext cx="307238" cy="307238"/>
          </a:xfrm>
          <a:prstGeom prst="rect">
            <a:avLst/>
          </a:prstGeom>
        </p:spPr>
      </p:pic>
      <p:sp>
        <p:nvSpPr>
          <p:cNvPr id="5" name="Text 2"/>
          <p:cNvSpPr/>
          <p:nvPr/>
        </p:nvSpPr>
        <p:spPr>
          <a:xfrm>
            <a:off x="1554480" y="566928"/>
            <a:ext cx="7315200" cy="320040"/>
          </a:xfrm>
          <a:prstGeom prst="rect">
            <a:avLst/>
          </a:prstGeom>
          <a:noFill/>
          <a:ln/>
        </p:spPr>
        <p:txBody>
          <a:bodyPr wrap="square" lIns="0" tIns="0" rIns="0" bIns="0" rtlCol="0" anchor="ctr"/>
          <a:lstStyle/>
          <a:p>
            <a:pPr indent="0" marL="0">
              <a:buNone/>
            </a:pPr>
            <a:r>
              <a:rPr lang="en-US" sz="1200" b="1" spc="200" kern="0" dirty="0">
                <a:solidFill>
                  <a:srgbClr val="E8871E"/>
                </a:solidFill>
                <a:latin typeface="Arial" pitchFamily="34" charset="0"/>
                <a:ea typeface="Arial" pitchFamily="34" charset="-122"/>
                <a:cs typeface="Arial" pitchFamily="34" charset="-120"/>
              </a:rPr>
              <a:t>SESSION 8 · RECAP</a:t>
            </a:r>
            <a:endParaRPr lang="en-US" sz="1200" dirty="0"/>
          </a:p>
        </p:txBody>
      </p:sp>
      <p:sp>
        <p:nvSpPr>
          <p:cNvPr id="6" name="Text 3"/>
          <p:cNvSpPr/>
          <p:nvPr/>
        </p:nvSpPr>
        <p:spPr>
          <a:xfrm>
            <a:off x="1536192" y="8229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Capabilities established today</a:t>
            </a:r>
            <a:endParaRPr lang="en-US" sz="2600" dirty="0"/>
          </a:p>
        </p:txBody>
      </p:sp>
      <p:sp>
        <p:nvSpPr>
          <p:cNvPr id="7" name="Shape 4"/>
          <p:cNvSpPr/>
          <p:nvPr/>
        </p:nvSpPr>
        <p:spPr>
          <a:xfrm>
            <a:off x="685800" y="1691640"/>
            <a:ext cx="7040880" cy="676656"/>
          </a:xfrm>
          <a:prstGeom prst="roundRect">
            <a:avLst>
              <a:gd name="adj" fmla="val 10811"/>
            </a:avLst>
          </a:prstGeom>
          <a:solidFill>
            <a:srgbClr val="2E3554"/>
          </a:solidFill>
          <a:ln/>
        </p:spPr>
      </p:sp>
      <p:pic>
        <p:nvPicPr>
          <p:cNvPr id="8" name="Image 1" descr="preencoded.png">    </p:cNvPr>
          <p:cNvPicPr>
            <a:picLocks noChangeAspect="1"/>
          </p:cNvPicPr>
          <p:nvPr/>
        </p:nvPicPr>
        <p:blipFill>
          <a:blip r:embed="rId2"/>
          <a:stretch>
            <a:fillRect/>
          </a:stretch>
        </p:blipFill>
        <p:spPr>
          <a:xfrm>
            <a:off x="914400" y="1892808"/>
            <a:ext cx="274320" cy="274320"/>
          </a:xfrm>
          <a:prstGeom prst="rect">
            <a:avLst/>
          </a:prstGeom>
        </p:spPr>
      </p:pic>
      <p:sp>
        <p:nvSpPr>
          <p:cNvPr id="9" name="Text 5"/>
          <p:cNvSpPr/>
          <p:nvPr/>
        </p:nvSpPr>
        <p:spPr>
          <a:xfrm>
            <a:off x="1371600" y="1691640"/>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Chunk by meaning</a:t>
            </a:r>
            <a:endParaRPr lang="en-US" sz="1300" dirty="0"/>
          </a:p>
        </p:txBody>
      </p:sp>
      <p:sp>
        <p:nvSpPr>
          <p:cNvPr id="10" name="Text 6"/>
          <p:cNvSpPr/>
          <p:nvPr/>
        </p:nvSpPr>
        <p:spPr>
          <a:xfrm>
            <a:off x="3703320" y="1691640"/>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Policy documents split by clause — the chunk id IS the citation unit, rebuilt idempotently.</a:t>
            </a:r>
            <a:endParaRPr lang="en-US" sz="1050" dirty="0"/>
          </a:p>
        </p:txBody>
      </p:sp>
      <p:sp>
        <p:nvSpPr>
          <p:cNvPr id="11" name="Shape 7"/>
          <p:cNvSpPr/>
          <p:nvPr/>
        </p:nvSpPr>
        <p:spPr>
          <a:xfrm>
            <a:off x="685800" y="2496312"/>
            <a:ext cx="7040880" cy="676656"/>
          </a:xfrm>
          <a:prstGeom prst="roundRect">
            <a:avLst>
              <a:gd name="adj" fmla="val 10811"/>
            </a:avLst>
          </a:prstGeom>
          <a:solidFill>
            <a:srgbClr val="2E3554"/>
          </a:solidFill>
          <a:ln/>
        </p:spPr>
      </p:sp>
      <p:pic>
        <p:nvPicPr>
          <p:cNvPr id="12" name="Image 2" descr="preencoded.png">    </p:cNvPr>
          <p:cNvPicPr>
            <a:picLocks noChangeAspect="1"/>
          </p:cNvPicPr>
          <p:nvPr/>
        </p:nvPicPr>
        <p:blipFill>
          <a:blip r:embed="rId3"/>
          <a:stretch>
            <a:fillRect/>
          </a:stretch>
        </p:blipFill>
        <p:spPr>
          <a:xfrm>
            <a:off x="914400" y="2697480"/>
            <a:ext cx="274320" cy="274320"/>
          </a:xfrm>
          <a:prstGeom prst="rect">
            <a:avLst/>
          </a:prstGeom>
        </p:spPr>
      </p:pic>
      <p:sp>
        <p:nvSpPr>
          <p:cNvPr id="13" name="Text 8"/>
          <p:cNvSpPr/>
          <p:nvPr/>
        </p:nvSpPr>
        <p:spPr>
          <a:xfrm>
            <a:off x="1371600" y="2496312"/>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Ground every answer</a:t>
            </a:r>
            <a:endParaRPr lang="en-US" sz="1300" dirty="0"/>
          </a:p>
        </p:txBody>
      </p:sp>
      <p:sp>
        <p:nvSpPr>
          <p:cNvPr id="14" name="Text 9"/>
          <p:cNvSpPr/>
          <p:nvPr/>
        </p:nvSpPr>
        <p:spPr>
          <a:xfrm>
            <a:off x="3703320" y="2496312"/>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Top-4 retrieved clauses in a numbered context; the model answers ONLY from them.</a:t>
            </a:r>
            <a:endParaRPr lang="en-US" sz="1050" dirty="0"/>
          </a:p>
        </p:txBody>
      </p:sp>
      <p:sp>
        <p:nvSpPr>
          <p:cNvPr id="15" name="Shape 10"/>
          <p:cNvSpPr/>
          <p:nvPr/>
        </p:nvSpPr>
        <p:spPr>
          <a:xfrm>
            <a:off x="685800" y="3300984"/>
            <a:ext cx="7040880" cy="676656"/>
          </a:xfrm>
          <a:prstGeom prst="roundRect">
            <a:avLst>
              <a:gd name="adj" fmla="val 10811"/>
            </a:avLst>
          </a:prstGeom>
          <a:solidFill>
            <a:srgbClr val="2E3554"/>
          </a:solidFill>
          <a:ln/>
        </p:spPr>
      </p:sp>
      <p:pic>
        <p:nvPicPr>
          <p:cNvPr id="16" name="Image 3" descr="preencoded.png">    </p:cNvPr>
          <p:cNvPicPr>
            <a:picLocks noChangeAspect="1"/>
          </p:cNvPicPr>
          <p:nvPr/>
        </p:nvPicPr>
        <p:blipFill>
          <a:blip r:embed="rId4"/>
          <a:stretch>
            <a:fillRect/>
          </a:stretch>
        </p:blipFill>
        <p:spPr>
          <a:xfrm>
            <a:off x="914400" y="3502152"/>
            <a:ext cx="274320" cy="274320"/>
          </a:xfrm>
          <a:prstGeom prst="rect">
            <a:avLst/>
          </a:prstGeom>
        </p:spPr>
      </p:pic>
      <p:sp>
        <p:nvSpPr>
          <p:cNvPr id="17" name="Text 11"/>
          <p:cNvSpPr/>
          <p:nvPr/>
        </p:nvSpPr>
        <p:spPr>
          <a:xfrm>
            <a:off x="1371600" y="3300984"/>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Cite and verify</a:t>
            </a:r>
            <a:endParaRPr lang="en-US" sz="1300" dirty="0"/>
          </a:p>
        </p:txBody>
      </p:sp>
      <p:sp>
        <p:nvSpPr>
          <p:cNvPr id="18" name="Text 12"/>
          <p:cNvSpPr/>
          <p:nvPr/>
        </p:nvSpPr>
        <p:spPr>
          <a:xfrm>
            <a:off x="3703320" y="3300984"/>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[M-2.3]-style ids regex-extracted, verified against the store, rendered as evidence chips.</a:t>
            </a:r>
            <a:endParaRPr lang="en-US" sz="1050" dirty="0"/>
          </a:p>
        </p:txBody>
      </p:sp>
      <p:sp>
        <p:nvSpPr>
          <p:cNvPr id="19" name="Shape 13"/>
          <p:cNvSpPr/>
          <p:nvPr/>
        </p:nvSpPr>
        <p:spPr>
          <a:xfrm>
            <a:off x="685800" y="4105656"/>
            <a:ext cx="7040880" cy="676656"/>
          </a:xfrm>
          <a:prstGeom prst="roundRect">
            <a:avLst>
              <a:gd name="adj" fmla="val 10811"/>
            </a:avLst>
          </a:prstGeom>
          <a:solidFill>
            <a:srgbClr val="2E3554"/>
          </a:solidFill>
          <a:ln/>
        </p:spPr>
      </p:sp>
      <p:pic>
        <p:nvPicPr>
          <p:cNvPr id="20" name="Image 4" descr="preencoded.png">    </p:cNvPr>
          <p:cNvPicPr>
            <a:picLocks noChangeAspect="1"/>
          </p:cNvPicPr>
          <p:nvPr/>
        </p:nvPicPr>
        <p:blipFill>
          <a:blip r:embed="rId5"/>
          <a:stretch>
            <a:fillRect/>
          </a:stretch>
        </p:blipFill>
        <p:spPr>
          <a:xfrm>
            <a:off x="914400" y="4306824"/>
            <a:ext cx="274320" cy="274320"/>
          </a:xfrm>
          <a:prstGeom prst="rect">
            <a:avLst/>
          </a:prstGeom>
        </p:spPr>
      </p:pic>
      <p:sp>
        <p:nvSpPr>
          <p:cNvPr id="21" name="Text 14"/>
          <p:cNvSpPr/>
          <p:nvPr/>
        </p:nvSpPr>
        <p:spPr>
          <a:xfrm>
            <a:off x="1371600" y="4105656"/>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Refuse honestly</a:t>
            </a:r>
            <a:endParaRPr lang="en-US" sz="1300" dirty="0"/>
          </a:p>
        </p:txBody>
      </p:sp>
      <p:sp>
        <p:nvSpPr>
          <p:cNvPr id="22" name="Text 15"/>
          <p:cNvSpPr/>
          <p:nvPr/>
        </p:nvSpPr>
        <p:spPr>
          <a:xfrm>
            <a:off x="3703320" y="4105656"/>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NOT_IN_POLICY becomes a structured not_found state — designed, rendered, and eval-pinned.</a:t>
            </a:r>
            <a:endParaRPr lang="en-US" sz="1050" dirty="0"/>
          </a:p>
        </p:txBody>
      </p:sp>
      <p:sp>
        <p:nvSpPr>
          <p:cNvPr id="23" name="Shape 16"/>
          <p:cNvSpPr/>
          <p:nvPr/>
        </p:nvSpPr>
        <p:spPr>
          <a:xfrm>
            <a:off x="685800" y="4910328"/>
            <a:ext cx="7040880" cy="676656"/>
          </a:xfrm>
          <a:prstGeom prst="roundRect">
            <a:avLst>
              <a:gd name="adj" fmla="val 10811"/>
            </a:avLst>
          </a:prstGeom>
          <a:solidFill>
            <a:srgbClr val="2E3554"/>
          </a:solidFill>
          <a:ln/>
        </p:spPr>
      </p:sp>
      <p:pic>
        <p:nvPicPr>
          <p:cNvPr id="24" name="Image 5" descr="preencoded.png">    </p:cNvPr>
          <p:cNvPicPr>
            <a:picLocks noChangeAspect="1"/>
          </p:cNvPicPr>
          <p:nvPr/>
        </p:nvPicPr>
        <p:blipFill>
          <a:blip r:embed="rId6"/>
          <a:stretch>
            <a:fillRect/>
          </a:stretch>
        </p:blipFill>
        <p:spPr>
          <a:xfrm>
            <a:off x="914400" y="5111496"/>
            <a:ext cx="274320" cy="274320"/>
          </a:xfrm>
          <a:prstGeom prst="rect">
            <a:avLst/>
          </a:prstGeom>
        </p:spPr>
      </p:pic>
      <p:sp>
        <p:nvSpPr>
          <p:cNvPr id="25" name="Text 17"/>
          <p:cNvSpPr/>
          <p:nvPr/>
        </p:nvSpPr>
        <p:spPr>
          <a:xfrm>
            <a:off x="1371600" y="4910328"/>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Read documents</a:t>
            </a:r>
            <a:endParaRPr lang="en-US" sz="1300" dirty="0"/>
          </a:p>
        </p:txBody>
      </p:sp>
      <p:sp>
        <p:nvSpPr>
          <p:cNvPr id="26" name="Text 18"/>
          <p:cNvSpPr/>
          <p:nvPr/>
        </p:nvSpPr>
        <p:spPr>
          <a:xfrm>
            <a:off x="3703320" y="4910328"/>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/intake extracts Pydantic-structured fields — vision model in the cloud, labelled text fallback locally.</a:t>
            </a:r>
            <a:endParaRPr lang="en-US" sz="1050" dirty="0"/>
          </a:p>
        </p:txBody>
      </p:sp>
      <p:sp>
        <p:nvSpPr>
          <p:cNvPr id="27" name="Shape 19"/>
          <p:cNvSpPr/>
          <p:nvPr/>
        </p:nvSpPr>
        <p:spPr>
          <a:xfrm>
            <a:off x="8092440" y="1691640"/>
            <a:ext cx="3429000" cy="4023360"/>
          </a:xfrm>
          <a:prstGeom prst="roundRect">
            <a:avLst>
              <a:gd name="adj" fmla="val 2400"/>
            </a:avLst>
          </a:prstGeom>
          <a:solidFill>
            <a:srgbClr val="2E3554"/>
          </a:solidFill>
          <a:ln/>
          <a:effectLst>
            <a:outerShdw sx="100000" sy="100000" kx="0" ky="0" algn="bl" rotWithShape="0" blurRad="76200" dist="25400" dir="5400000">
              <a:srgbClr val="9AA4B8">
                <a:alpha val="35000"/>
              </a:srgbClr>
            </a:outerShdw>
          </a:effectLst>
        </p:spPr>
      </p:sp>
      <p:sp>
        <p:nvSpPr>
          <p:cNvPr id="28" name="Text 20"/>
          <p:cNvSpPr/>
          <p:nvPr/>
        </p:nvSpPr>
        <p:spPr>
          <a:xfrm>
            <a:off x="8321040" y="1874520"/>
            <a:ext cx="2926080" cy="320040"/>
          </a:xfrm>
          <a:prstGeom prst="rect">
            <a:avLst/>
          </a:prstGeom>
          <a:noFill/>
          <a:ln/>
        </p:spPr>
        <p:txBody>
          <a:bodyPr wrap="square" lIns="0" tIns="0" rIns="0" bIns="0" rtlCol="0" anchor="ctr"/>
          <a:lstStyle/>
          <a:p>
            <a:pPr indent="0" marL="0">
              <a:buNone/>
            </a:pPr>
            <a:r>
              <a:rPr lang="en-US" sz="1200" b="1" spc="150" kern="0" dirty="0">
                <a:solidFill>
                  <a:srgbClr val="E8871E"/>
                </a:solidFill>
                <a:latin typeface="Arial" pitchFamily="34" charset="0"/>
                <a:ea typeface="Arial" pitchFamily="34" charset="-122"/>
                <a:cs typeface="Arial" pitchFamily="34" charset="-120"/>
              </a:rPr>
              <a:t>Next session</a:t>
            </a:r>
            <a:endParaRPr lang="en-US" sz="1200" dirty="0"/>
          </a:p>
        </p:txBody>
      </p:sp>
      <p:sp>
        <p:nvSpPr>
          <p:cNvPr id="29" name="Text 21"/>
          <p:cNvSpPr/>
          <p:nvPr/>
        </p:nvSpPr>
        <p:spPr>
          <a:xfrm>
            <a:off x="8321040" y="2194560"/>
            <a:ext cx="301752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MCP Tool-Use</a:t>
            </a:r>
            <a:endParaRPr lang="en-US" sz="1700" dirty="0"/>
          </a:p>
        </p:txBody>
      </p:sp>
      <p:sp>
        <p:nvSpPr>
          <p:cNvPr id="30" name="Text 22"/>
          <p:cNvSpPr/>
          <p:nvPr/>
        </p:nvSpPr>
        <p:spPr>
          <a:xfrm>
            <a:off x="8321040" y="2697480"/>
            <a:ext cx="3017520" cy="20116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ClaimAssist v4: an MCP server exposes lookup_claim, search_policy (this session's chroma store) and a draft-only email tool; an agent loop lets the LLM decide which tools to call, with a visible tool trace and human-in-the-loop confirmation for write actions.</a:t>
            </a:r>
            <a:endParaRPr lang="en-US" sz="1150" dirty="0"/>
          </a:p>
        </p:txBody>
      </p:sp>
      <p:sp>
        <p:nvSpPr>
          <p:cNvPr id="31" name="Text 23"/>
          <p:cNvSpPr/>
          <p:nvPr/>
        </p:nvSpPr>
        <p:spPr>
          <a:xfrm>
            <a:off x="8321040" y="4800600"/>
            <a:ext cx="3017520" cy="777240"/>
          </a:xfrm>
          <a:prstGeom prst="rect">
            <a:avLst/>
          </a:prstGeom>
          <a:noFill/>
          <a:ln/>
        </p:spPr>
        <p:txBody>
          <a:bodyPr wrap="square" lIns="0" tIns="0" rIns="0" bIns="0" rtlCol="0" anchor="ctr"/>
          <a:lstStyle/>
          <a:p>
            <a:pPr indent="0" marL="0">
              <a:buNone/>
            </a:pPr>
            <a:r>
              <a:rPr lang="en-US" sz="1150" i="1" dirty="0">
                <a:solidFill>
                  <a:srgbClr val="F5B971"/>
                </a:solidFill>
                <a:latin typeface="Calibri" pitchFamily="34" charset="0"/>
                <a:ea typeface="Calibri" pitchFamily="34" charset="-122"/>
                <a:cs typeface="Calibri" pitchFamily="34" charset="-120"/>
              </a:rPr>
              <a:t>Retain the session8_lab stack — Session 9's search_policy tool queries this exact chroma index.</a:t>
            </a:r>
            <a:endParaRPr lang="en-US" sz="1150" dirty="0"/>
          </a:p>
        </p:txBody>
      </p:sp>
      <p:sp>
        <p:nvSpPr>
          <p:cNvPr id="32" name="Text 24"/>
          <p:cNvSpPr/>
          <p:nvPr/>
        </p:nvSpPr>
        <p:spPr>
          <a:xfrm>
            <a:off x="685800" y="6355080"/>
            <a:ext cx="8229600" cy="274320"/>
          </a:xfrm>
          <a:prstGeom prst="rect">
            <a:avLst/>
          </a:prstGeom>
          <a:noFill/>
          <a:ln/>
        </p:spPr>
        <p:txBody>
          <a:bodyPr wrap="square" lIns="0" tIns="0" rIns="0" bIns="0" rtlCol="0" anchor="ctr"/>
          <a:lstStyle/>
          <a:p>
            <a:pPr indent="0" marL="0">
              <a:buNone/>
            </a:pPr>
            <a:r>
              <a:rPr lang="en-US" sz="900" dirty="0">
                <a:solidFill>
                  <a:srgbClr val="9AA7C7"/>
                </a:solidFill>
                <a:latin typeface="Calibri" pitchFamily="34" charset="0"/>
                <a:ea typeface="Calibri" pitchFamily="34" charset="-122"/>
                <a:cs typeface="Calibri" pitchFamily="34" charset="-120"/>
              </a:rPr>
              <a:t>EXL AI Services · Track 2.B · Session 8 — Multimodal &amp; RAG Features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2026-07-25T18:43:36Z</dcterms:created>
  <dcterms:modified xsi:type="dcterms:W3CDTF">2026-07-25T18:43:36Z</dcterms:modified>
</cp:coreProperties>
</file>